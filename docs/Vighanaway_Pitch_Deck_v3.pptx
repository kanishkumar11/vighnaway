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ion" id="{edfa2fa9-7af2-5378-8ed4-6ef14e1a16cf}">
          <p14:sldIdLst>
            <p14:sldId id="256"/>
          </p14:sldIdLst>
        </p14:section>
        <p14:section name="Problem" id="{19fc5622-eedb-1a16-2bae-0301d5edd914}">
          <p14:sldIdLst>
            <p14:sldId id="257"/>
          </p14:sldIdLst>
        </p14:section>
        <p14:section name="Solution" id="{31c3803b-0aff-f16e-1b7d-913533c93c83}">
          <p14:sldIdLst>
            <p14:sldId id="258"/>
          </p14:sldIdLst>
        </p14:section>
        <p14:section name="Innovation" id="{e07fe8af-e801-0f7a-4db9-c1aab6a20314}">
          <p14:sldIdLst>
            <p14:sldId id="259"/>
          </p14:sldIdLst>
        </p14:section>
        <p14:section name="Architecture" id="{2d00f687-379e-a949-26c6-624c09dab64c}">
          <p14:sldIdLst>
            <p14:sldId id="260"/>
          </p14:sldIdLst>
        </p14:section>
        <p14:section name="Demo and roadmap" id="{bb79eeee-18f6-7b5a-0c04-77bfc08869d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line: when roads fail, find a way. Vighanaway is an emergency-adaptive navigation platform. Normal navigation assumes roads work. In a monsoon flood that assumption breaks: an underpass fills with water, a road closes, a flyover jams. This 3D city is built from real OpenStreetMap roads and buildings. The red route is blocked by a flooded underpass. The grey route is a farther alternative. The teal route is what Vighanaway recommends: a flyover that reaches the hospital, a few minutes longer but viable. And it does more than draw a line: it verifies evidence, explains every decision, keeps rerouting as conditions change, and offers alternatives when a destination becomes unreachable. Next: the problem, how the engine thinks,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problem. Most navigation optimises for the fastest route. In an emergency the fastest route can be the wrong one. On the left, a time-only route goes straight through a flooded underpass. It shows a good ETA, but nothing about whether the road is passable and no reason for the choice. On the right, Vighanaway evaluates the same hazard, rejects that crossing, and recommends the flyover: a few minutes longer but viable. Underpasses flood, closures make routes unusable, unverified reports create doubt, congestion makes alternatives impractical, and users get little explanation. So navigation must weigh viability, evidence quality and changing conditions, not travel time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Vighanaway thinks. We move from route finding to evidence-based route intelligence, in six steps. One, pick an origin and destination. Two, generate several candidate routes from real OpenStreetMap road data. Three, evaluate hazards, congestion, report age and verification status. Four, reject any route blocked by a verified or corroborated impassable incident. Five, rank the viable options and explain the recommendation. Six, recalculate whenever new evidence arrives. The phone mockup shows the result in a 3D navigation view: the flyover at about 22 minutes, six minutes longer than the usual route, but it avoids the flooded underpass, with the evidence and a confidence label. All figures are illustrative prototype data. And note that estimated travel time is separate from the emergency-cost score, which is used only to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Vighanaway different is that every route decision has a reason. First, evidence-aware routing: a single unverified report creates a warning and a penalty, but never blocks a route on its own. Only corroborated or verified impassable incidents can make a route non-viable. Second, explainable decisions: we show the source, verification status, report age, hazards avoided and why the recommendation changed. Third, stable adaptive rerouting: we do not flip routes needlessly; we reconsider when the current route fails or an alternative clearly crosses the switching threshold. Fourth, the what-if simulator, so judges can inject a flood, closure or congestion and watch the engine reassess. The timeline on the right is simulated: an unverified report changes nothing, a corroborating report rejects the underpass, simulated verification confirms it, then heavy flyover congestion can move us to a farther crossing.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technology, and the key word is deterministic. The user interface is Next.js with React and TypeScript. Mapping uses MapLibre GL JS with OpenStreetMap data and locally stored PMTiles, so the demo works offline. The routing engine uses Dijkstra's algorithm and Yen's k-shortest-path algorithm to generate candidate routes. The emergency route evaluator applies hard constraints, hazard penalties, congestion-adjusted travel time, report-age weighting and missing-data penalties. The recommendation engine ranks routes, assesses viability, assigns confidence labels, writes plain-language explanations and applies the switching threshold. The output is a recommended route, alternatives, an evidence timeline and an updated route when incidents change. To be clear: no machine learning or LLM makes route decisions, so every outcome is testable and explainable. Simulated incidents are kept separate from real road-network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impact and roadmap. In the live demo I start with three candidate routes. I add one unverified flood report and the route stays unchanged, and the timeline shows why. I then corroborate a severe flood report and the underpass route is rejected. I raise congestion on the flyover and show a potential switch to the farther crossing, only if it clears the switching threshold. The evidence timeline explains every change. The potential impact is better-informed choices, transparent uncertainty, adaptation to changing roads, and a foundation for inclusive emergency navigation. The roadmap is proposed, not built: official alert integrations, accessibility-aware profiles, Hindi, Punjabi and English voice guidance, stronger offline support, route-capacity intelligence, and carefully designed journey sharing. Close with the statement on screen. This is a hackathon prototype with simulated data, not validated for real emergency use.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tx1"/>
                </a:solidFill>
                <a:latin typeface="Segoe UI Semibold" pitchFamily="34" charset="0"/>
                <a:ea typeface="Segoe UI Semibold" pitchFamily="34" charset="-122"/>
                <a:cs typeface="Segoe UI Semibold" pitchFamily="34" charset="-120"/>
              </a:rPr>
              <a:t>Vighanaway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5"/>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bg1"/>
                </a:solidFill>
                <a:latin typeface="Segoe UI Semibold" pitchFamily="34" charset="0"/>
                <a:ea typeface="Segoe UI Semibold" pitchFamily="34" charset="-122"/>
                <a:cs typeface="Segoe UI Semibold" pitchFamily="34" charset="-120"/>
              </a:rPr>
              <a:t>Vighanaway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6"/>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ap_1" descr="3D map of a flood-prone rail corridor, built from OpenStreetMap data">    </p:cNvPr>
          <p:cNvPicPr>
            <a:picLocks noChangeAspect="1"/>
          </p:cNvPicPr>
          <p:nvPr/>
        </p:nvPicPr>
        <p:blipFill>
          <a:blip r:embed="rId1"/>
          <a:stretch>
            <a:fillRect/>
          </a:stretch>
        </p:blipFill>
        <p:spPr>
          <a:xfrm>
            <a:off x="0" y="0"/>
            <a:ext cx="12191695" cy="6858000"/>
          </a:xfrm>
          <a:prstGeom prst="rect">
            <a:avLst/>
          </a:prstGeom>
        </p:spPr>
      </p:pic>
      <p:pic>
        <p:nvPicPr>
          <p:cNvPr id="3" name="rA_2" descr="Route A">    </p:cNvPr>
          <p:cNvPicPr>
            <a:picLocks noChangeAspect="1"/>
          </p:cNvPicPr>
          <p:nvPr/>
        </p:nvPicPr>
        <p:blipFill>
          <a:blip r:embed="rId2"/>
          <a:stretch>
            <a:fillRect/>
          </a:stretch>
        </p:blipFill>
        <p:spPr>
          <a:xfrm>
            <a:off x="0" y="0"/>
            <a:ext cx="12191695" cy="6858000"/>
          </a:xfrm>
          <a:prstGeom prst="rect">
            <a:avLst/>
          </a:prstGeom>
        </p:spPr>
      </p:pic>
      <p:pic>
        <p:nvPicPr>
          <p:cNvPr id="4" name="rC_3" descr="Route C">    </p:cNvPr>
          <p:cNvPicPr>
            <a:picLocks noChangeAspect="1"/>
          </p:cNvPicPr>
          <p:nvPr/>
        </p:nvPicPr>
        <p:blipFill>
          <a:blip r:embed="rId3"/>
          <a:stretch>
            <a:fillRect/>
          </a:stretch>
        </p:blipFill>
        <p:spPr>
          <a:xfrm>
            <a:off x="0" y="0"/>
            <a:ext cx="12191695" cy="6858000"/>
          </a:xfrm>
          <a:prstGeom prst="rect">
            <a:avLst/>
          </a:prstGeom>
        </p:spPr>
      </p:pic>
      <p:pic>
        <p:nvPicPr>
          <p:cNvPr id="5" name="rB_4" descr="Route B">    </p:cNvPr>
          <p:cNvPicPr>
            <a:picLocks noChangeAspect="1"/>
          </p:cNvPicPr>
          <p:nvPr/>
        </p:nvPicPr>
        <p:blipFill>
          <a:blip r:embed="rId4"/>
          <a:stretch>
            <a:fillRect/>
          </a:stretch>
        </p:blipFill>
        <p:spPr>
          <a:xfrm>
            <a:off x="0" y="0"/>
            <a:ext cx="12191695" cy="6858000"/>
          </a:xfrm>
          <a:prstGeom prst="rect">
            <a:avLst/>
          </a:prstGeom>
        </p:spPr>
      </p:pic>
      <p:pic>
        <p:nvPicPr>
          <p:cNvPr id="6" name="brand_5" descr="Vighanaway logo">    </p:cNvPr>
          <p:cNvPicPr>
            <a:picLocks noChangeAspect="1"/>
          </p:cNvPicPr>
          <p:nvPr/>
        </p:nvPicPr>
        <p:blipFill>
          <a:blip r:embed="rId5"/>
          <a:stretch>
            <a:fillRect/>
          </a:stretch>
        </p:blipFill>
        <p:spPr>
          <a:xfrm>
            <a:off x="640080" y="548640"/>
            <a:ext cx="420624" cy="420624"/>
          </a:xfrm>
          <a:prstGeom prst="rect">
            <a:avLst/>
          </a:prstGeom>
        </p:spPr>
      </p:pic>
      <p:sp>
        <p:nvSpPr>
          <p:cNvPr id="7" name="brand_6"/>
          <p:cNvSpPr txBox="1"/>
          <p:nvPr/>
        </p:nvSpPr>
        <p:spPr>
          <a:xfrm>
            <a:off x="1207008" y="548640"/>
            <a:ext cx="3657600" cy="420624"/>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Vighanaway</a:t>
            </a:r>
            <a:endParaRPr lang="en-US" sz="2400" dirty="0"/>
          </a:p>
        </p:txBody>
      </p:sp>
      <p:sp>
        <p:nvSpPr>
          <p:cNvPr id="8" name="brand_7"/>
          <p:cNvSpPr txBox="1"/>
          <p:nvPr/>
        </p:nvSpPr>
        <p:spPr>
          <a:xfrm>
            <a:off x="8808415" y="548640"/>
            <a:ext cx="2743200" cy="420624"/>
          </a:xfrm>
          <a:prstGeom prst="rect">
            <a:avLst/>
          </a:prstGeom>
          <a:noFill/>
          <a:ln/>
        </p:spPr>
        <p:txBody>
          <a:bodyPr wrap="square" lIns="0" tIns="0" rIns="0" bIns="0" rtlCol="0" anchor="ctr"/>
          <a:lstStyle/>
          <a:p>
            <a:pPr algn="r"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HACKATHON PROTOTYPE</a:t>
            </a:r>
            <a:endParaRPr lang="en-US" sz="1000" dirty="0"/>
          </a:p>
        </p:txBody>
      </p:sp>
      <p:sp>
        <p:nvSpPr>
          <p:cNvPr id="9" name="tag_8"/>
          <p:cNvSpPr txBox="1"/>
          <p:nvPr/>
        </p:nvSpPr>
        <p:spPr>
          <a:xfrm>
            <a:off x="640080" y="1645920"/>
            <a:ext cx="5486400" cy="2011680"/>
          </a:xfrm>
          <a:prstGeom prst="rect">
            <a:avLst/>
          </a:prstGeom>
          <a:noFill/>
          <a:ln/>
        </p:spPr>
        <p:txBody>
          <a:bodyPr wrap="square" lIns="0" tIns="0" rIns="0" bIns="0" rtlCol="0" anchor="t"/>
          <a:lstStyle/>
          <a:p>
            <a:pPr indent="0" marL="0">
              <a:lnSpc>
                <a:spcPct val="95000"/>
              </a:lnSpc>
              <a:buNone/>
            </a:pPr>
            <a:r>
              <a:rPr lang="en-US" sz="5200" dirty="0">
                <a:solidFill>
                  <a:schemeClr val="tx1"/>
                </a:solidFill>
                <a:latin typeface="Segoe UI Light" pitchFamily="34" charset="0"/>
                <a:ea typeface="Segoe UI Light" pitchFamily="34" charset="-122"/>
                <a:cs typeface="Segoe UI Light" pitchFamily="34" charset="-120"/>
              </a:rPr>
              <a:t>When Roads Fail,</a:t>
            </a:r>
            <a:endParaRPr lang="en-US" sz="5200" dirty="0"/>
          </a:p>
          <a:p>
            <a:pPr indent="0" marL="0">
              <a:lnSpc>
                <a:spcPct val="95000"/>
              </a:lnSpc>
              <a:buNone/>
            </a:pPr>
            <a:r>
              <a:rPr lang="en-US" sz="5200" dirty="0">
                <a:solidFill>
                  <a:srgbClr val="0E9F8E"/>
                </a:solidFill>
                <a:latin typeface="Segoe UI Semibold" pitchFamily="34" charset="0"/>
                <a:ea typeface="Segoe UI Semibold" pitchFamily="34" charset="-122"/>
                <a:cs typeface="Segoe UI Semibold" pitchFamily="34" charset="-120"/>
              </a:rPr>
              <a:t>Find a Way.</a:t>
            </a:r>
            <a:endParaRPr lang="en-US" sz="5200" dirty="0"/>
          </a:p>
        </p:txBody>
      </p:sp>
      <p:sp>
        <p:nvSpPr>
          <p:cNvPr id="10" name="desc_9"/>
          <p:cNvSpPr txBox="1"/>
          <p:nvPr/>
        </p:nvSpPr>
        <p:spPr>
          <a:xfrm>
            <a:off x="640080" y="3749040"/>
            <a:ext cx="4572000" cy="1188720"/>
          </a:xfrm>
          <a:prstGeom prst="rect">
            <a:avLst/>
          </a:prstGeom>
          <a:noFill/>
          <a:ln/>
        </p:spPr>
        <p:txBody>
          <a:bodyPr wrap="square" lIns="0" tIns="0" rIns="0" bIns="0" rtlCol="0" anchor="t"/>
          <a:lstStyle/>
          <a:p>
            <a:pPr indent="0" marL="0">
              <a:buNone/>
            </a:pPr>
            <a:r>
              <a:rPr lang="en-US" sz="1500" dirty="0">
                <a:solidFill>
                  <a:schemeClr val="accent5"/>
                </a:solidFill>
              </a:rPr>
              <a:t>An emergency-adaptive navigation platform that recommends viable routes during floods, road closures and traffic disruptions, using evidence-based route intelligence.</a:t>
            </a:r>
            <a:endParaRPr lang="en-US" sz="1500" dirty="0"/>
          </a:p>
        </p:txBody>
      </p:sp>
      <p:sp>
        <p:nvSpPr>
          <p:cNvPr id="11" name="pinO_10"/>
          <p:cNvSpPr/>
          <p:nvPr/>
        </p:nvSpPr>
        <p:spPr>
          <a:xfrm>
            <a:off x="6362750" y="2704677"/>
            <a:ext cx="274320" cy="274320"/>
          </a:xfrm>
          <a:prstGeom prst="ellipse">
            <a:avLst/>
          </a:prstGeom>
          <a:solidFill>
            <a:srgbClr val="FFFFFF"/>
          </a:solidFill>
          <a:ln/>
        </p:spPr>
      </p:sp>
      <p:sp>
        <p:nvSpPr>
          <p:cNvPr id="12" name="pinO_11"/>
          <p:cNvSpPr/>
          <p:nvPr/>
        </p:nvSpPr>
        <p:spPr>
          <a:xfrm>
            <a:off x="6440474" y="2782401"/>
            <a:ext cx="118872" cy="118872"/>
          </a:xfrm>
          <a:prstGeom prst="ellipse">
            <a:avLst/>
          </a:prstGeom>
          <a:solidFill>
            <a:srgbClr val="0B1426"/>
          </a:solidFill>
          <a:ln/>
        </p:spPr>
      </p:sp>
      <p:sp>
        <p:nvSpPr>
          <p:cNvPr id="13" name="pinH_12"/>
          <p:cNvSpPr/>
          <p:nvPr/>
        </p:nvSpPr>
        <p:spPr>
          <a:xfrm>
            <a:off x="11266868" y="3497732"/>
            <a:ext cx="485546" cy="485546"/>
          </a:xfrm>
          <a:prstGeom prst="ellipse">
            <a:avLst/>
          </a:prstGeom>
          <a:solidFill>
            <a:srgbClr val="FFFFFF"/>
          </a:solidFill>
          <a:ln/>
        </p:spPr>
      </p:sp>
      <p:sp>
        <p:nvSpPr>
          <p:cNvPr id="14" name="pinH_13"/>
          <p:cNvSpPr txBox="1"/>
          <p:nvPr/>
        </p:nvSpPr>
        <p:spPr>
          <a:xfrm>
            <a:off x="11330876" y="3561740"/>
            <a:ext cx="357530" cy="357530"/>
          </a:xfrm>
          <a:prstGeom prst="roundRect">
            <a:avLst>
              <a:gd name="adj" fmla="val 17903"/>
            </a:avLst>
          </a:prstGeom>
          <a:solidFill>
            <a:schemeClr val="accent1"/>
          </a:solidFill>
          <a:ln/>
        </p:spPr>
        <p:txBody>
          <a:bodyPr wrap="square" lIns="0" tIns="0" rIns="0" bIns="0" rtlCol="0" anchor="ctr"/>
          <a:lstStyle/>
          <a:p>
            <a:pPr algn="ctr" indent="0" marL="0">
              <a:buNone/>
            </a:pPr>
            <a:r>
              <a:rPr lang="en-US" sz="1380" dirty="0">
                <a:solidFill>
                  <a:schemeClr val="tx1"/>
                </a:solidFill>
                <a:latin typeface="Segoe UI Semibold" pitchFamily="34" charset="0"/>
                <a:ea typeface="Segoe UI Semibold" pitchFamily="34" charset="-122"/>
                <a:cs typeface="Segoe UI Semibold" pitchFamily="34" charset="-120"/>
              </a:rPr>
              <a:t>H</a:t>
            </a:r>
            <a:endParaRPr lang="en-US" sz="1380" dirty="0"/>
          </a:p>
        </p:txBody>
      </p:sp>
      <p:sp>
        <p:nvSpPr>
          <p:cNvPr id="15" name="lblA_14"/>
          <p:cNvSpPr txBox="1"/>
          <p:nvPr/>
        </p:nvSpPr>
        <p:spPr>
          <a:xfrm>
            <a:off x="8634470" y="3093359"/>
            <a:ext cx="256032" cy="256032"/>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O_15"/>
          <p:cNvSpPr txBox="1"/>
          <p:nvPr/>
        </p:nvSpPr>
        <p:spPr>
          <a:xfrm>
            <a:off x="6042710" y="2421213"/>
            <a:ext cx="914400" cy="228600"/>
          </a:xfrm>
          <a:prstGeom prst="rect">
            <a:avLst/>
          </a:prstGeom>
          <a:noFill/>
          <a:ln/>
        </p:spPr>
        <p:txBody>
          <a:bodyPr wrap="square" lIns="0" tIns="0" rIns="0" bIns="0" rtlCol="0" anchor="t"/>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Start</a:t>
            </a:r>
            <a:endParaRPr lang="en-US" sz="1100" dirty="0"/>
          </a:p>
        </p:txBody>
      </p:sp>
      <p:sp>
        <p:nvSpPr>
          <p:cNvPr id="17" name="pinH_16"/>
          <p:cNvSpPr txBox="1"/>
          <p:nvPr/>
        </p:nvSpPr>
        <p:spPr>
          <a:xfrm>
            <a:off x="10092321" y="3621633"/>
            <a:ext cx="1005840" cy="237744"/>
          </a:xfrm>
          <a:prstGeom prst="rect">
            <a:avLst/>
          </a:prstGeom>
          <a:noFill/>
          <a:ln/>
        </p:spPr>
        <p:txBody>
          <a:bodyPr wrap="square" lIns="0" tIns="0" rIns="0" bIns="0" rtlCol="0" anchor="ctr"/>
          <a:lstStyle/>
          <a:p>
            <a:pPr algn="r" indent="0" marL="0">
              <a:buNone/>
            </a:pPr>
            <a:r>
              <a:rPr lang="en-US" sz="1100" dirty="0">
                <a:solidFill>
                  <a:schemeClr val="tx1"/>
                </a:solidFill>
                <a:latin typeface="Segoe UI Semibold" pitchFamily="34" charset="0"/>
                <a:ea typeface="Segoe UI Semibold" pitchFamily="34" charset="-122"/>
                <a:cs typeface="Segoe UI Semibold" pitchFamily="34" charset="-120"/>
              </a:rPr>
              <a:t>Hospital</a:t>
            </a:r>
            <a:endParaRPr lang="en-US" sz="1100" dirty="0"/>
          </a:p>
        </p:txBody>
      </p:sp>
      <p:sp>
        <p:nvSpPr>
          <p:cNvPr id="18" name="lblA_17"/>
          <p:cNvSpPr/>
          <p:nvPr/>
        </p:nvSpPr>
        <p:spPr>
          <a:xfrm>
            <a:off x="7573766" y="1986935"/>
            <a:ext cx="24231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sp>
      <p:sp>
        <p:nvSpPr>
          <p:cNvPr id="19" name="lblA_18"/>
          <p:cNvSpPr/>
          <p:nvPr/>
        </p:nvSpPr>
        <p:spPr>
          <a:xfrm>
            <a:off x="7720070" y="2233823"/>
            <a:ext cx="109728" cy="109728"/>
          </a:xfrm>
          <a:prstGeom prst="ellipse">
            <a:avLst/>
          </a:prstGeom>
          <a:solidFill>
            <a:schemeClr val="accent3"/>
          </a:solidFill>
          <a:ln/>
        </p:spPr>
      </p:sp>
      <p:sp>
        <p:nvSpPr>
          <p:cNvPr id="20" name="lblA_19"/>
          <p:cNvSpPr txBox="1"/>
          <p:nvPr/>
        </p:nvSpPr>
        <p:spPr>
          <a:xfrm>
            <a:off x="7939526" y="2060087"/>
            <a:ext cx="19659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Flooded underpass</a:t>
            </a:r>
            <a:endParaRPr lang="en-US" sz="1300" dirty="0"/>
          </a:p>
          <a:p>
            <a:pPr indent="0" marL="0">
              <a:buNone/>
            </a:pPr>
            <a:r>
              <a:rPr lang="en-US" sz="1050" dirty="0">
                <a:solidFill>
                  <a:schemeClr val="accent5"/>
                </a:solidFill>
              </a:rPr>
              <a:t>Blocked by corroborated reports</a:t>
            </a:r>
            <a:endParaRPr lang="en-US" sz="1300" dirty="0"/>
          </a:p>
        </p:txBody>
      </p:sp>
      <p:sp>
        <p:nvSpPr>
          <p:cNvPr id="21" name="lblA_20"/>
          <p:cNvSpPr/>
          <p:nvPr/>
        </p:nvSpPr>
        <p:spPr>
          <a:xfrm>
            <a:off x="8762486" y="2590439"/>
            <a:ext cx="0" cy="493776"/>
          </a:xfrm>
          <a:prstGeom prst="line">
            <a:avLst/>
          </a:prstGeom>
          <a:noFill/>
          <a:ln w="12700">
            <a:solidFill>
              <a:srgbClr val="9A8F7A"/>
            </a:solidFill>
            <a:prstDash val="solid"/>
          </a:ln>
        </p:spPr>
      </p:sp>
      <p:sp>
        <p:nvSpPr>
          <p:cNvPr id="22" name="lblB_21"/>
          <p:cNvSpPr/>
          <p:nvPr/>
        </p:nvSpPr>
        <p:spPr>
          <a:xfrm>
            <a:off x="8124746" y="4689200"/>
            <a:ext cx="237744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sp>
      <p:sp>
        <p:nvSpPr>
          <p:cNvPr id="23" name="lblB_22"/>
          <p:cNvSpPr/>
          <p:nvPr/>
        </p:nvSpPr>
        <p:spPr>
          <a:xfrm>
            <a:off x="8271050" y="4936088"/>
            <a:ext cx="109728" cy="109728"/>
          </a:xfrm>
          <a:prstGeom prst="ellipse">
            <a:avLst/>
          </a:prstGeom>
          <a:solidFill>
            <a:schemeClr val="accent1"/>
          </a:solidFill>
          <a:ln/>
        </p:spPr>
      </p:sp>
      <p:sp>
        <p:nvSpPr>
          <p:cNvPr id="24" name="lblB_23"/>
          <p:cNvSpPr txBox="1"/>
          <p:nvPr/>
        </p:nvSpPr>
        <p:spPr>
          <a:xfrm>
            <a:off x="8490506" y="4762352"/>
            <a:ext cx="192024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Recommended: flyover</a:t>
            </a:r>
            <a:endParaRPr lang="en-US" sz="1300" dirty="0"/>
          </a:p>
          <a:p>
            <a:pPr indent="0" marL="0">
              <a:buNone/>
            </a:pPr>
            <a:r>
              <a:rPr lang="en-US" sz="1050" dirty="0">
                <a:solidFill>
                  <a:schemeClr val="accent5"/>
                </a:solidFill>
              </a:rPr>
              <a:t>6 min longer, avoids the flood</a:t>
            </a:r>
            <a:endParaRPr lang="en-US" sz="1300" dirty="0"/>
          </a:p>
        </p:txBody>
      </p:sp>
      <p:sp>
        <p:nvSpPr>
          <p:cNvPr id="25" name="lblB_24"/>
          <p:cNvSpPr/>
          <p:nvPr/>
        </p:nvSpPr>
        <p:spPr>
          <a:xfrm>
            <a:off x="8307626" y="4259432"/>
            <a:ext cx="0" cy="429768"/>
          </a:xfrm>
          <a:prstGeom prst="line">
            <a:avLst/>
          </a:prstGeom>
          <a:noFill/>
          <a:ln w="12700">
            <a:solidFill>
              <a:srgbClr val="9A8F7A"/>
            </a:solidFill>
            <a:prstDash val="solid"/>
          </a:ln>
        </p:spPr>
      </p:sp>
      <p:sp>
        <p:nvSpPr>
          <p:cNvPr id="26" name="lblC_25"/>
          <p:cNvSpPr/>
          <p:nvPr/>
        </p:nvSpPr>
        <p:spPr>
          <a:xfrm>
            <a:off x="5484068" y="4522543"/>
            <a:ext cx="21945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sp>
      <p:sp>
        <p:nvSpPr>
          <p:cNvPr id="27" name="lblC_26"/>
          <p:cNvSpPr/>
          <p:nvPr/>
        </p:nvSpPr>
        <p:spPr>
          <a:xfrm>
            <a:off x="5630372" y="4769431"/>
            <a:ext cx="109728" cy="109728"/>
          </a:xfrm>
          <a:prstGeom prst="ellipse">
            <a:avLst/>
          </a:prstGeom>
          <a:solidFill>
            <a:schemeClr val="accent5"/>
          </a:solidFill>
          <a:ln/>
        </p:spPr>
      </p:sp>
      <p:sp>
        <p:nvSpPr>
          <p:cNvPr id="28" name="lblC_27"/>
          <p:cNvSpPr txBox="1"/>
          <p:nvPr/>
        </p:nvSpPr>
        <p:spPr>
          <a:xfrm>
            <a:off x="5849828" y="4595695"/>
            <a:ext cx="17373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Farther crossing</a:t>
            </a:r>
            <a:endParaRPr lang="en-US" sz="1300" dirty="0"/>
          </a:p>
          <a:p>
            <a:pPr indent="0" marL="0">
              <a:buNone/>
            </a:pPr>
            <a:r>
              <a:rPr lang="en-US" sz="1050" dirty="0">
                <a:solidFill>
                  <a:schemeClr val="accent5"/>
                </a:solidFill>
              </a:rPr>
              <a:t>Alternative, still viable</a:t>
            </a:r>
            <a:endParaRPr lang="en-US" sz="1300" dirty="0"/>
          </a:p>
        </p:txBody>
      </p:sp>
      <p:sp>
        <p:nvSpPr>
          <p:cNvPr id="29" name="lblC_28"/>
          <p:cNvSpPr/>
          <p:nvPr/>
        </p:nvSpPr>
        <p:spPr>
          <a:xfrm>
            <a:off x="7587188" y="5126047"/>
            <a:ext cx="0" cy="384048"/>
          </a:xfrm>
          <a:prstGeom prst="line">
            <a:avLst/>
          </a:prstGeom>
          <a:noFill/>
          <a:ln w="12700">
            <a:solidFill>
              <a:srgbClr val="9A8F7A"/>
            </a:solidFill>
            <a:prstDash val="solid"/>
          </a:ln>
        </p:spPr>
      </p:sp>
      <p:sp>
        <p:nvSpPr>
          <p:cNvPr id="30" name="f0_29"/>
          <p:cNvSpPr/>
          <p:nvPr/>
        </p:nvSpPr>
        <p:spPr>
          <a:xfrm>
            <a:off x="640080" y="5504688"/>
            <a:ext cx="1962851" cy="0"/>
          </a:xfrm>
          <a:prstGeom prst="line">
            <a:avLst/>
          </a:prstGeom>
          <a:noFill/>
          <a:ln w="12700">
            <a:solidFill>
              <a:srgbClr val="CFC8B8"/>
            </a:solidFill>
            <a:prstDash val="solid"/>
          </a:ln>
        </p:spPr>
      </p:sp>
      <p:sp>
        <p:nvSpPr>
          <p:cNvPr id="31" name="f0_30"/>
          <p:cNvSpPr txBox="1"/>
          <p:nvPr/>
        </p:nvSpPr>
        <p:spPr>
          <a:xfrm>
            <a:off x="640080"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32" name="f0_31"/>
          <p:cNvSpPr txBox="1"/>
          <p:nvPr/>
        </p:nvSpPr>
        <p:spPr>
          <a:xfrm>
            <a:off x="640080"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Flood-aware route recommendations</a:t>
            </a:r>
            <a:endParaRPr lang="en-US" sz="1200" dirty="0"/>
          </a:p>
        </p:txBody>
      </p:sp>
      <p:sp>
        <p:nvSpPr>
          <p:cNvPr id="33" name="f1_32"/>
          <p:cNvSpPr/>
          <p:nvPr/>
        </p:nvSpPr>
        <p:spPr>
          <a:xfrm>
            <a:off x="2877251" y="5504688"/>
            <a:ext cx="1962851" cy="0"/>
          </a:xfrm>
          <a:prstGeom prst="line">
            <a:avLst/>
          </a:prstGeom>
          <a:noFill/>
          <a:ln w="12700">
            <a:solidFill>
              <a:srgbClr val="CFC8B8"/>
            </a:solidFill>
            <a:prstDash val="solid"/>
          </a:ln>
        </p:spPr>
      </p:sp>
      <p:sp>
        <p:nvSpPr>
          <p:cNvPr id="34" name="f1_33"/>
          <p:cNvSpPr txBox="1"/>
          <p:nvPr/>
        </p:nvSpPr>
        <p:spPr>
          <a:xfrm>
            <a:off x="2877251"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5" name="f1_34"/>
          <p:cNvSpPr txBox="1"/>
          <p:nvPr/>
        </p:nvSpPr>
        <p:spPr>
          <a:xfrm>
            <a:off x="2877251"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Evidence-based incident verification</a:t>
            </a:r>
            <a:endParaRPr lang="en-US" sz="1200" dirty="0"/>
          </a:p>
        </p:txBody>
      </p:sp>
      <p:sp>
        <p:nvSpPr>
          <p:cNvPr id="36" name="f2_35"/>
          <p:cNvSpPr/>
          <p:nvPr/>
        </p:nvSpPr>
        <p:spPr>
          <a:xfrm>
            <a:off x="5114422" y="5504688"/>
            <a:ext cx="1962851" cy="0"/>
          </a:xfrm>
          <a:prstGeom prst="line">
            <a:avLst/>
          </a:prstGeom>
          <a:noFill/>
          <a:ln w="12700">
            <a:solidFill>
              <a:srgbClr val="CFC8B8"/>
            </a:solidFill>
            <a:prstDash val="solid"/>
          </a:ln>
        </p:spPr>
      </p:sp>
      <p:sp>
        <p:nvSpPr>
          <p:cNvPr id="37" name="f2_36"/>
          <p:cNvSpPr txBox="1"/>
          <p:nvPr/>
        </p:nvSpPr>
        <p:spPr>
          <a:xfrm>
            <a:off x="5114422"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8" name="f2_37"/>
          <p:cNvSpPr txBox="1"/>
          <p:nvPr/>
        </p:nvSpPr>
        <p:spPr>
          <a:xfrm>
            <a:off x="5114422"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Explainable route decisions</a:t>
            </a:r>
            <a:endParaRPr lang="en-US" sz="1200" dirty="0"/>
          </a:p>
        </p:txBody>
      </p:sp>
      <p:sp>
        <p:nvSpPr>
          <p:cNvPr id="39" name="f3_38"/>
          <p:cNvSpPr/>
          <p:nvPr/>
        </p:nvSpPr>
        <p:spPr>
          <a:xfrm>
            <a:off x="7351593" y="5504688"/>
            <a:ext cx="1962851" cy="0"/>
          </a:xfrm>
          <a:prstGeom prst="line">
            <a:avLst/>
          </a:prstGeom>
          <a:noFill/>
          <a:ln w="12700">
            <a:solidFill>
              <a:srgbClr val="CFC8B8"/>
            </a:solidFill>
            <a:prstDash val="solid"/>
          </a:ln>
        </p:spPr>
      </p:sp>
      <p:sp>
        <p:nvSpPr>
          <p:cNvPr id="40" name="f3_39"/>
          <p:cNvSpPr txBox="1"/>
          <p:nvPr/>
        </p:nvSpPr>
        <p:spPr>
          <a:xfrm>
            <a:off x="7351593"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41" name="f3_40"/>
          <p:cNvSpPr txBox="1"/>
          <p:nvPr/>
        </p:nvSpPr>
        <p:spPr>
          <a:xfrm>
            <a:off x="7351593"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Dynamic rerouting as conditions change</a:t>
            </a:r>
            <a:endParaRPr lang="en-US" sz="1200" dirty="0"/>
          </a:p>
        </p:txBody>
      </p:sp>
      <p:sp>
        <p:nvSpPr>
          <p:cNvPr id="42" name="f4_41"/>
          <p:cNvSpPr/>
          <p:nvPr/>
        </p:nvSpPr>
        <p:spPr>
          <a:xfrm>
            <a:off x="9588764" y="5504688"/>
            <a:ext cx="1962851" cy="0"/>
          </a:xfrm>
          <a:prstGeom prst="line">
            <a:avLst/>
          </a:prstGeom>
          <a:noFill/>
          <a:ln w="12700">
            <a:solidFill>
              <a:srgbClr val="CFC8B8"/>
            </a:solidFill>
            <a:prstDash val="solid"/>
          </a:ln>
        </p:spPr>
      </p:sp>
      <p:sp>
        <p:nvSpPr>
          <p:cNvPr id="43" name="f4_42"/>
          <p:cNvSpPr txBox="1"/>
          <p:nvPr/>
        </p:nvSpPr>
        <p:spPr>
          <a:xfrm>
            <a:off x="9588764"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4" name="f4_43"/>
          <p:cNvSpPr txBox="1"/>
          <p:nvPr/>
        </p:nvSpPr>
        <p:spPr>
          <a:xfrm>
            <a:off x="9588764"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Alternatives when a destination becomes unreachable</a:t>
            </a:r>
            <a:endParaRPr lang="en-US" sz="1200" dirty="0"/>
          </a:p>
        </p:txBody>
      </p:sp>
      <p:sp>
        <p:nvSpPr>
          <p:cNvPr id="45" name="jn_44"/>
          <p:cNvSpPr/>
          <p:nvPr/>
        </p:nvSpPr>
        <p:spPr>
          <a:xfrm>
            <a:off x="4343400" y="6537960"/>
            <a:ext cx="3520440" cy="0"/>
          </a:xfrm>
          <a:prstGeom prst="line">
            <a:avLst/>
          </a:prstGeom>
          <a:noFill/>
          <a:ln w="12700">
            <a:solidFill>
              <a:srgbClr val="D2CBBB"/>
            </a:solidFill>
            <a:prstDash val="solid"/>
          </a:ln>
        </p:spPr>
      </p:sp>
      <p:sp>
        <p:nvSpPr>
          <p:cNvPr id="46" name="jn_45"/>
          <p:cNvSpPr/>
          <p:nvPr/>
        </p:nvSpPr>
        <p:spPr>
          <a:xfrm>
            <a:off x="4306824" y="6501384"/>
            <a:ext cx="73152" cy="73152"/>
          </a:xfrm>
          <a:prstGeom prst="ellipse">
            <a:avLst/>
          </a:prstGeom>
          <a:solidFill>
            <a:srgbClr val="B8B1A0"/>
          </a:solidFill>
          <a:ln/>
        </p:spPr>
      </p:sp>
      <p:sp>
        <p:nvSpPr>
          <p:cNvPr id="47" name="jn_46"/>
          <p:cNvSpPr/>
          <p:nvPr/>
        </p:nvSpPr>
        <p:spPr>
          <a:xfrm>
            <a:off x="5010912" y="6501384"/>
            <a:ext cx="73152" cy="73152"/>
          </a:xfrm>
          <a:prstGeom prst="ellipse">
            <a:avLst/>
          </a:prstGeom>
          <a:solidFill>
            <a:srgbClr val="B8B1A0"/>
          </a:solidFill>
          <a:ln/>
        </p:spPr>
      </p:sp>
      <p:sp>
        <p:nvSpPr>
          <p:cNvPr id="48" name="jn_47"/>
          <p:cNvSpPr/>
          <p:nvPr/>
        </p:nvSpPr>
        <p:spPr>
          <a:xfrm>
            <a:off x="5715000" y="6501384"/>
            <a:ext cx="73152" cy="73152"/>
          </a:xfrm>
          <a:prstGeom prst="ellipse">
            <a:avLst/>
          </a:prstGeom>
          <a:solidFill>
            <a:srgbClr val="B8B1A0"/>
          </a:solidFill>
          <a:ln/>
        </p:spPr>
      </p:sp>
      <p:sp>
        <p:nvSpPr>
          <p:cNvPr id="49" name="jn_48"/>
          <p:cNvSpPr/>
          <p:nvPr/>
        </p:nvSpPr>
        <p:spPr>
          <a:xfrm>
            <a:off x="6419088" y="6501384"/>
            <a:ext cx="73152" cy="73152"/>
          </a:xfrm>
          <a:prstGeom prst="ellipse">
            <a:avLst/>
          </a:prstGeom>
          <a:solidFill>
            <a:srgbClr val="B8B1A0"/>
          </a:solidFill>
          <a:ln/>
        </p:spPr>
      </p:sp>
      <p:sp>
        <p:nvSpPr>
          <p:cNvPr id="50" name="jn_49"/>
          <p:cNvSpPr/>
          <p:nvPr/>
        </p:nvSpPr>
        <p:spPr>
          <a:xfrm>
            <a:off x="7123176" y="6501384"/>
            <a:ext cx="73152" cy="73152"/>
          </a:xfrm>
          <a:prstGeom prst="ellipse">
            <a:avLst/>
          </a:prstGeom>
          <a:solidFill>
            <a:srgbClr val="B8B1A0"/>
          </a:solidFill>
          <a:ln/>
        </p:spPr>
      </p:sp>
      <p:sp>
        <p:nvSpPr>
          <p:cNvPr id="51" name="jn_50"/>
          <p:cNvSpPr/>
          <p:nvPr/>
        </p:nvSpPr>
        <p:spPr>
          <a:xfrm>
            <a:off x="7827264" y="6501384"/>
            <a:ext cx="73152" cy="73152"/>
          </a:xfrm>
          <a:prstGeom prst="ellipse">
            <a:avLst/>
          </a:prstGeom>
          <a:solidFill>
            <a:srgbClr val="B8B1A0"/>
          </a:solidFill>
          <a:ln/>
        </p:spPr>
      </p:sp>
      <p:sp>
        <p:nvSpPr>
          <p:cNvPr id="52" name="jdot_51"/>
          <p:cNvSpPr/>
          <p:nvPr/>
        </p:nvSpPr>
        <p:spPr>
          <a:xfrm>
            <a:off x="4256532" y="6451092"/>
            <a:ext cx="173736" cy="173736"/>
          </a:xfrm>
          <a:prstGeom prst="ellipse">
            <a:avLst/>
          </a:prstGeom>
          <a:solidFill>
            <a:schemeClr val="accent1"/>
          </a:solidFill>
          <a:ln w="28575">
            <a:solidFill>
              <a:srgbClr val="F7F5F0"/>
            </a:solidFill>
            <a:prstDash val="solid"/>
          </a:ln>
        </p:spPr>
      </p:sp>
      <p:sp>
        <p:nvSpPr>
          <p:cNvPr id="53" name="Text 46"/>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01 / 06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5"/>
                                        </p:tgtEl>
                                        <p:attrNameLst>
                                          <p:attrName>style.visibility</p:attrName>
                                        </p:attrNameLst>
                                      </p:cBhvr>
                                      <p:to>
                                        <p:strVal val="visible"/>
                                      </p:to>
                                    </p:set>
                                    <p:animEffect transition="in" filter="fade">
                                      <p:cBhvr>
                                        <p:cTn id="9" dur="500"/>
                                        <p:tgtEl>
                                          <p:spTgt spid="45"/>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31" presetID="10" presetClass="entr" presetSubtype="0" fill="hold" grpId="0" nodeType="withEffect">
                                  <p:stCondLst>
                                    <p:cond delay="23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4" presetID="10" presetClass="entr" presetSubtype="0" fill="hold" grpId="0" nodeType="withEffect">
                                  <p:stCondLst>
                                    <p:cond delay="31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8" presetID="42" presetClass="entr" presetSubtype="0" fill="hold" grpId="0" nodeType="withEffect">
                                  <p:stCondLst>
                                    <p:cond delay="45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700" fill="hold"/>
                                        <p:tgtEl>
                                          <p:spTgt spid="9"/>
                                        </p:tgtEl>
                                        <p:attrNameLst>
                                          <p:attrName>ppt_y</p:attrName>
                                        </p:attrNameLst>
                                      </p:cBhvr>
                                      <p:tavLst>
                                        <p:tav tm="0">
                                          <p:val>
                                            <p:strVal val="#ppt_y+.06"/>
                                          </p:val>
                                        </p:tav>
                                        <p:tav tm="100000">
                                          <p:val>
                                            <p:strVal val="#ppt_y"/>
                                          </p:val>
                                        </p:tav>
                                      </p:tavLst>
                                    </p:anim>
                                    <p:animEffect transition="in" filter="fade">
                                      <p:cBhvr>
                                        <p:cTn id="37" dur="700"/>
                                        <p:tgtEl>
                                          <p:spTgt spid="9"/>
                                        </p:tgtEl>
                                      </p:cBhvr>
                                    </p:animEffect>
                                  </p:childTnLst>
                                </p:cTn>
                              </p:par>
                              <p:par>
                                <p:cTn id="42" presetID="42" presetClass="entr" presetSubtype="0"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600" fill="hold"/>
                                        <p:tgtEl>
                                          <p:spTgt spid="10"/>
                                        </p:tgtEl>
                                        <p:attrNameLst>
                                          <p:attrName>ppt_y</p:attrName>
                                        </p:attrNameLst>
                                      </p:cBhvr>
                                      <p:tavLst>
                                        <p:tav tm="0">
                                          <p:val>
                                            <p:strVal val="#ppt_y+.06"/>
                                          </p:val>
                                        </p:tav>
                                        <p:tav tm="100000">
                                          <p:val>
                                            <p:strVal val="#ppt_y"/>
                                          </p:val>
                                        </p:tav>
                                      </p:tavLst>
                                    </p:anim>
                                    <p:animEffect transition="in" filter="fade">
                                      <p:cBhvr>
                                        <p:cTn id="41" dur="600"/>
                                        <p:tgtEl>
                                          <p:spTgt spid="10"/>
                                        </p:tgtEl>
                                      </p:cBhvr>
                                    </p:animEffect>
                                  </p:childTnLst>
                                </p:cTn>
                              </p:par>
                              <p:par>
                                <p:cTn id="45" presetID="10" presetClass="entr" presetSubtype="0" fill="hold" grpId="0" nodeType="withEffect">
                                  <p:stCondLst>
                                    <p:cond delay="9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p:tgtEl>
                                          <p:spTgt spid="11"/>
                                        </p:tgtEl>
                                      </p:cBhvr>
                                    </p:animEffect>
                                  </p:childTnLst>
                                </p:cTn>
                              </p:par>
                              <p:par>
                                <p:cTn id="48" presetID="10" presetClass="entr" presetSubtype="0" fill="hold" grpId="0" nodeType="withEffect">
                                  <p:stCondLst>
                                    <p:cond delay="9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00"/>
                                        <p:tgtEl>
                                          <p:spTgt spid="12"/>
                                        </p:tgtEl>
                                      </p:cBhvr>
                                    </p:animEffect>
                                  </p:childTnLst>
                                </p:cTn>
                              </p:par>
                              <p:par>
                                <p:cTn id="51" presetID="10" presetClass="entr" presetSubtype="0" fill="hold" grpId="0" nodeType="withEffect">
                                  <p:stCondLst>
                                    <p:cond delay="9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4" presetID="22" presetClass="entr" presetSubtype="8" fill="hold" nodeType="withEffect">
                                  <p:stCondLst>
                                    <p:cond delay="120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1000"/>
                                        <p:tgtEl>
                                          <p:spTgt spid="3"/>
                                        </p:tgtEl>
                                      </p:cBhvr>
                                    </p:animEffect>
                                  </p:childTnLst>
                                </p:cTn>
                              </p:par>
                              <p:par>
                                <p:cTn id="57" presetID="22" presetClass="entr" presetSubtype="8" fill="hold" nodeType="withEffect">
                                  <p:stCondLst>
                                    <p:cond delay="1700"/>
                                  </p:stCondLst>
                                  <p:childTnLst>
                                    <p:set>
                                      <p:cBhvr>
                                        <p:cTn id="55" dur="1" fill="hold">
                                          <p:stCondLst>
                                            <p:cond delay="0"/>
                                          </p:stCondLst>
                                        </p:cTn>
                                        <p:tgtEl>
                                          <p:spTgt spid="4"/>
                                        </p:tgtEl>
                                        <p:attrNameLst>
                                          <p:attrName>style.visibility</p:attrName>
                                        </p:attrNameLst>
                                      </p:cBhvr>
                                      <p:to>
                                        <p:strVal val="visible"/>
                                      </p:to>
                                    </p:set>
                                    <p:animEffect transition="in" filter="wipe(left)">
                                      <p:cBhvr>
                                        <p:cTn id="56" dur="1000"/>
                                        <p:tgtEl>
                                          <p:spTgt spid="4"/>
                                        </p:tgtEl>
                                      </p:cBhvr>
                                    </p:animEffect>
                                  </p:childTnLst>
                                </p:cTn>
                              </p:par>
                              <p:par>
                                <p:cTn id="60" presetID="22" presetClass="entr" presetSubtype="8" fill="hold" nodeType="withEffect">
                                  <p:stCondLst>
                                    <p:cond delay="230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1300"/>
                                        <p:tgtEl>
                                          <p:spTgt spid="5"/>
                                        </p:tgtEl>
                                      </p:cBhvr>
                                    </p:animEffect>
                                  </p:childTnLst>
                                </p:cTn>
                              </p:par>
                              <p:par>
                                <p:cTn id="64" presetID="42" presetClass="entr" presetSubtype="0" fill="hold" grpId="0" nodeType="withEffect">
                                  <p:stCondLst>
                                    <p:cond delay="230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ppt_y</p:attrName>
                                        </p:attrNameLst>
                                      </p:cBhvr>
                                      <p:tavLst>
                                        <p:tav tm="0">
                                          <p:val>
                                            <p:strVal val="#ppt_y+.06"/>
                                          </p:val>
                                        </p:tav>
                                        <p:tav tm="100000">
                                          <p:val>
                                            <p:strVal val="#ppt_y"/>
                                          </p:val>
                                        </p:tav>
                                      </p:tavLst>
                                    </p:anim>
                                    <p:animEffect transition="in" filter="fade">
                                      <p:cBhvr>
                                        <p:cTn id="63" dur="500"/>
                                        <p:tgtEl>
                                          <p:spTgt spid="15"/>
                                        </p:tgtEl>
                                      </p:cBhvr>
                                    </p:animEffect>
                                  </p:childTnLst>
                                </p:cTn>
                              </p:par>
                              <p:par>
                                <p:cTn id="68" presetID="42" presetClass="entr" presetSubtype="0" fill="hold" grpId="0" nodeType="withEffect">
                                  <p:stCondLst>
                                    <p:cond delay="23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ppt_y</p:attrName>
                                        </p:attrNameLst>
                                      </p:cBhvr>
                                      <p:tavLst>
                                        <p:tav tm="0">
                                          <p:val>
                                            <p:strVal val="#ppt_y+.06"/>
                                          </p:val>
                                        </p:tav>
                                        <p:tav tm="100000">
                                          <p:val>
                                            <p:strVal val="#ppt_y"/>
                                          </p:val>
                                        </p:tav>
                                      </p:tavLst>
                                    </p:anim>
                                    <p:animEffect transition="in" filter="fade">
                                      <p:cBhvr>
                                        <p:cTn id="67" dur="500"/>
                                        <p:tgtEl>
                                          <p:spTgt spid="18"/>
                                        </p:tgtEl>
                                      </p:cBhvr>
                                    </p:animEffect>
                                  </p:childTnLst>
                                </p:cTn>
                              </p:par>
                              <p:par>
                                <p:cTn id="72" presetID="42" presetClass="entr" presetSubtype="0" fill="hold" grpId="0" nodeType="withEffect">
                                  <p:stCondLst>
                                    <p:cond delay="23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ppt_y</p:attrName>
                                        </p:attrNameLst>
                                      </p:cBhvr>
                                      <p:tavLst>
                                        <p:tav tm="0">
                                          <p:val>
                                            <p:strVal val="#ppt_y+.06"/>
                                          </p:val>
                                        </p:tav>
                                        <p:tav tm="100000">
                                          <p:val>
                                            <p:strVal val="#ppt_y"/>
                                          </p:val>
                                        </p:tav>
                                      </p:tavLst>
                                    </p:anim>
                                    <p:animEffect transition="in" filter="fade">
                                      <p:cBhvr>
                                        <p:cTn id="71" dur="500"/>
                                        <p:tgtEl>
                                          <p:spTgt spid="19"/>
                                        </p:tgtEl>
                                      </p:cBhvr>
                                    </p:animEffect>
                                  </p:childTnLst>
                                </p:cTn>
                              </p:par>
                              <p:par>
                                <p:cTn id="76" presetID="42" presetClass="entr" presetSubtype="0" fill="hold" grpId="0" nodeType="withEffect">
                                  <p:stCondLst>
                                    <p:cond delay="23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ppt_y</p:attrName>
                                        </p:attrNameLst>
                                      </p:cBhvr>
                                      <p:tavLst>
                                        <p:tav tm="0">
                                          <p:val>
                                            <p:strVal val="#ppt_y+.06"/>
                                          </p:val>
                                        </p:tav>
                                        <p:tav tm="100000">
                                          <p:val>
                                            <p:strVal val="#ppt_y"/>
                                          </p:val>
                                        </p:tav>
                                      </p:tavLst>
                                    </p:anim>
                                    <p:animEffect transition="in" filter="fade">
                                      <p:cBhvr>
                                        <p:cTn id="75" dur="500"/>
                                        <p:tgtEl>
                                          <p:spTgt spid="20"/>
                                        </p:tgtEl>
                                      </p:cBhvr>
                                    </p:animEffect>
                                  </p:childTnLst>
                                </p:cTn>
                              </p:par>
                              <p:par>
                                <p:cTn id="80" presetID="42" presetClass="entr" presetSubtype="0" fill="hold" grpId="0" nodeType="withEffect">
                                  <p:stCondLst>
                                    <p:cond delay="230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ppt_y</p:attrName>
                                        </p:attrNameLst>
                                      </p:cBhvr>
                                      <p:tavLst>
                                        <p:tav tm="0">
                                          <p:val>
                                            <p:strVal val="#ppt_y+.06"/>
                                          </p:val>
                                        </p:tav>
                                        <p:tav tm="100000">
                                          <p:val>
                                            <p:strVal val="#ppt_y"/>
                                          </p:val>
                                        </p:tav>
                                      </p:tavLst>
                                    </p:anim>
                                    <p:animEffect transition="in" filter="fade">
                                      <p:cBhvr>
                                        <p:cTn id="79" dur="500"/>
                                        <p:tgtEl>
                                          <p:spTgt spid="21"/>
                                        </p:tgtEl>
                                      </p:cBhvr>
                                    </p:animEffect>
                                  </p:childTnLst>
                                </p:cTn>
                              </p:par>
                              <p:par>
                                <p:cTn id="84" presetID="42" presetClass="entr" presetSubtype="0" fill="hold" grpId="0" nodeType="withEffect">
                                  <p:stCondLst>
                                    <p:cond delay="280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500" fill="hold"/>
                                        <p:tgtEl>
                                          <p:spTgt spid="26"/>
                                        </p:tgtEl>
                                        <p:attrNameLst>
                                          <p:attrName>ppt_y</p:attrName>
                                        </p:attrNameLst>
                                      </p:cBhvr>
                                      <p:tavLst>
                                        <p:tav tm="0">
                                          <p:val>
                                            <p:strVal val="#ppt_y+.06"/>
                                          </p:val>
                                        </p:tav>
                                        <p:tav tm="100000">
                                          <p:val>
                                            <p:strVal val="#ppt_y"/>
                                          </p:val>
                                        </p:tav>
                                      </p:tavLst>
                                    </p:anim>
                                    <p:animEffect transition="in" filter="fade">
                                      <p:cBhvr>
                                        <p:cTn id="83" dur="500"/>
                                        <p:tgtEl>
                                          <p:spTgt spid="26"/>
                                        </p:tgtEl>
                                      </p:cBhvr>
                                    </p:animEffect>
                                  </p:childTnLst>
                                </p:cTn>
                              </p:par>
                              <p:par>
                                <p:cTn id="88" presetID="42" presetClass="entr" presetSubtype="0" fill="hold" grpId="0" nodeType="withEffect">
                                  <p:stCondLst>
                                    <p:cond delay="280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ppt_y</p:attrName>
                                        </p:attrNameLst>
                                      </p:cBhvr>
                                      <p:tavLst>
                                        <p:tav tm="0">
                                          <p:val>
                                            <p:strVal val="#ppt_y+.06"/>
                                          </p:val>
                                        </p:tav>
                                        <p:tav tm="100000">
                                          <p:val>
                                            <p:strVal val="#ppt_y"/>
                                          </p:val>
                                        </p:tav>
                                      </p:tavLst>
                                    </p:anim>
                                    <p:animEffect transition="in" filter="fade">
                                      <p:cBhvr>
                                        <p:cTn id="87" dur="500"/>
                                        <p:tgtEl>
                                          <p:spTgt spid="27"/>
                                        </p:tgtEl>
                                      </p:cBhvr>
                                    </p:animEffect>
                                  </p:childTnLst>
                                </p:cTn>
                              </p:par>
                              <p:par>
                                <p:cTn id="92" presetID="42" presetClass="entr" presetSubtype="0" fill="hold" grpId="0" nodeType="withEffect">
                                  <p:stCondLst>
                                    <p:cond delay="280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ppt_y</p:attrName>
                                        </p:attrNameLst>
                                      </p:cBhvr>
                                      <p:tavLst>
                                        <p:tav tm="0">
                                          <p:val>
                                            <p:strVal val="#ppt_y+.06"/>
                                          </p:val>
                                        </p:tav>
                                        <p:tav tm="100000">
                                          <p:val>
                                            <p:strVal val="#ppt_y"/>
                                          </p:val>
                                        </p:tav>
                                      </p:tavLst>
                                    </p:anim>
                                    <p:animEffect transition="in" filter="fade">
                                      <p:cBhvr>
                                        <p:cTn id="91" dur="500"/>
                                        <p:tgtEl>
                                          <p:spTgt spid="28"/>
                                        </p:tgtEl>
                                      </p:cBhvr>
                                    </p:animEffect>
                                  </p:childTnLst>
                                </p:cTn>
                              </p:par>
                              <p:par>
                                <p:cTn id="96" presetID="42" presetClass="entr" presetSubtype="0" fill="hold" grpId="0" nodeType="withEffect">
                                  <p:stCondLst>
                                    <p:cond delay="280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500" fill="hold"/>
                                        <p:tgtEl>
                                          <p:spTgt spid="29"/>
                                        </p:tgtEl>
                                        <p:attrNameLst>
                                          <p:attrName>ppt_y</p:attrName>
                                        </p:attrNameLst>
                                      </p:cBhvr>
                                      <p:tavLst>
                                        <p:tav tm="0">
                                          <p:val>
                                            <p:strVal val="#ppt_y+.06"/>
                                          </p:val>
                                        </p:tav>
                                        <p:tav tm="100000">
                                          <p:val>
                                            <p:strVal val="#ppt_y"/>
                                          </p:val>
                                        </p:tav>
                                      </p:tavLst>
                                    </p:anim>
                                    <p:animEffect transition="in" filter="fade">
                                      <p:cBhvr>
                                        <p:cTn id="95" dur="500"/>
                                        <p:tgtEl>
                                          <p:spTgt spid="29"/>
                                        </p:tgtEl>
                                      </p:cBhvr>
                                    </p:animEffect>
                                  </p:childTnLst>
                                </p:cTn>
                              </p:par>
                              <p:par>
                                <p:cTn id="100" presetID="42" presetClass="entr" presetSubtype="0" fill="hold" grpId="0" nodeType="withEffect">
                                  <p:stCondLst>
                                    <p:cond delay="310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450" fill="hold"/>
                                        <p:tgtEl>
                                          <p:spTgt spid="30"/>
                                        </p:tgtEl>
                                        <p:attrNameLst>
                                          <p:attrName>ppt_y</p:attrName>
                                        </p:attrNameLst>
                                      </p:cBhvr>
                                      <p:tavLst>
                                        <p:tav tm="0">
                                          <p:val>
                                            <p:strVal val="#ppt_y+.06"/>
                                          </p:val>
                                        </p:tav>
                                        <p:tav tm="100000">
                                          <p:val>
                                            <p:strVal val="#ppt_y"/>
                                          </p:val>
                                        </p:tav>
                                      </p:tavLst>
                                    </p:anim>
                                    <p:animEffect transition="in" filter="fade">
                                      <p:cBhvr>
                                        <p:cTn id="99" dur="450"/>
                                        <p:tgtEl>
                                          <p:spTgt spid="30"/>
                                        </p:tgtEl>
                                      </p:cBhvr>
                                    </p:animEffect>
                                  </p:childTnLst>
                                </p:cTn>
                              </p:par>
                              <p:par>
                                <p:cTn id="104" presetID="42" presetClass="entr" presetSubtype="0" fill="hold" grpId="0" nodeType="withEffect">
                                  <p:stCondLst>
                                    <p:cond delay="310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450" fill="hold"/>
                                        <p:tgtEl>
                                          <p:spTgt spid="31"/>
                                        </p:tgtEl>
                                        <p:attrNameLst>
                                          <p:attrName>ppt_y</p:attrName>
                                        </p:attrNameLst>
                                      </p:cBhvr>
                                      <p:tavLst>
                                        <p:tav tm="0">
                                          <p:val>
                                            <p:strVal val="#ppt_y+.06"/>
                                          </p:val>
                                        </p:tav>
                                        <p:tav tm="100000">
                                          <p:val>
                                            <p:strVal val="#ppt_y"/>
                                          </p:val>
                                        </p:tav>
                                      </p:tavLst>
                                    </p:anim>
                                    <p:animEffect transition="in" filter="fade">
                                      <p:cBhvr>
                                        <p:cTn id="103" dur="450"/>
                                        <p:tgtEl>
                                          <p:spTgt spid="31"/>
                                        </p:tgtEl>
                                      </p:cBhvr>
                                    </p:animEffect>
                                  </p:childTnLst>
                                </p:cTn>
                              </p:par>
                              <p:par>
                                <p:cTn id="108" presetID="42" presetClass="entr" presetSubtype="0" fill="hold" grpId="0" nodeType="withEffect">
                                  <p:stCondLst>
                                    <p:cond delay="3100"/>
                                  </p:stCondLst>
                                  <p:childTnLst>
                                    <p:set>
                                      <p:cBhvr>
                                        <p:cTn id="105" dur="1" fill="hold">
                                          <p:stCondLst>
                                            <p:cond delay="0"/>
                                          </p:stCondLst>
                                        </p:cTn>
                                        <p:tgtEl>
                                          <p:spTgt spid="32"/>
                                        </p:tgtEl>
                                        <p:attrNameLst>
                                          <p:attrName>style.visibility</p:attrName>
                                        </p:attrNameLst>
                                      </p:cBhvr>
                                      <p:to>
                                        <p:strVal val="visible"/>
                                      </p:to>
                                    </p:set>
                                    <p:anim calcmode="lin" valueType="num">
                                      <p:cBhvr additive="base">
                                        <p:cTn id="106" dur="450" fill="hold"/>
                                        <p:tgtEl>
                                          <p:spTgt spid="32"/>
                                        </p:tgtEl>
                                        <p:attrNameLst>
                                          <p:attrName>ppt_y</p:attrName>
                                        </p:attrNameLst>
                                      </p:cBhvr>
                                      <p:tavLst>
                                        <p:tav tm="0">
                                          <p:val>
                                            <p:strVal val="#ppt_y+.06"/>
                                          </p:val>
                                        </p:tav>
                                        <p:tav tm="100000">
                                          <p:val>
                                            <p:strVal val="#ppt_y"/>
                                          </p:val>
                                        </p:tav>
                                      </p:tavLst>
                                    </p:anim>
                                    <p:animEffect transition="in" filter="fade">
                                      <p:cBhvr>
                                        <p:cTn id="107" dur="450"/>
                                        <p:tgtEl>
                                          <p:spTgt spid="32"/>
                                        </p:tgtEl>
                                      </p:cBhvr>
                                    </p:animEffect>
                                  </p:childTnLst>
                                </p:cTn>
                              </p:par>
                              <p:par>
                                <p:cTn id="112" presetID="42" presetClass="entr" presetSubtype="0" fill="hold" grpId="0" nodeType="withEffect">
                                  <p:stCondLst>
                                    <p:cond delay="323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450" fill="hold"/>
                                        <p:tgtEl>
                                          <p:spTgt spid="33"/>
                                        </p:tgtEl>
                                        <p:attrNameLst>
                                          <p:attrName>ppt_y</p:attrName>
                                        </p:attrNameLst>
                                      </p:cBhvr>
                                      <p:tavLst>
                                        <p:tav tm="0">
                                          <p:val>
                                            <p:strVal val="#ppt_y+.06"/>
                                          </p:val>
                                        </p:tav>
                                        <p:tav tm="100000">
                                          <p:val>
                                            <p:strVal val="#ppt_y"/>
                                          </p:val>
                                        </p:tav>
                                      </p:tavLst>
                                    </p:anim>
                                    <p:animEffect transition="in" filter="fade">
                                      <p:cBhvr>
                                        <p:cTn id="111" dur="450"/>
                                        <p:tgtEl>
                                          <p:spTgt spid="33"/>
                                        </p:tgtEl>
                                      </p:cBhvr>
                                    </p:animEffect>
                                  </p:childTnLst>
                                </p:cTn>
                              </p:par>
                              <p:par>
                                <p:cTn id="116" presetID="42" presetClass="entr" presetSubtype="0" fill="hold" grpId="0" nodeType="withEffect">
                                  <p:stCondLst>
                                    <p:cond delay="323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450" fill="hold"/>
                                        <p:tgtEl>
                                          <p:spTgt spid="34"/>
                                        </p:tgtEl>
                                        <p:attrNameLst>
                                          <p:attrName>ppt_y</p:attrName>
                                        </p:attrNameLst>
                                      </p:cBhvr>
                                      <p:tavLst>
                                        <p:tav tm="0">
                                          <p:val>
                                            <p:strVal val="#ppt_y+.06"/>
                                          </p:val>
                                        </p:tav>
                                        <p:tav tm="100000">
                                          <p:val>
                                            <p:strVal val="#ppt_y"/>
                                          </p:val>
                                        </p:tav>
                                      </p:tavLst>
                                    </p:anim>
                                    <p:animEffect transition="in" filter="fade">
                                      <p:cBhvr>
                                        <p:cTn id="115" dur="450"/>
                                        <p:tgtEl>
                                          <p:spTgt spid="34"/>
                                        </p:tgtEl>
                                      </p:cBhvr>
                                    </p:animEffect>
                                  </p:childTnLst>
                                </p:cTn>
                              </p:par>
                              <p:par>
                                <p:cTn id="120" presetID="42" presetClass="entr" presetSubtype="0" fill="hold" grpId="0" nodeType="withEffect">
                                  <p:stCondLst>
                                    <p:cond delay="3230"/>
                                  </p:stCondLst>
                                  <p:childTnLst>
                                    <p:set>
                                      <p:cBhvr>
                                        <p:cTn id="117" dur="1" fill="hold">
                                          <p:stCondLst>
                                            <p:cond delay="0"/>
                                          </p:stCondLst>
                                        </p:cTn>
                                        <p:tgtEl>
                                          <p:spTgt spid="35"/>
                                        </p:tgtEl>
                                        <p:attrNameLst>
                                          <p:attrName>style.visibility</p:attrName>
                                        </p:attrNameLst>
                                      </p:cBhvr>
                                      <p:to>
                                        <p:strVal val="visible"/>
                                      </p:to>
                                    </p:set>
                                    <p:anim calcmode="lin" valueType="num">
                                      <p:cBhvr additive="base">
                                        <p:cTn id="118" dur="450" fill="hold"/>
                                        <p:tgtEl>
                                          <p:spTgt spid="35"/>
                                        </p:tgtEl>
                                        <p:attrNameLst>
                                          <p:attrName>ppt_y</p:attrName>
                                        </p:attrNameLst>
                                      </p:cBhvr>
                                      <p:tavLst>
                                        <p:tav tm="0">
                                          <p:val>
                                            <p:strVal val="#ppt_y+.06"/>
                                          </p:val>
                                        </p:tav>
                                        <p:tav tm="100000">
                                          <p:val>
                                            <p:strVal val="#ppt_y"/>
                                          </p:val>
                                        </p:tav>
                                      </p:tavLst>
                                    </p:anim>
                                    <p:animEffect transition="in" filter="fade">
                                      <p:cBhvr>
                                        <p:cTn id="119" dur="450"/>
                                        <p:tgtEl>
                                          <p:spTgt spid="35"/>
                                        </p:tgtEl>
                                      </p:cBhvr>
                                    </p:animEffect>
                                  </p:childTnLst>
                                </p:cTn>
                              </p:par>
                              <p:par>
                                <p:cTn id="124" presetID="42" presetClass="entr" presetSubtype="0" fill="hold" grpId="0" nodeType="withEffect">
                                  <p:stCondLst>
                                    <p:cond delay="336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450" fill="hold"/>
                                        <p:tgtEl>
                                          <p:spTgt spid="36"/>
                                        </p:tgtEl>
                                        <p:attrNameLst>
                                          <p:attrName>ppt_y</p:attrName>
                                        </p:attrNameLst>
                                      </p:cBhvr>
                                      <p:tavLst>
                                        <p:tav tm="0">
                                          <p:val>
                                            <p:strVal val="#ppt_y+.06"/>
                                          </p:val>
                                        </p:tav>
                                        <p:tav tm="100000">
                                          <p:val>
                                            <p:strVal val="#ppt_y"/>
                                          </p:val>
                                        </p:tav>
                                      </p:tavLst>
                                    </p:anim>
                                    <p:animEffect transition="in" filter="fade">
                                      <p:cBhvr>
                                        <p:cTn id="123" dur="450"/>
                                        <p:tgtEl>
                                          <p:spTgt spid="36"/>
                                        </p:tgtEl>
                                      </p:cBhvr>
                                    </p:animEffect>
                                  </p:childTnLst>
                                </p:cTn>
                              </p:par>
                              <p:par>
                                <p:cTn id="128" presetID="42" presetClass="entr" presetSubtype="0" fill="hold" grpId="0" nodeType="withEffect">
                                  <p:stCondLst>
                                    <p:cond delay="3360"/>
                                  </p:stCondLst>
                                  <p:childTnLst>
                                    <p:set>
                                      <p:cBhvr>
                                        <p:cTn id="125" dur="1" fill="hold">
                                          <p:stCondLst>
                                            <p:cond delay="0"/>
                                          </p:stCondLst>
                                        </p:cTn>
                                        <p:tgtEl>
                                          <p:spTgt spid="37"/>
                                        </p:tgtEl>
                                        <p:attrNameLst>
                                          <p:attrName>style.visibility</p:attrName>
                                        </p:attrNameLst>
                                      </p:cBhvr>
                                      <p:to>
                                        <p:strVal val="visible"/>
                                      </p:to>
                                    </p:set>
                                    <p:anim calcmode="lin" valueType="num">
                                      <p:cBhvr additive="base">
                                        <p:cTn id="126" dur="450" fill="hold"/>
                                        <p:tgtEl>
                                          <p:spTgt spid="37"/>
                                        </p:tgtEl>
                                        <p:attrNameLst>
                                          <p:attrName>ppt_y</p:attrName>
                                        </p:attrNameLst>
                                      </p:cBhvr>
                                      <p:tavLst>
                                        <p:tav tm="0">
                                          <p:val>
                                            <p:strVal val="#ppt_y+.06"/>
                                          </p:val>
                                        </p:tav>
                                        <p:tav tm="100000">
                                          <p:val>
                                            <p:strVal val="#ppt_y"/>
                                          </p:val>
                                        </p:tav>
                                      </p:tavLst>
                                    </p:anim>
                                    <p:animEffect transition="in" filter="fade">
                                      <p:cBhvr>
                                        <p:cTn id="127" dur="450"/>
                                        <p:tgtEl>
                                          <p:spTgt spid="37"/>
                                        </p:tgtEl>
                                      </p:cBhvr>
                                    </p:animEffect>
                                  </p:childTnLst>
                                </p:cTn>
                              </p:par>
                              <p:par>
                                <p:cTn id="132" presetID="42" presetClass="entr" presetSubtype="0" fill="hold" grpId="0" nodeType="withEffect">
                                  <p:stCondLst>
                                    <p:cond delay="3360"/>
                                  </p:stCondLst>
                                  <p:childTnLst>
                                    <p:set>
                                      <p:cBhvr>
                                        <p:cTn id="129" dur="1" fill="hold">
                                          <p:stCondLst>
                                            <p:cond delay="0"/>
                                          </p:stCondLst>
                                        </p:cTn>
                                        <p:tgtEl>
                                          <p:spTgt spid="38"/>
                                        </p:tgtEl>
                                        <p:attrNameLst>
                                          <p:attrName>style.visibility</p:attrName>
                                        </p:attrNameLst>
                                      </p:cBhvr>
                                      <p:to>
                                        <p:strVal val="visible"/>
                                      </p:to>
                                    </p:set>
                                    <p:anim calcmode="lin" valueType="num">
                                      <p:cBhvr additive="base">
                                        <p:cTn id="130" dur="450" fill="hold"/>
                                        <p:tgtEl>
                                          <p:spTgt spid="38"/>
                                        </p:tgtEl>
                                        <p:attrNameLst>
                                          <p:attrName>ppt_y</p:attrName>
                                        </p:attrNameLst>
                                      </p:cBhvr>
                                      <p:tavLst>
                                        <p:tav tm="0">
                                          <p:val>
                                            <p:strVal val="#ppt_y+.06"/>
                                          </p:val>
                                        </p:tav>
                                        <p:tav tm="100000">
                                          <p:val>
                                            <p:strVal val="#ppt_y"/>
                                          </p:val>
                                        </p:tav>
                                      </p:tavLst>
                                    </p:anim>
                                    <p:animEffect transition="in" filter="fade">
                                      <p:cBhvr>
                                        <p:cTn id="131" dur="450"/>
                                        <p:tgtEl>
                                          <p:spTgt spid="38"/>
                                        </p:tgtEl>
                                      </p:cBhvr>
                                    </p:animEffect>
                                  </p:childTnLst>
                                </p:cTn>
                              </p:par>
                              <p:par>
                                <p:cTn id="136" presetID="42" presetClass="entr" presetSubtype="0" fill="hold" grpId="0" nodeType="withEffect">
                                  <p:stCondLst>
                                    <p:cond delay="349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450" fill="hold"/>
                                        <p:tgtEl>
                                          <p:spTgt spid="39"/>
                                        </p:tgtEl>
                                        <p:attrNameLst>
                                          <p:attrName>ppt_y</p:attrName>
                                        </p:attrNameLst>
                                      </p:cBhvr>
                                      <p:tavLst>
                                        <p:tav tm="0">
                                          <p:val>
                                            <p:strVal val="#ppt_y+.06"/>
                                          </p:val>
                                        </p:tav>
                                        <p:tav tm="100000">
                                          <p:val>
                                            <p:strVal val="#ppt_y"/>
                                          </p:val>
                                        </p:tav>
                                      </p:tavLst>
                                    </p:anim>
                                    <p:animEffect transition="in" filter="fade">
                                      <p:cBhvr>
                                        <p:cTn id="135" dur="450"/>
                                        <p:tgtEl>
                                          <p:spTgt spid="39"/>
                                        </p:tgtEl>
                                      </p:cBhvr>
                                    </p:animEffect>
                                  </p:childTnLst>
                                </p:cTn>
                              </p:par>
                              <p:par>
                                <p:cTn id="140" presetID="42" presetClass="entr" presetSubtype="0" fill="hold" grpId="0" nodeType="withEffect">
                                  <p:stCondLst>
                                    <p:cond delay="349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450" fill="hold"/>
                                        <p:tgtEl>
                                          <p:spTgt spid="40"/>
                                        </p:tgtEl>
                                        <p:attrNameLst>
                                          <p:attrName>ppt_y</p:attrName>
                                        </p:attrNameLst>
                                      </p:cBhvr>
                                      <p:tavLst>
                                        <p:tav tm="0">
                                          <p:val>
                                            <p:strVal val="#ppt_y+.06"/>
                                          </p:val>
                                        </p:tav>
                                        <p:tav tm="100000">
                                          <p:val>
                                            <p:strVal val="#ppt_y"/>
                                          </p:val>
                                        </p:tav>
                                      </p:tavLst>
                                    </p:anim>
                                    <p:animEffect transition="in" filter="fade">
                                      <p:cBhvr>
                                        <p:cTn id="139" dur="450"/>
                                        <p:tgtEl>
                                          <p:spTgt spid="40"/>
                                        </p:tgtEl>
                                      </p:cBhvr>
                                    </p:animEffect>
                                  </p:childTnLst>
                                </p:cTn>
                              </p:par>
                              <p:par>
                                <p:cTn id="144" presetID="42" presetClass="entr" presetSubtype="0" fill="hold" grpId="0" nodeType="withEffect">
                                  <p:stCondLst>
                                    <p:cond delay="3490"/>
                                  </p:stCondLst>
                                  <p:childTnLst>
                                    <p:set>
                                      <p:cBhvr>
                                        <p:cTn id="141" dur="1" fill="hold">
                                          <p:stCondLst>
                                            <p:cond delay="0"/>
                                          </p:stCondLst>
                                        </p:cTn>
                                        <p:tgtEl>
                                          <p:spTgt spid="41"/>
                                        </p:tgtEl>
                                        <p:attrNameLst>
                                          <p:attrName>style.visibility</p:attrName>
                                        </p:attrNameLst>
                                      </p:cBhvr>
                                      <p:to>
                                        <p:strVal val="visible"/>
                                      </p:to>
                                    </p:set>
                                    <p:anim calcmode="lin" valueType="num">
                                      <p:cBhvr additive="base">
                                        <p:cTn id="142" dur="450" fill="hold"/>
                                        <p:tgtEl>
                                          <p:spTgt spid="41"/>
                                        </p:tgtEl>
                                        <p:attrNameLst>
                                          <p:attrName>ppt_y</p:attrName>
                                        </p:attrNameLst>
                                      </p:cBhvr>
                                      <p:tavLst>
                                        <p:tav tm="0">
                                          <p:val>
                                            <p:strVal val="#ppt_y+.06"/>
                                          </p:val>
                                        </p:tav>
                                        <p:tav tm="100000">
                                          <p:val>
                                            <p:strVal val="#ppt_y"/>
                                          </p:val>
                                        </p:tav>
                                      </p:tavLst>
                                    </p:anim>
                                    <p:animEffect transition="in" filter="fade">
                                      <p:cBhvr>
                                        <p:cTn id="143" dur="450"/>
                                        <p:tgtEl>
                                          <p:spTgt spid="41"/>
                                        </p:tgtEl>
                                      </p:cBhvr>
                                    </p:animEffect>
                                  </p:childTnLst>
                                </p:cTn>
                              </p:par>
                              <p:par>
                                <p:cTn id="148" presetID="42" presetClass="entr" presetSubtype="0" fill="hold" grpId="0" nodeType="withEffect">
                                  <p:stCondLst>
                                    <p:cond delay="35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500" fill="hold"/>
                                        <p:tgtEl>
                                          <p:spTgt spid="22"/>
                                        </p:tgtEl>
                                        <p:attrNameLst>
                                          <p:attrName>ppt_y</p:attrName>
                                        </p:attrNameLst>
                                      </p:cBhvr>
                                      <p:tavLst>
                                        <p:tav tm="0">
                                          <p:val>
                                            <p:strVal val="#ppt_y+.06"/>
                                          </p:val>
                                        </p:tav>
                                        <p:tav tm="100000">
                                          <p:val>
                                            <p:strVal val="#ppt_y"/>
                                          </p:val>
                                        </p:tav>
                                      </p:tavLst>
                                    </p:anim>
                                    <p:animEffect transition="in" filter="fade">
                                      <p:cBhvr>
                                        <p:cTn id="147" dur="500"/>
                                        <p:tgtEl>
                                          <p:spTgt spid="22"/>
                                        </p:tgtEl>
                                      </p:cBhvr>
                                    </p:animEffect>
                                  </p:childTnLst>
                                </p:cTn>
                              </p:par>
                              <p:par>
                                <p:cTn id="152" presetID="42" presetClass="entr" presetSubtype="0" fill="hold" grpId="0" nodeType="withEffect">
                                  <p:stCondLst>
                                    <p:cond delay="3500"/>
                                  </p:stCondLst>
                                  <p:childTnLst>
                                    <p:set>
                                      <p:cBhvr>
                                        <p:cTn id="149" dur="1" fill="hold">
                                          <p:stCondLst>
                                            <p:cond delay="0"/>
                                          </p:stCondLst>
                                        </p:cTn>
                                        <p:tgtEl>
                                          <p:spTgt spid="23"/>
                                        </p:tgtEl>
                                        <p:attrNameLst>
                                          <p:attrName>style.visibility</p:attrName>
                                        </p:attrNameLst>
                                      </p:cBhvr>
                                      <p:to>
                                        <p:strVal val="visible"/>
                                      </p:to>
                                    </p:set>
                                    <p:anim calcmode="lin" valueType="num">
                                      <p:cBhvr additive="base">
                                        <p:cTn id="150" dur="500" fill="hold"/>
                                        <p:tgtEl>
                                          <p:spTgt spid="23"/>
                                        </p:tgtEl>
                                        <p:attrNameLst>
                                          <p:attrName>ppt_y</p:attrName>
                                        </p:attrNameLst>
                                      </p:cBhvr>
                                      <p:tavLst>
                                        <p:tav tm="0">
                                          <p:val>
                                            <p:strVal val="#ppt_y+.06"/>
                                          </p:val>
                                        </p:tav>
                                        <p:tav tm="100000">
                                          <p:val>
                                            <p:strVal val="#ppt_y"/>
                                          </p:val>
                                        </p:tav>
                                      </p:tavLst>
                                    </p:anim>
                                    <p:animEffect transition="in" filter="fade">
                                      <p:cBhvr>
                                        <p:cTn id="151" dur="500"/>
                                        <p:tgtEl>
                                          <p:spTgt spid="23"/>
                                        </p:tgtEl>
                                      </p:cBhvr>
                                    </p:animEffect>
                                  </p:childTnLst>
                                </p:cTn>
                              </p:par>
                              <p:par>
                                <p:cTn id="156" presetID="42" presetClass="entr" presetSubtype="0" fill="hold" grpId="0" nodeType="withEffect">
                                  <p:stCondLst>
                                    <p:cond delay="3500"/>
                                  </p:stCondLst>
                                  <p:childTnLst>
                                    <p:set>
                                      <p:cBhvr>
                                        <p:cTn id="153" dur="1" fill="hold">
                                          <p:stCondLst>
                                            <p:cond delay="0"/>
                                          </p:stCondLst>
                                        </p:cTn>
                                        <p:tgtEl>
                                          <p:spTgt spid="24"/>
                                        </p:tgtEl>
                                        <p:attrNameLst>
                                          <p:attrName>style.visibility</p:attrName>
                                        </p:attrNameLst>
                                      </p:cBhvr>
                                      <p:to>
                                        <p:strVal val="visible"/>
                                      </p:to>
                                    </p:set>
                                    <p:anim calcmode="lin" valueType="num">
                                      <p:cBhvr additive="base">
                                        <p:cTn id="154" dur="500" fill="hold"/>
                                        <p:tgtEl>
                                          <p:spTgt spid="24"/>
                                        </p:tgtEl>
                                        <p:attrNameLst>
                                          <p:attrName>ppt_y</p:attrName>
                                        </p:attrNameLst>
                                      </p:cBhvr>
                                      <p:tavLst>
                                        <p:tav tm="0">
                                          <p:val>
                                            <p:strVal val="#ppt_y+.06"/>
                                          </p:val>
                                        </p:tav>
                                        <p:tav tm="100000">
                                          <p:val>
                                            <p:strVal val="#ppt_y"/>
                                          </p:val>
                                        </p:tav>
                                      </p:tavLst>
                                    </p:anim>
                                    <p:animEffect transition="in" filter="fade">
                                      <p:cBhvr>
                                        <p:cTn id="155" dur="500"/>
                                        <p:tgtEl>
                                          <p:spTgt spid="24"/>
                                        </p:tgtEl>
                                      </p:cBhvr>
                                    </p:animEffect>
                                  </p:childTnLst>
                                </p:cTn>
                              </p:par>
                              <p:par>
                                <p:cTn id="160" presetID="42" presetClass="entr" presetSubtype="0" fill="hold" grpId="0" nodeType="withEffect">
                                  <p:stCondLst>
                                    <p:cond delay="3500"/>
                                  </p:stCondLst>
                                  <p:childTnLst>
                                    <p:set>
                                      <p:cBhvr>
                                        <p:cTn id="157" dur="1" fill="hold">
                                          <p:stCondLst>
                                            <p:cond delay="0"/>
                                          </p:stCondLst>
                                        </p:cTn>
                                        <p:tgtEl>
                                          <p:spTgt spid="25"/>
                                        </p:tgtEl>
                                        <p:attrNameLst>
                                          <p:attrName>style.visibility</p:attrName>
                                        </p:attrNameLst>
                                      </p:cBhvr>
                                      <p:to>
                                        <p:strVal val="visible"/>
                                      </p:to>
                                    </p:set>
                                    <p:anim calcmode="lin" valueType="num">
                                      <p:cBhvr additive="base">
                                        <p:cTn id="158" dur="500" fill="hold"/>
                                        <p:tgtEl>
                                          <p:spTgt spid="25"/>
                                        </p:tgtEl>
                                        <p:attrNameLst>
                                          <p:attrName>ppt_y</p:attrName>
                                        </p:attrNameLst>
                                      </p:cBhvr>
                                      <p:tavLst>
                                        <p:tav tm="0">
                                          <p:val>
                                            <p:strVal val="#ppt_y+.06"/>
                                          </p:val>
                                        </p:tav>
                                        <p:tav tm="100000">
                                          <p:val>
                                            <p:strVal val="#ppt_y"/>
                                          </p:val>
                                        </p:tav>
                                      </p:tavLst>
                                    </p:anim>
                                    <p:animEffect transition="in" filter="fade">
                                      <p:cBhvr>
                                        <p:cTn id="159" dur="500"/>
                                        <p:tgtEl>
                                          <p:spTgt spid="25"/>
                                        </p:tgtEl>
                                      </p:cBhvr>
                                    </p:animEffect>
                                  </p:childTnLst>
                                </p:cTn>
                              </p:par>
                              <p:par>
                                <p:cTn id="163" presetID="10" presetClass="entr" presetSubtype="0" fill="hold" grpId="0" nodeType="withEffect">
                                  <p:stCondLst>
                                    <p:cond delay="3500"/>
                                  </p:stCondLst>
                                  <p:childTnLst>
                                    <p:set>
                                      <p:cBhvr>
                                        <p:cTn id="161" dur="1" fill="hold">
                                          <p:stCondLst>
                                            <p:cond delay="0"/>
                                          </p:stCondLst>
                                        </p:cTn>
                                        <p:tgtEl>
                                          <p:spTgt spid="13"/>
                                        </p:tgtEl>
                                        <p:attrNameLst>
                                          <p:attrName>style.visibility</p:attrName>
                                        </p:attrNameLst>
                                      </p:cBhvr>
                                      <p:to>
                                        <p:strVal val="visible"/>
                                      </p:to>
                                    </p:set>
                                    <p:animEffect transition="in" filter="fade">
                                      <p:cBhvr>
                                        <p:cTn id="162" dur="500"/>
                                        <p:tgtEl>
                                          <p:spTgt spid="13"/>
                                        </p:tgtEl>
                                      </p:cBhvr>
                                    </p:animEffect>
                                  </p:childTnLst>
                                </p:cTn>
                              </p:par>
                              <p:par>
                                <p:cTn id="166" presetID="10" presetClass="entr" presetSubtype="0" fill="hold" grpId="0" nodeType="withEffect">
                                  <p:stCondLst>
                                    <p:cond delay="3500"/>
                                  </p:stCondLst>
                                  <p:childTnLst>
                                    <p:set>
                                      <p:cBhvr>
                                        <p:cTn id="164" dur="1" fill="hold">
                                          <p:stCondLst>
                                            <p:cond delay="0"/>
                                          </p:stCondLst>
                                        </p:cTn>
                                        <p:tgtEl>
                                          <p:spTgt spid="14"/>
                                        </p:tgtEl>
                                        <p:attrNameLst>
                                          <p:attrName>style.visibility</p:attrName>
                                        </p:attrNameLst>
                                      </p:cBhvr>
                                      <p:to>
                                        <p:strVal val="visible"/>
                                      </p:to>
                                    </p:set>
                                    <p:animEffect transition="in" filter="fade">
                                      <p:cBhvr>
                                        <p:cTn id="165" dur="500"/>
                                        <p:tgtEl>
                                          <p:spTgt spid="14"/>
                                        </p:tgtEl>
                                      </p:cBhvr>
                                    </p:animEffect>
                                  </p:childTnLst>
                                </p:cTn>
                              </p:par>
                              <p:par>
                                <p:cTn id="169" presetID="10" presetClass="entr" presetSubtype="0" fill="hold" grpId="0" nodeType="withEffect">
                                  <p:stCondLst>
                                    <p:cond delay="3500"/>
                                  </p:stCondLst>
                                  <p:childTnLst>
                                    <p:set>
                                      <p:cBhvr>
                                        <p:cTn id="167" dur="1" fill="hold">
                                          <p:stCondLst>
                                            <p:cond delay="0"/>
                                          </p:stCondLst>
                                        </p:cTn>
                                        <p:tgtEl>
                                          <p:spTgt spid="17"/>
                                        </p:tgtEl>
                                        <p:attrNameLst>
                                          <p:attrName>style.visibility</p:attrName>
                                        </p:attrNameLst>
                                      </p:cBhvr>
                                      <p:to>
                                        <p:strVal val="visible"/>
                                      </p:to>
                                    </p:set>
                                    <p:animEffect transition="in" filter="fade">
                                      <p:cBhvr>
                                        <p:cTn id="168" dur="500"/>
                                        <p:tgtEl>
                                          <p:spTgt spid="17"/>
                                        </p:tgtEl>
                                      </p:cBhvr>
                                    </p:animEffect>
                                  </p:childTnLst>
                                </p:cTn>
                              </p:par>
                              <p:par>
                                <p:cTn id="173" presetID="42" presetClass="entr" presetSubtype="0" fill="hold" grpId="0" nodeType="withEffect">
                                  <p:stCondLst>
                                    <p:cond delay="3620"/>
                                  </p:stCondLst>
                                  <p:childTnLst>
                                    <p:set>
                                      <p:cBhvr>
                                        <p:cTn id="170" dur="1" fill="hold">
                                          <p:stCondLst>
                                            <p:cond delay="0"/>
                                          </p:stCondLst>
                                        </p:cTn>
                                        <p:tgtEl>
                                          <p:spTgt spid="42"/>
                                        </p:tgtEl>
                                        <p:attrNameLst>
                                          <p:attrName>style.visibility</p:attrName>
                                        </p:attrNameLst>
                                      </p:cBhvr>
                                      <p:to>
                                        <p:strVal val="visible"/>
                                      </p:to>
                                    </p:set>
                                    <p:anim calcmode="lin" valueType="num">
                                      <p:cBhvr additive="base">
                                        <p:cTn id="171" dur="450" fill="hold"/>
                                        <p:tgtEl>
                                          <p:spTgt spid="42"/>
                                        </p:tgtEl>
                                        <p:attrNameLst>
                                          <p:attrName>ppt_y</p:attrName>
                                        </p:attrNameLst>
                                      </p:cBhvr>
                                      <p:tavLst>
                                        <p:tav tm="0">
                                          <p:val>
                                            <p:strVal val="#ppt_y+.06"/>
                                          </p:val>
                                        </p:tav>
                                        <p:tav tm="100000">
                                          <p:val>
                                            <p:strVal val="#ppt_y"/>
                                          </p:val>
                                        </p:tav>
                                      </p:tavLst>
                                    </p:anim>
                                    <p:animEffect transition="in" filter="fade">
                                      <p:cBhvr>
                                        <p:cTn id="172" dur="450"/>
                                        <p:tgtEl>
                                          <p:spTgt spid="42"/>
                                        </p:tgtEl>
                                      </p:cBhvr>
                                    </p:animEffect>
                                  </p:childTnLst>
                                </p:cTn>
                              </p:par>
                              <p:par>
                                <p:cTn id="177" presetID="42" presetClass="entr" presetSubtype="0" fill="hold" grpId="0" nodeType="withEffect">
                                  <p:stCondLst>
                                    <p:cond delay="3620"/>
                                  </p:stCondLst>
                                  <p:childTnLst>
                                    <p:set>
                                      <p:cBhvr>
                                        <p:cTn id="174" dur="1" fill="hold">
                                          <p:stCondLst>
                                            <p:cond delay="0"/>
                                          </p:stCondLst>
                                        </p:cTn>
                                        <p:tgtEl>
                                          <p:spTgt spid="43"/>
                                        </p:tgtEl>
                                        <p:attrNameLst>
                                          <p:attrName>style.visibility</p:attrName>
                                        </p:attrNameLst>
                                      </p:cBhvr>
                                      <p:to>
                                        <p:strVal val="visible"/>
                                      </p:to>
                                    </p:set>
                                    <p:anim calcmode="lin" valueType="num">
                                      <p:cBhvr additive="base">
                                        <p:cTn id="175" dur="450" fill="hold"/>
                                        <p:tgtEl>
                                          <p:spTgt spid="43"/>
                                        </p:tgtEl>
                                        <p:attrNameLst>
                                          <p:attrName>ppt_y</p:attrName>
                                        </p:attrNameLst>
                                      </p:cBhvr>
                                      <p:tavLst>
                                        <p:tav tm="0">
                                          <p:val>
                                            <p:strVal val="#ppt_y+.06"/>
                                          </p:val>
                                        </p:tav>
                                        <p:tav tm="100000">
                                          <p:val>
                                            <p:strVal val="#ppt_y"/>
                                          </p:val>
                                        </p:tav>
                                      </p:tavLst>
                                    </p:anim>
                                    <p:animEffect transition="in" filter="fade">
                                      <p:cBhvr>
                                        <p:cTn id="176" dur="450"/>
                                        <p:tgtEl>
                                          <p:spTgt spid="43"/>
                                        </p:tgtEl>
                                      </p:cBhvr>
                                    </p:animEffect>
                                  </p:childTnLst>
                                </p:cTn>
                              </p:par>
                              <p:par>
                                <p:cTn id="181" presetID="42" presetClass="entr" presetSubtype="0" fill="hold" grpId="0" nodeType="withEffect">
                                  <p:stCondLst>
                                    <p:cond delay="3620"/>
                                  </p:stCondLst>
                                  <p:childTnLst>
                                    <p:set>
                                      <p:cBhvr>
                                        <p:cTn id="178" dur="1" fill="hold">
                                          <p:stCondLst>
                                            <p:cond delay="0"/>
                                          </p:stCondLst>
                                        </p:cTn>
                                        <p:tgtEl>
                                          <p:spTgt spid="44"/>
                                        </p:tgtEl>
                                        <p:attrNameLst>
                                          <p:attrName>style.visibility</p:attrName>
                                        </p:attrNameLst>
                                      </p:cBhvr>
                                      <p:to>
                                        <p:strVal val="visible"/>
                                      </p:to>
                                    </p:set>
                                    <p:anim calcmode="lin" valueType="num">
                                      <p:cBhvr additive="base">
                                        <p:cTn id="179" dur="450" fill="hold"/>
                                        <p:tgtEl>
                                          <p:spTgt spid="44"/>
                                        </p:tgtEl>
                                        <p:attrNameLst>
                                          <p:attrName>ppt_y</p:attrName>
                                        </p:attrNameLst>
                                      </p:cBhvr>
                                      <p:tavLst>
                                        <p:tav tm="0">
                                          <p:val>
                                            <p:strVal val="#ppt_y+.06"/>
                                          </p:val>
                                        </p:tav>
                                        <p:tav tm="100000">
                                          <p:val>
                                            <p:strVal val="#ppt_y"/>
                                          </p:val>
                                        </p:tav>
                                      </p:tavLst>
                                    </p:anim>
                                    <p:animEffect transition="in" filter="fade">
                                      <p:cBhvr>
                                        <p:cTn id="180"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7" grpId="0" animBg="1"/>
      <p:bldP spid="8" grpId="0" animBg="1"/>
      <p:bldP spid="9" grpId="0" animBg="1"/>
      <p:bldP spid="10" grpId="0" animBg="1"/>
      <p:bldP spid="11" grpId="0" animBg="1"/>
      <p:bldP spid="12" grpId="0" animBg="1"/>
      <p:bldP spid="16" grpId="0" animBg="1"/>
      <p:bldP spid="15" grpId="0" animBg="1"/>
      <p:bldP spid="18" grpId="0" animBg="1"/>
      <p:bldP spid="19" grpId="0" animBg="1"/>
      <p:bldP spid="20" grpId="0" animBg="1"/>
      <p:bldP spid="21"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22" grpId="0" animBg="1"/>
      <p:bldP spid="23" grpId="0" animBg="1"/>
      <p:bldP spid="24" grpId="0" animBg="1"/>
      <p:bldP spid="25" grpId="0" animBg="1"/>
      <p:bldP spid="13" grpId="0" animBg="1"/>
      <p:bldP spid="14" grpId="0" animBg="1"/>
      <p:bldP spid="17" grpId="0" animBg="1"/>
      <p:bldP spid="42" grpId="0" animBg="1"/>
      <p:bldP spid="43" grpId="0" animBg="1"/>
      <p:bldP spid="4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02  —  THE PROBLEM</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In an Emergency, the Shortest Path</a:t>
            </a:r>
            <a:endParaRPr lang="en-US" sz="3400" dirty="0"/>
          </a:p>
          <a:p>
            <a:pPr algn="l" indent="0" marL="0">
              <a:buNone/>
            </a:pPr>
            <a:r>
              <a:rPr lang="en-US" sz="3400" dirty="0">
                <a:solidFill>
                  <a:schemeClr val="tx1"/>
                </a:solidFill>
              </a:rPr>
              <a:t>Is Not Always the Right Path</a:t>
            </a:r>
            <a:endParaRPr lang="en-US" sz="3400" dirty="0"/>
          </a:p>
        </p:txBody>
      </p:sp>
      <p:sp>
        <p:nvSpPr>
          <p:cNvPr id="4" name="mapL_1"/>
          <p:cNvSpPr/>
          <p:nvPr/>
        </p:nvSpPr>
        <p:spPr>
          <a:xfrm>
            <a:off x="640080" y="2331720"/>
            <a:ext cx="5394960" cy="2468880"/>
          </a:xfrm>
          <a:prstGeom prst="roundRect">
            <a:avLst>
              <a:gd name="adj" fmla="val 3704"/>
            </a:avLst>
          </a:prstGeom>
          <a:solidFill>
            <a:srgbClr val="FFFFFF"/>
          </a:solidFill>
          <a:ln/>
          <a:effectLst>
            <a:outerShdw sx="100000" sy="100000" kx="0" ky="0" algn="bl" rotWithShape="0" blurRad="254000" dist="76200" dir="5400000">
              <a:srgbClr val="0B1426">
                <a:alpha val="18000"/>
              </a:srgbClr>
            </a:outerShdw>
          </a:effectLst>
        </p:spPr>
      </p:sp>
      <p:sp>
        <p:nvSpPr>
          <p:cNvPr id="5" name="mapR_2"/>
          <p:cNvSpPr/>
          <p:nvPr/>
        </p:nvSpPr>
        <p:spPr>
          <a:xfrm>
            <a:off x="6156655" y="2331720"/>
            <a:ext cx="5394960" cy="2468880"/>
          </a:xfrm>
          <a:prstGeom prst="roundRect">
            <a:avLst>
              <a:gd name="adj" fmla="val 3704"/>
            </a:avLst>
          </a:prstGeom>
          <a:solidFill>
            <a:srgbClr val="FFFFFF"/>
          </a:solidFill>
          <a:ln/>
          <a:effectLst>
            <a:outerShdw sx="100000" sy="100000" kx="0" ky="0" algn="bl" rotWithShape="0" blurRad="254000" dist="76200" dir="5400000">
              <a:srgbClr val="0B1426">
                <a:alpha val="18000"/>
              </a:srgbClr>
            </a:outerShdw>
          </a:effectLst>
        </p:spPr>
      </p:sp>
      <p:pic>
        <p:nvPicPr>
          <p:cNvPr id="6" name="mapL_3" descr="3D map of a flood-prone rail corridor, built from OpenStreetMap data">    </p:cNvPr>
          <p:cNvPicPr>
            <a:picLocks noChangeAspect="1"/>
          </p:cNvPicPr>
          <p:nvPr/>
        </p:nvPicPr>
        <p:blipFill>
          <a:blip r:embed="rId1"/>
          <a:stretch>
            <a:fillRect/>
          </a:stretch>
        </p:blipFill>
        <p:spPr>
          <a:xfrm>
            <a:off x="640080" y="2331720"/>
            <a:ext cx="5394960" cy="2468880"/>
          </a:xfrm>
          <a:prstGeom prst="rect">
            <a:avLst/>
          </a:prstGeom>
        </p:spPr>
      </p:pic>
      <p:pic>
        <p:nvPicPr>
          <p:cNvPr id="7" name="rL_4" descr="Route A">    </p:cNvPr>
          <p:cNvPicPr>
            <a:picLocks noChangeAspect="1"/>
          </p:cNvPicPr>
          <p:nvPr/>
        </p:nvPicPr>
        <p:blipFill>
          <a:blip r:embed="rId2"/>
          <a:stretch>
            <a:fillRect/>
          </a:stretch>
        </p:blipFill>
        <p:spPr>
          <a:xfrm>
            <a:off x="640080" y="2331720"/>
            <a:ext cx="5394960" cy="2468880"/>
          </a:xfrm>
          <a:prstGeom prst="rect">
            <a:avLst/>
          </a:prstGeom>
        </p:spPr>
      </p:pic>
      <p:pic>
        <p:nvPicPr>
          <p:cNvPr id="8" name="mapR_5" descr="3D map of a flood-prone rail corridor, built from OpenStreetMap data">    </p:cNvPr>
          <p:cNvPicPr>
            <a:picLocks noChangeAspect="1"/>
          </p:cNvPicPr>
          <p:nvPr/>
        </p:nvPicPr>
        <p:blipFill>
          <a:blip r:embed="rId3"/>
          <a:stretch>
            <a:fillRect/>
          </a:stretch>
        </p:blipFill>
        <p:spPr>
          <a:xfrm>
            <a:off x="6156655" y="2331720"/>
            <a:ext cx="5394960" cy="2468880"/>
          </a:xfrm>
          <a:prstGeom prst="rect">
            <a:avLst/>
          </a:prstGeom>
        </p:spPr>
      </p:pic>
      <p:pic>
        <p:nvPicPr>
          <p:cNvPr id="9" name="rRa_6" descr="Route A">    </p:cNvPr>
          <p:cNvPicPr>
            <a:picLocks noChangeAspect="1"/>
          </p:cNvPicPr>
          <p:nvPr/>
        </p:nvPicPr>
        <p:blipFill>
          <a:blip r:embed="rId4"/>
          <a:stretch>
            <a:fillRect/>
          </a:stretch>
        </p:blipFill>
        <p:spPr>
          <a:xfrm>
            <a:off x="6156655" y="2331720"/>
            <a:ext cx="5394960" cy="2468880"/>
          </a:xfrm>
          <a:prstGeom prst="rect">
            <a:avLst/>
          </a:prstGeom>
        </p:spPr>
      </p:pic>
      <p:pic>
        <p:nvPicPr>
          <p:cNvPr id="10" name="rRb_7" descr="Route B">    </p:cNvPr>
          <p:cNvPicPr>
            <a:picLocks noChangeAspect="1"/>
          </p:cNvPicPr>
          <p:nvPr/>
        </p:nvPicPr>
        <p:blipFill>
          <a:blip r:embed="rId5"/>
          <a:stretch>
            <a:fillRect/>
          </a:stretch>
        </p:blipFill>
        <p:spPr>
          <a:xfrm>
            <a:off x="6156655" y="2331720"/>
            <a:ext cx="5394960" cy="2468880"/>
          </a:xfrm>
          <a:prstGeom prst="rect">
            <a:avLst/>
          </a:prstGeom>
        </p:spPr>
      </p:pic>
      <p:sp>
        <p:nvSpPr>
          <p:cNvPr id="11" name="pinL_8"/>
          <p:cNvSpPr/>
          <p:nvPr/>
        </p:nvSpPr>
        <p:spPr>
          <a:xfrm>
            <a:off x="1544753" y="2850245"/>
            <a:ext cx="274320" cy="274320"/>
          </a:xfrm>
          <a:prstGeom prst="ellipse">
            <a:avLst/>
          </a:prstGeom>
          <a:solidFill>
            <a:srgbClr val="FFFFFF"/>
          </a:solidFill>
          <a:ln/>
        </p:spPr>
      </p:sp>
      <p:sp>
        <p:nvSpPr>
          <p:cNvPr id="12" name="pinL_9"/>
          <p:cNvSpPr/>
          <p:nvPr/>
        </p:nvSpPr>
        <p:spPr>
          <a:xfrm>
            <a:off x="1622477" y="2927969"/>
            <a:ext cx="118872" cy="118872"/>
          </a:xfrm>
          <a:prstGeom prst="ellipse">
            <a:avLst/>
          </a:prstGeom>
          <a:solidFill>
            <a:srgbClr val="0B1426"/>
          </a:solidFill>
          <a:ln/>
        </p:spPr>
      </p:sp>
      <p:sp>
        <p:nvSpPr>
          <p:cNvPr id="13" name="pinL_10"/>
          <p:cNvSpPr/>
          <p:nvPr/>
        </p:nvSpPr>
        <p:spPr>
          <a:xfrm>
            <a:off x="5169394" y="3459352"/>
            <a:ext cx="392278" cy="392278"/>
          </a:xfrm>
          <a:prstGeom prst="ellipse">
            <a:avLst/>
          </a:prstGeom>
          <a:solidFill>
            <a:srgbClr val="FFFFFF"/>
          </a:solidFill>
          <a:ln/>
        </p:spPr>
      </p:sp>
      <p:sp>
        <p:nvSpPr>
          <p:cNvPr id="14" name="pinL_11"/>
          <p:cNvSpPr txBox="1"/>
          <p:nvPr/>
        </p:nvSpPr>
        <p:spPr>
          <a:xfrm>
            <a:off x="5233402"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chemeClr val="tx1"/>
                </a:solidFill>
                <a:latin typeface="Segoe UI Semibold" pitchFamily="34" charset="0"/>
                <a:ea typeface="Segoe UI Semibold" pitchFamily="34" charset="-122"/>
                <a:cs typeface="Segoe UI Semibold" pitchFamily="34" charset="-120"/>
              </a:rPr>
              <a:t>H</a:t>
            </a:r>
            <a:endParaRPr lang="en-US" sz="1020" dirty="0"/>
          </a:p>
        </p:txBody>
      </p:sp>
      <p:sp>
        <p:nvSpPr>
          <p:cNvPr id="15" name="flL_12"/>
          <p:cNvSpPr txBox="1"/>
          <p:nvPr/>
        </p:nvSpPr>
        <p:spPr>
          <a:xfrm>
            <a:off x="3188003"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R_13"/>
          <p:cNvSpPr/>
          <p:nvPr/>
        </p:nvSpPr>
        <p:spPr>
          <a:xfrm>
            <a:off x="7061329" y="2850245"/>
            <a:ext cx="274320" cy="274320"/>
          </a:xfrm>
          <a:prstGeom prst="ellipse">
            <a:avLst/>
          </a:prstGeom>
          <a:solidFill>
            <a:srgbClr val="FFFFFF"/>
          </a:solidFill>
          <a:ln/>
        </p:spPr>
      </p:sp>
      <p:sp>
        <p:nvSpPr>
          <p:cNvPr id="17" name="pinR_14"/>
          <p:cNvSpPr/>
          <p:nvPr/>
        </p:nvSpPr>
        <p:spPr>
          <a:xfrm>
            <a:off x="7139053" y="2927969"/>
            <a:ext cx="118872" cy="118872"/>
          </a:xfrm>
          <a:prstGeom prst="ellipse">
            <a:avLst/>
          </a:prstGeom>
          <a:solidFill>
            <a:srgbClr val="0B1426"/>
          </a:solidFill>
          <a:ln/>
        </p:spPr>
      </p:sp>
      <p:sp>
        <p:nvSpPr>
          <p:cNvPr id="18" name="pinR_15"/>
          <p:cNvSpPr/>
          <p:nvPr/>
        </p:nvSpPr>
        <p:spPr>
          <a:xfrm>
            <a:off x="10685969" y="3459352"/>
            <a:ext cx="392278" cy="392278"/>
          </a:xfrm>
          <a:prstGeom prst="ellipse">
            <a:avLst/>
          </a:prstGeom>
          <a:solidFill>
            <a:srgbClr val="FFFFFF"/>
          </a:solidFill>
          <a:ln/>
        </p:spPr>
      </p:sp>
      <p:sp>
        <p:nvSpPr>
          <p:cNvPr id="19" name="pinR_16"/>
          <p:cNvSpPr txBox="1"/>
          <p:nvPr/>
        </p:nvSpPr>
        <p:spPr>
          <a:xfrm>
            <a:off x="10749977"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chemeClr val="tx1"/>
                </a:solidFill>
                <a:latin typeface="Segoe UI Semibold" pitchFamily="34" charset="0"/>
                <a:ea typeface="Segoe UI Semibold" pitchFamily="34" charset="-122"/>
                <a:cs typeface="Segoe UI Semibold" pitchFamily="34" charset="-120"/>
              </a:rPr>
              <a:t>H</a:t>
            </a:r>
            <a:endParaRPr lang="en-US" sz="1020" dirty="0"/>
          </a:p>
        </p:txBody>
      </p:sp>
      <p:sp>
        <p:nvSpPr>
          <p:cNvPr id="20" name="flR_17"/>
          <p:cNvSpPr txBox="1"/>
          <p:nvPr/>
        </p:nvSpPr>
        <p:spPr>
          <a:xfrm>
            <a:off x="8704578"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21" name="capL_18"/>
          <p:cNvSpPr txBox="1"/>
          <p:nvPr/>
        </p:nvSpPr>
        <p:spPr>
          <a:xfrm>
            <a:off x="640080" y="1965960"/>
            <a:ext cx="3200400" cy="274320"/>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Time-only routing</a:t>
            </a:r>
            <a:pPr indent="0" marL="0">
              <a:buNone/>
            </a:pPr>
            <a:r>
              <a:rPr lang="en-US" sz="1150" dirty="0">
                <a:solidFill>
                  <a:schemeClr val="accent5"/>
                </a:solidFill>
              </a:rPr>
              <a:t>   no hazard check</a:t>
            </a:r>
            <a:endParaRPr lang="en-US" sz="1300" dirty="0"/>
          </a:p>
        </p:txBody>
      </p:sp>
      <p:sp>
        <p:nvSpPr>
          <p:cNvPr id="22" name="capL_19"/>
          <p:cNvSpPr txBox="1"/>
          <p:nvPr/>
        </p:nvSpPr>
        <p:spPr>
          <a:xfrm>
            <a:off x="3566160" y="1965960"/>
            <a:ext cx="2468880" cy="274320"/>
          </a:xfrm>
          <a:prstGeom prst="rect">
            <a:avLst/>
          </a:prstGeom>
          <a:noFill/>
          <a:ln/>
        </p:spPr>
        <p:txBody>
          <a:bodyPr wrap="square" lIns="0" tIns="0" rIns="0" bIns="0" rtlCol="0" anchor="ctr"/>
          <a:lstStyle/>
          <a:p>
            <a:pPr algn="r" indent="0" marL="0">
              <a:buNone/>
            </a:pPr>
            <a:r>
              <a:rPr lang="en-US" sz="1250" dirty="0">
                <a:solidFill>
                  <a:schemeClr val="accent3"/>
                </a:solidFill>
                <a:latin typeface="Segoe UI Semibold" pitchFamily="34" charset="0"/>
                <a:ea typeface="Segoe UI Semibold" pitchFamily="34" charset="-122"/>
                <a:cs typeface="Segoe UI Semibold" pitchFamily="34" charset="-120"/>
              </a:rPr>
              <a:t>16 min, through the flood</a:t>
            </a:r>
            <a:endParaRPr lang="en-US" sz="1250" dirty="0"/>
          </a:p>
        </p:txBody>
      </p:sp>
      <p:sp>
        <p:nvSpPr>
          <p:cNvPr id="23" name="capR_20"/>
          <p:cNvSpPr txBox="1"/>
          <p:nvPr/>
        </p:nvSpPr>
        <p:spPr>
          <a:xfrm>
            <a:off x="6156655" y="1965960"/>
            <a:ext cx="3200400" cy="274320"/>
          </a:xfrm>
          <a:prstGeom prst="rect">
            <a:avLst/>
          </a:prstGeom>
          <a:noFill/>
          <a:ln/>
        </p:spPr>
        <p:txBody>
          <a:bodyPr wrap="square" lIns="0" tIns="0" rIns="0" bIns="0" rtlCol="0" anchor="ctr"/>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Vighanaway</a:t>
            </a:r>
            <a:pPr indent="0" marL="0">
              <a:buNone/>
            </a:pPr>
            <a:r>
              <a:rPr lang="en-US" sz="1150" dirty="0">
                <a:solidFill>
                  <a:schemeClr val="accent5"/>
                </a:solidFill>
              </a:rPr>
              <a:t>   viability and evidence first</a:t>
            </a:r>
            <a:endParaRPr lang="en-US" sz="1300" dirty="0"/>
          </a:p>
        </p:txBody>
      </p:sp>
      <p:sp>
        <p:nvSpPr>
          <p:cNvPr id="24" name="capR_21"/>
          <p:cNvSpPr txBox="1"/>
          <p:nvPr/>
        </p:nvSpPr>
        <p:spPr>
          <a:xfrm>
            <a:off x="9082735" y="1965960"/>
            <a:ext cx="2468880" cy="274320"/>
          </a:xfrm>
          <a:prstGeom prst="rect">
            <a:avLst/>
          </a:prstGeom>
          <a:noFill/>
          <a:ln/>
        </p:spPr>
        <p:txBody>
          <a:bodyPr wrap="square" lIns="0" tIns="0" rIns="0" bIns="0" rtlCol="0" anchor="ctr"/>
          <a:lstStyle/>
          <a:p>
            <a:pPr algn="r" indent="0" marL="0">
              <a:buNone/>
            </a:pPr>
            <a:r>
              <a:rPr lang="en-US" sz="1250" dirty="0">
                <a:solidFill>
                  <a:schemeClr val="accent4"/>
                </a:solidFill>
                <a:latin typeface="Segoe UI Semibold" pitchFamily="34" charset="0"/>
                <a:ea typeface="Segoe UI Semibold" pitchFamily="34" charset="-122"/>
                <a:cs typeface="Segoe UI Semibold" pitchFamily="34" charset="-120"/>
              </a:rPr>
              <a:t>22 min, flyover</a:t>
            </a:r>
            <a:endParaRPr lang="en-US" sz="1250" dirty="0"/>
          </a:p>
        </p:txBody>
      </p:sp>
      <p:sp>
        <p:nvSpPr>
          <p:cNvPr id="25" name="msg_22"/>
          <p:cNvSpPr txBox="1"/>
          <p:nvPr/>
        </p:nvSpPr>
        <p:spPr>
          <a:xfrm>
            <a:off x="640080" y="4919472"/>
            <a:ext cx="10881360" cy="411480"/>
          </a:xfrm>
          <a:prstGeom prst="rect">
            <a:avLst/>
          </a:prstGeom>
          <a:noFill/>
          <a:ln/>
        </p:spPr>
        <p:txBody>
          <a:bodyPr wrap="square" lIns="0" tIns="0" rIns="0" bIns="0" rtlCol="0" anchor="ctr"/>
          <a:lstStyle/>
          <a:p>
            <a:pPr indent="0" marL="0">
              <a:buNone/>
            </a:pPr>
            <a:r>
              <a:rPr lang="en-US" sz="1900" dirty="0">
                <a:solidFill>
                  <a:schemeClr val="tx1"/>
                </a:solidFill>
                <a:latin typeface="Segoe UI Light" pitchFamily="34" charset="0"/>
                <a:ea typeface="Segoe UI Light" pitchFamily="34" charset="-122"/>
                <a:cs typeface="Segoe UI Light" pitchFamily="34" charset="-120"/>
              </a:rPr>
              <a:t>Navigation must weigh </a:t>
            </a:r>
            <a:pPr indent="0" marL="0">
              <a:buNone/>
            </a:pPr>
            <a:r>
              <a:rPr lang="en-US" sz="1900" dirty="0">
                <a:solidFill>
                  <a:schemeClr val="accent4"/>
                </a:solidFill>
                <a:latin typeface="Segoe UI Semibold" pitchFamily="34" charset="0"/>
                <a:ea typeface="Segoe UI Semibold" pitchFamily="34" charset="-122"/>
                <a:cs typeface="Segoe UI Semibold" pitchFamily="34" charset="-120"/>
              </a:rPr>
              <a:t>route viability, evidence quality and changing conditions</a:t>
            </a:r>
            <a:pPr indent="0" marL="0">
              <a:buNone/>
            </a:pPr>
            <a:r>
              <a:rPr lang="en-US" sz="1900" dirty="0">
                <a:solidFill>
                  <a:schemeClr val="tx1"/>
                </a:solidFill>
                <a:latin typeface="Segoe UI Light" pitchFamily="34" charset="0"/>
                <a:ea typeface="Segoe UI Light" pitchFamily="34" charset="-122"/>
                <a:cs typeface="Segoe UI Light" pitchFamily="34" charset="-120"/>
              </a:rPr>
              <a:t>, not travel time alone.</a:t>
            </a:r>
            <a:endParaRPr lang="en-US" sz="1900" dirty="0"/>
          </a:p>
        </p:txBody>
      </p:sp>
      <p:sp>
        <p:nvSpPr>
          <p:cNvPr id="26" name="p0_23"/>
          <p:cNvSpPr/>
          <p:nvPr/>
        </p:nvSpPr>
        <p:spPr>
          <a:xfrm>
            <a:off x="640080" y="5486400"/>
            <a:ext cx="1999427" cy="0"/>
          </a:xfrm>
          <a:prstGeom prst="line">
            <a:avLst/>
          </a:prstGeom>
          <a:noFill/>
          <a:ln w="12700">
            <a:solidFill>
              <a:srgbClr val="D6D0C2"/>
            </a:solidFill>
            <a:prstDash val="solid"/>
          </a:ln>
        </p:spPr>
      </p:sp>
      <p:sp>
        <p:nvSpPr>
          <p:cNvPr id="27" name="p0_24"/>
          <p:cNvSpPr txBox="1"/>
          <p:nvPr/>
        </p:nvSpPr>
        <p:spPr>
          <a:xfrm>
            <a:off x="640080"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28" name="p0_25"/>
          <p:cNvSpPr txBox="1"/>
          <p:nvPr/>
        </p:nvSpPr>
        <p:spPr>
          <a:xfrm>
            <a:off x="640080"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Underpasses can become flooded</a:t>
            </a:r>
            <a:endParaRPr lang="en-US" sz="1250" dirty="0"/>
          </a:p>
        </p:txBody>
      </p:sp>
      <p:sp>
        <p:nvSpPr>
          <p:cNvPr id="29" name="p1_26"/>
          <p:cNvSpPr/>
          <p:nvPr/>
        </p:nvSpPr>
        <p:spPr>
          <a:xfrm>
            <a:off x="2868107" y="5486400"/>
            <a:ext cx="1999427" cy="0"/>
          </a:xfrm>
          <a:prstGeom prst="line">
            <a:avLst/>
          </a:prstGeom>
          <a:noFill/>
          <a:ln w="12700">
            <a:solidFill>
              <a:srgbClr val="D6D0C2"/>
            </a:solidFill>
            <a:prstDash val="solid"/>
          </a:ln>
        </p:spPr>
      </p:sp>
      <p:sp>
        <p:nvSpPr>
          <p:cNvPr id="30" name="p1_27"/>
          <p:cNvSpPr txBox="1"/>
          <p:nvPr/>
        </p:nvSpPr>
        <p:spPr>
          <a:xfrm>
            <a:off x="2868107"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1" name="p1_28"/>
          <p:cNvSpPr txBox="1"/>
          <p:nvPr/>
        </p:nvSpPr>
        <p:spPr>
          <a:xfrm>
            <a:off x="2868107"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Road closures can make routes unusable</a:t>
            </a:r>
            <a:endParaRPr lang="en-US" sz="1250" dirty="0"/>
          </a:p>
        </p:txBody>
      </p:sp>
      <p:sp>
        <p:nvSpPr>
          <p:cNvPr id="32" name="p2_29"/>
          <p:cNvSpPr/>
          <p:nvPr/>
        </p:nvSpPr>
        <p:spPr>
          <a:xfrm>
            <a:off x="5096134" y="5486400"/>
            <a:ext cx="1999427" cy="0"/>
          </a:xfrm>
          <a:prstGeom prst="line">
            <a:avLst/>
          </a:prstGeom>
          <a:noFill/>
          <a:ln w="12700">
            <a:solidFill>
              <a:srgbClr val="D6D0C2"/>
            </a:solidFill>
            <a:prstDash val="solid"/>
          </a:ln>
        </p:spPr>
      </p:sp>
      <p:sp>
        <p:nvSpPr>
          <p:cNvPr id="33" name="p2_30"/>
          <p:cNvSpPr txBox="1"/>
          <p:nvPr/>
        </p:nvSpPr>
        <p:spPr>
          <a:xfrm>
            <a:off x="5096134"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4" name="p2_31"/>
          <p:cNvSpPr txBox="1"/>
          <p:nvPr/>
        </p:nvSpPr>
        <p:spPr>
          <a:xfrm>
            <a:off x="5096134"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Unverified reports create uncertainty</a:t>
            </a:r>
            <a:endParaRPr lang="en-US" sz="1250" dirty="0"/>
          </a:p>
        </p:txBody>
      </p:sp>
      <p:sp>
        <p:nvSpPr>
          <p:cNvPr id="35" name="p3_32"/>
          <p:cNvSpPr/>
          <p:nvPr/>
        </p:nvSpPr>
        <p:spPr>
          <a:xfrm>
            <a:off x="7324161" y="5486400"/>
            <a:ext cx="1999427" cy="0"/>
          </a:xfrm>
          <a:prstGeom prst="line">
            <a:avLst/>
          </a:prstGeom>
          <a:noFill/>
          <a:ln w="12700">
            <a:solidFill>
              <a:srgbClr val="D6D0C2"/>
            </a:solidFill>
            <a:prstDash val="solid"/>
          </a:ln>
        </p:spPr>
      </p:sp>
      <p:sp>
        <p:nvSpPr>
          <p:cNvPr id="36" name="p3_33"/>
          <p:cNvSpPr txBox="1"/>
          <p:nvPr/>
        </p:nvSpPr>
        <p:spPr>
          <a:xfrm>
            <a:off x="7324161"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37" name="p3_34"/>
          <p:cNvSpPr txBox="1"/>
          <p:nvPr/>
        </p:nvSpPr>
        <p:spPr>
          <a:xfrm>
            <a:off x="7324161"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Congestion can make alternatives impractical</a:t>
            </a:r>
            <a:endParaRPr lang="en-US" sz="1250" dirty="0"/>
          </a:p>
        </p:txBody>
      </p:sp>
      <p:sp>
        <p:nvSpPr>
          <p:cNvPr id="38" name="p4_35"/>
          <p:cNvSpPr/>
          <p:nvPr/>
        </p:nvSpPr>
        <p:spPr>
          <a:xfrm>
            <a:off x="9552188" y="5486400"/>
            <a:ext cx="1999427" cy="0"/>
          </a:xfrm>
          <a:prstGeom prst="line">
            <a:avLst/>
          </a:prstGeom>
          <a:noFill/>
          <a:ln w="12700">
            <a:solidFill>
              <a:srgbClr val="D6D0C2"/>
            </a:solidFill>
            <a:prstDash val="solid"/>
          </a:ln>
        </p:spPr>
      </p:sp>
      <p:sp>
        <p:nvSpPr>
          <p:cNvPr id="39" name="p4_36"/>
          <p:cNvSpPr txBox="1"/>
          <p:nvPr/>
        </p:nvSpPr>
        <p:spPr>
          <a:xfrm>
            <a:off x="9552188"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0" name="p4_37"/>
          <p:cNvSpPr txBox="1"/>
          <p:nvPr/>
        </p:nvSpPr>
        <p:spPr>
          <a:xfrm>
            <a:off x="9552188"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Little explanation of why a route should change</a:t>
            </a:r>
            <a:endParaRPr lang="en-US" sz="1250" dirty="0"/>
          </a:p>
        </p:txBody>
      </p:sp>
      <p:sp>
        <p:nvSpPr>
          <p:cNvPr id="41" name="jn_38"/>
          <p:cNvSpPr/>
          <p:nvPr/>
        </p:nvSpPr>
        <p:spPr>
          <a:xfrm>
            <a:off x="4343400" y="6537960"/>
            <a:ext cx="3520440" cy="0"/>
          </a:xfrm>
          <a:prstGeom prst="line">
            <a:avLst/>
          </a:prstGeom>
          <a:noFill/>
          <a:ln w="12700">
            <a:solidFill>
              <a:srgbClr val="D2CBBB"/>
            </a:solidFill>
            <a:prstDash val="solid"/>
          </a:ln>
        </p:spPr>
      </p:sp>
      <p:sp>
        <p:nvSpPr>
          <p:cNvPr id="42" name="jseg_39"/>
          <p:cNvSpPr/>
          <p:nvPr/>
        </p:nvSpPr>
        <p:spPr>
          <a:xfrm>
            <a:off x="4343400" y="6537960"/>
            <a:ext cx="704088" cy="0"/>
          </a:xfrm>
          <a:prstGeom prst="line">
            <a:avLst/>
          </a:prstGeom>
          <a:noFill/>
          <a:ln w="19050">
            <a:solidFill>
              <a:srgbClr val="14B8A6"/>
            </a:solidFill>
            <a:prstDash val="solid"/>
          </a:ln>
        </p:spPr>
      </p:sp>
      <p:sp>
        <p:nvSpPr>
          <p:cNvPr id="43" name="jn_40"/>
          <p:cNvSpPr/>
          <p:nvPr/>
        </p:nvSpPr>
        <p:spPr>
          <a:xfrm>
            <a:off x="4306824" y="6501384"/>
            <a:ext cx="73152" cy="73152"/>
          </a:xfrm>
          <a:prstGeom prst="ellipse">
            <a:avLst/>
          </a:prstGeom>
          <a:solidFill>
            <a:schemeClr val="accent1"/>
          </a:solidFill>
          <a:ln/>
        </p:spPr>
      </p:sp>
      <p:sp>
        <p:nvSpPr>
          <p:cNvPr id="44" name="jn_41"/>
          <p:cNvSpPr/>
          <p:nvPr/>
        </p:nvSpPr>
        <p:spPr>
          <a:xfrm>
            <a:off x="5010912" y="6501384"/>
            <a:ext cx="73152" cy="73152"/>
          </a:xfrm>
          <a:prstGeom prst="ellipse">
            <a:avLst/>
          </a:prstGeom>
          <a:solidFill>
            <a:srgbClr val="B8B1A0"/>
          </a:solidFill>
          <a:ln/>
        </p:spPr>
      </p:sp>
      <p:sp>
        <p:nvSpPr>
          <p:cNvPr id="45" name="jn_42"/>
          <p:cNvSpPr/>
          <p:nvPr/>
        </p:nvSpPr>
        <p:spPr>
          <a:xfrm>
            <a:off x="5715000" y="6501384"/>
            <a:ext cx="73152" cy="73152"/>
          </a:xfrm>
          <a:prstGeom prst="ellipse">
            <a:avLst/>
          </a:prstGeom>
          <a:solidFill>
            <a:srgbClr val="B8B1A0"/>
          </a:solidFill>
          <a:ln/>
        </p:spPr>
      </p:sp>
      <p:sp>
        <p:nvSpPr>
          <p:cNvPr id="46" name="jn_43"/>
          <p:cNvSpPr/>
          <p:nvPr/>
        </p:nvSpPr>
        <p:spPr>
          <a:xfrm>
            <a:off x="6419088" y="6501384"/>
            <a:ext cx="73152" cy="73152"/>
          </a:xfrm>
          <a:prstGeom prst="ellipse">
            <a:avLst/>
          </a:prstGeom>
          <a:solidFill>
            <a:srgbClr val="B8B1A0"/>
          </a:solidFill>
          <a:ln/>
        </p:spPr>
      </p:sp>
      <p:sp>
        <p:nvSpPr>
          <p:cNvPr id="47" name="jn_44"/>
          <p:cNvSpPr/>
          <p:nvPr/>
        </p:nvSpPr>
        <p:spPr>
          <a:xfrm>
            <a:off x="7123176" y="6501384"/>
            <a:ext cx="73152" cy="73152"/>
          </a:xfrm>
          <a:prstGeom prst="ellipse">
            <a:avLst/>
          </a:prstGeom>
          <a:solidFill>
            <a:srgbClr val="B8B1A0"/>
          </a:solidFill>
          <a:ln/>
        </p:spPr>
      </p:sp>
      <p:sp>
        <p:nvSpPr>
          <p:cNvPr id="48" name="jn_45"/>
          <p:cNvSpPr/>
          <p:nvPr/>
        </p:nvSpPr>
        <p:spPr>
          <a:xfrm>
            <a:off x="7827264" y="6501384"/>
            <a:ext cx="73152" cy="73152"/>
          </a:xfrm>
          <a:prstGeom prst="ellipse">
            <a:avLst/>
          </a:prstGeom>
          <a:solidFill>
            <a:srgbClr val="B8B1A0"/>
          </a:solidFill>
          <a:ln/>
        </p:spPr>
      </p:sp>
      <p:sp>
        <p:nvSpPr>
          <p:cNvPr id="49" name="jdot_46"/>
          <p:cNvSpPr/>
          <p:nvPr/>
        </p:nvSpPr>
        <p:spPr>
          <a:xfrm>
            <a:off x="4960620" y="6451092"/>
            <a:ext cx="173736" cy="173736"/>
          </a:xfrm>
          <a:prstGeom prst="ellipse">
            <a:avLst/>
          </a:prstGeom>
          <a:solidFill>
            <a:schemeClr val="accent1"/>
          </a:solidFill>
          <a:ln w="28575">
            <a:solidFill>
              <a:srgbClr val="F7F5F0"/>
            </a:solidFill>
            <a:prstDash val="solid"/>
          </a:ln>
        </p:spPr>
      </p:sp>
      <p:sp>
        <p:nvSpPr>
          <p:cNvPr id="50" name="Text 4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02 / 06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15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00"/>
                                        <p:tgtEl>
                                          <p:spTgt spid="21"/>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500"/>
                                        <p:tgtEl>
                                          <p:spTgt spid="22"/>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6" presetID="10" presetClass="entr" presetSubtype="0" fill="hold" nodeType="with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31" presetID="10" presetClass="entr" presetSubtype="0" fill="hold" grpId="0" nodeType="withEffect">
                                  <p:stCondLst>
                                    <p:cond delay="20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4" presetID="10" presetClass="entr" presetSubtype="0" fill="hold" grpId="0" nodeType="withEffect">
                                  <p:stCondLst>
                                    <p:cond delay="2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7" presetID="10" presetClass="entr" presetSubtype="0" fill="hold" grpId="0" nodeType="withEffect">
                                  <p:stCondLst>
                                    <p:cond delay="20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par>
                                <p:cTn id="40" presetID="10" presetClass="entr" presetSubtype="0" fill="hold" grpId="0" nodeType="withEffect">
                                  <p:stCondLst>
                                    <p:cond delay="3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3" presetID="10" presetClass="entr" presetSubtype="0" fill="hold" grpId="0" nodeType="withEffect">
                                  <p:stCondLst>
                                    <p:cond delay="3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6" presetID="10" presetClass="entr" presetSubtype="0" fill="hold" grpId="0" nodeType="withEffect">
                                  <p:stCondLst>
                                    <p:cond delay="30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600"/>
                                        <p:tgtEl>
                                          <p:spTgt spid="5"/>
                                        </p:tgtEl>
                                      </p:cBhvr>
                                    </p:animEffect>
                                  </p:childTnLst>
                                </p:cTn>
                              </p:par>
                              <p:par>
                                <p:cTn id="49" presetID="10" presetClass="entr" presetSubtype="0" fill="hold" nodeType="withEffect">
                                  <p:stCondLst>
                                    <p:cond delay="30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600"/>
                                        <p:tgtEl>
                                          <p:spTgt spid="8"/>
                                        </p:tgtEl>
                                      </p:cBhvr>
                                    </p:animEffect>
                                  </p:childTnLst>
                                </p:cTn>
                              </p:par>
                              <p:par>
                                <p:cTn id="51" presetID="0" presetClass="path" presetSubtype="0" accel="50000" decel="50000" fill="hold" nodeType="withEffect">
                                  <p:stCondLst>
                                    <p:cond delay="500"/>
                                  </p:stCondLst>
                                  <p:childTnLst>
                                    <p:animMotion origin="layout" path="M -0.0578 0 L 0 0 E" pathEditMode="relative" rAng="0" ptsTypes="AA">
                                      <p:cBhvr>
                                        <p:cTn id="50" dur="1100" fill="hold"/>
                                        <p:tgtEl>
                                          <p:spTgt spid="49"/>
                                        </p:tgtEl>
                                        <p:attrNameLst>
                                          <p:attrName>ppt_x</p:attrName>
                                          <p:attrName>ppt_y</p:attrName>
                                        </p:attrNameLst>
                                      </p:cBhvr>
                                    </p:animMotion>
                                  </p:childTnLst>
                                </p:cTn>
                              </p:par>
                              <p:par>
                                <p:cTn id="54" presetID="22" presetClass="entr" presetSubtype="8" fill="hold" grpId="0" nodeType="withEffect">
                                  <p:stCondLst>
                                    <p:cond delay="50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1100"/>
                                        <p:tgtEl>
                                          <p:spTgt spid="42"/>
                                        </p:tgtEl>
                                      </p:cBhvr>
                                    </p:animEffect>
                                  </p:childTnLst>
                                </p:cTn>
                              </p:par>
                              <p:par>
                                <p:cTn id="57" presetID="10" presetClass="entr" presetSubtype="0" fill="hold" grpId="0" nodeType="withEffect">
                                  <p:stCondLst>
                                    <p:cond delay="70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00"/>
                                        <p:tgtEl>
                                          <p:spTgt spid="11"/>
                                        </p:tgtEl>
                                      </p:cBhvr>
                                    </p:animEffect>
                                  </p:childTnLst>
                                </p:cTn>
                              </p:par>
                              <p:par>
                                <p:cTn id="60" presetID="10" presetClass="entr" presetSubtype="0" fill="hold" grpId="0" nodeType="withEffect">
                                  <p:stCondLst>
                                    <p:cond delay="70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400"/>
                                        <p:tgtEl>
                                          <p:spTgt spid="12"/>
                                        </p:tgtEl>
                                      </p:cBhvr>
                                    </p:animEffect>
                                  </p:childTnLst>
                                </p:cTn>
                              </p:par>
                              <p:par>
                                <p:cTn id="63" presetID="10" presetClass="entr" presetSubtype="0" fill="hold" grpId="0" nodeType="withEffect">
                                  <p:stCondLst>
                                    <p:cond delay="7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00"/>
                                        <p:tgtEl>
                                          <p:spTgt spid="13"/>
                                        </p:tgtEl>
                                      </p:cBhvr>
                                    </p:animEffect>
                                  </p:childTnLst>
                                </p:cTn>
                              </p:par>
                              <p:par>
                                <p:cTn id="66" presetID="10" presetClass="entr" presetSubtype="0" fill="hold" grpId="0" nodeType="withEffect">
                                  <p:stCondLst>
                                    <p:cond delay="7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400"/>
                                        <p:tgtEl>
                                          <p:spTgt spid="14"/>
                                        </p:tgtEl>
                                      </p:cBhvr>
                                    </p:animEffect>
                                  </p:childTnLst>
                                </p:cTn>
                              </p:par>
                              <p:par>
                                <p:cTn id="69" presetID="10" presetClass="entr" presetSubtype="0" fill="hold" grpId="0" nodeType="withEffect">
                                  <p:stCondLst>
                                    <p:cond delay="80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00"/>
                                        <p:tgtEl>
                                          <p:spTgt spid="16"/>
                                        </p:tgtEl>
                                      </p:cBhvr>
                                    </p:animEffect>
                                  </p:childTnLst>
                                </p:cTn>
                              </p:par>
                              <p:par>
                                <p:cTn id="72" presetID="10" presetClass="entr" presetSubtype="0" fill="hold" grpId="0" nodeType="withEffect">
                                  <p:stCondLst>
                                    <p:cond delay="80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00"/>
                                        <p:tgtEl>
                                          <p:spTgt spid="17"/>
                                        </p:tgtEl>
                                      </p:cBhvr>
                                    </p:animEffect>
                                  </p:childTnLst>
                                </p:cTn>
                              </p:par>
                              <p:par>
                                <p:cTn id="75" presetID="10" presetClass="entr" presetSubtype="0" fill="hold" grpId="0" nodeType="withEffect">
                                  <p:stCondLst>
                                    <p:cond delay="80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00"/>
                                        <p:tgtEl>
                                          <p:spTgt spid="18"/>
                                        </p:tgtEl>
                                      </p:cBhvr>
                                    </p:animEffect>
                                  </p:childTnLst>
                                </p:cTn>
                              </p:par>
                              <p:par>
                                <p:cTn id="78" presetID="10" presetClass="entr" presetSubtype="0" fill="hold" grpId="0" nodeType="withEffect">
                                  <p:stCondLst>
                                    <p:cond delay="8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00"/>
                                        <p:tgtEl>
                                          <p:spTgt spid="19"/>
                                        </p:tgtEl>
                                      </p:cBhvr>
                                    </p:animEffect>
                                  </p:childTnLst>
                                </p:cTn>
                              </p:par>
                              <p:par>
                                <p:cTn id="81" presetID="22" presetClass="entr" presetSubtype="8" fill="hold" nodeType="withEffect">
                                  <p:stCondLst>
                                    <p:cond delay="1000"/>
                                  </p:stCondLst>
                                  <p:childTnLst>
                                    <p:set>
                                      <p:cBhvr>
                                        <p:cTn id="79" dur="1" fill="hold">
                                          <p:stCondLst>
                                            <p:cond delay="0"/>
                                          </p:stCondLst>
                                        </p:cTn>
                                        <p:tgtEl>
                                          <p:spTgt spid="7"/>
                                        </p:tgtEl>
                                        <p:attrNameLst>
                                          <p:attrName>style.visibility</p:attrName>
                                        </p:attrNameLst>
                                      </p:cBhvr>
                                      <p:to>
                                        <p:strVal val="visible"/>
                                      </p:to>
                                    </p:set>
                                    <p:animEffect transition="in" filter="wipe(left)">
                                      <p:cBhvr>
                                        <p:cTn id="80" dur="900"/>
                                        <p:tgtEl>
                                          <p:spTgt spid="7"/>
                                        </p:tgtEl>
                                      </p:cBhvr>
                                    </p:animEffect>
                                  </p:childTnLst>
                                </p:cTn>
                              </p:par>
                              <p:par>
                                <p:cTn id="84" presetID="22" presetClass="entr" presetSubtype="8" fill="hold" nodeType="withEffect">
                                  <p:stCondLst>
                                    <p:cond delay="1500"/>
                                  </p:stCondLst>
                                  <p:childTnLst>
                                    <p:set>
                                      <p:cBhvr>
                                        <p:cTn id="82" dur="1" fill="hold">
                                          <p:stCondLst>
                                            <p:cond delay="0"/>
                                          </p:stCondLst>
                                        </p:cTn>
                                        <p:tgtEl>
                                          <p:spTgt spid="9"/>
                                        </p:tgtEl>
                                        <p:attrNameLst>
                                          <p:attrName>style.visibility</p:attrName>
                                        </p:attrNameLst>
                                      </p:cBhvr>
                                      <p:to>
                                        <p:strVal val="visible"/>
                                      </p:to>
                                    </p:set>
                                    <p:animEffect transition="in" filter="wipe(left)">
                                      <p:cBhvr>
                                        <p:cTn id="83" dur="900"/>
                                        <p:tgtEl>
                                          <p:spTgt spid="9"/>
                                        </p:tgtEl>
                                      </p:cBhvr>
                                    </p:animEffect>
                                  </p:childTnLst>
                                </p:cTn>
                              </p:par>
                              <p:par>
                                <p:cTn id="87" presetID="10" presetClass="entr" presetSubtype="0" fill="hold" grpId="0"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350"/>
                                        <p:tgtEl>
                                          <p:spTgt spid="15"/>
                                        </p:tgtEl>
                                      </p:cBhvr>
                                    </p:animEffect>
                                  </p:childTnLst>
                                </p:cTn>
                              </p:par>
                              <p:par>
                                <p:cTn id="90" presetID="22" presetClass="entr" presetSubtype="8" fill="hold" nodeType="withEffect">
                                  <p:stCondLst>
                                    <p:cond delay="2100"/>
                                  </p:stCondLst>
                                  <p:childTnLst>
                                    <p:set>
                                      <p:cBhvr>
                                        <p:cTn id="88" dur="1" fill="hold">
                                          <p:stCondLst>
                                            <p:cond delay="0"/>
                                          </p:stCondLst>
                                        </p:cTn>
                                        <p:tgtEl>
                                          <p:spTgt spid="10"/>
                                        </p:tgtEl>
                                        <p:attrNameLst>
                                          <p:attrName>style.visibility</p:attrName>
                                        </p:attrNameLst>
                                      </p:cBhvr>
                                      <p:to>
                                        <p:strVal val="visible"/>
                                      </p:to>
                                    </p:set>
                                    <p:animEffect transition="in" filter="wipe(left)">
                                      <p:cBhvr>
                                        <p:cTn id="89" dur="1200"/>
                                        <p:tgtEl>
                                          <p:spTgt spid="10"/>
                                        </p:tgtEl>
                                      </p:cBhvr>
                                    </p:animEffect>
                                  </p:childTnLst>
                                </p:cTn>
                              </p:par>
                              <p:par>
                                <p:cTn id="93" presetID="10" presetClass="entr" presetSubtype="0" fill="hold" grpId="0" nodeType="withEffect">
                                  <p:stCondLst>
                                    <p:cond delay="240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350"/>
                                        <p:tgtEl>
                                          <p:spTgt spid="20"/>
                                        </p:tgtEl>
                                      </p:cBhvr>
                                    </p:animEffect>
                                  </p:childTnLst>
                                </p:cTn>
                              </p:par>
                              <p:par>
                                <p:cTn id="97" presetID="42" presetClass="entr" presetSubtype="0" fill="hold" grpId="0" nodeType="withEffect">
                                  <p:stCondLst>
                                    <p:cond delay="33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ppt_y</p:attrName>
                                        </p:attrNameLst>
                                      </p:cBhvr>
                                      <p:tavLst>
                                        <p:tav tm="0">
                                          <p:val>
                                            <p:strVal val="#ppt_y+.06"/>
                                          </p:val>
                                        </p:tav>
                                        <p:tav tm="100000">
                                          <p:val>
                                            <p:strVal val="#ppt_y"/>
                                          </p:val>
                                        </p:tav>
                                      </p:tavLst>
                                    </p:anim>
                                    <p:animEffect transition="in" filter="fade">
                                      <p:cBhvr>
                                        <p:cTn id="96" dur="500"/>
                                        <p:tgtEl>
                                          <p:spTgt spid="25"/>
                                        </p:tgtEl>
                                      </p:cBhvr>
                                    </p:animEffect>
                                  </p:childTnLst>
                                </p:cTn>
                              </p:par>
                              <p:par>
                                <p:cTn id="101" presetID="42" presetClass="entr" presetSubtype="0" fill="hold" grpId="0" nodeType="withEffect">
                                  <p:stCondLst>
                                    <p:cond delay="36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400" fill="hold"/>
                                        <p:tgtEl>
                                          <p:spTgt spid="26"/>
                                        </p:tgtEl>
                                        <p:attrNameLst>
                                          <p:attrName>ppt_y</p:attrName>
                                        </p:attrNameLst>
                                      </p:cBhvr>
                                      <p:tavLst>
                                        <p:tav tm="0">
                                          <p:val>
                                            <p:strVal val="#ppt_y+.06"/>
                                          </p:val>
                                        </p:tav>
                                        <p:tav tm="100000">
                                          <p:val>
                                            <p:strVal val="#ppt_y"/>
                                          </p:val>
                                        </p:tav>
                                      </p:tavLst>
                                    </p:anim>
                                    <p:animEffect transition="in" filter="fade">
                                      <p:cBhvr>
                                        <p:cTn id="100" dur="400"/>
                                        <p:tgtEl>
                                          <p:spTgt spid="26"/>
                                        </p:tgtEl>
                                      </p:cBhvr>
                                    </p:animEffect>
                                  </p:childTnLst>
                                </p:cTn>
                              </p:par>
                              <p:par>
                                <p:cTn id="105" presetID="42" presetClass="entr" presetSubtype="0" fill="hold" grpId="0" nodeType="withEffect">
                                  <p:stCondLst>
                                    <p:cond delay="36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400" fill="hold"/>
                                        <p:tgtEl>
                                          <p:spTgt spid="27"/>
                                        </p:tgtEl>
                                        <p:attrNameLst>
                                          <p:attrName>ppt_y</p:attrName>
                                        </p:attrNameLst>
                                      </p:cBhvr>
                                      <p:tavLst>
                                        <p:tav tm="0">
                                          <p:val>
                                            <p:strVal val="#ppt_y+.06"/>
                                          </p:val>
                                        </p:tav>
                                        <p:tav tm="100000">
                                          <p:val>
                                            <p:strVal val="#ppt_y"/>
                                          </p:val>
                                        </p:tav>
                                      </p:tavLst>
                                    </p:anim>
                                    <p:animEffect transition="in" filter="fade">
                                      <p:cBhvr>
                                        <p:cTn id="104" dur="400"/>
                                        <p:tgtEl>
                                          <p:spTgt spid="27"/>
                                        </p:tgtEl>
                                      </p:cBhvr>
                                    </p:animEffect>
                                  </p:childTnLst>
                                </p:cTn>
                              </p:par>
                              <p:par>
                                <p:cTn id="109" presetID="42" presetClass="entr" presetSubtype="0" fill="hold" grpId="0" nodeType="withEffect">
                                  <p:stCondLst>
                                    <p:cond delay="36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400" fill="hold"/>
                                        <p:tgtEl>
                                          <p:spTgt spid="28"/>
                                        </p:tgtEl>
                                        <p:attrNameLst>
                                          <p:attrName>ppt_y</p:attrName>
                                        </p:attrNameLst>
                                      </p:cBhvr>
                                      <p:tavLst>
                                        <p:tav tm="0">
                                          <p:val>
                                            <p:strVal val="#ppt_y+.06"/>
                                          </p:val>
                                        </p:tav>
                                        <p:tav tm="100000">
                                          <p:val>
                                            <p:strVal val="#ppt_y"/>
                                          </p:val>
                                        </p:tav>
                                      </p:tavLst>
                                    </p:anim>
                                    <p:animEffect transition="in" filter="fade">
                                      <p:cBhvr>
                                        <p:cTn id="108" dur="400"/>
                                        <p:tgtEl>
                                          <p:spTgt spid="28"/>
                                        </p:tgtEl>
                                      </p:cBhvr>
                                    </p:animEffect>
                                  </p:childTnLst>
                                </p:cTn>
                              </p:par>
                              <p:par>
                                <p:cTn id="113" presetID="42" presetClass="entr" presetSubtype="0" fill="hold" grpId="0" nodeType="withEffect">
                                  <p:stCondLst>
                                    <p:cond delay="371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400" fill="hold"/>
                                        <p:tgtEl>
                                          <p:spTgt spid="29"/>
                                        </p:tgtEl>
                                        <p:attrNameLst>
                                          <p:attrName>ppt_y</p:attrName>
                                        </p:attrNameLst>
                                      </p:cBhvr>
                                      <p:tavLst>
                                        <p:tav tm="0">
                                          <p:val>
                                            <p:strVal val="#ppt_y+.06"/>
                                          </p:val>
                                        </p:tav>
                                        <p:tav tm="100000">
                                          <p:val>
                                            <p:strVal val="#ppt_y"/>
                                          </p:val>
                                        </p:tav>
                                      </p:tavLst>
                                    </p:anim>
                                    <p:animEffect transition="in" filter="fade">
                                      <p:cBhvr>
                                        <p:cTn id="112" dur="400"/>
                                        <p:tgtEl>
                                          <p:spTgt spid="29"/>
                                        </p:tgtEl>
                                      </p:cBhvr>
                                    </p:animEffect>
                                  </p:childTnLst>
                                </p:cTn>
                              </p:par>
                              <p:par>
                                <p:cTn id="117" presetID="42" presetClass="entr" presetSubtype="0" fill="hold" grpId="0" nodeType="withEffect">
                                  <p:stCondLst>
                                    <p:cond delay="371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400" fill="hold"/>
                                        <p:tgtEl>
                                          <p:spTgt spid="30"/>
                                        </p:tgtEl>
                                        <p:attrNameLst>
                                          <p:attrName>ppt_y</p:attrName>
                                        </p:attrNameLst>
                                      </p:cBhvr>
                                      <p:tavLst>
                                        <p:tav tm="0">
                                          <p:val>
                                            <p:strVal val="#ppt_y+.06"/>
                                          </p:val>
                                        </p:tav>
                                        <p:tav tm="100000">
                                          <p:val>
                                            <p:strVal val="#ppt_y"/>
                                          </p:val>
                                        </p:tav>
                                      </p:tavLst>
                                    </p:anim>
                                    <p:animEffect transition="in" filter="fade">
                                      <p:cBhvr>
                                        <p:cTn id="116" dur="400"/>
                                        <p:tgtEl>
                                          <p:spTgt spid="30"/>
                                        </p:tgtEl>
                                      </p:cBhvr>
                                    </p:animEffect>
                                  </p:childTnLst>
                                </p:cTn>
                              </p:par>
                              <p:par>
                                <p:cTn id="121" presetID="42" presetClass="entr" presetSubtype="0" fill="hold" grpId="0" nodeType="withEffect">
                                  <p:stCondLst>
                                    <p:cond delay="371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400" fill="hold"/>
                                        <p:tgtEl>
                                          <p:spTgt spid="31"/>
                                        </p:tgtEl>
                                        <p:attrNameLst>
                                          <p:attrName>ppt_y</p:attrName>
                                        </p:attrNameLst>
                                      </p:cBhvr>
                                      <p:tavLst>
                                        <p:tav tm="0">
                                          <p:val>
                                            <p:strVal val="#ppt_y+.06"/>
                                          </p:val>
                                        </p:tav>
                                        <p:tav tm="100000">
                                          <p:val>
                                            <p:strVal val="#ppt_y"/>
                                          </p:val>
                                        </p:tav>
                                      </p:tavLst>
                                    </p:anim>
                                    <p:animEffect transition="in" filter="fade">
                                      <p:cBhvr>
                                        <p:cTn id="120" dur="400"/>
                                        <p:tgtEl>
                                          <p:spTgt spid="31"/>
                                        </p:tgtEl>
                                      </p:cBhvr>
                                    </p:animEffect>
                                  </p:childTnLst>
                                </p:cTn>
                              </p:par>
                              <p:par>
                                <p:cTn id="125" presetID="42" presetClass="entr" presetSubtype="0" fill="hold" grpId="0" nodeType="withEffect">
                                  <p:stCondLst>
                                    <p:cond delay="382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400" fill="hold"/>
                                        <p:tgtEl>
                                          <p:spTgt spid="32"/>
                                        </p:tgtEl>
                                        <p:attrNameLst>
                                          <p:attrName>ppt_y</p:attrName>
                                        </p:attrNameLst>
                                      </p:cBhvr>
                                      <p:tavLst>
                                        <p:tav tm="0">
                                          <p:val>
                                            <p:strVal val="#ppt_y+.06"/>
                                          </p:val>
                                        </p:tav>
                                        <p:tav tm="100000">
                                          <p:val>
                                            <p:strVal val="#ppt_y"/>
                                          </p:val>
                                        </p:tav>
                                      </p:tavLst>
                                    </p:anim>
                                    <p:animEffect transition="in" filter="fade">
                                      <p:cBhvr>
                                        <p:cTn id="124" dur="400"/>
                                        <p:tgtEl>
                                          <p:spTgt spid="32"/>
                                        </p:tgtEl>
                                      </p:cBhvr>
                                    </p:animEffect>
                                  </p:childTnLst>
                                </p:cTn>
                              </p:par>
                              <p:par>
                                <p:cTn id="129" presetID="42" presetClass="entr" presetSubtype="0" fill="hold" grpId="0" nodeType="withEffect">
                                  <p:stCondLst>
                                    <p:cond delay="382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400" fill="hold"/>
                                        <p:tgtEl>
                                          <p:spTgt spid="33"/>
                                        </p:tgtEl>
                                        <p:attrNameLst>
                                          <p:attrName>ppt_y</p:attrName>
                                        </p:attrNameLst>
                                      </p:cBhvr>
                                      <p:tavLst>
                                        <p:tav tm="0">
                                          <p:val>
                                            <p:strVal val="#ppt_y+.06"/>
                                          </p:val>
                                        </p:tav>
                                        <p:tav tm="100000">
                                          <p:val>
                                            <p:strVal val="#ppt_y"/>
                                          </p:val>
                                        </p:tav>
                                      </p:tavLst>
                                    </p:anim>
                                    <p:animEffect transition="in" filter="fade">
                                      <p:cBhvr>
                                        <p:cTn id="128" dur="400"/>
                                        <p:tgtEl>
                                          <p:spTgt spid="33"/>
                                        </p:tgtEl>
                                      </p:cBhvr>
                                    </p:animEffect>
                                  </p:childTnLst>
                                </p:cTn>
                              </p:par>
                              <p:par>
                                <p:cTn id="133" presetID="42" presetClass="entr" presetSubtype="0" fill="hold" grpId="0" nodeType="withEffect">
                                  <p:stCondLst>
                                    <p:cond delay="382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400" fill="hold"/>
                                        <p:tgtEl>
                                          <p:spTgt spid="34"/>
                                        </p:tgtEl>
                                        <p:attrNameLst>
                                          <p:attrName>ppt_y</p:attrName>
                                        </p:attrNameLst>
                                      </p:cBhvr>
                                      <p:tavLst>
                                        <p:tav tm="0">
                                          <p:val>
                                            <p:strVal val="#ppt_y+.06"/>
                                          </p:val>
                                        </p:tav>
                                        <p:tav tm="100000">
                                          <p:val>
                                            <p:strVal val="#ppt_y"/>
                                          </p:val>
                                        </p:tav>
                                      </p:tavLst>
                                    </p:anim>
                                    <p:animEffect transition="in" filter="fade">
                                      <p:cBhvr>
                                        <p:cTn id="132" dur="400"/>
                                        <p:tgtEl>
                                          <p:spTgt spid="34"/>
                                        </p:tgtEl>
                                      </p:cBhvr>
                                    </p:animEffect>
                                  </p:childTnLst>
                                </p:cTn>
                              </p:par>
                              <p:par>
                                <p:cTn id="137" presetID="42" presetClass="entr" presetSubtype="0" fill="hold" grpId="0" nodeType="withEffect">
                                  <p:stCondLst>
                                    <p:cond delay="393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400" fill="hold"/>
                                        <p:tgtEl>
                                          <p:spTgt spid="35"/>
                                        </p:tgtEl>
                                        <p:attrNameLst>
                                          <p:attrName>ppt_y</p:attrName>
                                        </p:attrNameLst>
                                      </p:cBhvr>
                                      <p:tavLst>
                                        <p:tav tm="0">
                                          <p:val>
                                            <p:strVal val="#ppt_y+.06"/>
                                          </p:val>
                                        </p:tav>
                                        <p:tav tm="100000">
                                          <p:val>
                                            <p:strVal val="#ppt_y"/>
                                          </p:val>
                                        </p:tav>
                                      </p:tavLst>
                                    </p:anim>
                                    <p:animEffect transition="in" filter="fade">
                                      <p:cBhvr>
                                        <p:cTn id="136" dur="400"/>
                                        <p:tgtEl>
                                          <p:spTgt spid="35"/>
                                        </p:tgtEl>
                                      </p:cBhvr>
                                    </p:animEffect>
                                  </p:childTnLst>
                                </p:cTn>
                              </p:par>
                              <p:par>
                                <p:cTn id="141" presetID="42" presetClass="entr" presetSubtype="0" fill="hold" grpId="0" nodeType="withEffect">
                                  <p:stCondLst>
                                    <p:cond delay="393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400" fill="hold"/>
                                        <p:tgtEl>
                                          <p:spTgt spid="36"/>
                                        </p:tgtEl>
                                        <p:attrNameLst>
                                          <p:attrName>ppt_y</p:attrName>
                                        </p:attrNameLst>
                                      </p:cBhvr>
                                      <p:tavLst>
                                        <p:tav tm="0">
                                          <p:val>
                                            <p:strVal val="#ppt_y+.06"/>
                                          </p:val>
                                        </p:tav>
                                        <p:tav tm="100000">
                                          <p:val>
                                            <p:strVal val="#ppt_y"/>
                                          </p:val>
                                        </p:tav>
                                      </p:tavLst>
                                    </p:anim>
                                    <p:animEffect transition="in" filter="fade">
                                      <p:cBhvr>
                                        <p:cTn id="140" dur="400"/>
                                        <p:tgtEl>
                                          <p:spTgt spid="36"/>
                                        </p:tgtEl>
                                      </p:cBhvr>
                                    </p:animEffect>
                                  </p:childTnLst>
                                </p:cTn>
                              </p:par>
                              <p:par>
                                <p:cTn id="145" presetID="42" presetClass="entr" presetSubtype="0" fill="hold" grpId="0" nodeType="withEffect">
                                  <p:stCondLst>
                                    <p:cond delay="393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400" fill="hold"/>
                                        <p:tgtEl>
                                          <p:spTgt spid="37"/>
                                        </p:tgtEl>
                                        <p:attrNameLst>
                                          <p:attrName>ppt_y</p:attrName>
                                        </p:attrNameLst>
                                      </p:cBhvr>
                                      <p:tavLst>
                                        <p:tav tm="0">
                                          <p:val>
                                            <p:strVal val="#ppt_y+.06"/>
                                          </p:val>
                                        </p:tav>
                                        <p:tav tm="100000">
                                          <p:val>
                                            <p:strVal val="#ppt_y"/>
                                          </p:val>
                                        </p:tav>
                                      </p:tavLst>
                                    </p:anim>
                                    <p:animEffect transition="in" filter="fade">
                                      <p:cBhvr>
                                        <p:cTn id="144" dur="400"/>
                                        <p:tgtEl>
                                          <p:spTgt spid="37"/>
                                        </p:tgtEl>
                                      </p:cBhvr>
                                    </p:animEffect>
                                  </p:childTnLst>
                                </p:cTn>
                              </p:par>
                              <p:par>
                                <p:cTn id="149" presetID="42" presetClass="entr" presetSubtype="0" fill="hold" grpId="0" nodeType="withEffect">
                                  <p:stCondLst>
                                    <p:cond delay="404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400" fill="hold"/>
                                        <p:tgtEl>
                                          <p:spTgt spid="38"/>
                                        </p:tgtEl>
                                        <p:attrNameLst>
                                          <p:attrName>ppt_y</p:attrName>
                                        </p:attrNameLst>
                                      </p:cBhvr>
                                      <p:tavLst>
                                        <p:tav tm="0">
                                          <p:val>
                                            <p:strVal val="#ppt_y+.06"/>
                                          </p:val>
                                        </p:tav>
                                        <p:tav tm="100000">
                                          <p:val>
                                            <p:strVal val="#ppt_y"/>
                                          </p:val>
                                        </p:tav>
                                      </p:tavLst>
                                    </p:anim>
                                    <p:animEffect transition="in" filter="fade">
                                      <p:cBhvr>
                                        <p:cTn id="148" dur="400"/>
                                        <p:tgtEl>
                                          <p:spTgt spid="38"/>
                                        </p:tgtEl>
                                      </p:cBhvr>
                                    </p:animEffect>
                                  </p:childTnLst>
                                </p:cTn>
                              </p:par>
                              <p:par>
                                <p:cTn id="153" presetID="42" presetClass="entr" presetSubtype="0" fill="hold" grpId="0" nodeType="withEffect">
                                  <p:stCondLst>
                                    <p:cond delay="404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400" fill="hold"/>
                                        <p:tgtEl>
                                          <p:spTgt spid="39"/>
                                        </p:tgtEl>
                                        <p:attrNameLst>
                                          <p:attrName>ppt_y</p:attrName>
                                        </p:attrNameLst>
                                      </p:cBhvr>
                                      <p:tavLst>
                                        <p:tav tm="0">
                                          <p:val>
                                            <p:strVal val="#ppt_y+.06"/>
                                          </p:val>
                                        </p:tav>
                                        <p:tav tm="100000">
                                          <p:val>
                                            <p:strVal val="#ppt_y"/>
                                          </p:val>
                                        </p:tav>
                                      </p:tavLst>
                                    </p:anim>
                                    <p:animEffect transition="in" filter="fade">
                                      <p:cBhvr>
                                        <p:cTn id="152" dur="400"/>
                                        <p:tgtEl>
                                          <p:spTgt spid="39"/>
                                        </p:tgtEl>
                                      </p:cBhvr>
                                    </p:animEffect>
                                  </p:childTnLst>
                                </p:cTn>
                              </p:par>
                              <p:par>
                                <p:cTn id="157" presetID="42" presetClass="entr" presetSubtype="0" fill="hold" grpId="0" nodeType="withEffect">
                                  <p:stCondLst>
                                    <p:cond delay="404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400" fill="hold"/>
                                        <p:tgtEl>
                                          <p:spTgt spid="40"/>
                                        </p:tgtEl>
                                        <p:attrNameLst>
                                          <p:attrName>ppt_y</p:attrName>
                                        </p:attrNameLst>
                                      </p:cBhvr>
                                      <p:tavLst>
                                        <p:tav tm="0">
                                          <p:val>
                                            <p:strVal val="#ppt_y+.06"/>
                                          </p:val>
                                        </p:tav>
                                        <p:tav tm="100000">
                                          <p:val>
                                            <p:strVal val="#ppt_y"/>
                                          </p:val>
                                        </p:tav>
                                      </p:tavLst>
                                    </p:anim>
                                    <p:animEffect transition="in" filter="fade">
                                      <p:cBhvr>
                                        <p:cTn id="1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4" grpId="0" animBg="1"/>
      <p:bldP spid="41" grpId="0" animBg="1"/>
      <p:bldP spid="43" grpId="0" animBg="1"/>
      <p:bldP spid="44" grpId="0" animBg="1"/>
      <p:bldP spid="45" grpId="0" animBg="1"/>
      <p:bldP spid="46" grpId="0" animBg="1"/>
      <p:bldP spid="47" grpId="0" animBg="1"/>
      <p:bldP spid="48" grpId="0" animBg="1"/>
      <p:bldP spid="23" grpId="0" animBg="1"/>
      <p:bldP spid="24" grpId="0" animBg="1"/>
      <p:bldP spid="5" grpId="0" animBg="1"/>
      <p:bldP spid="42" grpId="0" animBg="1"/>
      <p:bldP spid="11" grpId="0" animBg="1"/>
      <p:bldP spid="12" grpId="0" animBg="1"/>
      <p:bldP spid="13" grpId="0" animBg="1"/>
      <p:bldP spid="14" grpId="0" animBg="1"/>
      <p:bldP spid="16" grpId="0" animBg="1"/>
      <p:bldP spid="17" grpId="0" animBg="1"/>
      <p:bldP spid="18" grpId="0" animBg="1"/>
      <p:bldP spid="19" grpId="0" animBg="1"/>
      <p:bldP spid="15" grpId="0" animBg="1"/>
      <p:bldP spid="20"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03  —  THE SOLUTION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From Route Finding to Evidence-Based Route Intelligence</a:t>
            </a:r>
            <a:endParaRPr lang="en-US" sz="3400" dirty="0"/>
          </a:p>
        </p:txBody>
      </p:sp>
      <p:sp>
        <p:nvSpPr>
          <p:cNvPr id="4" name="st0_1"/>
          <p:cNvSpPr/>
          <p:nvPr/>
        </p:nvSpPr>
        <p:spPr>
          <a:xfrm>
            <a:off x="640080" y="2103120"/>
            <a:ext cx="6126480" cy="0"/>
          </a:xfrm>
          <a:prstGeom prst="line">
            <a:avLst/>
          </a:prstGeom>
          <a:noFill/>
          <a:ln w="12700">
            <a:solidFill>
              <a:srgbClr val="D6D0C2"/>
            </a:solidFill>
            <a:prstDash val="solid"/>
          </a:ln>
        </p:spPr>
      </p:sp>
      <p:sp>
        <p:nvSpPr>
          <p:cNvPr id="5" name="st0_2"/>
          <p:cNvSpPr txBox="1"/>
          <p:nvPr/>
        </p:nvSpPr>
        <p:spPr>
          <a:xfrm>
            <a:off x="640080" y="217627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1</a:t>
            </a:r>
            <a:endParaRPr lang="en-US" sz="2400" dirty="0"/>
          </a:p>
        </p:txBody>
      </p:sp>
      <p:sp>
        <p:nvSpPr>
          <p:cNvPr id="6" name="st0_3"/>
          <p:cNvSpPr txBox="1"/>
          <p:nvPr/>
        </p:nvSpPr>
        <p:spPr>
          <a:xfrm>
            <a:off x="1188720" y="2157984"/>
            <a:ext cx="5486400" cy="475488"/>
          </a:xfrm>
          <a:prstGeom prst="rect">
            <a:avLst/>
          </a:prstGeom>
          <a:noFill/>
          <a:ln/>
        </p:spPr>
        <p:txBody>
          <a:bodyPr wrap="square" lIns="0" tIns="0" rIns="0" bIns="0" rtlCol="0" anchor="ctr"/>
          <a:lstStyle/>
          <a:p>
            <a:pPr indent="0" marL="0">
              <a:buNone/>
            </a:pPr>
            <a:r>
              <a:rPr lang="en-US" sz="1350" dirty="0">
                <a:solidFill>
                  <a:schemeClr val="tx1"/>
                </a:solidFill>
              </a:rPr>
              <a:t>Select an origin and destination</a:t>
            </a:r>
            <a:endParaRPr lang="en-US" sz="1350" dirty="0"/>
          </a:p>
        </p:txBody>
      </p:sp>
      <p:sp>
        <p:nvSpPr>
          <p:cNvPr id="7" name="st1_4"/>
          <p:cNvSpPr/>
          <p:nvPr/>
        </p:nvSpPr>
        <p:spPr>
          <a:xfrm>
            <a:off x="640080" y="2688336"/>
            <a:ext cx="6126480" cy="0"/>
          </a:xfrm>
          <a:prstGeom prst="line">
            <a:avLst/>
          </a:prstGeom>
          <a:noFill/>
          <a:ln w="12700">
            <a:solidFill>
              <a:srgbClr val="D6D0C2"/>
            </a:solidFill>
            <a:prstDash val="solid"/>
          </a:ln>
        </p:spPr>
      </p:sp>
      <p:sp>
        <p:nvSpPr>
          <p:cNvPr id="8" name="st1_5"/>
          <p:cNvSpPr txBox="1"/>
          <p:nvPr/>
        </p:nvSpPr>
        <p:spPr>
          <a:xfrm>
            <a:off x="640080" y="2761488"/>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2</a:t>
            </a:r>
            <a:endParaRPr lang="en-US" sz="2400" dirty="0"/>
          </a:p>
        </p:txBody>
      </p:sp>
      <p:sp>
        <p:nvSpPr>
          <p:cNvPr id="9" name="st1_6"/>
          <p:cNvSpPr txBox="1"/>
          <p:nvPr/>
        </p:nvSpPr>
        <p:spPr>
          <a:xfrm>
            <a:off x="1188720" y="2743200"/>
            <a:ext cx="5486400" cy="475488"/>
          </a:xfrm>
          <a:prstGeom prst="rect">
            <a:avLst/>
          </a:prstGeom>
          <a:noFill/>
          <a:ln/>
        </p:spPr>
        <p:txBody>
          <a:bodyPr wrap="square" lIns="0" tIns="0" rIns="0" bIns="0" rtlCol="0" anchor="ctr"/>
          <a:lstStyle/>
          <a:p>
            <a:pPr indent="0" marL="0">
              <a:buNone/>
            </a:pPr>
            <a:r>
              <a:rPr lang="en-US" sz="1350" dirty="0">
                <a:solidFill>
                  <a:schemeClr val="tx1"/>
                </a:solidFill>
              </a:rPr>
              <a:t>Generate multiple candidate routes from real OpenStreetMap road-network data</a:t>
            </a:r>
            <a:endParaRPr lang="en-US" sz="1350" dirty="0"/>
          </a:p>
        </p:txBody>
      </p:sp>
      <p:sp>
        <p:nvSpPr>
          <p:cNvPr id="10" name="st2_7"/>
          <p:cNvSpPr/>
          <p:nvPr/>
        </p:nvSpPr>
        <p:spPr>
          <a:xfrm>
            <a:off x="640080" y="3273552"/>
            <a:ext cx="6126480" cy="0"/>
          </a:xfrm>
          <a:prstGeom prst="line">
            <a:avLst/>
          </a:prstGeom>
          <a:noFill/>
          <a:ln w="12700">
            <a:solidFill>
              <a:srgbClr val="D6D0C2"/>
            </a:solidFill>
            <a:prstDash val="solid"/>
          </a:ln>
        </p:spPr>
      </p:sp>
      <p:sp>
        <p:nvSpPr>
          <p:cNvPr id="11" name="st2_8"/>
          <p:cNvSpPr txBox="1"/>
          <p:nvPr/>
        </p:nvSpPr>
        <p:spPr>
          <a:xfrm>
            <a:off x="640080" y="3346704"/>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3</a:t>
            </a:r>
            <a:endParaRPr lang="en-US" sz="2400" dirty="0"/>
          </a:p>
        </p:txBody>
      </p:sp>
      <p:sp>
        <p:nvSpPr>
          <p:cNvPr id="12" name="st2_9"/>
          <p:cNvSpPr txBox="1"/>
          <p:nvPr/>
        </p:nvSpPr>
        <p:spPr>
          <a:xfrm>
            <a:off x="1188720" y="3328416"/>
            <a:ext cx="5486400" cy="475488"/>
          </a:xfrm>
          <a:prstGeom prst="rect">
            <a:avLst/>
          </a:prstGeom>
          <a:noFill/>
          <a:ln/>
        </p:spPr>
        <p:txBody>
          <a:bodyPr wrap="square" lIns="0" tIns="0" rIns="0" bIns="0" rtlCol="0" anchor="ctr"/>
          <a:lstStyle/>
          <a:p>
            <a:pPr indent="0" marL="0">
              <a:buNone/>
            </a:pPr>
            <a:r>
              <a:rPr lang="en-US" sz="1350" dirty="0">
                <a:solidFill>
                  <a:schemeClr val="tx1"/>
                </a:solidFill>
              </a:rPr>
              <a:t>Evaluate hazards, congestion, report age and verification status</a:t>
            </a:r>
            <a:endParaRPr lang="en-US" sz="1350" dirty="0"/>
          </a:p>
        </p:txBody>
      </p:sp>
      <p:sp>
        <p:nvSpPr>
          <p:cNvPr id="13" name="st3_10"/>
          <p:cNvSpPr/>
          <p:nvPr/>
        </p:nvSpPr>
        <p:spPr>
          <a:xfrm>
            <a:off x="640080" y="3858768"/>
            <a:ext cx="6126480" cy="0"/>
          </a:xfrm>
          <a:prstGeom prst="line">
            <a:avLst/>
          </a:prstGeom>
          <a:noFill/>
          <a:ln w="12700">
            <a:solidFill>
              <a:srgbClr val="D6D0C2"/>
            </a:solidFill>
            <a:prstDash val="solid"/>
          </a:ln>
        </p:spPr>
      </p:sp>
      <p:sp>
        <p:nvSpPr>
          <p:cNvPr id="14" name="st3_11"/>
          <p:cNvSpPr txBox="1"/>
          <p:nvPr/>
        </p:nvSpPr>
        <p:spPr>
          <a:xfrm>
            <a:off x="640080" y="3931920"/>
            <a:ext cx="457200" cy="438912"/>
          </a:xfrm>
          <a:prstGeom prst="rect">
            <a:avLst/>
          </a:prstGeom>
          <a:noFill/>
          <a:ln/>
        </p:spPr>
        <p:txBody>
          <a:bodyPr wrap="square" lIns="0" tIns="0" rIns="0" bIns="0" rtlCol="0" anchor="ctr"/>
          <a:lstStyle/>
          <a:p>
            <a:pPr indent="0" marL="0">
              <a:buNone/>
            </a:pPr>
            <a:r>
              <a:rPr lang="en-US" sz="2400" dirty="0">
                <a:solidFill>
                  <a:schemeClr val="accent3"/>
                </a:solidFill>
                <a:latin typeface="Segoe UI Light" pitchFamily="34" charset="0"/>
                <a:ea typeface="Segoe UI Light" pitchFamily="34" charset="-122"/>
                <a:cs typeface="Segoe UI Light" pitchFamily="34" charset="-120"/>
              </a:rPr>
              <a:t>4</a:t>
            </a:r>
            <a:endParaRPr lang="en-US" sz="2400" dirty="0"/>
          </a:p>
        </p:txBody>
      </p:sp>
      <p:sp>
        <p:nvSpPr>
          <p:cNvPr id="15" name="st3_12"/>
          <p:cNvSpPr txBox="1"/>
          <p:nvPr/>
        </p:nvSpPr>
        <p:spPr>
          <a:xfrm>
            <a:off x="1188720" y="3913632"/>
            <a:ext cx="5486400" cy="475488"/>
          </a:xfrm>
          <a:prstGeom prst="rect">
            <a:avLst/>
          </a:prstGeom>
          <a:noFill/>
          <a:ln/>
        </p:spPr>
        <p:txBody>
          <a:bodyPr wrap="square" lIns="0" tIns="0" rIns="0" bIns="0" rtlCol="0" anchor="ctr"/>
          <a:lstStyle/>
          <a:p>
            <a:pPr indent="0" marL="0">
              <a:buNone/>
            </a:pPr>
            <a:r>
              <a:rPr lang="en-US" sz="1350" dirty="0">
                <a:solidFill>
                  <a:schemeClr val="tx1"/>
                </a:solidFill>
              </a:rPr>
              <a:t>Reject routes blocked by verified or corroborated impassable incidents</a:t>
            </a:r>
            <a:endParaRPr lang="en-US" sz="1350" dirty="0"/>
          </a:p>
        </p:txBody>
      </p:sp>
      <p:sp>
        <p:nvSpPr>
          <p:cNvPr id="16" name="st4_13"/>
          <p:cNvSpPr/>
          <p:nvPr/>
        </p:nvSpPr>
        <p:spPr>
          <a:xfrm>
            <a:off x="640080" y="4443984"/>
            <a:ext cx="6126480" cy="0"/>
          </a:xfrm>
          <a:prstGeom prst="line">
            <a:avLst/>
          </a:prstGeom>
          <a:noFill/>
          <a:ln w="12700">
            <a:solidFill>
              <a:srgbClr val="D6D0C2"/>
            </a:solidFill>
            <a:prstDash val="solid"/>
          </a:ln>
        </p:spPr>
      </p:sp>
      <p:sp>
        <p:nvSpPr>
          <p:cNvPr id="17" name="st4_14"/>
          <p:cNvSpPr txBox="1"/>
          <p:nvPr/>
        </p:nvSpPr>
        <p:spPr>
          <a:xfrm>
            <a:off x="640080" y="4517136"/>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5</a:t>
            </a:r>
            <a:endParaRPr lang="en-US" sz="2400" dirty="0"/>
          </a:p>
        </p:txBody>
      </p:sp>
      <p:sp>
        <p:nvSpPr>
          <p:cNvPr id="18" name="st4_15"/>
          <p:cNvSpPr txBox="1"/>
          <p:nvPr/>
        </p:nvSpPr>
        <p:spPr>
          <a:xfrm>
            <a:off x="1188720" y="4498848"/>
            <a:ext cx="5486400" cy="475488"/>
          </a:xfrm>
          <a:prstGeom prst="rect">
            <a:avLst/>
          </a:prstGeom>
          <a:noFill/>
          <a:ln/>
        </p:spPr>
        <p:txBody>
          <a:bodyPr wrap="square" lIns="0" tIns="0" rIns="0" bIns="0" rtlCol="0" anchor="ctr"/>
          <a:lstStyle/>
          <a:p>
            <a:pPr indent="0" marL="0">
              <a:buNone/>
            </a:pPr>
            <a:r>
              <a:rPr lang="en-US" sz="1350" dirty="0">
                <a:solidFill>
                  <a:schemeClr val="tx1"/>
                </a:solidFill>
              </a:rPr>
              <a:t>Rank viable alternatives and explain the recommendation</a:t>
            </a:r>
            <a:endParaRPr lang="en-US" sz="1350" dirty="0"/>
          </a:p>
        </p:txBody>
      </p:sp>
      <p:sp>
        <p:nvSpPr>
          <p:cNvPr id="19" name="st5_16"/>
          <p:cNvSpPr/>
          <p:nvPr/>
        </p:nvSpPr>
        <p:spPr>
          <a:xfrm>
            <a:off x="640080" y="5029200"/>
            <a:ext cx="6126480" cy="0"/>
          </a:xfrm>
          <a:prstGeom prst="line">
            <a:avLst/>
          </a:prstGeom>
          <a:noFill/>
          <a:ln w="12700">
            <a:solidFill>
              <a:srgbClr val="D6D0C2"/>
            </a:solidFill>
            <a:prstDash val="solid"/>
          </a:ln>
        </p:spPr>
      </p:sp>
      <p:sp>
        <p:nvSpPr>
          <p:cNvPr id="20" name="st5_17"/>
          <p:cNvSpPr txBox="1"/>
          <p:nvPr/>
        </p:nvSpPr>
        <p:spPr>
          <a:xfrm>
            <a:off x="640080" y="510235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6</a:t>
            </a:r>
            <a:endParaRPr lang="en-US" sz="2400" dirty="0"/>
          </a:p>
        </p:txBody>
      </p:sp>
      <p:sp>
        <p:nvSpPr>
          <p:cNvPr id="21" name="st5_18"/>
          <p:cNvSpPr txBox="1"/>
          <p:nvPr/>
        </p:nvSpPr>
        <p:spPr>
          <a:xfrm>
            <a:off x="1188720" y="5084064"/>
            <a:ext cx="5486400" cy="475488"/>
          </a:xfrm>
          <a:prstGeom prst="rect">
            <a:avLst/>
          </a:prstGeom>
          <a:noFill/>
          <a:ln/>
        </p:spPr>
        <p:txBody>
          <a:bodyPr wrap="square" lIns="0" tIns="0" rIns="0" bIns="0" rtlCol="0" anchor="ctr"/>
          <a:lstStyle/>
          <a:p>
            <a:pPr indent="0" marL="0">
              <a:buNone/>
            </a:pPr>
            <a:r>
              <a:rPr lang="en-US" sz="1350" dirty="0">
                <a:solidFill>
                  <a:schemeClr val="tx1"/>
                </a:solidFill>
              </a:rPr>
              <a:t>Recalculate when new evidence changes the situation</a:t>
            </a:r>
            <a:endParaRPr lang="en-US" sz="1350" dirty="0"/>
          </a:p>
        </p:txBody>
      </p:sp>
      <p:sp>
        <p:nvSpPr>
          <p:cNvPr id="22" name="st5_19"/>
          <p:cNvSpPr/>
          <p:nvPr/>
        </p:nvSpPr>
        <p:spPr>
          <a:xfrm>
            <a:off x="640080" y="5614416"/>
            <a:ext cx="6126480" cy="0"/>
          </a:xfrm>
          <a:prstGeom prst="line">
            <a:avLst/>
          </a:prstGeom>
          <a:noFill/>
          <a:ln w="12700">
            <a:solidFill>
              <a:srgbClr val="D6D0C2"/>
            </a:solidFill>
            <a:prstDash val="solid"/>
          </a:ln>
        </p:spPr>
      </p:sp>
      <p:sp>
        <p:nvSpPr>
          <p:cNvPr id="23" name="note_20"/>
          <p:cNvSpPr txBox="1"/>
          <p:nvPr/>
        </p:nvSpPr>
        <p:spPr>
          <a:xfrm>
            <a:off x="640080" y="5760720"/>
            <a:ext cx="6126480"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Estimated travel time</a:t>
            </a:r>
            <a:pPr indent="0" marL="0">
              <a:buNone/>
            </a:pPr>
            <a:r>
              <a:rPr lang="en-US" sz="1100" dirty="0">
                <a:solidFill>
                  <a:schemeClr val="accent5"/>
                </a:solidFill>
              </a:rPr>
              <a:t> is congestion-adjusted minutes. </a:t>
            </a:r>
            <a:pPr indent="0" marL="0">
              <a:buNone/>
            </a:pPr>
            <a:r>
              <a:rPr lang="en-US" sz="1100" dirty="0">
                <a:solidFill>
                  <a:srgbClr val="B45309"/>
                </a:solidFill>
                <a:latin typeface="Segoe UI Semibold" pitchFamily="34" charset="0"/>
                <a:ea typeface="Segoe UI Semibold" pitchFamily="34" charset="-122"/>
                <a:cs typeface="Segoe UI Semibold" pitchFamily="34" charset="-120"/>
              </a:rPr>
              <a:t>Emergency-cost score</a:t>
            </a:r>
            <a:pPr indent="0" marL="0">
              <a:buNone/>
            </a:pPr>
            <a:r>
              <a:rPr lang="en-US" sz="1100" dirty="0">
                <a:solidFill>
                  <a:schemeClr val="accent5"/>
                </a:solidFill>
              </a:rPr>
              <a:t> is separate: it adds hazard, report-age and missing-data penalties and is used only to rank routes.</a:t>
            </a:r>
            <a:endParaRPr lang="en-US" sz="1100" dirty="0"/>
          </a:p>
        </p:txBody>
      </p:sp>
      <p:sp>
        <p:nvSpPr>
          <p:cNvPr id="24" name="ph_21"/>
          <p:cNvSpPr/>
          <p:nvPr/>
        </p:nvSpPr>
        <p:spPr>
          <a:xfrm>
            <a:off x="7726680" y="1371600"/>
            <a:ext cx="3429000" cy="4937760"/>
          </a:xfrm>
          <a:prstGeom prst="roundRect">
            <a:avLst>
              <a:gd name="adj" fmla="val 11200"/>
            </a:avLst>
          </a:prstGeom>
          <a:solidFill>
            <a:schemeClr val="tx1"/>
          </a:solidFill>
          <a:ln/>
          <a:effectLst>
            <a:outerShdw sx="100000" sy="100000" kx="0" ky="0" algn="bl" rotWithShape="0" blurRad="381000" dist="152400" dir="5400000">
              <a:srgbClr val="0B1426">
                <a:alpha val="28000"/>
              </a:srgbClr>
            </a:outerShdw>
          </a:effectLst>
        </p:spPr>
      </p:sp>
      <p:sp>
        <p:nvSpPr>
          <p:cNvPr id="25" name="ph_22"/>
          <p:cNvSpPr/>
          <p:nvPr/>
        </p:nvSpPr>
        <p:spPr>
          <a:xfrm>
            <a:off x="7818120" y="1463040"/>
            <a:ext cx="3246120" cy="4754880"/>
          </a:xfrm>
          <a:prstGeom prst="roundRect">
            <a:avLst>
              <a:gd name="adj" fmla="val 9296"/>
            </a:avLst>
          </a:prstGeom>
          <a:solidFill>
            <a:srgbClr val="F7F5F0"/>
          </a:solidFill>
          <a:ln/>
        </p:spPr>
      </p:sp>
      <p:pic>
        <p:nvPicPr>
          <p:cNvPr id="26" name="pm_23" descr="3D map of a flood-prone rail corridor, built from OpenStreetMap data">    </p:cNvPr>
          <p:cNvPicPr>
            <a:picLocks noChangeAspect="1"/>
          </p:cNvPicPr>
          <p:nvPr/>
        </p:nvPicPr>
        <p:blipFill>
          <a:blip r:embed="rId1"/>
          <a:stretch>
            <a:fillRect/>
          </a:stretch>
        </p:blipFill>
        <p:spPr>
          <a:xfrm>
            <a:off x="7818120" y="1463040"/>
            <a:ext cx="3246120" cy="2514600"/>
          </a:xfrm>
          <a:prstGeom prst="rect">
            <a:avLst/>
          </a:prstGeom>
        </p:spPr>
      </p:pic>
      <p:pic>
        <p:nvPicPr>
          <p:cNvPr id="27" name="pm_24" descr="Route A">    </p:cNvPr>
          <p:cNvPicPr>
            <a:picLocks noChangeAspect="1"/>
          </p:cNvPicPr>
          <p:nvPr/>
        </p:nvPicPr>
        <p:blipFill>
          <a:blip r:embed="rId2"/>
          <a:stretch>
            <a:fillRect/>
          </a:stretch>
        </p:blipFill>
        <p:spPr>
          <a:xfrm>
            <a:off x="7818120" y="1463040"/>
            <a:ext cx="3246120" cy="2514600"/>
          </a:xfrm>
          <a:prstGeom prst="rect">
            <a:avLst/>
          </a:prstGeom>
        </p:spPr>
      </p:pic>
      <p:pic>
        <p:nvPicPr>
          <p:cNvPr id="28" name="pm_25" descr="Route C">    </p:cNvPr>
          <p:cNvPicPr>
            <a:picLocks noChangeAspect="1"/>
          </p:cNvPicPr>
          <p:nvPr/>
        </p:nvPicPr>
        <p:blipFill>
          <a:blip r:embed="rId3"/>
          <a:stretch>
            <a:fillRect/>
          </a:stretch>
        </p:blipFill>
        <p:spPr>
          <a:xfrm>
            <a:off x="7818120" y="1463040"/>
            <a:ext cx="3246120" cy="2514600"/>
          </a:xfrm>
          <a:prstGeom prst="rect">
            <a:avLst/>
          </a:prstGeom>
        </p:spPr>
      </p:pic>
      <p:pic>
        <p:nvPicPr>
          <p:cNvPr id="29" name="pm_26" descr="Route B">    </p:cNvPr>
          <p:cNvPicPr>
            <a:picLocks noChangeAspect="1"/>
          </p:cNvPicPr>
          <p:nvPr/>
        </p:nvPicPr>
        <p:blipFill>
          <a:blip r:embed="rId4"/>
          <a:stretch>
            <a:fillRect/>
          </a:stretch>
        </p:blipFill>
        <p:spPr>
          <a:xfrm>
            <a:off x="7818120" y="1463040"/>
            <a:ext cx="3246120" cy="2514600"/>
          </a:xfrm>
          <a:prstGeom prst="rect">
            <a:avLst/>
          </a:prstGeom>
        </p:spPr>
      </p:pic>
      <p:sp>
        <p:nvSpPr>
          <p:cNvPr id="30" name="pm_27"/>
          <p:cNvSpPr txBox="1"/>
          <p:nvPr/>
        </p:nvSpPr>
        <p:spPr>
          <a:xfrm>
            <a:off x="9416472" y="1801921"/>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31" name="sheet_28"/>
          <p:cNvSpPr/>
          <p:nvPr/>
        </p:nvSpPr>
        <p:spPr>
          <a:xfrm>
            <a:off x="7818120" y="3703320"/>
            <a:ext cx="3246120" cy="2514600"/>
          </a:xfrm>
          <a:prstGeom prst="roundRect">
            <a:avLst>
              <a:gd name="adj" fmla="val 10909"/>
            </a:avLst>
          </a:prstGeom>
          <a:solidFill>
            <a:srgbClr val="FFFFFF"/>
          </a:solidFill>
          <a:ln/>
        </p:spPr>
      </p:sp>
      <p:sp>
        <p:nvSpPr>
          <p:cNvPr id="32" name="ph_29"/>
          <p:cNvSpPr/>
          <p:nvPr/>
        </p:nvSpPr>
        <p:spPr>
          <a:xfrm>
            <a:off x="8983980" y="1527048"/>
            <a:ext cx="914400" cy="182880"/>
          </a:xfrm>
          <a:prstGeom prst="roundRect">
            <a:avLst>
              <a:gd name="adj" fmla="val 50000"/>
            </a:avLst>
          </a:prstGeom>
          <a:solidFill>
            <a:schemeClr val="tx1"/>
          </a:solidFill>
          <a:ln/>
        </p:spPr>
      </p:sp>
      <p:sp>
        <p:nvSpPr>
          <p:cNvPr id="33" name="sheet_30"/>
          <p:cNvSpPr/>
          <p:nvPr/>
        </p:nvSpPr>
        <p:spPr>
          <a:xfrm>
            <a:off x="9240012" y="3794760"/>
            <a:ext cx="402336" cy="45720"/>
          </a:xfrm>
          <a:prstGeom prst="roundRect">
            <a:avLst>
              <a:gd name="adj" fmla="val 50000"/>
            </a:avLst>
          </a:prstGeom>
          <a:solidFill>
            <a:srgbClr val="D6D0C2"/>
          </a:solidFill>
          <a:ln/>
        </p:spPr>
      </p:sp>
      <p:sp>
        <p:nvSpPr>
          <p:cNvPr id="34" name="sheet_31"/>
          <p:cNvSpPr txBox="1"/>
          <p:nvPr/>
        </p:nvSpPr>
        <p:spPr>
          <a:xfrm>
            <a:off x="8046720" y="3922776"/>
            <a:ext cx="278892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Recommended route</a:t>
            </a:r>
            <a:endParaRPr lang="en-US" sz="1100" dirty="0"/>
          </a:p>
        </p:txBody>
      </p:sp>
      <p:sp>
        <p:nvSpPr>
          <p:cNvPr id="35" name="sheet_32"/>
          <p:cNvSpPr txBox="1"/>
          <p:nvPr/>
        </p:nvSpPr>
        <p:spPr>
          <a:xfrm>
            <a:off x="8046720" y="4123944"/>
            <a:ext cx="1645920" cy="384048"/>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Flyover</a:t>
            </a:r>
            <a:endParaRPr lang="en-US" sz="2400" dirty="0"/>
          </a:p>
        </p:txBody>
      </p:sp>
      <p:sp>
        <p:nvSpPr>
          <p:cNvPr id="36" name="sheet_33"/>
          <p:cNvSpPr txBox="1"/>
          <p:nvPr/>
        </p:nvSpPr>
        <p:spPr>
          <a:xfrm>
            <a:off x="9464040" y="4123944"/>
            <a:ext cx="1371600" cy="384048"/>
          </a:xfrm>
          <a:prstGeom prst="rect">
            <a:avLst/>
          </a:prstGeom>
          <a:noFill/>
          <a:ln/>
        </p:spPr>
        <p:txBody>
          <a:bodyPr wrap="square" lIns="0" tIns="0" rIns="0" bIns="0" rtlCol="0" anchor="ctr"/>
          <a:lstStyle/>
          <a:p>
            <a:pPr algn="r" indent="0" marL="0">
              <a:buNone/>
            </a:pPr>
            <a:r>
              <a:rPr lang="en-US" sz="2400" dirty="0">
                <a:solidFill>
                  <a:schemeClr val="accent4"/>
                </a:solidFill>
                <a:latin typeface="Segoe UI Semibold" pitchFamily="34" charset="0"/>
                <a:ea typeface="Segoe UI Semibold" pitchFamily="34" charset="-122"/>
                <a:cs typeface="Segoe UI Semibold" pitchFamily="34" charset="-120"/>
              </a:rPr>
              <a:t>22 min</a:t>
            </a:r>
            <a:endParaRPr lang="en-US" sz="2400" dirty="0"/>
          </a:p>
        </p:txBody>
      </p:sp>
      <p:sp>
        <p:nvSpPr>
          <p:cNvPr id="37" name="sheet_34"/>
          <p:cNvSpPr txBox="1"/>
          <p:nvPr/>
        </p:nvSpPr>
        <p:spPr>
          <a:xfrm>
            <a:off x="8046720" y="4526280"/>
            <a:ext cx="2788920" cy="219456"/>
          </a:xfrm>
          <a:prstGeom prst="rect">
            <a:avLst/>
          </a:prstGeom>
          <a:noFill/>
          <a:ln/>
        </p:spPr>
        <p:txBody>
          <a:bodyPr wrap="square" lIns="0" tIns="0" rIns="0" bIns="0" rtlCol="0" anchor="t"/>
          <a:lstStyle/>
          <a:p>
            <a:pPr indent="0" marL="0">
              <a:buNone/>
            </a:pPr>
            <a:r>
              <a:rPr lang="en-US" sz="1150" dirty="0">
                <a:solidFill>
                  <a:srgbClr val="B45309"/>
                </a:solidFill>
              </a:rPr>
              <a:t>6 min longer than your usual route</a:t>
            </a:r>
            <a:endParaRPr lang="en-US" sz="1150" dirty="0"/>
          </a:p>
        </p:txBody>
      </p:sp>
      <p:sp>
        <p:nvSpPr>
          <p:cNvPr id="38" name="sheet_35"/>
          <p:cNvSpPr/>
          <p:nvPr/>
        </p:nvSpPr>
        <p:spPr>
          <a:xfrm>
            <a:off x="8046720" y="4855464"/>
            <a:ext cx="2788920" cy="0"/>
          </a:xfrm>
          <a:prstGeom prst="line">
            <a:avLst/>
          </a:prstGeom>
          <a:noFill/>
          <a:ln w="9525">
            <a:solidFill>
              <a:srgbClr val="D6D0C2"/>
            </a:solidFill>
            <a:prstDash val="solid"/>
          </a:ln>
        </p:spPr>
      </p:sp>
      <p:sp>
        <p:nvSpPr>
          <p:cNvPr id="39" name="sheet_36"/>
          <p:cNvSpPr txBox="1"/>
          <p:nvPr/>
        </p:nvSpPr>
        <p:spPr>
          <a:xfrm>
            <a:off x="8046720" y="4901184"/>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Avoids</a:t>
            </a:r>
            <a:endParaRPr lang="en-US" sz="1100" dirty="0"/>
          </a:p>
        </p:txBody>
      </p:sp>
      <p:sp>
        <p:nvSpPr>
          <p:cNvPr id="40" name="sheet_37"/>
          <p:cNvSpPr txBox="1"/>
          <p:nvPr/>
        </p:nvSpPr>
        <p:spPr>
          <a:xfrm>
            <a:off x="9052560" y="4901184"/>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Flooded underpass</a:t>
            </a:r>
            <a:endParaRPr lang="en-US" sz="1150" dirty="0"/>
          </a:p>
        </p:txBody>
      </p:sp>
      <p:sp>
        <p:nvSpPr>
          <p:cNvPr id="41" name="sheet_38"/>
          <p:cNvSpPr/>
          <p:nvPr/>
        </p:nvSpPr>
        <p:spPr>
          <a:xfrm>
            <a:off x="8046720" y="5138928"/>
            <a:ext cx="2788920" cy="0"/>
          </a:xfrm>
          <a:prstGeom prst="line">
            <a:avLst/>
          </a:prstGeom>
          <a:noFill/>
          <a:ln w="9525">
            <a:solidFill>
              <a:srgbClr val="D6D0C2"/>
            </a:solidFill>
            <a:prstDash val="solid"/>
          </a:ln>
        </p:spPr>
      </p:sp>
      <p:sp>
        <p:nvSpPr>
          <p:cNvPr id="42" name="sheet_39"/>
          <p:cNvSpPr txBox="1"/>
          <p:nvPr/>
        </p:nvSpPr>
        <p:spPr>
          <a:xfrm>
            <a:off x="8046720" y="5184648"/>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Evidence</a:t>
            </a:r>
            <a:endParaRPr lang="en-US" sz="1100" dirty="0"/>
          </a:p>
        </p:txBody>
      </p:sp>
      <p:sp>
        <p:nvSpPr>
          <p:cNvPr id="43" name="sheet_40"/>
          <p:cNvSpPr txBox="1"/>
          <p:nvPr/>
        </p:nvSpPr>
        <p:spPr>
          <a:xfrm>
            <a:off x="9052560" y="5184648"/>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Corroborated reports</a:t>
            </a:r>
            <a:endParaRPr lang="en-US" sz="1150" dirty="0"/>
          </a:p>
        </p:txBody>
      </p:sp>
      <p:sp>
        <p:nvSpPr>
          <p:cNvPr id="44" name="sheet_41"/>
          <p:cNvSpPr/>
          <p:nvPr/>
        </p:nvSpPr>
        <p:spPr>
          <a:xfrm>
            <a:off x="8046720" y="5422392"/>
            <a:ext cx="2788920" cy="0"/>
          </a:xfrm>
          <a:prstGeom prst="line">
            <a:avLst/>
          </a:prstGeom>
          <a:noFill/>
          <a:ln w="9525">
            <a:solidFill>
              <a:srgbClr val="D6D0C2"/>
            </a:solidFill>
            <a:prstDash val="solid"/>
          </a:ln>
        </p:spPr>
      </p:sp>
      <p:sp>
        <p:nvSpPr>
          <p:cNvPr id="45" name="sheet_42"/>
          <p:cNvSpPr txBox="1"/>
          <p:nvPr/>
        </p:nvSpPr>
        <p:spPr>
          <a:xfrm>
            <a:off x="8046720" y="5468112"/>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Confidence</a:t>
            </a:r>
            <a:endParaRPr lang="en-US" sz="1100" dirty="0"/>
          </a:p>
        </p:txBody>
      </p:sp>
      <p:sp>
        <p:nvSpPr>
          <p:cNvPr id="46" name="sheet_43"/>
          <p:cNvSpPr txBox="1"/>
          <p:nvPr/>
        </p:nvSpPr>
        <p:spPr>
          <a:xfrm>
            <a:off x="9052560" y="5468112"/>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Medium</a:t>
            </a:r>
            <a:endParaRPr lang="en-US" sz="1150" dirty="0"/>
          </a:p>
        </p:txBody>
      </p:sp>
      <p:sp>
        <p:nvSpPr>
          <p:cNvPr id="47" name="sheet_44"/>
          <p:cNvSpPr txBox="1"/>
          <p:nvPr/>
        </p:nvSpPr>
        <p:spPr>
          <a:xfrm>
            <a:off x="8046720" y="5788152"/>
            <a:ext cx="2788920" cy="182880"/>
          </a:xfrm>
          <a:prstGeom prst="rect">
            <a:avLst/>
          </a:prstGeom>
          <a:noFill/>
          <a:ln/>
        </p:spPr>
        <p:txBody>
          <a:bodyPr wrap="square" lIns="0" tIns="0" rIns="0" bIns="0" rtlCol="0" anchor="t"/>
          <a:lstStyle/>
          <a:p>
            <a:pPr algn="ctr" indent="0" marL="0">
              <a:buNone/>
            </a:pPr>
            <a:r>
              <a:rPr lang="en-US" sz="1000" i="1" dirty="0">
                <a:solidFill>
                  <a:schemeClr val="accent5"/>
                </a:solidFill>
              </a:rPr>
              <a:t>Illustrative prototype data</a:t>
            </a:r>
            <a:endParaRPr lang="en-US" sz="1000" dirty="0"/>
          </a:p>
        </p:txBody>
      </p:sp>
      <p:sp>
        <p:nvSpPr>
          <p:cNvPr id="48" name="jn_45"/>
          <p:cNvSpPr/>
          <p:nvPr/>
        </p:nvSpPr>
        <p:spPr>
          <a:xfrm>
            <a:off x="4343400" y="6537960"/>
            <a:ext cx="3520440" cy="0"/>
          </a:xfrm>
          <a:prstGeom prst="line">
            <a:avLst/>
          </a:prstGeom>
          <a:noFill/>
          <a:ln w="12700">
            <a:solidFill>
              <a:srgbClr val="D2CBBB"/>
            </a:solidFill>
            <a:prstDash val="solid"/>
          </a:ln>
        </p:spPr>
      </p:sp>
      <p:sp>
        <p:nvSpPr>
          <p:cNvPr id="49" name="jn_46"/>
          <p:cNvSpPr/>
          <p:nvPr/>
        </p:nvSpPr>
        <p:spPr>
          <a:xfrm>
            <a:off x="4343400" y="6537960"/>
            <a:ext cx="704088" cy="0"/>
          </a:xfrm>
          <a:prstGeom prst="line">
            <a:avLst/>
          </a:prstGeom>
          <a:noFill/>
          <a:ln w="19050">
            <a:solidFill>
              <a:srgbClr val="14B8A6"/>
            </a:solidFill>
            <a:prstDash val="solid"/>
          </a:ln>
        </p:spPr>
      </p:sp>
      <p:sp>
        <p:nvSpPr>
          <p:cNvPr id="50" name="jseg_47"/>
          <p:cNvSpPr/>
          <p:nvPr/>
        </p:nvSpPr>
        <p:spPr>
          <a:xfrm>
            <a:off x="5047488" y="6537960"/>
            <a:ext cx="704088" cy="0"/>
          </a:xfrm>
          <a:prstGeom prst="line">
            <a:avLst/>
          </a:prstGeom>
          <a:noFill/>
          <a:ln w="19050">
            <a:solidFill>
              <a:srgbClr val="14B8A6"/>
            </a:solidFill>
            <a:prstDash val="solid"/>
          </a:ln>
        </p:spPr>
      </p:sp>
      <p:sp>
        <p:nvSpPr>
          <p:cNvPr id="51" name="jn_48"/>
          <p:cNvSpPr/>
          <p:nvPr/>
        </p:nvSpPr>
        <p:spPr>
          <a:xfrm>
            <a:off x="4306824" y="6501384"/>
            <a:ext cx="73152" cy="73152"/>
          </a:xfrm>
          <a:prstGeom prst="ellipse">
            <a:avLst/>
          </a:prstGeom>
          <a:solidFill>
            <a:schemeClr val="accent1"/>
          </a:solidFill>
          <a:ln/>
        </p:spPr>
      </p:sp>
      <p:sp>
        <p:nvSpPr>
          <p:cNvPr id="52" name="jn_49"/>
          <p:cNvSpPr/>
          <p:nvPr/>
        </p:nvSpPr>
        <p:spPr>
          <a:xfrm>
            <a:off x="5010912" y="6501384"/>
            <a:ext cx="73152" cy="73152"/>
          </a:xfrm>
          <a:prstGeom prst="ellipse">
            <a:avLst/>
          </a:prstGeom>
          <a:solidFill>
            <a:schemeClr val="accent1"/>
          </a:solidFill>
          <a:ln/>
        </p:spPr>
      </p:sp>
      <p:sp>
        <p:nvSpPr>
          <p:cNvPr id="53" name="jn_50"/>
          <p:cNvSpPr/>
          <p:nvPr/>
        </p:nvSpPr>
        <p:spPr>
          <a:xfrm>
            <a:off x="5715000" y="6501384"/>
            <a:ext cx="73152" cy="73152"/>
          </a:xfrm>
          <a:prstGeom prst="ellipse">
            <a:avLst/>
          </a:prstGeom>
          <a:solidFill>
            <a:srgbClr val="B8B1A0"/>
          </a:solidFill>
          <a:ln/>
        </p:spPr>
      </p:sp>
      <p:sp>
        <p:nvSpPr>
          <p:cNvPr id="54" name="jn_51"/>
          <p:cNvSpPr/>
          <p:nvPr/>
        </p:nvSpPr>
        <p:spPr>
          <a:xfrm>
            <a:off x="6419088" y="6501384"/>
            <a:ext cx="73152" cy="73152"/>
          </a:xfrm>
          <a:prstGeom prst="ellipse">
            <a:avLst/>
          </a:prstGeom>
          <a:solidFill>
            <a:srgbClr val="B8B1A0"/>
          </a:solidFill>
          <a:ln/>
        </p:spPr>
      </p:sp>
      <p:sp>
        <p:nvSpPr>
          <p:cNvPr id="55" name="jn_52"/>
          <p:cNvSpPr/>
          <p:nvPr/>
        </p:nvSpPr>
        <p:spPr>
          <a:xfrm>
            <a:off x="7123176" y="6501384"/>
            <a:ext cx="73152" cy="73152"/>
          </a:xfrm>
          <a:prstGeom prst="ellipse">
            <a:avLst/>
          </a:prstGeom>
          <a:solidFill>
            <a:srgbClr val="B8B1A0"/>
          </a:solidFill>
          <a:ln/>
        </p:spPr>
      </p:sp>
      <p:sp>
        <p:nvSpPr>
          <p:cNvPr id="56" name="jn_53"/>
          <p:cNvSpPr/>
          <p:nvPr/>
        </p:nvSpPr>
        <p:spPr>
          <a:xfrm>
            <a:off x="7827264" y="6501384"/>
            <a:ext cx="73152" cy="73152"/>
          </a:xfrm>
          <a:prstGeom prst="ellipse">
            <a:avLst/>
          </a:prstGeom>
          <a:solidFill>
            <a:srgbClr val="B8B1A0"/>
          </a:solidFill>
          <a:ln/>
        </p:spPr>
      </p:sp>
      <p:sp>
        <p:nvSpPr>
          <p:cNvPr id="57" name="jdot_54"/>
          <p:cNvSpPr/>
          <p:nvPr/>
        </p:nvSpPr>
        <p:spPr>
          <a:xfrm>
            <a:off x="5664708" y="6451092"/>
            <a:ext cx="173736" cy="173736"/>
          </a:xfrm>
          <a:prstGeom prst="ellipse">
            <a:avLst/>
          </a:prstGeom>
          <a:solidFill>
            <a:schemeClr val="accent1"/>
          </a:solidFill>
          <a:ln w="28575">
            <a:solidFill>
              <a:srgbClr val="F7F5F0"/>
            </a:solidFill>
            <a:prstDash val="solid"/>
          </a:ln>
        </p:spPr>
      </p:sp>
      <p:sp>
        <p:nvSpPr>
          <p:cNvPr id="58" name="Text 52"/>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03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8"/>
                                        </p:tgtEl>
                                        <p:attrNameLst>
                                          <p:attrName>style.visibility</p:attrName>
                                        </p:attrNameLst>
                                      </p:cBhvr>
                                      <p:to>
                                        <p:strVal val="visible"/>
                                      </p:to>
                                    </p:set>
                                    <p:animEffect transition="in" filter="fade">
                                      <p:cBhvr>
                                        <p:cTn id="6" dur="500"/>
                                        <p:tgtEl>
                                          <p:spTgt spid="48"/>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9"/>
                                        </p:tgtEl>
                                        <p:attrNameLst>
                                          <p:attrName>style.visibility</p:attrName>
                                        </p:attrNameLst>
                                      </p:cBhvr>
                                      <p:to>
                                        <p:strVal val="visible"/>
                                      </p:to>
                                    </p:set>
                                    <p:animEffect transition="in" filter="fade">
                                      <p:cBhvr>
                                        <p:cTn id="9" dur="500"/>
                                        <p:tgtEl>
                                          <p:spTgt spid="49"/>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4"/>
                                        </p:tgtEl>
                                        <p:attrNameLst>
                                          <p:attrName>style.visibility</p:attrName>
                                        </p:attrNameLst>
                                      </p:cBhvr>
                                      <p:to>
                                        <p:strVal val="visible"/>
                                      </p:to>
                                    </p:set>
                                    <p:animEffect transition="in" filter="fade">
                                      <p:cBhvr>
                                        <p:cTn id="21" dur="500"/>
                                        <p:tgtEl>
                                          <p:spTgt spid="54"/>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5"/>
                                        </p:tgtEl>
                                        <p:attrNameLst>
                                          <p:attrName>style.visibility</p:attrName>
                                        </p:attrNameLst>
                                      </p:cBhvr>
                                      <p:to>
                                        <p:strVal val="visible"/>
                                      </p:to>
                                    </p:set>
                                    <p:animEffect transition="in" filter="fade">
                                      <p:cBhvr>
                                        <p:cTn id="24" dur="500"/>
                                        <p:tgtEl>
                                          <p:spTgt spid="55"/>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500"/>
                                        <p:tgtEl>
                                          <p:spTgt spid="56"/>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450" fill="hold"/>
                                        <p:tgtEl>
                                          <p:spTgt spid="7"/>
                                        </p:tgtEl>
                                        <p:attrNameLst>
                                          <p:attrName>ppt_y</p:attrName>
                                        </p:attrNameLst>
                                      </p:cBhvr>
                                      <p:tavLst>
                                        <p:tav tm="0">
                                          <p:val>
                                            <p:strVal val="#ppt_y+.06"/>
                                          </p:val>
                                        </p:tav>
                                        <p:tav tm="100000">
                                          <p:val>
                                            <p:strVal val="#ppt_y"/>
                                          </p:val>
                                        </p:tav>
                                      </p:tavLst>
                                    </p:anim>
                                    <p:animEffect transition="in" filter="fade">
                                      <p:cBhvr>
                                        <p:cTn id="31" dur="45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450" fill="hold"/>
                                        <p:tgtEl>
                                          <p:spTgt spid="8"/>
                                        </p:tgtEl>
                                        <p:attrNameLst>
                                          <p:attrName>ppt_y</p:attrName>
                                        </p:attrNameLst>
                                      </p:cBhvr>
                                      <p:tavLst>
                                        <p:tav tm="0">
                                          <p:val>
                                            <p:strVal val="#ppt_y+.06"/>
                                          </p:val>
                                        </p:tav>
                                        <p:tav tm="100000">
                                          <p:val>
                                            <p:strVal val="#ppt_y"/>
                                          </p:val>
                                        </p:tav>
                                      </p:tavLst>
                                    </p:anim>
                                    <p:animEffect transition="in" filter="fade">
                                      <p:cBhvr>
                                        <p:cTn id="35" dur="45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450" fill="hold"/>
                                        <p:tgtEl>
                                          <p:spTgt spid="9"/>
                                        </p:tgtEl>
                                        <p:attrNameLst>
                                          <p:attrName>ppt_y</p:attrName>
                                        </p:attrNameLst>
                                      </p:cBhvr>
                                      <p:tavLst>
                                        <p:tav tm="0">
                                          <p:val>
                                            <p:strVal val="#ppt_y+.06"/>
                                          </p:val>
                                        </p:tav>
                                        <p:tav tm="100000">
                                          <p:val>
                                            <p:strVal val="#ppt_y"/>
                                          </p:val>
                                        </p:tav>
                                      </p:tavLst>
                                    </p:anim>
                                    <p:animEffect transition="in" filter="fade">
                                      <p:cBhvr>
                                        <p:cTn id="39" dur="450"/>
                                        <p:tgtEl>
                                          <p:spTgt spid="9"/>
                                        </p:tgtEl>
                                      </p:cBhvr>
                                    </p:animEffect>
                                  </p:childTnLst>
                                </p:cTn>
                              </p:par>
                              <p:par>
                                <p:cTn id="44" presetID="42" presetClass="entr" presetSubtype="0" fill="hold" grpId="0" nodeType="withEffect">
                                  <p:stCondLst>
                                    <p:cond delay="48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450" fill="hold"/>
                                        <p:tgtEl>
                                          <p:spTgt spid="10"/>
                                        </p:tgtEl>
                                        <p:attrNameLst>
                                          <p:attrName>ppt_y</p:attrName>
                                        </p:attrNameLst>
                                      </p:cBhvr>
                                      <p:tavLst>
                                        <p:tav tm="0">
                                          <p:val>
                                            <p:strVal val="#ppt_y+.06"/>
                                          </p:val>
                                        </p:tav>
                                        <p:tav tm="100000">
                                          <p:val>
                                            <p:strVal val="#ppt_y"/>
                                          </p:val>
                                        </p:tav>
                                      </p:tavLst>
                                    </p:anim>
                                    <p:animEffect transition="in" filter="fade">
                                      <p:cBhvr>
                                        <p:cTn id="43" dur="450"/>
                                        <p:tgtEl>
                                          <p:spTgt spid="10"/>
                                        </p:tgtEl>
                                      </p:cBhvr>
                                    </p:animEffect>
                                  </p:childTnLst>
                                </p:cTn>
                              </p:par>
                              <p:par>
                                <p:cTn id="48" presetID="42" presetClass="entr" presetSubtype="0" fill="hold" grpId="0" nodeType="withEffect">
                                  <p:stCondLst>
                                    <p:cond delay="48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450" fill="hold"/>
                                        <p:tgtEl>
                                          <p:spTgt spid="11"/>
                                        </p:tgtEl>
                                        <p:attrNameLst>
                                          <p:attrName>ppt_y</p:attrName>
                                        </p:attrNameLst>
                                      </p:cBhvr>
                                      <p:tavLst>
                                        <p:tav tm="0">
                                          <p:val>
                                            <p:strVal val="#ppt_y+.06"/>
                                          </p:val>
                                        </p:tav>
                                        <p:tav tm="100000">
                                          <p:val>
                                            <p:strVal val="#ppt_y"/>
                                          </p:val>
                                        </p:tav>
                                      </p:tavLst>
                                    </p:anim>
                                    <p:animEffect transition="in" filter="fade">
                                      <p:cBhvr>
                                        <p:cTn id="47" dur="450"/>
                                        <p:tgtEl>
                                          <p:spTgt spid="11"/>
                                        </p:tgtEl>
                                      </p:cBhvr>
                                    </p:animEffect>
                                  </p:childTnLst>
                                </p:cTn>
                              </p:par>
                              <p:par>
                                <p:cTn id="52" presetID="42" presetClass="entr" presetSubtype="0" fill="hold" grpId="0" nodeType="withEffect">
                                  <p:stCondLst>
                                    <p:cond delay="48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50" fill="hold"/>
                                        <p:tgtEl>
                                          <p:spTgt spid="12"/>
                                        </p:tgtEl>
                                        <p:attrNameLst>
                                          <p:attrName>ppt_y</p:attrName>
                                        </p:attrNameLst>
                                      </p:cBhvr>
                                      <p:tavLst>
                                        <p:tav tm="0">
                                          <p:val>
                                            <p:strVal val="#ppt_y+.06"/>
                                          </p:val>
                                        </p:tav>
                                        <p:tav tm="100000">
                                          <p:val>
                                            <p:strVal val="#ppt_y"/>
                                          </p:val>
                                        </p:tav>
                                      </p:tavLst>
                                    </p:anim>
                                    <p:animEffect transition="in" filter="fade">
                                      <p:cBhvr>
                                        <p:cTn id="51" dur="450"/>
                                        <p:tgtEl>
                                          <p:spTgt spid="12"/>
                                        </p:tgtEl>
                                      </p:cBhvr>
                                    </p:animEffect>
                                  </p:childTnLst>
                                </p:cTn>
                              </p:par>
                              <p:par>
                                <p:cTn id="54" presetID="0" presetClass="path" presetSubtype="0" accel="50000" decel="50000" fill="hold" nodeType="withEffect">
                                  <p:stCondLst>
                                    <p:cond delay="500"/>
                                  </p:stCondLst>
                                  <p:childTnLst>
                                    <p:animMotion origin="layout" path="M -0.0578 0 L 0 0 E" pathEditMode="relative" rAng="0" ptsTypes="AA">
                                      <p:cBhvr>
                                        <p:cTn id="53" dur="1100" fill="hold"/>
                                        <p:tgtEl>
                                          <p:spTgt spid="57"/>
                                        </p:tgtEl>
                                        <p:attrNameLst>
                                          <p:attrName>ppt_x</p:attrName>
                                          <p:attrName>ppt_y</p:attrName>
                                        </p:attrNameLst>
                                      </p:cBhvr>
                                    </p:animMotion>
                                  </p:childTnLst>
                                </p:cTn>
                              </p:par>
                              <p:par>
                                <p:cTn id="57" presetID="22" presetClass="entr" presetSubtype="8" fill="hold" grpId="0" nodeType="withEffect">
                                  <p:stCondLst>
                                    <p:cond delay="500"/>
                                  </p:stCondLst>
                                  <p:childTnLst>
                                    <p:set>
                                      <p:cBhvr>
                                        <p:cTn id="55" dur="1" fill="hold">
                                          <p:stCondLst>
                                            <p:cond delay="0"/>
                                          </p:stCondLst>
                                        </p:cTn>
                                        <p:tgtEl>
                                          <p:spTgt spid="50"/>
                                        </p:tgtEl>
                                        <p:attrNameLst>
                                          <p:attrName>style.visibility</p:attrName>
                                        </p:attrNameLst>
                                      </p:cBhvr>
                                      <p:to>
                                        <p:strVal val="visible"/>
                                      </p:to>
                                    </p:set>
                                    <p:animEffect transition="in" filter="wipe(left)">
                                      <p:cBhvr>
                                        <p:cTn id="56" dur="1100"/>
                                        <p:tgtEl>
                                          <p:spTgt spid="50"/>
                                        </p:tgtEl>
                                      </p:cBhvr>
                                    </p:animEffect>
                                  </p:childTnLst>
                                </p:cTn>
                              </p:par>
                              <p:par>
                                <p:cTn id="61" presetID="42" presetClass="entr" presetSubtype="0" fill="hold" grpId="0" nodeType="withEffect">
                                  <p:stCondLst>
                                    <p:cond delay="50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700" fill="hold"/>
                                        <p:tgtEl>
                                          <p:spTgt spid="24"/>
                                        </p:tgtEl>
                                        <p:attrNameLst>
                                          <p:attrName>ppt_y</p:attrName>
                                        </p:attrNameLst>
                                      </p:cBhvr>
                                      <p:tavLst>
                                        <p:tav tm="0">
                                          <p:val>
                                            <p:strVal val="#ppt_y+.06"/>
                                          </p:val>
                                        </p:tav>
                                        <p:tav tm="100000">
                                          <p:val>
                                            <p:strVal val="#ppt_y"/>
                                          </p:val>
                                        </p:tav>
                                      </p:tavLst>
                                    </p:anim>
                                    <p:animEffect transition="in" filter="fade">
                                      <p:cBhvr>
                                        <p:cTn id="60" dur="700"/>
                                        <p:tgtEl>
                                          <p:spTgt spid="24"/>
                                        </p:tgtEl>
                                      </p:cBhvr>
                                    </p:animEffect>
                                  </p:childTnLst>
                                </p:cTn>
                              </p:par>
                              <p:par>
                                <p:cTn id="65" presetID="42" presetClass="entr" presetSubtype="0" fill="hold" grpId="0" nodeType="withEffect">
                                  <p:stCondLst>
                                    <p:cond delay="50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700" fill="hold"/>
                                        <p:tgtEl>
                                          <p:spTgt spid="25"/>
                                        </p:tgtEl>
                                        <p:attrNameLst>
                                          <p:attrName>ppt_y</p:attrName>
                                        </p:attrNameLst>
                                      </p:cBhvr>
                                      <p:tavLst>
                                        <p:tav tm="0">
                                          <p:val>
                                            <p:strVal val="#ppt_y+.06"/>
                                          </p:val>
                                        </p:tav>
                                        <p:tav tm="100000">
                                          <p:val>
                                            <p:strVal val="#ppt_y"/>
                                          </p:val>
                                        </p:tav>
                                      </p:tavLst>
                                    </p:anim>
                                    <p:animEffect transition="in" filter="fade">
                                      <p:cBhvr>
                                        <p:cTn id="64" dur="700"/>
                                        <p:tgtEl>
                                          <p:spTgt spid="25"/>
                                        </p:tgtEl>
                                      </p:cBhvr>
                                    </p:animEffect>
                                  </p:childTnLst>
                                </p:cTn>
                              </p:par>
                              <p:par>
                                <p:cTn id="69" presetID="42" presetClass="entr" presetSubtype="0" fill="hold" grpId="0" nodeType="withEffect">
                                  <p:stCondLst>
                                    <p:cond delay="50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700" fill="hold"/>
                                        <p:tgtEl>
                                          <p:spTgt spid="32"/>
                                        </p:tgtEl>
                                        <p:attrNameLst>
                                          <p:attrName>ppt_y</p:attrName>
                                        </p:attrNameLst>
                                      </p:cBhvr>
                                      <p:tavLst>
                                        <p:tav tm="0">
                                          <p:val>
                                            <p:strVal val="#ppt_y+.06"/>
                                          </p:val>
                                        </p:tav>
                                        <p:tav tm="100000">
                                          <p:val>
                                            <p:strVal val="#ppt_y"/>
                                          </p:val>
                                        </p:tav>
                                      </p:tavLst>
                                    </p:anim>
                                    <p:animEffect transition="in" filter="fade">
                                      <p:cBhvr>
                                        <p:cTn id="68" dur="700"/>
                                        <p:tgtEl>
                                          <p:spTgt spid="32"/>
                                        </p:tgtEl>
                                      </p:cBhvr>
                                    </p:animEffect>
                                  </p:childTnLst>
                                </p:cTn>
                              </p:par>
                              <p:par>
                                <p:cTn id="73" presetID="42" presetClass="entr" presetSubtype="0" fill="hold" grpId="0" nodeType="withEffect">
                                  <p:stCondLst>
                                    <p:cond delay="710"/>
                                  </p:stCondLst>
                                  <p:childTnLst>
                                    <p:set>
                                      <p:cBhvr>
                                        <p:cTn id="70" dur="1" fill="hold">
                                          <p:stCondLst>
                                            <p:cond delay="0"/>
                                          </p:stCondLst>
                                        </p:cTn>
                                        <p:tgtEl>
                                          <p:spTgt spid="13"/>
                                        </p:tgtEl>
                                        <p:attrNameLst>
                                          <p:attrName>style.visibility</p:attrName>
                                        </p:attrNameLst>
                                      </p:cBhvr>
                                      <p:to>
                                        <p:strVal val="visible"/>
                                      </p:to>
                                    </p:set>
                                    <p:anim calcmode="lin" valueType="num">
                                      <p:cBhvr additive="base">
                                        <p:cTn id="71" dur="450" fill="hold"/>
                                        <p:tgtEl>
                                          <p:spTgt spid="13"/>
                                        </p:tgtEl>
                                        <p:attrNameLst>
                                          <p:attrName>ppt_y</p:attrName>
                                        </p:attrNameLst>
                                      </p:cBhvr>
                                      <p:tavLst>
                                        <p:tav tm="0">
                                          <p:val>
                                            <p:strVal val="#ppt_y+.06"/>
                                          </p:val>
                                        </p:tav>
                                        <p:tav tm="100000">
                                          <p:val>
                                            <p:strVal val="#ppt_y"/>
                                          </p:val>
                                        </p:tav>
                                      </p:tavLst>
                                    </p:anim>
                                    <p:animEffect transition="in" filter="fade">
                                      <p:cBhvr>
                                        <p:cTn id="72" dur="450"/>
                                        <p:tgtEl>
                                          <p:spTgt spid="13"/>
                                        </p:tgtEl>
                                      </p:cBhvr>
                                    </p:animEffect>
                                  </p:childTnLst>
                                </p:cTn>
                              </p:par>
                              <p:par>
                                <p:cTn id="77" presetID="42" presetClass="entr" presetSubtype="0" fill="hold" grpId="0" nodeType="withEffect">
                                  <p:stCondLst>
                                    <p:cond delay="710"/>
                                  </p:stCondLst>
                                  <p:childTnLst>
                                    <p:set>
                                      <p:cBhvr>
                                        <p:cTn id="74" dur="1" fill="hold">
                                          <p:stCondLst>
                                            <p:cond delay="0"/>
                                          </p:stCondLst>
                                        </p:cTn>
                                        <p:tgtEl>
                                          <p:spTgt spid="14"/>
                                        </p:tgtEl>
                                        <p:attrNameLst>
                                          <p:attrName>style.visibility</p:attrName>
                                        </p:attrNameLst>
                                      </p:cBhvr>
                                      <p:to>
                                        <p:strVal val="visible"/>
                                      </p:to>
                                    </p:set>
                                    <p:anim calcmode="lin" valueType="num">
                                      <p:cBhvr additive="base">
                                        <p:cTn id="75" dur="450" fill="hold"/>
                                        <p:tgtEl>
                                          <p:spTgt spid="14"/>
                                        </p:tgtEl>
                                        <p:attrNameLst>
                                          <p:attrName>ppt_y</p:attrName>
                                        </p:attrNameLst>
                                      </p:cBhvr>
                                      <p:tavLst>
                                        <p:tav tm="0">
                                          <p:val>
                                            <p:strVal val="#ppt_y+.06"/>
                                          </p:val>
                                        </p:tav>
                                        <p:tav tm="100000">
                                          <p:val>
                                            <p:strVal val="#ppt_y"/>
                                          </p:val>
                                        </p:tav>
                                      </p:tavLst>
                                    </p:anim>
                                    <p:animEffect transition="in" filter="fade">
                                      <p:cBhvr>
                                        <p:cTn id="76" dur="450"/>
                                        <p:tgtEl>
                                          <p:spTgt spid="14"/>
                                        </p:tgtEl>
                                      </p:cBhvr>
                                    </p:animEffect>
                                  </p:childTnLst>
                                </p:cTn>
                              </p:par>
                              <p:par>
                                <p:cTn id="81" presetID="42" presetClass="entr" presetSubtype="0" fill="hold" grpId="0" nodeType="withEffect">
                                  <p:stCondLst>
                                    <p:cond delay="71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450" fill="hold"/>
                                        <p:tgtEl>
                                          <p:spTgt spid="15"/>
                                        </p:tgtEl>
                                        <p:attrNameLst>
                                          <p:attrName>ppt_y</p:attrName>
                                        </p:attrNameLst>
                                      </p:cBhvr>
                                      <p:tavLst>
                                        <p:tav tm="0">
                                          <p:val>
                                            <p:strVal val="#ppt_y+.06"/>
                                          </p:val>
                                        </p:tav>
                                        <p:tav tm="100000">
                                          <p:val>
                                            <p:strVal val="#ppt_y"/>
                                          </p:val>
                                        </p:tav>
                                      </p:tavLst>
                                    </p:anim>
                                    <p:animEffect transition="in" filter="fade">
                                      <p:cBhvr>
                                        <p:cTn id="80" dur="450"/>
                                        <p:tgtEl>
                                          <p:spTgt spid="15"/>
                                        </p:tgtEl>
                                      </p:cBhvr>
                                    </p:animEffect>
                                  </p:childTnLst>
                                </p:cTn>
                              </p:par>
                              <p:par>
                                <p:cTn id="85" presetID="42" presetClass="entr" presetSubtype="0" fill="hold" grpId="0" nodeType="withEffect">
                                  <p:stCondLst>
                                    <p:cond delay="94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450" fill="hold"/>
                                        <p:tgtEl>
                                          <p:spTgt spid="16"/>
                                        </p:tgtEl>
                                        <p:attrNameLst>
                                          <p:attrName>ppt_y</p:attrName>
                                        </p:attrNameLst>
                                      </p:cBhvr>
                                      <p:tavLst>
                                        <p:tav tm="0">
                                          <p:val>
                                            <p:strVal val="#ppt_y+.06"/>
                                          </p:val>
                                        </p:tav>
                                        <p:tav tm="100000">
                                          <p:val>
                                            <p:strVal val="#ppt_y"/>
                                          </p:val>
                                        </p:tav>
                                      </p:tavLst>
                                    </p:anim>
                                    <p:animEffect transition="in" filter="fade">
                                      <p:cBhvr>
                                        <p:cTn id="84" dur="450"/>
                                        <p:tgtEl>
                                          <p:spTgt spid="16"/>
                                        </p:tgtEl>
                                      </p:cBhvr>
                                    </p:animEffect>
                                  </p:childTnLst>
                                </p:cTn>
                              </p:par>
                              <p:par>
                                <p:cTn id="89" presetID="42" presetClass="entr" presetSubtype="0" fill="hold" grpId="0" nodeType="withEffect">
                                  <p:stCondLst>
                                    <p:cond delay="94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fill="hold"/>
                                        <p:tgtEl>
                                          <p:spTgt spid="17"/>
                                        </p:tgtEl>
                                        <p:attrNameLst>
                                          <p:attrName>ppt_y</p:attrName>
                                        </p:attrNameLst>
                                      </p:cBhvr>
                                      <p:tavLst>
                                        <p:tav tm="0">
                                          <p:val>
                                            <p:strVal val="#ppt_y+.06"/>
                                          </p:val>
                                        </p:tav>
                                        <p:tav tm="100000">
                                          <p:val>
                                            <p:strVal val="#ppt_y"/>
                                          </p:val>
                                        </p:tav>
                                      </p:tavLst>
                                    </p:anim>
                                    <p:animEffect transition="in" filter="fade">
                                      <p:cBhvr>
                                        <p:cTn id="88" dur="450"/>
                                        <p:tgtEl>
                                          <p:spTgt spid="17"/>
                                        </p:tgtEl>
                                      </p:cBhvr>
                                    </p:animEffect>
                                  </p:childTnLst>
                                </p:cTn>
                              </p:par>
                              <p:par>
                                <p:cTn id="93" presetID="42" presetClass="entr" presetSubtype="0" fill="hold" grpId="0" nodeType="withEffect">
                                  <p:stCondLst>
                                    <p:cond delay="94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450" fill="hold"/>
                                        <p:tgtEl>
                                          <p:spTgt spid="18"/>
                                        </p:tgtEl>
                                        <p:attrNameLst>
                                          <p:attrName>ppt_y</p:attrName>
                                        </p:attrNameLst>
                                      </p:cBhvr>
                                      <p:tavLst>
                                        <p:tav tm="0">
                                          <p:val>
                                            <p:strVal val="#ppt_y+.06"/>
                                          </p:val>
                                        </p:tav>
                                        <p:tav tm="100000">
                                          <p:val>
                                            <p:strVal val="#ppt_y"/>
                                          </p:val>
                                        </p:tav>
                                      </p:tavLst>
                                    </p:anim>
                                    <p:animEffect transition="in" filter="fade">
                                      <p:cBhvr>
                                        <p:cTn id="92" dur="450"/>
                                        <p:tgtEl>
                                          <p:spTgt spid="18"/>
                                        </p:tgtEl>
                                      </p:cBhvr>
                                    </p:animEffect>
                                  </p:childTnLst>
                                </p:cTn>
                              </p:par>
                              <p:par>
                                <p:cTn id="96" presetID="10" presetClass="entr" presetSubtype="0" fill="hold" nodeType="withEffect">
                                  <p:stCondLst>
                                    <p:cond delay="100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600"/>
                                        <p:tgtEl>
                                          <p:spTgt spid="26"/>
                                        </p:tgtEl>
                                      </p:cBhvr>
                                    </p:animEffect>
                                  </p:childTnLst>
                                </p:cTn>
                              </p:par>
                              <p:par>
                                <p:cTn id="99" presetID="10" presetClass="entr" presetSubtype="0" fill="hold" nodeType="withEffect">
                                  <p:stCondLst>
                                    <p:cond delay="100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par>
                                <p:cTn id="102" presetID="10" presetClass="entr" presetSubtype="0" fill="hold" nodeType="withEffect">
                                  <p:stCondLst>
                                    <p:cond delay="100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600"/>
                                        <p:tgtEl>
                                          <p:spTgt spid="28"/>
                                        </p:tgtEl>
                                      </p:cBhvr>
                                    </p:animEffect>
                                  </p:childTnLst>
                                </p:cTn>
                              </p:par>
                              <p:par>
                                <p:cTn id="105" presetID="10" presetClass="entr" presetSubtype="0" fill="hold" nodeType="withEffect">
                                  <p:stCondLst>
                                    <p:cond delay="100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600"/>
                                        <p:tgtEl>
                                          <p:spTgt spid="29"/>
                                        </p:tgtEl>
                                      </p:cBhvr>
                                    </p:animEffect>
                                  </p:childTnLst>
                                </p:cTn>
                              </p:par>
                              <p:par>
                                <p:cTn id="108" presetID="10" presetClass="entr" presetSubtype="0" fill="hold" grpId="0" nodeType="withEffect">
                                  <p:stCondLst>
                                    <p:cond delay="100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600"/>
                                        <p:tgtEl>
                                          <p:spTgt spid="30"/>
                                        </p:tgtEl>
                                      </p:cBhvr>
                                    </p:animEffect>
                                  </p:childTnLst>
                                </p:cTn>
                              </p:par>
                              <p:par>
                                <p:cTn id="112" presetID="42" presetClass="entr" presetSubtype="0" fill="hold" grpId="0" nodeType="withEffect">
                                  <p:stCondLst>
                                    <p:cond delay="1170"/>
                                  </p:stCondLst>
                                  <p:childTnLst>
                                    <p:set>
                                      <p:cBhvr>
                                        <p:cTn id="109" dur="1" fill="hold">
                                          <p:stCondLst>
                                            <p:cond delay="0"/>
                                          </p:stCondLst>
                                        </p:cTn>
                                        <p:tgtEl>
                                          <p:spTgt spid="19"/>
                                        </p:tgtEl>
                                        <p:attrNameLst>
                                          <p:attrName>style.visibility</p:attrName>
                                        </p:attrNameLst>
                                      </p:cBhvr>
                                      <p:to>
                                        <p:strVal val="visible"/>
                                      </p:to>
                                    </p:set>
                                    <p:anim calcmode="lin" valueType="num">
                                      <p:cBhvr additive="base">
                                        <p:cTn id="110" dur="450" fill="hold"/>
                                        <p:tgtEl>
                                          <p:spTgt spid="19"/>
                                        </p:tgtEl>
                                        <p:attrNameLst>
                                          <p:attrName>ppt_y</p:attrName>
                                        </p:attrNameLst>
                                      </p:cBhvr>
                                      <p:tavLst>
                                        <p:tav tm="0">
                                          <p:val>
                                            <p:strVal val="#ppt_y+.06"/>
                                          </p:val>
                                        </p:tav>
                                        <p:tav tm="100000">
                                          <p:val>
                                            <p:strVal val="#ppt_y"/>
                                          </p:val>
                                        </p:tav>
                                      </p:tavLst>
                                    </p:anim>
                                    <p:animEffect transition="in" filter="fade">
                                      <p:cBhvr>
                                        <p:cTn id="111" dur="450"/>
                                        <p:tgtEl>
                                          <p:spTgt spid="19"/>
                                        </p:tgtEl>
                                      </p:cBhvr>
                                    </p:animEffect>
                                  </p:childTnLst>
                                </p:cTn>
                              </p:par>
                              <p:par>
                                <p:cTn id="116" presetID="42" presetClass="entr" presetSubtype="0" fill="hold" grpId="0" nodeType="withEffect">
                                  <p:stCondLst>
                                    <p:cond delay="1170"/>
                                  </p:stCondLst>
                                  <p:childTnLst>
                                    <p:set>
                                      <p:cBhvr>
                                        <p:cTn id="113" dur="1" fill="hold">
                                          <p:stCondLst>
                                            <p:cond delay="0"/>
                                          </p:stCondLst>
                                        </p:cTn>
                                        <p:tgtEl>
                                          <p:spTgt spid="20"/>
                                        </p:tgtEl>
                                        <p:attrNameLst>
                                          <p:attrName>style.visibility</p:attrName>
                                        </p:attrNameLst>
                                      </p:cBhvr>
                                      <p:to>
                                        <p:strVal val="visible"/>
                                      </p:to>
                                    </p:set>
                                    <p:anim calcmode="lin" valueType="num">
                                      <p:cBhvr additive="base">
                                        <p:cTn id="114" dur="450" fill="hold"/>
                                        <p:tgtEl>
                                          <p:spTgt spid="20"/>
                                        </p:tgtEl>
                                        <p:attrNameLst>
                                          <p:attrName>ppt_y</p:attrName>
                                        </p:attrNameLst>
                                      </p:cBhvr>
                                      <p:tavLst>
                                        <p:tav tm="0">
                                          <p:val>
                                            <p:strVal val="#ppt_y+.06"/>
                                          </p:val>
                                        </p:tav>
                                        <p:tav tm="100000">
                                          <p:val>
                                            <p:strVal val="#ppt_y"/>
                                          </p:val>
                                        </p:tav>
                                      </p:tavLst>
                                    </p:anim>
                                    <p:animEffect transition="in" filter="fade">
                                      <p:cBhvr>
                                        <p:cTn id="115" dur="450"/>
                                        <p:tgtEl>
                                          <p:spTgt spid="20"/>
                                        </p:tgtEl>
                                      </p:cBhvr>
                                    </p:animEffect>
                                  </p:childTnLst>
                                </p:cTn>
                              </p:par>
                              <p:par>
                                <p:cTn id="120" presetID="42" presetClass="entr" presetSubtype="0" fill="hold" grpId="0" nodeType="withEffect">
                                  <p:stCondLst>
                                    <p:cond delay="1170"/>
                                  </p:stCondLst>
                                  <p:childTnLst>
                                    <p:set>
                                      <p:cBhvr>
                                        <p:cTn id="117" dur="1" fill="hold">
                                          <p:stCondLst>
                                            <p:cond delay="0"/>
                                          </p:stCondLst>
                                        </p:cTn>
                                        <p:tgtEl>
                                          <p:spTgt spid="21"/>
                                        </p:tgtEl>
                                        <p:attrNameLst>
                                          <p:attrName>style.visibility</p:attrName>
                                        </p:attrNameLst>
                                      </p:cBhvr>
                                      <p:to>
                                        <p:strVal val="visible"/>
                                      </p:to>
                                    </p:set>
                                    <p:anim calcmode="lin" valueType="num">
                                      <p:cBhvr additive="base">
                                        <p:cTn id="118" dur="450" fill="hold"/>
                                        <p:tgtEl>
                                          <p:spTgt spid="21"/>
                                        </p:tgtEl>
                                        <p:attrNameLst>
                                          <p:attrName>ppt_y</p:attrName>
                                        </p:attrNameLst>
                                      </p:cBhvr>
                                      <p:tavLst>
                                        <p:tav tm="0">
                                          <p:val>
                                            <p:strVal val="#ppt_y+.06"/>
                                          </p:val>
                                        </p:tav>
                                        <p:tav tm="100000">
                                          <p:val>
                                            <p:strVal val="#ppt_y"/>
                                          </p:val>
                                        </p:tav>
                                      </p:tavLst>
                                    </p:anim>
                                    <p:animEffect transition="in" filter="fade">
                                      <p:cBhvr>
                                        <p:cTn id="119" dur="450"/>
                                        <p:tgtEl>
                                          <p:spTgt spid="21"/>
                                        </p:tgtEl>
                                      </p:cBhvr>
                                    </p:animEffect>
                                  </p:childTnLst>
                                </p:cTn>
                              </p:par>
                              <p:par>
                                <p:cTn id="124" presetID="42" presetClass="entr" presetSubtype="0" fill="hold" grpId="0" nodeType="withEffect">
                                  <p:stCondLst>
                                    <p:cond delay="1170"/>
                                  </p:stCondLst>
                                  <p:childTnLst>
                                    <p:set>
                                      <p:cBhvr>
                                        <p:cTn id="121" dur="1" fill="hold">
                                          <p:stCondLst>
                                            <p:cond delay="0"/>
                                          </p:stCondLst>
                                        </p:cTn>
                                        <p:tgtEl>
                                          <p:spTgt spid="22"/>
                                        </p:tgtEl>
                                        <p:attrNameLst>
                                          <p:attrName>style.visibility</p:attrName>
                                        </p:attrNameLst>
                                      </p:cBhvr>
                                      <p:to>
                                        <p:strVal val="visible"/>
                                      </p:to>
                                    </p:set>
                                    <p:anim calcmode="lin" valueType="num">
                                      <p:cBhvr additive="base">
                                        <p:cTn id="122" dur="450" fill="hold"/>
                                        <p:tgtEl>
                                          <p:spTgt spid="22"/>
                                        </p:tgtEl>
                                        <p:attrNameLst>
                                          <p:attrName>ppt_y</p:attrName>
                                        </p:attrNameLst>
                                      </p:cBhvr>
                                      <p:tavLst>
                                        <p:tav tm="0">
                                          <p:val>
                                            <p:strVal val="#ppt_y+.06"/>
                                          </p:val>
                                        </p:tav>
                                        <p:tav tm="100000">
                                          <p:val>
                                            <p:strVal val="#ppt_y"/>
                                          </p:val>
                                        </p:tav>
                                      </p:tavLst>
                                    </p:anim>
                                    <p:animEffect transition="in" filter="fade">
                                      <p:cBhvr>
                                        <p:cTn id="123" dur="450"/>
                                        <p:tgtEl>
                                          <p:spTgt spid="22"/>
                                        </p:tgtEl>
                                      </p:cBhvr>
                                    </p:animEffect>
                                  </p:childTnLst>
                                </p:cTn>
                              </p:par>
                              <p:par>
                                <p:cTn id="128" presetID="42" presetClass="entr" presetSubtype="0" fill="hold" grpId="0" nodeType="withEffect">
                                  <p:stCondLst>
                                    <p:cond delay="150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600" fill="hold"/>
                                        <p:tgtEl>
                                          <p:spTgt spid="31"/>
                                        </p:tgtEl>
                                        <p:attrNameLst>
                                          <p:attrName>ppt_y</p:attrName>
                                        </p:attrNameLst>
                                      </p:cBhvr>
                                      <p:tavLst>
                                        <p:tav tm="0">
                                          <p:val>
                                            <p:strVal val="#ppt_y+.06"/>
                                          </p:val>
                                        </p:tav>
                                        <p:tav tm="100000">
                                          <p:val>
                                            <p:strVal val="#ppt_y"/>
                                          </p:val>
                                        </p:tav>
                                      </p:tavLst>
                                    </p:anim>
                                    <p:animEffect transition="in" filter="fade">
                                      <p:cBhvr>
                                        <p:cTn id="127" dur="600"/>
                                        <p:tgtEl>
                                          <p:spTgt spid="31"/>
                                        </p:tgtEl>
                                      </p:cBhvr>
                                    </p:animEffect>
                                  </p:childTnLst>
                                </p:cTn>
                              </p:par>
                              <p:par>
                                <p:cTn id="132" presetID="42" presetClass="entr" presetSubtype="0" fill="hold" grpId="0" nodeType="withEffect">
                                  <p:stCondLst>
                                    <p:cond delay="1500"/>
                                  </p:stCondLst>
                                  <p:childTnLst>
                                    <p:set>
                                      <p:cBhvr>
                                        <p:cTn id="129" dur="1" fill="hold">
                                          <p:stCondLst>
                                            <p:cond delay="0"/>
                                          </p:stCondLst>
                                        </p:cTn>
                                        <p:tgtEl>
                                          <p:spTgt spid="33"/>
                                        </p:tgtEl>
                                        <p:attrNameLst>
                                          <p:attrName>style.visibility</p:attrName>
                                        </p:attrNameLst>
                                      </p:cBhvr>
                                      <p:to>
                                        <p:strVal val="visible"/>
                                      </p:to>
                                    </p:set>
                                    <p:anim calcmode="lin" valueType="num">
                                      <p:cBhvr additive="base">
                                        <p:cTn id="130" dur="600" fill="hold"/>
                                        <p:tgtEl>
                                          <p:spTgt spid="33"/>
                                        </p:tgtEl>
                                        <p:attrNameLst>
                                          <p:attrName>ppt_y</p:attrName>
                                        </p:attrNameLst>
                                      </p:cBhvr>
                                      <p:tavLst>
                                        <p:tav tm="0">
                                          <p:val>
                                            <p:strVal val="#ppt_y+.06"/>
                                          </p:val>
                                        </p:tav>
                                        <p:tav tm="100000">
                                          <p:val>
                                            <p:strVal val="#ppt_y"/>
                                          </p:val>
                                        </p:tav>
                                      </p:tavLst>
                                    </p:anim>
                                    <p:animEffect transition="in" filter="fade">
                                      <p:cBhvr>
                                        <p:cTn id="131" dur="600"/>
                                        <p:tgtEl>
                                          <p:spTgt spid="33"/>
                                        </p:tgtEl>
                                      </p:cBhvr>
                                    </p:animEffect>
                                  </p:childTnLst>
                                </p:cTn>
                              </p:par>
                              <p:par>
                                <p:cTn id="136" presetID="42" presetClass="entr" presetSubtype="0" fill="hold" grpId="0" nodeType="withEffect">
                                  <p:stCondLst>
                                    <p:cond delay="150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600" fill="hold"/>
                                        <p:tgtEl>
                                          <p:spTgt spid="34"/>
                                        </p:tgtEl>
                                        <p:attrNameLst>
                                          <p:attrName>ppt_y</p:attrName>
                                        </p:attrNameLst>
                                      </p:cBhvr>
                                      <p:tavLst>
                                        <p:tav tm="0">
                                          <p:val>
                                            <p:strVal val="#ppt_y+.06"/>
                                          </p:val>
                                        </p:tav>
                                        <p:tav tm="100000">
                                          <p:val>
                                            <p:strVal val="#ppt_y"/>
                                          </p:val>
                                        </p:tav>
                                      </p:tavLst>
                                    </p:anim>
                                    <p:animEffect transition="in" filter="fade">
                                      <p:cBhvr>
                                        <p:cTn id="135" dur="600"/>
                                        <p:tgtEl>
                                          <p:spTgt spid="34"/>
                                        </p:tgtEl>
                                      </p:cBhvr>
                                    </p:animEffect>
                                  </p:childTnLst>
                                </p:cTn>
                              </p:par>
                              <p:par>
                                <p:cTn id="140" presetID="42" presetClass="entr" presetSubtype="0" fill="hold" grpId="0" nodeType="withEffect">
                                  <p:stCondLst>
                                    <p:cond delay="1500"/>
                                  </p:stCondLst>
                                  <p:childTnLst>
                                    <p:set>
                                      <p:cBhvr>
                                        <p:cTn id="137" dur="1" fill="hold">
                                          <p:stCondLst>
                                            <p:cond delay="0"/>
                                          </p:stCondLst>
                                        </p:cTn>
                                        <p:tgtEl>
                                          <p:spTgt spid="35"/>
                                        </p:tgtEl>
                                        <p:attrNameLst>
                                          <p:attrName>style.visibility</p:attrName>
                                        </p:attrNameLst>
                                      </p:cBhvr>
                                      <p:to>
                                        <p:strVal val="visible"/>
                                      </p:to>
                                    </p:set>
                                    <p:anim calcmode="lin" valueType="num">
                                      <p:cBhvr additive="base">
                                        <p:cTn id="138" dur="600" fill="hold"/>
                                        <p:tgtEl>
                                          <p:spTgt spid="35"/>
                                        </p:tgtEl>
                                        <p:attrNameLst>
                                          <p:attrName>ppt_y</p:attrName>
                                        </p:attrNameLst>
                                      </p:cBhvr>
                                      <p:tavLst>
                                        <p:tav tm="0">
                                          <p:val>
                                            <p:strVal val="#ppt_y+.06"/>
                                          </p:val>
                                        </p:tav>
                                        <p:tav tm="100000">
                                          <p:val>
                                            <p:strVal val="#ppt_y"/>
                                          </p:val>
                                        </p:tav>
                                      </p:tavLst>
                                    </p:anim>
                                    <p:animEffect transition="in" filter="fade">
                                      <p:cBhvr>
                                        <p:cTn id="139" dur="600"/>
                                        <p:tgtEl>
                                          <p:spTgt spid="35"/>
                                        </p:tgtEl>
                                      </p:cBhvr>
                                    </p:animEffect>
                                  </p:childTnLst>
                                </p:cTn>
                              </p:par>
                              <p:par>
                                <p:cTn id="144" presetID="42" presetClass="entr" presetSubtype="0" fill="hold" grpId="0" nodeType="withEffect">
                                  <p:stCondLst>
                                    <p:cond delay="150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600" fill="hold"/>
                                        <p:tgtEl>
                                          <p:spTgt spid="36"/>
                                        </p:tgtEl>
                                        <p:attrNameLst>
                                          <p:attrName>ppt_y</p:attrName>
                                        </p:attrNameLst>
                                      </p:cBhvr>
                                      <p:tavLst>
                                        <p:tav tm="0">
                                          <p:val>
                                            <p:strVal val="#ppt_y+.06"/>
                                          </p:val>
                                        </p:tav>
                                        <p:tav tm="100000">
                                          <p:val>
                                            <p:strVal val="#ppt_y"/>
                                          </p:val>
                                        </p:tav>
                                      </p:tavLst>
                                    </p:anim>
                                    <p:animEffect transition="in" filter="fade">
                                      <p:cBhvr>
                                        <p:cTn id="143" dur="600"/>
                                        <p:tgtEl>
                                          <p:spTgt spid="36"/>
                                        </p:tgtEl>
                                      </p:cBhvr>
                                    </p:animEffect>
                                  </p:childTnLst>
                                </p:cTn>
                              </p:par>
                              <p:par>
                                <p:cTn id="148" presetID="42" presetClass="entr" presetSubtype="0" fill="hold" grpId="0" nodeType="withEffect">
                                  <p:stCondLst>
                                    <p:cond delay="1500"/>
                                  </p:stCondLst>
                                  <p:childTnLst>
                                    <p:set>
                                      <p:cBhvr>
                                        <p:cTn id="145" dur="1" fill="hold">
                                          <p:stCondLst>
                                            <p:cond delay="0"/>
                                          </p:stCondLst>
                                        </p:cTn>
                                        <p:tgtEl>
                                          <p:spTgt spid="37"/>
                                        </p:tgtEl>
                                        <p:attrNameLst>
                                          <p:attrName>style.visibility</p:attrName>
                                        </p:attrNameLst>
                                      </p:cBhvr>
                                      <p:to>
                                        <p:strVal val="visible"/>
                                      </p:to>
                                    </p:set>
                                    <p:anim calcmode="lin" valueType="num">
                                      <p:cBhvr additive="base">
                                        <p:cTn id="146" dur="600" fill="hold"/>
                                        <p:tgtEl>
                                          <p:spTgt spid="37"/>
                                        </p:tgtEl>
                                        <p:attrNameLst>
                                          <p:attrName>ppt_y</p:attrName>
                                        </p:attrNameLst>
                                      </p:cBhvr>
                                      <p:tavLst>
                                        <p:tav tm="0">
                                          <p:val>
                                            <p:strVal val="#ppt_y+.06"/>
                                          </p:val>
                                        </p:tav>
                                        <p:tav tm="100000">
                                          <p:val>
                                            <p:strVal val="#ppt_y"/>
                                          </p:val>
                                        </p:tav>
                                      </p:tavLst>
                                    </p:anim>
                                    <p:animEffect transition="in" filter="fade">
                                      <p:cBhvr>
                                        <p:cTn id="147" dur="600"/>
                                        <p:tgtEl>
                                          <p:spTgt spid="37"/>
                                        </p:tgtEl>
                                      </p:cBhvr>
                                    </p:animEffect>
                                  </p:childTnLst>
                                </p:cTn>
                              </p:par>
                              <p:par>
                                <p:cTn id="152" presetID="42"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 calcmode="lin" valueType="num">
                                      <p:cBhvr additive="base">
                                        <p:cTn id="150" dur="600" fill="hold"/>
                                        <p:tgtEl>
                                          <p:spTgt spid="38"/>
                                        </p:tgtEl>
                                        <p:attrNameLst>
                                          <p:attrName>ppt_y</p:attrName>
                                        </p:attrNameLst>
                                      </p:cBhvr>
                                      <p:tavLst>
                                        <p:tav tm="0">
                                          <p:val>
                                            <p:strVal val="#ppt_y+.06"/>
                                          </p:val>
                                        </p:tav>
                                        <p:tav tm="100000">
                                          <p:val>
                                            <p:strVal val="#ppt_y"/>
                                          </p:val>
                                        </p:tav>
                                      </p:tavLst>
                                    </p:anim>
                                    <p:animEffect transition="in" filter="fade">
                                      <p:cBhvr>
                                        <p:cTn id="151" dur="600"/>
                                        <p:tgtEl>
                                          <p:spTgt spid="38"/>
                                        </p:tgtEl>
                                      </p:cBhvr>
                                    </p:animEffect>
                                  </p:childTnLst>
                                </p:cTn>
                              </p:par>
                              <p:par>
                                <p:cTn id="156" presetID="42" presetClass="entr" presetSubtype="0" fill="hold" grpId="0" nodeType="withEffect">
                                  <p:stCondLst>
                                    <p:cond delay="1500"/>
                                  </p:stCondLst>
                                  <p:childTnLst>
                                    <p:set>
                                      <p:cBhvr>
                                        <p:cTn id="153" dur="1" fill="hold">
                                          <p:stCondLst>
                                            <p:cond delay="0"/>
                                          </p:stCondLst>
                                        </p:cTn>
                                        <p:tgtEl>
                                          <p:spTgt spid="39"/>
                                        </p:tgtEl>
                                        <p:attrNameLst>
                                          <p:attrName>style.visibility</p:attrName>
                                        </p:attrNameLst>
                                      </p:cBhvr>
                                      <p:to>
                                        <p:strVal val="visible"/>
                                      </p:to>
                                    </p:set>
                                    <p:anim calcmode="lin" valueType="num">
                                      <p:cBhvr additive="base">
                                        <p:cTn id="154" dur="600" fill="hold"/>
                                        <p:tgtEl>
                                          <p:spTgt spid="39"/>
                                        </p:tgtEl>
                                        <p:attrNameLst>
                                          <p:attrName>ppt_y</p:attrName>
                                        </p:attrNameLst>
                                      </p:cBhvr>
                                      <p:tavLst>
                                        <p:tav tm="0">
                                          <p:val>
                                            <p:strVal val="#ppt_y+.06"/>
                                          </p:val>
                                        </p:tav>
                                        <p:tav tm="100000">
                                          <p:val>
                                            <p:strVal val="#ppt_y"/>
                                          </p:val>
                                        </p:tav>
                                      </p:tavLst>
                                    </p:anim>
                                    <p:animEffect transition="in" filter="fade">
                                      <p:cBhvr>
                                        <p:cTn id="155" dur="600"/>
                                        <p:tgtEl>
                                          <p:spTgt spid="39"/>
                                        </p:tgtEl>
                                      </p:cBhvr>
                                    </p:animEffect>
                                  </p:childTnLst>
                                </p:cTn>
                              </p:par>
                              <p:par>
                                <p:cTn id="160" presetID="42" presetClass="entr" presetSubtype="0" fill="hold" grpId="0" nodeType="withEffect">
                                  <p:stCondLst>
                                    <p:cond delay="1500"/>
                                  </p:stCondLst>
                                  <p:childTnLst>
                                    <p:set>
                                      <p:cBhvr>
                                        <p:cTn id="157" dur="1" fill="hold">
                                          <p:stCondLst>
                                            <p:cond delay="0"/>
                                          </p:stCondLst>
                                        </p:cTn>
                                        <p:tgtEl>
                                          <p:spTgt spid="40"/>
                                        </p:tgtEl>
                                        <p:attrNameLst>
                                          <p:attrName>style.visibility</p:attrName>
                                        </p:attrNameLst>
                                      </p:cBhvr>
                                      <p:to>
                                        <p:strVal val="visible"/>
                                      </p:to>
                                    </p:set>
                                    <p:anim calcmode="lin" valueType="num">
                                      <p:cBhvr additive="base">
                                        <p:cTn id="158" dur="600" fill="hold"/>
                                        <p:tgtEl>
                                          <p:spTgt spid="40"/>
                                        </p:tgtEl>
                                        <p:attrNameLst>
                                          <p:attrName>ppt_y</p:attrName>
                                        </p:attrNameLst>
                                      </p:cBhvr>
                                      <p:tavLst>
                                        <p:tav tm="0">
                                          <p:val>
                                            <p:strVal val="#ppt_y+.06"/>
                                          </p:val>
                                        </p:tav>
                                        <p:tav tm="100000">
                                          <p:val>
                                            <p:strVal val="#ppt_y"/>
                                          </p:val>
                                        </p:tav>
                                      </p:tavLst>
                                    </p:anim>
                                    <p:animEffect transition="in" filter="fade">
                                      <p:cBhvr>
                                        <p:cTn id="159" dur="600"/>
                                        <p:tgtEl>
                                          <p:spTgt spid="40"/>
                                        </p:tgtEl>
                                      </p:cBhvr>
                                    </p:animEffect>
                                  </p:childTnLst>
                                </p:cTn>
                              </p:par>
                              <p:par>
                                <p:cTn id="164" presetID="42" presetClass="entr" presetSubtype="0" fill="hold" grpId="0" nodeType="withEffect">
                                  <p:stCondLst>
                                    <p:cond delay="150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600" fill="hold"/>
                                        <p:tgtEl>
                                          <p:spTgt spid="41"/>
                                        </p:tgtEl>
                                        <p:attrNameLst>
                                          <p:attrName>ppt_y</p:attrName>
                                        </p:attrNameLst>
                                      </p:cBhvr>
                                      <p:tavLst>
                                        <p:tav tm="0">
                                          <p:val>
                                            <p:strVal val="#ppt_y+.06"/>
                                          </p:val>
                                        </p:tav>
                                        <p:tav tm="100000">
                                          <p:val>
                                            <p:strVal val="#ppt_y"/>
                                          </p:val>
                                        </p:tav>
                                      </p:tavLst>
                                    </p:anim>
                                    <p:animEffect transition="in" filter="fade">
                                      <p:cBhvr>
                                        <p:cTn id="163" dur="600"/>
                                        <p:tgtEl>
                                          <p:spTgt spid="41"/>
                                        </p:tgtEl>
                                      </p:cBhvr>
                                    </p:animEffect>
                                  </p:childTnLst>
                                </p:cTn>
                              </p:par>
                              <p:par>
                                <p:cTn id="168" presetID="42" presetClass="entr" presetSubtype="0" fill="hold" grpId="0" nodeType="withEffect">
                                  <p:stCondLst>
                                    <p:cond delay="1500"/>
                                  </p:stCondLst>
                                  <p:childTnLst>
                                    <p:set>
                                      <p:cBhvr>
                                        <p:cTn id="165" dur="1" fill="hold">
                                          <p:stCondLst>
                                            <p:cond delay="0"/>
                                          </p:stCondLst>
                                        </p:cTn>
                                        <p:tgtEl>
                                          <p:spTgt spid="42"/>
                                        </p:tgtEl>
                                        <p:attrNameLst>
                                          <p:attrName>style.visibility</p:attrName>
                                        </p:attrNameLst>
                                      </p:cBhvr>
                                      <p:to>
                                        <p:strVal val="visible"/>
                                      </p:to>
                                    </p:set>
                                    <p:anim calcmode="lin" valueType="num">
                                      <p:cBhvr additive="base">
                                        <p:cTn id="166" dur="600" fill="hold"/>
                                        <p:tgtEl>
                                          <p:spTgt spid="42"/>
                                        </p:tgtEl>
                                        <p:attrNameLst>
                                          <p:attrName>ppt_y</p:attrName>
                                        </p:attrNameLst>
                                      </p:cBhvr>
                                      <p:tavLst>
                                        <p:tav tm="0">
                                          <p:val>
                                            <p:strVal val="#ppt_y+.06"/>
                                          </p:val>
                                        </p:tav>
                                        <p:tav tm="100000">
                                          <p:val>
                                            <p:strVal val="#ppt_y"/>
                                          </p:val>
                                        </p:tav>
                                      </p:tavLst>
                                    </p:anim>
                                    <p:animEffect transition="in" filter="fade">
                                      <p:cBhvr>
                                        <p:cTn id="167" dur="600"/>
                                        <p:tgtEl>
                                          <p:spTgt spid="42"/>
                                        </p:tgtEl>
                                      </p:cBhvr>
                                    </p:animEffect>
                                  </p:childTnLst>
                                </p:cTn>
                              </p:par>
                              <p:par>
                                <p:cTn id="172" presetID="42" presetClass="entr" presetSubtype="0" fill="hold" grpId="0" nodeType="withEffect">
                                  <p:stCondLst>
                                    <p:cond delay="150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600" fill="hold"/>
                                        <p:tgtEl>
                                          <p:spTgt spid="43"/>
                                        </p:tgtEl>
                                        <p:attrNameLst>
                                          <p:attrName>ppt_y</p:attrName>
                                        </p:attrNameLst>
                                      </p:cBhvr>
                                      <p:tavLst>
                                        <p:tav tm="0">
                                          <p:val>
                                            <p:strVal val="#ppt_y+.06"/>
                                          </p:val>
                                        </p:tav>
                                        <p:tav tm="100000">
                                          <p:val>
                                            <p:strVal val="#ppt_y"/>
                                          </p:val>
                                        </p:tav>
                                      </p:tavLst>
                                    </p:anim>
                                    <p:animEffect transition="in" filter="fade">
                                      <p:cBhvr>
                                        <p:cTn id="171" dur="600"/>
                                        <p:tgtEl>
                                          <p:spTgt spid="43"/>
                                        </p:tgtEl>
                                      </p:cBhvr>
                                    </p:animEffect>
                                  </p:childTnLst>
                                </p:cTn>
                              </p:par>
                              <p:par>
                                <p:cTn id="176" presetID="42" presetClass="entr" presetSubtype="0" fill="hold" grpId="0" nodeType="withEffect">
                                  <p:stCondLst>
                                    <p:cond delay="1500"/>
                                  </p:stCondLst>
                                  <p:childTnLst>
                                    <p:set>
                                      <p:cBhvr>
                                        <p:cTn id="173" dur="1" fill="hold">
                                          <p:stCondLst>
                                            <p:cond delay="0"/>
                                          </p:stCondLst>
                                        </p:cTn>
                                        <p:tgtEl>
                                          <p:spTgt spid="44"/>
                                        </p:tgtEl>
                                        <p:attrNameLst>
                                          <p:attrName>style.visibility</p:attrName>
                                        </p:attrNameLst>
                                      </p:cBhvr>
                                      <p:to>
                                        <p:strVal val="visible"/>
                                      </p:to>
                                    </p:set>
                                    <p:anim calcmode="lin" valueType="num">
                                      <p:cBhvr additive="base">
                                        <p:cTn id="174" dur="600" fill="hold"/>
                                        <p:tgtEl>
                                          <p:spTgt spid="44"/>
                                        </p:tgtEl>
                                        <p:attrNameLst>
                                          <p:attrName>ppt_y</p:attrName>
                                        </p:attrNameLst>
                                      </p:cBhvr>
                                      <p:tavLst>
                                        <p:tav tm="0">
                                          <p:val>
                                            <p:strVal val="#ppt_y+.06"/>
                                          </p:val>
                                        </p:tav>
                                        <p:tav tm="100000">
                                          <p:val>
                                            <p:strVal val="#ppt_y"/>
                                          </p:val>
                                        </p:tav>
                                      </p:tavLst>
                                    </p:anim>
                                    <p:animEffect transition="in" filter="fade">
                                      <p:cBhvr>
                                        <p:cTn id="175" dur="600"/>
                                        <p:tgtEl>
                                          <p:spTgt spid="44"/>
                                        </p:tgtEl>
                                      </p:cBhvr>
                                    </p:animEffect>
                                  </p:childTnLst>
                                </p:cTn>
                              </p:par>
                              <p:par>
                                <p:cTn id="180" presetID="42" presetClass="entr" presetSubtype="0" fill="hold" grpId="0" nodeType="withEffect">
                                  <p:stCondLst>
                                    <p:cond delay="15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600" fill="hold"/>
                                        <p:tgtEl>
                                          <p:spTgt spid="45"/>
                                        </p:tgtEl>
                                        <p:attrNameLst>
                                          <p:attrName>ppt_y</p:attrName>
                                        </p:attrNameLst>
                                      </p:cBhvr>
                                      <p:tavLst>
                                        <p:tav tm="0">
                                          <p:val>
                                            <p:strVal val="#ppt_y+.06"/>
                                          </p:val>
                                        </p:tav>
                                        <p:tav tm="100000">
                                          <p:val>
                                            <p:strVal val="#ppt_y"/>
                                          </p:val>
                                        </p:tav>
                                      </p:tavLst>
                                    </p:anim>
                                    <p:animEffect transition="in" filter="fade">
                                      <p:cBhvr>
                                        <p:cTn id="179" dur="600"/>
                                        <p:tgtEl>
                                          <p:spTgt spid="45"/>
                                        </p:tgtEl>
                                      </p:cBhvr>
                                    </p:animEffect>
                                  </p:childTnLst>
                                </p:cTn>
                              </p:par>
                              <p:par>
                                <p:cTn id="184" presetID="42" presetClass="entr" presetSubtype="0" fill="hold" grpId="0" nodeType="withEffect">
                                  <p:stCondLst>
                                    <p:cond delay="1500"/>
                                  </p:stCondLst>
                                  <p:childTnLst>
                                    <p:set>
                                      <p:cBhvr>
                                        <p:cTn id="181" dur="1" fill="hold">
                                          <p:stCondLst>
                                            <p:cond delay="0"/>
                                          </p:stCondLst>
                                        </p:cTn>
                                        <p:tgtEl>
                                          <p:spTgt spid="46"/>
                                        </p:tgtEl>
                                        <p:attrNameLst>
                                          <p:attrName>style.visibility</p:attrName>
                                        </p:attrNameLst>
                                      </p:cBhvr>
                                      <p:to>
                                        <p:strVal val="visible"/>
                                      </p:to>
                                    </p:set>
                                    <p:anim calcmode="lin" valueType="num">
                                      <p:cBhvr additive="base">
                                        <p:cTn id="182" dur="600" fill="hold"/>
                                        <p:tgtEl>
                                          <p:spTgt spid="46"/>
                                        </p:tgtEl>
                                        <p:attrNameLst>
                                          <p:attrName>ppt_y</p:attrName>
                                        </p:attrNameLst>
                                      </p:cBhvr>
                                      <p:tavLst>
                                        <p:tav tm="0">
                                          <p:val>
                                            <p:strVal val="#ppt_y+.06"/>
                                          </p:val>
                                        </p:tav>
                                        <p:tav tm="100000">
                                          <p:val>
                                            <p:strVal val="#ppt_y"/>
                                          </p:val>
                                        </p:tav>
                                      </p:tavLst>
                                    </p:anim>
                                    <p:animEffect transition="in" filter="fade">
                                      <p:cBhvr>
                                        <p:cTn id="183" dur="600"/>
                                        <p:tgtEl>
                                          <p:spTgt spid="46"/>
                                        </p:tgtEl>
                                      </p:cBhvr>
                                    </p:animEffect>
                                  </p:childTnLst>
                                </p:cTn>
                              </p:par>
                              <p:par>
                                <p:cTn id="188" presetID="42" presetClass="entr" presetSubtype="0" fill="hold" grpId="0" nodeType="withEffect">
                                  <p:stCondLst>
                                    <p:cond delay="1500"/>
                                  </p:stCondLst>
                                  <p:childTnLst>
                                    <p:set>
                                      <p:cBhvr>
                                        <p:cTn id="185" dur="1" fill="hold">
                                          <p:stCondLst>
                                            <p:cond delay="0"/>
                                          </p:stCondLst>
                                        </p:cTn>
                                        <p:tgtEl>
                                          <p:spTgt spid="47"/>
                                        </p:tgtEl>
                                        <p:attrNameLst>
                                          <p:attrName>style.visibility</p:attrName>
                                        </p:attrNameLst>
                                      </p:cBhvr>
                                      <p:to>
                                        <p:strVal val="visible"/>
                                      </p:to>
                                    </p:set>
                                    <p:anim calcmode="lin" valueType="num">
                                      <p:cBhvr additive="base">
                                        <p:cTn id="186" dur="600" fill="hold"/>
                                        <p:tgtEl>
                                          <p:spTgt spid="47"/>
                                        </p:tgtEl>
                                        <p:attrNameLst>
                                          <p:attrName>ppt_y</p:attrName>
                                        </p:attrNameLst>
                                      </p:cBhvr>
                                      <p:tavLst>
                                        <p:tav tm="0">
                                          <p:val>
                                            <p:strVal val="#ppt_y+.06"/>
                                          </p:val>
                                        </p:tav>
                                        <p:tav tm="100000">
                                          <p:val>
                                            <p:strVal val="#ppt_y"/>
                                          </p:val>
                                        </p:tav>
                                      </p:tavLst>
                                    </p:anim>
                                    <p:animEffect transition="in" filter="fade">
                                      <p:cBhvr>
                                        <p:cTn id="187" dur="600"/>
                                        <p:tgtEl>
                                          <p:spTgt spid="47"/>
                                        </p:tgtEl>
                                      </p:cBhvr>
                                    </p:animEffect>
                                  </p:childTnLst>
                                </p:cTn>
                              </p:par>
                              <p:par>
                                <p:cTn id="191" presetID="10" presetClass="entr" presetSubtype="0" fill="hold" grpId="0" nodeType="withEffect">
                                  <p:stCondLst>
                                    <p:cond delay="1700"/>
                                  </p:stCondLst>
                                  <p:childTnLst>
                                    <p:set>
                                      <p:cBhvr>
                                        <p:cTn id="189" dur="1" fill="hold">
                                          <p:stCondLst>
                                            <p:cond delay="0"/>
                                          </p:stCondLst>
                                        </p:cTn>
                                        <p:tgtEl>
                                          <p:spTgt spid="23"/>
                                        </p:tgtEl>
                                        <p:attrNameLst>
                                          <p:attrName>style.visibility</p:attrName>
                                        </p:attrNameLst>
                                      </p:cBhvr>
                                      <p:to>
                                        <p:strVal val="visible"/>
                                      </p:to>
                                    </p:set>
                                    <p:animEffect transition="in" filter="fade">
                                      <p:cBhvr>
                                        <p:cTn id="19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1" grpId="0" animBg="1"/>
      <p:bldP spid="52" grpId="0" animBg="1"/>
      <p:bldP spid="53" grpId="0" animBg="1"/>
      <p:bldP spid="54" grpId="0" animBg="1"/>
      <p:bldP spid="55" grpId="0" animBg="1"/>
      <p:bldP spid="56" grpId="0" animBg="1"/>
      <p:bldP spid="7" grpId="0" animBg="1"/>
      <p:bldP spid="8" grpId="0" animBg="1"/>
      <p:bldP spid="9" grpId="0" animBg="1"/>
      <p:bldP spid="10" grpId="0" animBg="1"/>
      <p:bldP spid="11" grpId="0" animBg="1"/>
      <p:bldP spid="12" grpId="0" animBg="1"/>
      <p:bldP spid="50" grpId="0" animBg="1"/>
      <p:bldP spid="24" grpId="0" animBg="1"/>
      <p:bldP spid="25" grpId="0" animBg="1"/>
      <p:bldP spid="32" grpId="0" animBg="1"/>
      <p:bldP spid="13" grpId="0" animBg="1"/>
      <p:bldP spid="14" grpId="0" animBg="1"/>
      <p:bldP spid="15" grpId="0" animBg="1"/>
      <p:bldP spid="16" grpId="0" animBg="1"/>
      <p:bldP spid="17" grpId="0" animBg="1"/>
      <p:bldP spid="18" grpId="0" animBg="1"/>
      <p:bldP spid="30" grpId="0" animBg="1"/>
      <p:bldP spid="19" grpId="0" animBg="1"/>
      <p:bldP spid="20" grpId="0" animBg="1"/>
      <p:bldP spid="21" grpId="0" animBg="1"/>
      <p:bldP spid="22"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04  —  THE INNOVATION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Every Route Decision Has a Reason</a:t>
            </a:r>
            <a:endParaRPr lang="en-US" sz="3400" dirty="0"/>
          </a:p>
        </p:txBody>
      </p:sp>
      <p:sp>
        <p:nvSpPr>
          <p:cNvPr id="4" name="c0_1"/>
          <p:cNvSpPr/>
          <p:nvPr/>
        </p:nvSpPr>
        <p:spPr>
          <a:xfrm>
            <a:off x="640080" y="1783080"/>
            <a:ext cx="2834640" cy="0"/>
          </a:xfrm>
          <a:prstGeom prst="line">
            <a:avLst/>
          </a:prstGeom>
          <a:noFill/>
          <a:ln w="12700">
            <a:solidFill>
              <a:srgbClr val="D6D0C2"/>
            </a:solidFill>
            <a:prstDash val="solid"/>
          </a:ln>
        </p:spPr>
      </p:sp>
      <p:sp>
        <p:nvSpPr>
          <p:cNvPr id="5" name="c0_2"/>
          <p:cNvSpPr txBox="1"/>
          <p:nvPr/>
        </p:nvSpPr>
        <p:spPr>
          <a:xfrm>
            <a:off x="64008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01</a:t>
            </a:r>
            <a:endParaRPr lang="en-US" sz="1200" dirty="0"/>
          </a:p>
        </p:txBody>
      </p:sp>
      <p:sp>
        <p:nvSpPr>
          <p:cNvPr id="6" name="c0_3"/>
          <p:cNvSpPr txBox="1"/>
          <p:nvPr/>
        </p:nvSpPr>
        <p:spPr>
          <a:xfrm>
            <a:off x="64008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Evidence-aware routing</a:t>
            </a:r>
            <a:endParaRPr lang="en-US" sz="1650" dirty="0"/>
          </a:p>
        </p:txBody>
      </p:sp>
      <p:sp>
        <p:nvSpPr>
          <p:cNvPr id="7" name="c0_4"/>
          <p:cNvSpPr txBox="1"/>
          <p:nvPr/>
        </p:nvSpPr>
        <p:spPr>
          <a:xfrm>
            <a:off x="640080" y="2551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A single unverified report adds a warning and a penalty; it never blocks a route on its own. Corroborated or verified impassable incidents can make a route non-viable.</a:t>
            </a:r>
            <a:endParaRPr lang="en-US" sz="1200" dirty="0"/>
          </a:p>
        </p:txBody>
      </p:sp>
      <p:sp>
        <p:nvSpPr>
          <p:cNvPr id="8" name="c0_5"/>
          <p:cNvSpPr txBox="1"/>
          <p:nvPr/>
        </p:nvSpPr>
        <p:spPr>
          <a:xfrm>
            <a:off x="64008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Unverified: penalty.  Corroborated or verified: can block.</a:t>
            </a:r>
            <a:endParaRPr lang="en-US" sz="1100" dirty="0"/>
          </a:p>
        </p:txBody>
      </p:sp>
      <p:sp>
        <p:nvSpPr>
          <p:cNvPr id="9" name="c1_6"/>
          <p:cNvSpPr/>
          <p:nvPr/>
        </p:nvSpPr>
        <p:spPr>
          <a:xfrm>
            <a:off x="3794760" y="1783080"/>
            <a:ext cx="2834640" cy="0"/>
          </a:xfrm>
          <a:prstGeom prst="line">
            <a:avLst/>
          </a:prstGeom>
          <a:noFill/>
          <a:ln w="12700">
            <a:solidFill>
              <a:srgbClr val="D6D0C2"/>
            </a:solidFill>
            <a:prstDash val="solid"/>
          </a:ln>
        </p:spPr>
      </p:sp>
      <p:sp>
        <p:nvSpPr>
          <p:cNvPr id="10" name="c1_7"/>
          <p:cNvSpPr txBox="1"/>
          <p:nvPr/>
        </p:nvSpPr>
        <p:spPr>
          <a:xfrm>
            <a:off x="379476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02</a:t>
            </a:r>
            <a:endParaRPr lang="en-US" sz="1200" dirty="0"/>
          </a:p>
        </p:txBody>
      </p:sp>
      <p:sp>
        <p:nvSpPr>
          <p:cNvPr id="11" name="c1_8"/>
          <p:cNvSpPr txBox="1"/>
          <p:nvPr/>
        </p:nvSpPr>
        <p:spPr>
          <a:xfrm>
            <a:off x="379476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Explainable decisions</a:t>
            </a:r>
            <a:endParaRPr lang="en-US" sz="1650" dirty="0"/>
          </a:p>
        </p:txBody>
      </p:sp>
      <p:sp>
        <p:nvSpPr>
          <p:cNvPr id="12" name="c1_9"/>
          <p:cNvSpPr txBox="1"/>
          <p:nvPr/>
        </p:nvSpPr>
        <p:spPr>
          <a:xfrm>
            <a:off x="3794760" y="2551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Every recommendation change shows the incident source, verification status, report age, hazards avoided and the reason for the change.</a:t>
            </a:r>
            <a:endParaRPr lang="en-US" sz="1200" dirty="0"/>
          </a:p>
        </p:txBody>
      </p:sp>
      <p:sp>
        <p:nvSpPr>
          <p:cNvPr id="13" name="c1_10"/>
          <p:cNvSpPr txBox="1"/>
          <p:nvPr/>
        </p:nvSpPr>
        <p:spPr>
          <a:xfrm>
            <a:off x="379476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Source, status, age, hazards, reason.</a:t>
            </a:r>
            <a:endParaRPr lang="en-US" sz="1100" dirty="0"/>
          </a:p>
        </p:txBody>
      </p:sp>
      <p:sp>
        <p:nvSpPr>
          <p:cNvPr id="14" name="c2_11"/>
          <p:cNvSpPr/>
          <p:nvPr/>
        </p:nvSpPr>
        <p:spPr>
          <a:xfrm>
            <a:off x="640080" y="4069080"/>
            <a:ext cx="2834640" cy="0"/>
          </a:xfrm>
          <a:prstGeom prst="line">
            <a:avLst/>
          </a:prstGeom>
          <a:noFill/>
          <a:ln w="12700">
            <a:solidFill>
              <a:srgbClr val="D6D0C2"/>
            </a:solidFill>
            <a:prstDash val="solid"/>
          </a:ln>
        </p:spPr>
      </p:sp>
      <p:sp>
        <p:nvSpPr>
          <p:cNvPr id="15" name="c2_12"/>
          <p:cNvSpPr txBox="1"/>
          <p:nvPr/>
        </p:nvSpPr>
        <p:spPr>
          <a:xfrm>
            <a:off x="64008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03</a:t>
            </a:r>
            <a:endParaRPr lang="en-US" sz="1200" dirty="0"/>
          </a:p>
        </p:txBody>
      </p:sp>
      <p:sp>
        <p:nvSpPr>
          <p:cNvPr id="16" name="c2_13"/>
          <p:cNvSpPr txBox="1"/>
          <p:nvPr/>
        </p:nvSpPr>
        <p:spPr>
          <a:xfrm>
            <a:off x="64008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Stable adaptive rerouting</a:t>
            </a:r>
            <a:endParaRPr lang="en-US" sz="1650" dirty="0"/>
          </a:p>
        </p:txBody>
      </p:sp>
      <p:sp>
        <p:nvSpPr>
          <p:cNvPr id="17" name="c2_14"/>
          <p:cNvSpPr txBox="1"/>
          <p:nvPr/>
        </p:nvSpPr>
        <p:spPr>
          <a:xfrm>
            <a:off x="640080" y="4837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No needless flip-flopping. Reconsider when the current route becomes non-viable, or an alternative improves enough to cross the switching threshold.</a:t>
            </a:r>
            <a:endParaRPr lang="en-US" sz="1200" dirty="0"/>
          </a:p>
        </p:txBody>
      </p:sp>
      <p:sp>
        <p:nvSpPr>
          <p:cNvPr id="18" name="c2_15"/>
          <p:cNvSpPr txBox="1"/>
          <p:nvPr/>
        </p:nvSpPr>
        <p:spPr>
          <a:xfrm>
            <a:off x="64008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Switch only above the threshold.</a:t>
            </a:r>
            <a:endParaRPr lang="en-US" sz="1100" dirty="0"/>
          </a:p>
        </p:txBody>
      </p:sp>
      <p:sp>
        <p:nvSpPr>
          <p:cNvPr id="19" name="c3_16"/>
          <p:cNvSpPr/>
          <p:nvPr/>
        </p:nvSpPr>
        <p:spPr>
          <a:xfrm>
            <a:off x="3794760" y="4069080"/>
            <a:ext cx="2834640" cy="0"/>
          </a:xfrm>
          <a:prstGeom prst="line">
            <a:avLst/>
          </a:prstGeom>
          <a:noFill/>
          <a:ln w="12700">
            <a:solidFill>
              <a:srgbClr val="D6D0C2"/>
            </a:solidFill>
            <a:prstDash val="solid"/>
          </a:ln>
        </p:spPr>
      </p:sp>
      <p:sp>
        <p:nvSpPr>
          <p:cNvPr id="20" name="c3_17"/>
          <p:cNvSpPr txBox="1"/>
          <p:nvPr/>
        </p:nvSpPr>
        <p:spPr>
          <a:xfrm>
            <a:off x="379476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04</a:t>
            </a:r>
            <a:endParaRPr lang="en-US" sz="1200" dirty="0"/>
          </a:p>
        </p:txBody>
      </p:sp>
      <p:sp>
        <p:nvSpPr>
          <p:cNvPr id="21" name="c3_18"/>
          <p:cNvSpPr txBox="1"/>
          <p:nvPr/>
        </p:nvSpPr>
        <p:spPr>
          <a:xfrm>
            <a:off x="379476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What-if emergency simulator</a:t>
            </a:r>
            <a:endParaRPr lang="en-US" sz="1650" dirty="0"/>
          </a:p>
        </p:txBody>
      </p:sp>
      <p:sp>
        <p:nvSpPr>
          <p:cNvPr id="22" name="c3_19"/>
          <p:cNvSpPr txBox="1"/>
          <p:nvPr/>
        </p:nvSpPr>
        <p:spPr>
          <a:xfrm>
            <a:off x="3794760" y="4837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Judges can simulate a flood report, road closure or congestion increase, and watch the route engine reassess every alternative.</a:t>
            </a:r>
            <a:endParaRPr lang="en-US" sz="1200" dirty="0"/>
          </a:p>
        </p:txBody>
      </p:sp>
      <p:sp>
        <p:nvSpPr>
          <p:cNvPr id="23" name="c3_20"/>
          <p:cNvSpPr txBox="1"/>
          <p:nvPr/>
        </p:nvSpPr>
        <p:spPr>
          <a:xfrm>
            <a:off x="379476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Flood report, closure, congestion.</a:t>
            </a:r>
            <a:endParaRPr lang="en-US" sz="1100" dirty="0"/>
          </a:p>
        </p:txBody>
      </p:sp>
      <p:sp>
        <p:nvSpPr>
          <p:cNvPr id="24" name="dash_21"/>
          <p:cNvSpPr/>
          <p:nvPr/>
        </p:nvSpPr>
        <p:spPr>
          <a:xfrm>
            <a:off x="6903720" y="1600200"/>
            <a:ext cx="4647895" cy="4663440"/>
          </a:xfrm>
          <a:prstGeom prst="roundRect">
            <a:avLst>
              <a:gd name="adj" fmla="val 2754"/>
            </a:avLst>
          </a:prstGeom>
          <a:solidFill>
            <a:schemeClr val="tx1"/>
          </a:solidFill>
          <a:ln/>
          <a:effectLst>
            <a:outerShdw sx="100000" sy="100000" kx="0" ky="0" algn="bl" rotWithShape="0" blurRad="355600" dist="127000" dir="5400000">
              <a:srgbClr val="0B1426">
                <a:alpha val="30000"/>
              </a:srgbClr>
            </a:outerShdw>
          </a:effectLst>
        </p:spPr>
      </p:sp>
      <p:sp>
        <p:nvSpPr>
          <p:cNvPr id="25" name="dash_22"/>
          <p:cNvSpPr/>
          <p:nvPr/>
        </p:nvSpPr>
        <p:spPr>
          <a:xfrm>
            <a:off x="7164324" y="1897380"/>
            <a:ext cx="100584" cy="100584"/>
          </a:xfrm>
          <a:prstGeom prst="ellipse">
            <a:avLst/>
          </a:prstGeom>
          <a:solidFill>
            <a:schemeClr val="accent1"/>
          </a:solidFill>
          <a:ln/>
        </p:spPr>
      </p:sp>
      <p:sp>
        <p:nvSpPr>
          <p:cNvPr id="26" name="dash_23"/>
          <p:cNvSpPr txBox="1"/>
          <p:nvPr/>
        </p:nvSpPr>
        <p:spPr>
          <a:xfrm>
            <a:off x="7360920" y="1828800"/>
            <a:ext cx="2194560" cy="25603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Incident timeline</a:t>
            </a:r>
            <a:endParaRPr lang="en-US" sz="1300" dirty="0"/>
          </a:p>
        </p:txBody>
      </p:sp>
      <p:sp>
        <p:nvSpPr>
          <p:cNvPr id="27" name="dash_24"/>
          <p:cNvSpPr txBox="1"/>
          <p:nvPr/>
        </p:nvSpPr>
        <p:spPr>
          <a:xfrm>
            <a:off x="9631375" y="1828800"/>
            <a:ext cx="1645920" cy="256032"/>
          </a:xfrm>
          <a:prstGeom prst="rect">
            <a:avLst/>
          </a:prstGeom>
          <a:noFill/>
          <a:ln/>
        </p:spPr>
        <p:txBody>
          <a:bodyPr wrap="square" lIns="0" tIns="0" rIns="0" bIns="0" rtlCol="0" anchor="ctr"/>
          <a:lstStyle/>
          <a:p>
            <a:pPr algn="r" indent="0" marL="0">
              <a:buNone/>
            </a:pPr>
            <a:r>
              <a:rPr lang="en-US" sz="1100" dirty="0">
                <a:solidFill>
                  <a:srgbClr val="FBBF24"/>
                </a:solidFill>
              </a:rPr>
              <a:t>Simulated events</a:t>
            </a:r>
            <a:endParaRPr lang="en-US" sz="1100" dirty="0"/>
          </a:p>
        </p:txBody>
      </p:sp>
      <p:sp>
        <p:nvSpPr>
          <p:cNvPr id="28" name="ev0_25"/>
          <p:cNvSpPr txBox="1"/>
          <p:nvPr/>
        </p:nvSpPr>
        <p:spPr>
          <a:xfrm>
            <a:off x="7178040" y="2313432"/>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14:07</a:t>
            </a:r>
            <a:endParaRPr lang="en-US" sz="1500" dirty="0"/>
          </a:p>
        </p:txBody>
      </p:sp>
      <p:sp>
        <p:nvSpPr>
          <p:cNvPr id="29" name="ev0_26"/>
          <p:cNvSpPr/>
          <p:nvPr/>
        </p:nvSpPr>
        <p:spPr>
          <a:xfrm>
            <a:off x="8060436" y="2382012"/>
            <a:ext cx="118872" cy="118872"/>
          </a:xfrm>
          <a:prstGeom prst="ellipse">
            <a:avLst/>
          </a:prstGeom>
          <a:solidFill>
            <a:srgbClr val="F59E0B"/>
          </a:solidFill>
          <a:ln/>
        </p:spPr>
      </p:sp>
      <p:sp>
        <p:nvSpPr>
          <p:cNvPr id="30" name="ev0_27"/>
          <p:cNvSpPr/>
          <p:nvPr/>
        </p:nvSpPr>
        <p:spPr>
          <a:xfrm>
            <a:off x="8119872" y="2532888"/>
            <a:ext cx="0" cy="475488"/>
          </a:xfrm>
          <a:prstGeom prst="line">
            <a:avLst/>
          </a:prstGeom>
          <a:noFill/>
          <a:ln w="15875">
            <a:solidFill>
              <a:srgbClr val="2C4068"/>
            </a:solidFill>
            <a:prstDash val="solid"/>
          </a:ln>
        </p:spPr>
      </p:sp>
      <p:sp>
        <p:nvSpPr>
          <p:cNvPr id="31" name="ev0_28"/>
          <p:cNvSpPr txBox="1"/>
          <p:nvPr/>
        </p:nvSpPr>
        <p:spPr>
          <a:xfrm>
            <a:off x="8385048" y="2276856"/>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One flood report</a:t>
            </a:r>
            <a:endParaRPr lang="en-US" sz="1100" dirty="0"/>
          </a:p>
          <a:p>
            <a:pPr indent="0" marL="0">
              <a:buNone/>
            </a:pPr>
            <a:r>
              <a:rPr lang="en-US" sz="1100" dirty="0">
                <a:solidFill>
                  <a:srgbClr val="FBBF24"/>
                </a:solidFill>
                <a:latin typeface="Segoe UI Semibold" pitchFamily="34" charset="0"/>
                <a:ea typeface="Segoe UI Semibold" pitchFamily="34" charset="-122"/>
                <a:cs typeface="Segoe UI Semibold" pitchFamily="34" charset="-120"/>
              </a:rPr>
              <a:t>Unverified  </a:t>
            </a:r>
            <a:pPr indent="0" marL="0">
              <a:buNone/>
            </a:pPr>
            <a:r>
              <a:rPr lang="en-US" sz="1100" dirty="0">
                <a:solidFill>
                  <a:schemeClr val="accent6"/>
                </a:solidFill>
              </a:rPr>
              <a:t>Route unchanged.</a:t>
            </a:r>
            <a:endParaRPr lang="en-US" sz="1100" dirty="0"/>
          </a:p>
        </p:txBody>
      </p:sp>
      <p:sp>
        <p:nvSpPr>
          <p:cNvPr id="32" name="ev1_29"/>
          <p:cNvSpPr txBox="1"/>
          <p:nvPr/>
        </p:nvSpPr>
        <p:spPr>
          <a:xfrm>
            <a:off x="7178040" y="2916936"/>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14:10</a:t>
            </a:r>
            <a:endParaRPr lang="en-US" sz="1500" dirty="0"/>
          </a:p>
        </p:txBody>
      </p:sp>
      <p:sp>
        <p:nvSpPr>
          <p:cNvPr id="33" name="ev1_30"/>
          <p:cNvSpPr/>
          <p:nvPr/>
        </p:nvSpPr>
        <p:spPr>
          <a:xfrm>
            <a:off x="8060436" y="2985516"/>
            <a:ext cx="118872" cy="118872"/>
          </a:xfrm>
          <a:prstGeom prst="ellipse">
            <a:avLst/>
          </a:prstGeom>
          <a:solidFill>
            <a:srgbClr val="DC2626"/>
          </a:solidFill>
          <a:ln/>
        </p:spPr>
      </p:sp>
      <p:sp>
        <p:nvSpPr>
          <p:cNvPr id="34" name="ev1_31"/>
          <p:cNvSpPr/>
          <p:nvPr/>
        </p:nvSpPr>
        <p:spPr>
          <a:xfrm>
            <a:off x="8119872" y="3136392"/>
            <a:ext cx="0" cy="475488"/>
          </a:xfrm>
          <a:prstGeom prst="line">
            <a:avLst/>
          </a:prstGeom>
          <a:noFill/>
          <a:ln w="15875">
            <a:solidFill>
              <a:srgbClr val="2C4068"/>
            </a:solidFill>
            <a:prstDash val="solid"/>
          </a:ln>
        </p:spPr>
      </p:sp>
      <p:sp>
        <p:nvSpPr>
          <p:cNvPr id="35" name="ev1_32"/>
          <p:cNvSpPr txBox="1"/>
          <p:nvPr/>
        </p:nvSpPr>
        <p:spPr>
          <a:xfrm>
            <a:off x="8385048" y="2880360"/>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Independent report: knee-deep water</a:t>
            </a:r>
            <a:endParaRPr lang="en-US" sz="1100" dirty="0"/>
          </a:p>
          <a:p>
            <a:pPr indent="0" marL="0">
              <a:buNone/>
            </a:pPr>
            <a:r>
              <a:rPr lang="en-US" sz="1100" dirty="0">
                <a:solidFill>
                  <a:srgbClr val="F87171"/>
                </a:solidFill>
                <a:latin typeface="Segoe UI Semibold" pitchFamily="34" charset="0"/>
                <a:ea typeface="Segoe UI Semibold" pitchFamily="34" charset="-122"/>
                <a:cs typeface="Segoe UI Semibold" pitchFamily="34" charset="-120"/>
              </a:rPr>
              <a:t>Corroborated  </a:t>
            </a:r>
            <a:pPr indent="0" marL="0">
              <a:buNone/>
            </a:pPr>
            <a:r>
              <a:rPr lang="en-US" sz="1100" dirty="0">
                <a:solidFill>
                  <a:schemeClr val="accent6"/>
                </a:solidFill>
              </a:rPr>
              <a:t>Underpass non-viable.</a:t>
            </a:r>
            <a:endParaRPr lang="en-US" sz="1100" dirty="0"/>
          </a:p>
        </p:txBody>
      </p:sp>
      <p:sp>
        <p:nvSpPr>
          <p:cNvPr id="36" name="ev2_33"/>
          <p:cNvSpPr txBox="1"/>
          <p:nvPr/>
        </p:nvSpPr>
        <p:spPr>
          <a:xfrm>
            <a:off x="7178040" y="3520440"/>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14:12</a:t>
            </a:r>
            <a:endParaRPr lang="en-US" sz="1500" dirty="0"/>
          </a:p>
        </p:txBody>
      </p:sp>
      <p:sp>
        <p:nvSpPr>
          <p:cNvPr id="37" name="ev2_34"/>
          <p:cNvSpPr/>
          <p:nvPr/>
        </p:nvSpPr>
        <p:spPr>
          <a:xfrm>
            <a:off x="8060436" y="3589020"/>
            <a:ext cx="118872" cy="118872"/>
          </a:xfrm>
          <a:prstGeom prst="ellipse">
            <a:avLst/>
          </a:prstGeom>
          <a:solidFill>
            <a:srgbClr val="14B8A6"/>
          </a:solidFill>
          <a:ln/>
        </p:spPr>
      </p:sp>
      <p:sp>
        <p:nvSpPr>
          <p:cNvPr id="38" name="ev2_35"/>
          <p:cNvSpPr/>
          <p:nvPr/>
        </p:nvSpPr>
        <p:spPr>
          <a:xfrm>
            <a:off x="8119872" y="3739896"/>
            <a:ext cx="0" cy="475488"/>
          </a:xfrm>
          <a:prstGeom prst="line">
            <a:avLst/>
          </a:prstGeom>
          <a:noFill/>
          <a:ln w="15875">
            <a:solidFill>
              <a:srgbClr val="2C4068"/>
            </a:solidFill>
            <a:prstDash val="solid"/>
          </a:ln>
        </p:spPr>
      </p:sp>
      <p:sp>
        <p:nvSpPr>
          <p:cNvPr id="39" name="ev2_36"/>
          <p:cNvSpPr txBox="1"/>
          <p:nvPr/>
        </p:nvSpPr>
        <p:spPr>
          <a:xfrm>
            <a:off x="8385048" y="3483864"/>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Traffic-police verification</a:t>
            </a:r>
            <a:endParaRPr lang="en-US" sz="1100" dirty="0"/>
          </a:p>
          <a:p>
            <a:pPr indent="0" marL="0">
              <a:buNone/>
            </a:pPr>
            <a:r>
              <a:rPr lang="en-US" sz="1100" dirty="0">
                <a:solidFill>
                  <a:srgbClr val="5EEAD4"/>
                </a:solidFill>
                <a:latin typeface="Segoe UI Semibold" pitchFamily="34" charset="0"/>
                <a:ea typeface="Segoe UI Semibold" pitchFamily="34" charset="-122"/>
                <a:cs typeface="Segoe UI Semibold" pitchFamily="34" charset="-120"/>
              </a:rPr>
              <a:t>Verified (simulated)  </a:t>
            </a:r>
            <a:pPr indent="0" marL="0">
              <a:buNone/>
            </a:pPr>
            <a:r>
              <a:rPr lang="en-US" sz="1100" dirty="0">
                <a:solidFill>
                  <a:schemeClr val="accent6"/>
                </a:solidFill>
              </a:rPr>
              <a:t>Rejection confirmed.</a:t>
            </a:r>
            <a:endParaRPr lang="en-US" sz="1100" dirty="0"/>
          </a:p>
        </p:txBody>
      </p:sp>
      <p:sp>
        <p:nvSpPr>
          <p:cNvPr id="40" name="ev3_37"/>
          <p:cNvSpPr txBox="1"/>
          <p:nvPr/>
        </p:nvSpPr>
        <p:spPr>
          <a:xfrm>
            <a:off x="7178040" y="4123944"/>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14:15</a:t>
            </a:r>
            <a:endParaRPr lang="en-US" sz="1500" dirty="0"/>
          </a:p>
        </p:txBody>
      </p:sp>
      <p:sp>
        <p:nvSpPr>
          <p:cNvPr id="41" name="ev3_38"/>
          <p:cNvSpPr/>
          <p:nvPr/>
        </p:nvSpPr>
        <p:spPr>
          <a:xfrm>
            <a:off x="8060436" y="4192524"/>
            <a:ext cx="118872" cy="118872"/>
          </a:xfrm>
          <a:prstGeom prst="ellipse">
            <a:avLst/>
          </a:prstGeom>
          <a:solidFill>
            <a:srgbClr val="F59E0B"/>
          </a:solidFill>
          <a:ln/>
        </p:spPr>
      </p:sp>
      <p:sp>
        <p:nvSpPr>
          <p:cNvPr id="42" name="ev3_39"/>
          <p:cNvSpPr txBox="1"/>
          <p:nvPr/>
        </p:nvSpPr>
        <p:spPr>
          <a:xfrm>
            <a:off x="8385048" y="4087368"/>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Heavy flyover congestion</a:t>
            </a:r>
            <a:endParaRPr lang="en-US" sz="1100" dirty="0"/>
          </a:p>
          <a:p>
            <a:pPr indent="0" marL="0">
              <a:buNone/>
            </a:pPr>
            <a:r>
              <a:rPr lang="en-US" sz="1100" dirty="0">
                <a:solidFill>
                  <a:srgbClr val="FBBF24"/>
                </a:solidFill>
                <a:latin typeface="Segoe UI Semibold" pitchFamily="34" charset="0"/>
                <a:ea typeface="Segoe UI Semibold" pitchFamily="34" charset="-122"/>
                <a:cs typeface="Segoe UI Semibold" pitchFamily="34" charset="-120"/>
              </a:rPr>
              <a:t>Congestion  </a:t>
            </a:r>
            <a:pPr indent="0" marL="0">
              <a:buNone/>
            </a:pPr>
            <a:r>
              <a:rPr lang="en-US" sz="1100" dirty="0">
                <a:solidFill>
                  <a:schemeClr val="accent6"/>
                </a:solidFill>
              </a:rPr>
              <a:t>Switch if above threshold.</a:t>
            </a:r>
            <a:endParaRPr lang="en-US" sz="1100" dirty="0"/>
          </a:p>
        </p:txBody>
      </p:sp>
      <p:sp>
        <p:nvSpPr>
          <p:cNvPr id="43" name="mini_40"/>
          <p:cNvSpPr txBox="1"/>
          <p:nvPr/>
        </p:nvSpPr>
        <p:spPr>
          <a:xfrm>
            <a:off x="7178040" y="4754880"/>
            <a:ext cx="1958188" cy="201168"/>
          </a:xfrm>
          <a:prstGeom prst="rect">
            <a:avLst/>
          </a:prstGeom>
          <a:noFill/>
          <a:ln/>
        </p:spPr>
        <p:txBody>
          <a:bodyPr wrap="square" lIns="0" tIns="0" rIns="0" bIns="0" rtlCol="0" anchor="t"/>
          <a:lstStyle/>
          <a:p>
            <a:pPr indent="0" marL="0">
              <a:buNone/>
            </a:pPr>
            <a:r>
              <a:rPr lang="en-US" sz="1050" dirty="0">
                <a:solidFill>
                  <a:srgbClr val="FBBF24"/>
                </a:solidFill>
                <a:latin typeface="Segoe UI Semibold" pitchFamily="34" charset="0"/>
                <a:ea typeface="Segoe UI Semibold" pitchFamily="34" charset="-122"/>
                <a:cs typeface="Segoe UI Semibold" pitchFamily="34" charset="-120"/>
              </a:rPr>
              <a:t>Before  </a:t>
            </a:r>
            <a:pPr indent="0" marL="0">
              <a:buNone/>
            </a:pPr>
            <a:r>
              <a:rPr lang="en-US" sz="1050" dirty="0">
                <a:solidFill>
                  <a:schemeClr val="accent6"/>
                </a:solidFill>
              </a:rPr>
              <a:t>14:07  underpass route</a:t>
            </a:r>
            <a:endParaRPr lang="en-US" sz="1050" dirty="0"/>
          </a:p>
        </p:txBody>
      </p:sp>
      <p:sp>
        <p:nvSpPr>
          <p:cNvPr id="44" name="mini_41"/>
          <p:cNvSpPr txBox="1"/>
          <p:nvPr/>
        </p:nvSpPr>
        <p:spPr>
          <a:xfrm>
            <a:off x="9319108" y="4754880"/>
            <a:ext cx="1958188" cy="201168"/>
          </a:xfrm>
          <a:prstGeom prst="rect">
            <a:avLst/>
          </a:prstGeom>
          <a:noFill/>
          <a:ln/>
        </p:spPr>
        <p:txBody>
          <a:bodyPr wrap="square" lIns="0" tIns="0" rIns="0" bIns="0" rtlCol="0" anchor="t"/>
          <a:lstStyle/>
          <a:p>
            <a:pPr indent="0" marL="0">
              <a:buNone/>
            </a:pPr>
            <a:r>
              <a:rPr lang="en-US" sz="1050" dirty="0">
                <a:solidFill>
                  <a:srgbClr val="5EEAD4"/>
                </a:solidFill>
                <a:latin typeface="Segoe UI Semibold" pitchFamily="34" charset="0"/>
                <a:ea typeface="Segoe UI Semibold" pitchFamily="34" charset="-122"/>
                <a:cs typeface="Segoe UI Semibold" pitchFamily="34" charset="-120"/>
              </a:rPr>
              <a:t>After  </a:t>
            </a:r>
            <a:pPr indent="0" marL="0">
              <a:buNone/>
            </a:pPr>
            <a:r>
              <a:rPr lang="en-US" sz="1050" dirty="0">
                <a:solidFill>
                  <a:schemeClr val="accent6"/>
                </a:solidFill>
              </a:rPr>
              <a:t>14:15  farther crossing</a:t>
            </a:r>
            <a:endParaRPr lang="en-US" sz="1050" dirty="0"/>
          </a:p>
        </p:txBody>
      </p:sp>
      <p:pic>
        <p:nvPicPr>
          <p:cNvPr id="45" name="mini_42" descr="3D map of a flood-prone rail corridor, built from OpenStreetMap data">    </p:cNvPr>
          <p:cNvPicPr>
            <a:picLocks noChangeAspect="1"/>
          </p:cNvPicPr>
          <p:nvPr/>
        </p:nvPicPr>
        <p:blipFill>
          <a:blip r:embed="rId1"/>
          <a:stretch>
            <a:fillRect/>
          </a:stretch>
        </p:blipFill>
        <p:spPr>
          <a:xfrm>
            <a:off x="7178040" y="5010912"/>
            <a:ext cx="1958188" cy="1051560"/>
          </a:xfrm>
          <a:prstGeom prst="rect">
            <a:avLst/>
          </a:prstGeom>
        </p:spPr>
      </p:pic>
      <p:pic>
        <p:nvPicPr>
          <p:cNvPr id="46" name="mini_43" descr="Route A">    </p:cNvPr>
          <p:cNvPicPr>
            <a:picLocks noChangeAspect="1"/>
          </p:cNvPicPr>
          <p:nvPr/>
        </p:nvPicPr>
        <p:blipFill>
          <a:blip r:embed="rId2"/>
          <a:stretch>
            <a:fillRect/>
          </a:stretch>
        </p:blipFill>
        <p:spPr>
          <a:xfrm>
            <a:off x="7178040" y="5010912"/>
            <a:ext cx="1958188" cy="1051560"/>
          </a:xfrm>
          <a:prstGeom prst="rect">
            <a:avLst/>
          </a:prstGeom>
        </p:spPr>
      </p:pic>
      <p:pic>
        <p:nvPicPr>
          <p:cNvPr id="47" name="mini2_44" descr="3D map of a flood-prone rail corridor, built from OpenStreetMap data">    </p:cNvPr>
          <p:cNvPicPr>
            <a:picLocks noChangeAspect="1"/>
          </p:cNvPicPr>
          <p:nvPr/>
        </p:nvPicPr>
        <p:blipFill>
          <a:blip r:embed="rId3"/>
          <a:stretch>
            <a:fillRect/>
          </a:stretch>
        </p:blipFill>
        <p:spPr>
          <a:xfrm>
            <a:off x="9319108" y="5010912"/>
            <a:ext cx="1958188" cy="1051560"/>
          </a:xfrm>
          <a:prstGeom prst="rect">
            <a:avLst/>
          </a:prstGeom>
        </p:spPr>
      </p:pic>
      <p:pic>
        <p:nvPicPr>
          <p:cNvPr id="48" name="mini2_45" descr="Route A">    </p:cNvPr>
          <p:cNvPicPr>
            <a:picLocks noChangeAspect="1"/>
          </p:cNvPicPr>
          <p:nvPr/>
        </p:nvPicPr>
        <p:blipFill>
          <a:blip r:embed="rId4"/>
          <a:stretch>
            <a:fillRect/>
          </a:stretch>
        </p:blipFill>
        <p:spPr>
          <a:xfrm>
            <a:off x="9319108" y="5010912"/>
            <a:ext cx="1958188" cy="1051560"/>
          </a:xfrm>
          <a:prstGeom prst="rect">
            <a:avLst/>
          </a:prstGeom>
        </p:spPr>
      </p:pic>
      <p:pic>
        <p:nvPicPr>
          <p:cNvPr id="49" name="mini2_46" descr="Route B">    </p:cNvPr>
          <p:cNvPicPr>
            <a:picLocks noChangeAspect="1"/>
          </p:cNvPicPr>
          <p:nvPr/>
        </p:nvPicPr>
        <p:blipFill>
          <a:blip r:embed="rId5"/>
          <a:stretch>
            <a:fillRect/>
          </a:stretch>
        </p:blipFill>
        <p:spPr>
          <a:xfrm>
            <a:off x="9319108" y="5010912"/>
            <a:ext cx="1958188" cy="1051560"/>
          </a:xfrm>
          <a:prstGeom prst="rect">
            <a:avLst/>
          </a:prstGeom>
        </p:spPr>
      </p:pic>
      <p:pic>
        <p:nvPicPr>
          <p:cNvPr id="50" name="mini2_47" descr="Route C">    </p:cNvPr>
          <p:cNvPicPr>
            <a:picLocks noChangeAspect="1"/>
          </p:cNvPicPr>
          <p:nvPr/>
        </p:nvPicPr>
        <p:blipFill>
          <a:blip r:embed="rId6"/>
          <a:stretch>
            <a:fillRect/>
          </a:stretch>
        </p:blipFill>
        <p:spPr>
          <a:xfrm>
            <a:off x="9319108" y="5010912"/>
            <a:ext cx="1958188" cy="1051560"/>
          </a:xfrm>
          <a:prstGeom prst="rect">
            <a:avLst/>
          </a:prstGeom>
        </p:spPr>
      </p:pic>
      <p:sp>
        <p:nvSpPr>
          <p:cNvPr id="51" name="jn_48"/>
          <p:cNvSpPr/>
          <p:nvPr/>
        </p:nvSpPr>
        <p:spPr>
          <a:xfrm>
            <a:off x="4343400" y="6537960"/>
            <a:ext cx="3520440" cy="0"/>
          </a:xfrm>
          <a:prstGeom prst="line">
            <a:avLst/>
          </a:prstGeom>
          <a:noFill/>
          <a:ln w="12700">
            <a:solidFill>
              <a:srgbClr val="D2CBBB"/>
            </a:solidFill>
            <a:prstDash val="solid"/>
          </a:ln>
        </p:spPr>
      </p:sp>
      <p:sp>
        <p:nvSpPr>
          <p:cNvPr id="52" name="jn_49"/>
          <p:cNvSpPr/>
          <p:nvPr/>
        </p:nvSpPr>
        <p:spPr>
          <a:xfrm>
            <a:off x="4343400" y="6537960"/>
            <a:ext cx="1408176" cy="0"/>
          </a:xfrm>
          <a:prstGeom prst="line">
            <a:avLst/>
          </a:prstGeom>
          <a:noFill/>
          <a:ln w="19050">
            <a:solidFill>
              <a:srgbClr val="14B8A6"/>
            </a:solidFill>
            <a:prstDash val="solid"/>
          </a:ln>
        </p:spPr>
      </p:sp>
      <p:sp>
        <p:nvSpPr>
          <p:cNvPr id="53" name="jseg_50"/>
          <p:cNvSpPr/>
          <p:nvPr/>
        </p:nvSpPr>
        <p:spPr>
          <a:xfrm>
            <a:off x="5751576" y="6537960"/>
            <a:ext cx="704088" cy="0"/>
          </a:xfrm>
          <a:prstGeom prst="line">
            <a:avLst/>
          </a:prstGeom>
          <a:noFill/>
          <a:ln w="19050">
            <a:solidFill>
              <a:srgbClr val="14B8A6"/>
            </a:solidFill>
            <a:prstDash val="solid"/>
          </a:ln>
        </p:spPr>
      </p:sp>
      <p:sp>
        <p:nvSpPr>
          <p:cNvPr id="54" name="jn_51"/>
          <p:cNvSpPr/>
          <p:nvPr/>
        </p:nvSpPr>
        <p:spPr>
          <a:xfrm>
            <a:off x="4306824" y="6501384"/>
            <a:ext cx="73152" cy="73152"/>
          </a:xfrm>
          <a:prstGeom prst="ellipse">
            <a:avLst/>
          </a:prstGeom>
          <a:solidFill>
            <a:schemeClr val="accent1"/>
          </a:solidFill>
          <a:ln/>
        </p:spPr>
      </p:sp>
      <p:sp>
        <p:nvSpPr>
          <p:cNvPr id="55" name="jn_52"/>
          <p:cNvSpPr/>
          <p:nvPr/>
        </p:nvSpPr>
        <p:spPr>
          <a:xfrm>
            <a:off x="5010912" y="6501384"/>
            <a:ext cx="73152" cy="73152"/>
          </a:xfrm>
          <a:prstGeom prst="ellipse">
            <a:avLst/>
          </a:prstGeom>
          <a:solidFill>
            <a:schemeClr val="accent1"/>
          </a:solidFill>
          <a:ln/>
        </p:spPr>
      </p:sp>
      <p:sp>
        <p:nvSpPr>
          <p:cNvPr id="56" name="jn_53"/>
          <p:cNvSpPr/>
          <p:nvPr/>
        </p:nvSpPr>
        <p:spPr>
          <a:xfrm>
            <a:off x="5715000" y="6501384"/>
            <a:ext cx="73152" cy="73152"/>
          </a:xfrm>
          <a:prstGeom prst="ellipse">
            <a:avLst/>
          </a:prstGeom>
          <a:solidFill>
            <a:schemeClr val="accent1"/>
          </a:solidFill>
          <a:ln/>
        </p:spPr>
      </p:sp>
      <p:sp>
        <p:nvSpPr>
          <p:cNvPr id="57" name="jn_54"/>
          <p:cNvSpPr/>
          <p:nvPr/>
        </p:nvSpPr>
        <p:spPr>
          <a:xfrm>
            <a:off x="6419088" y="6501384"/>
            <a:ext cx="73152" cy="73152"/>
          </a:xfrm>
          <a:prstGeom prst="ellipse">
            <a:avLst/>
          </a:prstGeom>
          <a:solidFill>
            <a:srgbClr val="B8B1A0"/>
          </a:solidFill>
          <a:ln/>
        </p:spPr>
      </p:sp>
      <p:sp>
        <p:nvSpPr>
          <p:cNvPr id="58" name="jn_55"/>
          <p:cNvSpPr/>
          <p:nvPr/>
        </p:nvSpPr>
        <p:spPr>
          <a:xfrm>
            <a:off x="7123176" y="6501384"/>
            <a:ext cx="73152" cy="73152"/>
          </a:xfrm>
          <a:prstGeom prst="ellipse">
            <a:avLst/>
          </a:prstGeom>
          <a:solidFill>
            <a:srgbClr val="B8B1A0"/>
          </a:solidFill>
          <a:ln/>
        </p:spPr>
      </p:sp>
      <p:sp>
        <p:nvSpPr>
          <p:cNvPr id="59" name="jn_56"/>
          <p:cNvSpPr/>
          <p:nvPr/>
        </p:nvSpPr>
        <p:spPr>
          <a:xfrm>
            <a:off x="7827264" y="6501384"/>
            <a:ext cx="73152" cy="73152"/>
          </a:xfrm>
          <a:prstGeom prst="ellipse">
            <a:avLst/>
          </a:prstGeom>
          <a:solidFill>
            <a:srgbClr val="B8B1A0"/>
          </a:solidFill>
          <a:ln/>
        </p:spPr>
      </p:sp>
      <p:sp>
        <p:nvSpPr>
          <p:cNvPr id="60" name="jdot_57"/>
          <p:cNvSpPr/>
          <p:nvPr/>
        </p:nvSpPr>
        <p:spPr>
          <a:xfrm>
            <a:off x="6368796" y="6451092"/>
            <a:ext cx="173736" cy="173736"/>
          </a:xfrm>
          <a:prstGeom prst="ellipse">
            <a:avLst/>
          </a:prstGeom>
          <a:solidFill>
            <a:schemeClr val="accent1"/>
          </a:solidFill>
          <a:ln w="28575">
            <a:solidFill>
              <a:srgbClr val="F7F5F0"/>
            </a:solidFill>
            <a:prstDash val="solid"/>
          </a:ln>
        </p:spPr>
      </p:sp>
      <p:sp>
        <p:nvSpPr>
          <p:cNvPr id="61" name="Text 5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04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1"/>
                                        </p:tgtEl>
                                        <p:attrNameLst>
                                          <p:attrName>style.visibility</p:attrName>
                                        </p:attrNameLst>
                                      </p:cBhvr>
                                      <p:to>
                                        <p:strVal val="visible"/>
                                      </p:to>
                                    </p:set>
                                    <p:animEffect transition="in" filter="fade">
                                      <p:cBhvr>
                                        <p:cTn id="6" dur="500"/>
                                        <p:tgtEl>
                                          <p:spTgt spid="51"/>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2"/>
                                        </p:tgtEl>
                                        <p:attrNameLst>
                                          <p:attrName>style.visibility</p:attrName>
                                        </p:attrNameLst>
                                      </p:cBhvr>
                                      <p:to>
                                        <p:strVal val="visible"/>
                                      </p:to>
                                    </p:set>
                                    <p:animEffect transition="in" filter="fade">
                                      <p:cBhvr>
                                        <p:cTn id="9" dur="500"/>
                                        <p:tgtEl>
                                          <p:spTgt spid="52"/>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ppt_y</p:attrName>
                                        </p:attrNameLst>
                                      </p:cBhvr>
                                      <p:tavLst>
                                        <p:tav tm="0">
                                          <p:val>
                                            <p:strVal val="#ppt_y+.06"/>
                                          </p:val>
                                        </p:tav>
                                        <p:tav tm="100000">
                                          <p:val>
                                            <p:strVal val="#ppt_y"/>
                                          </p:val>
                                        </p:tav>
                                      </p:tavLst>
                                    </p:anim>
                                    <p:animEffect transition="in" filter="fade">
                                      <p:cBhvr>
                                        <p:cTn id="31" dur="50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ppt_y</p:attrName>
                                        </p:attrNameLst>
                                      </p:cBhvr>
                                      <p:tavLst>
                                        <p:tav tm="0">
                                          <p:val>
                                            <p:strVal val="#ppt_y+.06"/>
                                          </p:val>
                                        </p:tav>
                                        <p:tav tm="100000">
                                          <p:val>
                                            <p:strVal val="#ppt_y"/>
                                          </p:val>
                                        </p:tav>
                                      </p:tavLst>
                                    </p:anim>
                                    <p:animEffect transition="in" filter="fade">
                                      <p:cBhvr>
                                        <p:cTn id="35" dur="50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ppt_y</p:attrName>
                                        </p:attrNameLst>
                                      </p:cBhvr>
                                      <p:tavLst>
                                        <p:tav tm="0">
                                          <p:val>
                                            <p:strVal val="#ppt_y+.06"/>
                                          </p:val>
                                        </p:tav>
                                        <p:tav tm="100000">
                                          <p:val>
                                            <p:strVal val="#ppt_y"/>
                                          </p:val>
                                        </p:tav>
                                      </p:tavLst>
                                    </p:anim>
                                    <p:animEffect transition="in" filter="fade">
                                      <p:cBhvr>
                                        <p:cTn id="39" dur="50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ppt_y</p:attrName>
                                        </p:attrNameLst>
                                      </p:cBhvr>
                                      <p:tavLst>
                                        <p:tav tm="0">
                                          <p:val>
                                            <p:strVal val="#ppt_y+.06"/>
                                          </p:val>
                                        </p:tav>
                                        <p:tav tm="100000">
                                          <p:val>
                                            <p:strVal val="#ppt_y"/>
                                          </p:val>
                                        </p:tav>
                                      </p:tavLst>
                                    </p:anim>
                                    <p:animEffect transition="in" filter="fade">
                                      <p:cBhvr>
                                        <p:cTn id="43" dur="50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ppt_y</p:attrName>
                                        </p:attrNameLst>
                                      </p:cBhvr>
                                      <p:tavLst>
                                        <p:tav tm="0">
                                          <p:val>
                                            <p:strVal val="#ppt_y+.06"/>
                                          </p:val>
                                        </p:tav>
                                        <p:tav tm="100000">
                                          <p:val>
                                            <p:strVal val="#ppt_y"/>
                                          </p:val>
                                        </p:tav>
                                      </p:tavLst>
                                    </p:anim>
                                    <p:animEffect transition="in" filter="fade">
                                      <p:cBhvr>
                                        <p:cTn id="47" dur="500"/>
                                        <p:tgtEl>
                                          <p:spTgt spid="13"/>
                                        </p:tgtEl>
                                      </p:cBhvr>
                                    </p:animEffect>
                                  </p:childTnLst>
                                </p:cTn>
                              </p:par>
                              <p:par>
                                <p:cTn id="50" presetID="0" presetClass="path" presetSubtype="0" accel="50000" decel="50000" fill="hold" nodeType="withEffect">
                                  <p:stCondLst>
                                    <p:cond delay="500"/>
                                  </p:stCondLst>
                                  <p:childTnLst>
                                    <p:animMotion origin="layout" path="M -0.0578 0 L 0 0 E" pathEditMode="relative" rAng="0" ptsTypes="AA">
                                      <p:cBhvr>
                                        <p:cTn id="49" dur="1100" fill="hold"/>
                                        <p:tgtEl>
                                          <p:spTgt spid="60"/>
                                        </p:tgtEl>
                                        <p:attrNameLst>
                                          <p:attrName>ppt_x</p:attrName>
                                          <p:attrName>ppt_y</p:attrName>
                                        </p:attrNameLst>
                                      </p:cBhvr>
                                    </p:animMotion>
                                  </p:childTnLst>
                                </p:cTn>
                              </p:par>
                              <p:par>
                                <p:cTn id="53" presetID="22" presetClass="entr" presetSubtype="8" fill="hold" grpId="0" nodeType="withEffect">
                                  <p:stCondLst>
                                    <p:cond delay="500"/>
                                  </p:stCondLst>
                                  <p:childTnLst>
                                    <p:set>
                                      <p:cBhvr>
                                        <p:cTn id="51" dur="1" fill="hold">
                                          <p:stCondLst>
                                            <p:cond delay="0"/>
                                          </p:stCondLst>
                                        </p:cTn>
                                        <p:tgtEl>
                                          <p:spTgt spid="53"/>
                                        </p:tgtEl>
                                        <p:attrNameLst>
                                          <p:attrName>style.visibility</p:attrName>
                                        </p:attrNameLst>
                                      </p:cBhvr>
                                      <p:to>
                                        <p:strVal val="visible"/>
                                      </p:to>
                                    </p:set>
                                    <p:animEffect transition="in" filter="wipe(left)">
                                      <p:cBhvr>
                                        <p:cTn id="52" dur="1100"/>
                                        <p:tgtEl>
                                          <p:spTgt spid="53"/>
                                        </p:tgtEl>
                                      </p:cBhvr>
                                    </p:animEffect>
                                  </p:childTnLst>
                                </p:cTn>
                              </p:par>
                              <p:par>
                                <p:cTn id="56" presetID="10" presetClass="entr" presetSubtype="0" fill="hold" grpId="0" nodeType="withEffect">
                                  <p:stCondLst>
                                    <p:cond delay="5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600"/>
                                        <p:tgtEl>
                                          <p:spTgt spid="24"/>
                                        </p:tgtEl>
                                      </p:cBhvr>
                                    </p:animEffect>
                                  </p:childTnLst>
                                </p:cTn>
                              </p:par>
                              <p:par>
                                <p:cTn id="59" presetID="10" presetClass="entr" presetSubtype="0" fill="hold" grpId="0" nodeType="withEffect">
                                  <p:stCondLst>
                                    <p:cond delay="50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600"/>
                                        <p:tgtEl>
                                          <p:spTgt spid="25"/>
                                        </p:tgtEl>
                                      </p:cBhvr>
                                    </p:animEffect>
                                  </p:childTnLst>
                                </p:cTn>
                              </p:par>
                              <p:par>
                                <p:cTn id="62" presetID="10" presetClass="entr" presetSubtype="0" fill="hold" grpId="0" nodeType="withEffect">
                                  <p:stCondLst>
                                    <p:cond delay="5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600"/>
                                        <p:tgtEl>
                                          <p:spTgt spid="26"/>
                                        </p:tgtEl>
                                      </p:cBhvr>
                                    </p:animEffect>
                                  </p:childTnLst>
                                </p:cTn>
                              </p:par>
                              <p:par>
                                <p:cTn id="65" presetID="10" presetClass="entr" presetSubtype="0" fill="hold" grpId="0" nodeType="withEffect">
                                  <p:stCondLst>
                                    <p:cond delay="50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600"/>
                                        <p:tgtEl>
                                          <p:spTgt spid="27"/>
                                        </p:tgtEl>
                                      </p:cBhvr>
                                    </p:animEffect>
                                  </p:childTnLst>
                                </p:cTn>
                              </p:par>
                              <p:par>
                                <p:cTn id="69" presetID="42" presetClass="entr" presetSubtype="0" fill="hold" grpId="0" nodeType="withEffect">
                                  <p:stCondLst>
                                    <p:cond delay="51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ppt_y</p:attrName>
                                        </p:attrNameLst>
                                      </p:cBhvr>
                                      <p:tavLst>
                                        <p:tav tm="0">
                                          <p:val>
                                            <p:strVal val="#ppt_y+.06"/>
                                          </p:val>
                                        </p:tav>
                                        <p:tav tm="100000">
                                          <p:val>
                                            <p:strVal val="#ppt_y"/>
                                          </p:val>
                                        </p:tav>
                                      </p:tavLst>
                                    </p:anim>
                                    <p:animEffect transition="in" filter="fade">
                                      <p:cBhvr>
                                        <p:cTn id="68" dur="500"/>
                                        <p:tgtEl>
                                          <p:spTgt spid="14"/>
                                        </p:tgtEl>
                                      </p:cBhvr>
                                    </p:animEffect>
                                  </p:childTnLst>
                                </p:cTn>
                              </p:par>
                              <p:par>
                                <p:cTn id="73" presetID="42" presetClass="entr" presetSubtype="0" fill="hold" grpId="0" nodeType="withEffect">
                                  <p:stCondLst>
                                    <p:cond delay="51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ppt_y</p:attrName>
                                        </p:attrNameLst>
                                      </p:cBhvr>
                                      <p:tavLst>
                                        <p:tav tm="0">
                                          <p:val>
                                            <p:strVal val="#ppt_y+.06"/>
                                          </p:val>
                                        </p:tav>
                                        <p:tav tm="100000">
                                          <p:val>
                                            <p:strVal val="#ppt_y"/>
                                          </p:val>
                                        </p:tav>
                                      </p:tavLst>
                                    </p:anim>
                                    <p:animEffect transition="in" filter="fade">
                                      <p:cBhvr>
                                        <p:cTn id="72" dur="500"/>
                                        <p:tgtEl>
                                          <p:spTgt spid="15"/>
                                        </p:tgtEl>
                                      </p:cBhvr>
                                    </p:animEffect>
                                  </p:childTnLst>
                                </p:cTn>
                              </p:par>
                              <p:par>
                                <p:cTn id="77" presetID="42" presetClass="entr" presetSubtype="0" fill="hold" grpId="0" nodeType="withEffect">
                                  <p:stCondLst>
                                    <p:cond delay="51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ppt_y</p:attrName>
                                        </p:attrNameLst>
                                      </p:cBhvr>
                                      <p:tavLst>
                                        <p:tav tm="0">
                                          <p:val>
                                            <p:strVal val="#ppt_y+.06"/>
                                          </p:val>
                                        </p:tav>
                                        <p:tav tm="100000">
                                          <p:val>
                                            <p:strVal val="#ppt_y"/>
                                          </p:val>
                                        </p:tav>
                                      </p:tavLst>
                                    </p:anim>
                                    <p:animEffect transition="in" filter="fade">
                                      <p:cBhvr>
                                        <p:cTn id="76" dur="500"/>
                                        <p:tgtEl>
                                          <p:spTgt spid="16"/>
                                        </p:tgtEl>
                                      </p:cBhvr>
                                    </p:animEffect>
                                  </p:childTnLst>
                                </p:cTn>
                              </p:par>
                              <p:par>
                                <p:cTn id="81" presetID="42" presetClass="entr" presetSubtype="0" fill="hold" grpId="0" nodeType="withEffect">
                                  <p:stCondLst>
                                    <p:cond delay="51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9" dur="500" fill="hold"/>
                                        <p:tgtEl>
                                          <p:spTgt spid="17"/>
                                        </p:tgtEl>
                                        <p:attrNameLst>
                                          <p:attrName>ppt_y</p:attrName>
                                        </p:attrNameLst>
                                      </p:cBhvr>
                                      <p:tavLst>
                                        <p:tav tm="0">
                                          <p:val>
                                            <p:strVal val="#ppt_y+.06"/>
                                          </p:val>
                                        </p:tav>
                                        <p:tav tm="100000">
                                          <p:val>
                                            <p:strVal val="#ppt_y"/>
                                          </p:val>
                                        </p:tav>
                                      </p:tavLst>
                                    </p:anim>
                                    <p:animEffect transition="in" filter="fade">
                                      <p:cBhvr>
                                        <p:cTn id="80" dur="500"/>
                                        <p:tgtEl>
                                          <p:spTgt spid="17"/>
                                        </p:tgtEl>
                                      </p:cBhvr>
                                    </p:animEffect>
                                  </p:childTnLst>
                                </p:cTn>
                              </p:par>
                              <p:par>
                                <p:cTn id="85" presetID="42" presetClass="entr" presetSubtype="0" fill="hold" grpId="0" nodeType="withEffect">
                                  <p:stCondLst>
                                    <p:cond delay="51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ppt_y</p:attrName>
                                        </p:attrNameLst>
                                      </p:cBhvr>
                                      <p:tavLst>
                                        <p:tav tm="0">
                                          <p:val>
                                            <p:strVal val="#ppt_y+.06"/>
                                          </p:val>
                                        </p:tav>
                                        <p:tav tm="100000">
                                          <p:val>
                                            <p:strVal val="#ppt_y"/>
                                          </p:val>
                                        </p:tav>
                                      </p:tavLst>
                                    </p:anim>
                                    <p:animEffect transition="in" filter="fade">
                                      <p:cBhvr>
                                        <p:cTn id="84" dur="500"/>
                                        <p:tgtEl>
                                          <p:spTgt spid="18"/>
                                        </p:tgtEl>
                                      </p:cBhvr>
                                    </p:animEffect>
                                  </p:childTnLst>
                                </p:cTn>
                              </p:par>
                              <p:par>
                                <p:cTn id="89" presetID="42" presetClass="entr" presetSubtype="0" fill="hold" grpId="0" nodeType="withEffect">
                                  <p:stCondLst>
                                    <p:cond delay="77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500" fill="hold"/>
                                        <p:tgtEl>
                                          <p:spTgt spid="19"/>
                                        </p:tgtEl>
                                        <p:attrNameLst>
                                          <p:attrName>ppt_y</p:attrName>
                                        </p:attrNameLst>
                                      </p:cBhvr>
                                      <p:tavLst>
                                        <p:tav tm="0">
                                          <p:val>
                                            <p:strVal val="#ppt_y+.06"/>
                                          </p:val>
                                        </p:tav>
                                        <p:tav tm="100000">
                                          <p:val>
                                            <p:strVal val="#ppt_y"/>
                                          </p:val>
                                        </p:tav>
                                      </p:tavLst>
                                    </p:anim>
                                    <p:animEffect transition="in" filter="fade">
                                      <p:cBhvr>
                                        <p:cTn id="88" dur="500"/>
                                        <p:tgtEl>
                                          <p:spTgt spid="19"/>
                                        </p:tgtEl>
                                      </p:cBhvr>
                                    </p:animEffect>
                                  </p:childTnLst>
                                </p:cTn>
                              </p:par>
                              <p:par>
                                <p:cTn id="93" presetID="42" presetClass="entr" presetSubtype="0" fill="hold" grpId="0" nodeType="withEffect">
                                  <p:stCondLst>
                                    <p:cond delay="77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ppt_y</p:attrName>
                                        </p:attrNameLst>
                                      </p:cBhvr>
                                      <p:tavLst>
                                        <p:tav tm="0">
                                          <p:val>
                                            <p:strVal val="#ppt_y+.06"/>
                                          </p:val>
                                        </p:tav>
                                        <p:tav tm="100000">
                                          <p:val>
                                            <p:strVal val="#ppt_y"/>
                                          </p:val>
                                        </p:tav>
                                      </p:tavLst>
                                    </p:anim>
                                    <p:animEffect transition="in" filter="fade">
                                      <p:cBhvr>
                                        <p:cTn id="92" dur="500"/>
                                        <p:tgtEl>
                                          <p:spTgt spid="20"/>
                                        </p:tgtEl>
                                      </p:cBhvr>
                                    </p:animEffect>
                                  </p:childTnLst>
                                </p:cTn>
                              </p:par>
                              <p:par>
                                <p:cTn id="97" presetID="42" presetClass="entr" presetSubtype="0" fill="hold" grpId="0" nodeType="withEffect">
                                  <p:stCondLst>
                                    <p:cond delay="77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ppt_y</p:attrName>
                                        </p:attrNameLst>
                                      </p:cBhvr>
                                      <p:tavLst>
                                        <p:tav tm="0">
                                          <p:val>
                                            <p:strVal val="#ppt_y+.06"/>
                                          </p:val>
                                        </p:tav>
                                        <p:tav tm="100000">
                                          <p:val>
                                            <p:strVal val="#ppt_y"/>
                                          </p:val>
                                        </p:tav>
                                      </p:tavLst>
                                    </p:anim>
                                    <p:animEffect transition="in" filter="fade">
                                      <p:cBhvr>
                                        <p:cTn id="96" dur="500"/>
                                        <p:tgtEl>
                                          <p:spTgt spid="21"/>
                                        </p:tgtEl>
                                      </p:cBhvr>
                                    </p:animEffect>
                                  </p:childTnLst>
                                </p:cTn>
                              </p:par>
                              <p:par>
                                <p:cTn id="101" presetID="42" presetClass="entr" presetSubtype="0" fill="hold" grpId="0" nodeType="withEffect">
                                  <p:stCondLst>
                                    <p:cond delay="77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p:tgtEl>
                                          <p:spTgt spid="22"/>
                                        </p:tgtEl>
                                        <p:attrNameLst>
                                          <p:attrName>ppt_y</p:attrName>
                                        </p:attrNameLst>
                                      </p:cBhvr>
                                      <p:tavLst>
                                        <p:tav tm="0">
                                          <p:val>
                                            <p:strVal val="#ppt_y+.06"/>
                                          </p:val>
                                        </p:tav>
                                        <p:tav tm="100000">
                                          <p:val>
                                            <p:strVal val="#ppt_y"/>
                                          </p:val>
                                        </p:tav>
                                      </p:tavLst>
                                    </p:anim>
                                    <p:animEffect transition="in" filter="fade">
                                      <p:cBhvr>
                                        <p:cTn id="100" dur="500"/>
                                        <p:tgtEl>
                                          <p:spTgt spid="22"/>
                                        </p:tgtEl>
                                      </p:cBhvr>
                                    </p:animEffect>
                                  </p:childTnLst>
                                </p:cTn>
                              </p:par>
                              <p:par>
                                <p:cTn id="105" presetID="42" presetClass="entr" presetSubtype="0" fill="hold" grpId="0" nodeType="withEffect">
                                  <p:stCondLst>
                                    <p:cond delay="77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ppt_y</p:attrName>
                                        </p:attrNameLst>
                                      </p:cBhvr>
                                      <p:tavLst>
                                        <p:tav tm="0">
                                          <p:val>
                                            <p:strVal val="#ppt_y+.06"/>
                                          </p:val>
                                        </p:tav>
                                        <p:tav tm="100000">
                                          <p:val>
                                            <p:strVal val="#ppt_y"/>
                                          </p:val>
                                        </p:tav>
                                      </p:tavLst>
                                    </p:anim>
                                    <p:animEffect transition="in" filter="fade">
                                      <p:cBhvr>
                                        <p:cTn id="104" dur="500"/>
                                        <p:tgtEl>
                                          <p:spTgt spid="23"/>
                                        </p:tgtEl>
                                      </p:cBhvr>
                                    </p:animEffect>
                                  </p:childTnLst>
                                </p:cTn>
                              </p:par>
                              <p:par>
                                <p:cTn id="109" presetID="42" presetClass="entr" presetSubtype="0" fill="hold" grpId="0" nodeType="withEffect">
                                  <p:stCondLst>
                                    <p:cond delay="110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ppt_y</p:attrName>
                                        </p:attrNameLst>
                                      </p:cBhvr>
                                      <p:tavLst>
                                        <p:tav tm="0">
                                          <p:val>
                                            <p:strVal val="#ppt_y+.06"/>
                                          </p:val>
                                        </p:tav>
                                        <p:tav tm="100000">
                                          <p:val>
                                            <p:strVal val="#ppt_y"/>
                                          </p:val>
                                        </p:tav>
                                      </p:tavLst>
                                    </p:anim>
                                    <p:animEffect transition="in" filter="fade">
                                      <p:cBhvr>
                                        <p:cTn id="108" dur="500"/>
                                        <p:tgtEl>
                                          <p:spTgt spid="32"/>
                                        </p:tgtEl>
                                      </p:cBhvr>
                                    </p:animEffect>
                                  </p:childTnLst>
                                </p:cTn>
                              </p:par>
                              <p:par>
                                <p:cTn id="113" presetID="42" presetClass="entr" presetSubtype="0" fill="hold" grpId="0" nodeType="withEffect">
                                  <p:stCondLst>
                                    <p:cond delay="110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ppt_y</p:attrName>
                                        </p:attrNameLst>
                                      </p:cBhvr>
                                      <p:tavLst>
                                        <p:tav tm="0">
                                          <p:val>
                                            <p:strVal val="#ppt_y+.06"/>
                                          </p:val>
                                        </p:tav>
                                        <p:tav tm="100000">
                                          <p:val>
                                            <p:strVal val="#ppt_y"/>
                                          </p:val>
                                        </p:tav>
                                      </p:tavLst>
                                    </p:anim>
                                    <p:animEffect transition="in" filter="fade">
                                      <p:cBhvr>
                                        <p:cTn id="112" dur="500"/>
                                        <p:tgtEl>
                                          <p:spTgt spid="33"/>
                                        </p:tgtEl>
                                      </p:cBhvr>
                                    </p:animEffect>
                                  </p:childTnLst>
                                </p:cTn>
                              </p:par>
                              <p:par>
                                <p:cTn id="117" presetID="42" presetClass="entr" presetSubtype="0" fill="hold" grpId="0" nodeType="withEffect">
                                  <p:stCondLst>
                                    <p:cond delay="110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ppt_y</p:attrName>
                                        </p:attrNameLst>
                                      </p:cBhvr>
                                      <p:tavLst>
                                        <p:tav tm="0">
                                          <p:val>
                                            <p:strVal val="#ppt_y+.06"/>
                                          </p:val>
                                        </p:tav>
                                        <p:tav tm="100000">
                                          <p:val>
                                            <p:strVal val="#ppt_y"/>
                                          </p:val>
                                        </p:tav>
                                      </p:tavLst>
                                    </p:anim>
                                    <p:animEffect transition="in" filter="fade">
                                      <p:cBhvr>
                                        <p:cTn id="116" dur="500"/>
                                        <p:tgtEl>
                                          <p:spTgt spid="34"/>
                                        </p:tgtEl>
                                      </p:cBhvr>
                                    </p:animEffect>
                                  </p:childTnLst>
                                </p:cTn>
                              </p:par>
                              <p:par>
                                <p:cTn id="121" presetID="42" presetClass="entr" presetSubtype="0" fill="hold" grpId="0" nodeType="withEffect">
                                  <p:stCondLst>
                                    <p:cond delay="110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ppt_y</p:attrName>
                                        </p:attrNameLst>
                                      </p:cBhvr>
                                      <p:tavLst>
                                        <p:tav tm="0">
                                          <p:val>
                                            <p:strVal val="#ppt_y+.06"/>
                                          </p:val>
                                        </p:tav>
                                        <p:tav tm="100000">
                                          <p:val>
                                            <p:strVal val="#ppt_y"/>
                                          </p:val>
                                        </p:tav>
                                      </p:tavLst>
                                    </p:anim>
                                    <p:animEffect transition="in" filter="fade">
                                      <p:cBhvr>
                                        <p:cTn id="120" dur="500"/>
                                        <p:tgtEl>
                                          <p:spTgt spid="35"/>
                                        </p:tgtEl>
                                      </p:cBhvr>
                                    </p:animEffect>
                                  </p:childTnLst>
                                </p:cTn>
                              </p:par>
                              <p:par>
                                <p:cTn id="125" presetID="42" presetClass="entr" presetSubtype="0" fill="hold" grpId="0" nodeType="withEffect">
                                  <p:stCondLst>
                                    <p:cond delay="170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ppt_y</p:attrName>
                                        </p:attrNameLst>
                                      </p:cBhvr>
                                      <p:tavLst>
                                        <p:tav tm="0">
                                          <p:val>
                                            <p:strVal val="#ppt_y+.06"/>
                                          </p:val>
                                        </p:tav>
                                        <p:tav tm="100000">
                                          <p:val>
                                            <p:strVal val="#ppt_y"/>
                                          </p:val>
                                        </p:tav>
                                      </p:tavLst>
                                    </p:anim>
                                    <p:animEffect transition="in" filter="fade">
                                      <p:cBhvr>
                                        <p:cTn id="124" dur="500"/>
                                        <p:tgtEl>
                                          <p:spTgt spid="36"/>
                                        </p:tgtEl>
                                      </p:cBhvr>
                                    </p:animEffect>
                                  </p:childTnLst>
                                </p:cTn>
                              </p:par>
                              <p:par>
                                <p:cTn id="129" presetID="42" presetClass="entr" presetSubtype="0" fill="hold" grpId="0" nodeType="withEffect">
                                  <p:stCondLst>
                                    <p:cond delay="170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ppt_y</p:attrName>
                                        </p:attrNameLst>
                                      </p:cBhvr>
                                      <p:tavLst>
                                        <p:tav tm="0">
                                          <p:val>
                                            <p:strVal val="#ppt_y+.06"/>
                                          </p:val>
                                        </p:tav>
                                        <p:tav tm="100000">
                                          <p:val>
                                            <p:strVal val="#ppt_y"/>
                                          </p:val>
                                        </p:tav>
                                      </p:tavLst>
                                    </p:anim>
                                    <p:animEffect transition="in" filter="fade">
                                      <p:cBhvr>
                                        <p:cTn id="128" dur="500"/>
                                        <p:tgtEl>
                                          <p:spTgt spid="37"/>
                                        </p:tgtEl>
                                      </p:cBhvr>
                                    </p:animEffect>
                                  </p:childTnLst>
                                </p:cTn>
                              </p:par>
                              <p:par>
                                <p:cTn id="133" presetID="42" presetClass="entr" presetSubtype="0" fill="hold" grpId="0" nodeType="withEffect">
                                  <p:stCondLst>
                                    <p:cond delay="170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ppt_y</p:attrName>
                                        </p:attrNameLst>
                                      </p:cBhvr>
                                      <p:tavLst>
                                        <p:tav tm="0">
                                          <p:val>
                                            <p:strVal val="#ppt_y+.06"/>
                                          </p:val>
                                        </p:tav>
                                        <p:tav tm="100000">
                                          <p:val>
                                            <p:strVal val="#ppt_y"/>
                                          </p:val>
                                        </p:tav>
                                      </p:tavLst>
                                    </p:anim>
                                    <p:animEffect transition="in" filter="fade">
                                      <p:cBhvr>
                                        <p:cTn id="132" dur="500"/>
                                        <p:tgtEl>
                                          <p:spTgt spid="38"/>
                                        </p:tgtEl>
                                      </p:cBhvr>
                                    </p:animEffect>
                                  </p:childTnLst>
                                </p:cTn>
                              </p:par>
                              <p:par>
                                <p:cTn id="137" presetID="42" presetClass="entr" presetSubtype="0" fill="hold" grpId="0" nodeType="withEffect">
                                  <p:stCondLst>
                                    <p:cond delay="170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ppt_y</p:attrName>
                                        </p:attrNameLst>
                                      </p:cBhvr>
                                      <p:tavLst>
                                        <p:tav tm="0">
                                          <p:val>
                                            <p:strVal val="#ppt_y+.06"/>
                                          </p:val>
                                        </p:tav>
                                        <p:tav tm="100000">
                                          <p:val>
                                            <p:strVal val="#ppt_y"/>
                                          </p:val>
                                        </p:tav>
                                      </p:tavLst>
                                    </p:anim>
                                    <p:animEffect transition="in" filter="fade">
                                      <p:cBhvr>
                                        <p:cTn id="136" dur="500"/>
                                        <p:tgtEl>
                                          <p:spTgt spid="39"/>
                                        </p:tgtEl>
                                      </p:cBhvr>
                                    </p:animEffect>
                                  </p:childTnLst>
                                </p:cTn>
                              </p:par>
                              <p:par>
                                <p:cTn id="141" presetID="42" presetClass="entr" presetSubtype="0" fill="hold" grpId="0" nodeType="withEffect">
                                  <p:stCondLst>
                                    <p:cond delay="230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ppt_y</p:attrName>
                                        </p:attrNameLst>
                                      </p:cBhvr>
                                      <p:tavLst>
                                        <p:tav tm="0">
                                          <p:val>
                                            <p:strVal val="#ppt_y+.06"/>
                                          </p:val>
                                        </p:tav>
                                        <p:tav tm="100000">
                                          <p:val>
                                            <p:strVal val="#ppt_y"/>
                                          </p:val>
                                        </p:tav>
                                      </p:tavLst>
                                    </p:anim>
                                    <p:animEffect transition="in" filter="fade">
                                      <p:cBhvr>
                                        <p:cTn id="140" dur="500"/>
                                        <p:tgtEl>
                                          <p:spTgt spid="40"/>
                                        </p:tgtEl>
                                      </p:cBhvr>
                                    </p:animEffect>
                                  </p:childTnLst>
                                </p:cTn>
                              </p:par>
                              <p:par>
                                <p:cTn id="145" presetID="42" presetClass="entr" presetSubtype="0" fill="hold" grpId="0" nodeType="withEffect">
                                  <p:stCondLst>
                                    <p:cond delay="2300"/>
                                  </p:stCondLst>
                                  <p:childTnLst>
                                    <p:set>
                                      <p:cBhvr>
                                        <p:cTn id="142" dur="1" fill="hold">
                                          <p:stCondLst>
                                            <p:cond delay="0"/>
                                          </p:stCondLst>
                                        </p:cTn>
                                        <p:tgtEl>
                                          <p:spTgt spid="41"/>
                                        </p:tgtEl>
                                        <p:attrNameLst>
                                          <p:attrName>style.visibility</p:attrName>
                                        </p:attrNameLst>
                                      </p:cBhvr>
                                      <p:to>
                                        <p:strVal val="visible"/>
                                      </p:to>
                                    </p:set>
                                    <p:anim calcmode="lin" valueType="num">
                                      <p:cBhvr additive="base">
                                        <p:cTn id="143" dur="500" fill="hold"/>
                                        <p:tgtEl>
                                          <p:spTgt spid="41"/>
                                        </p:tgtEl>
                                        <p:attrNameLst>
                                          <p:attrName>ppt_y</p:attrName>
                                        </p:attrNameLst>
                                      </p:cBhvr>
                                      <p:tavLst>
                                        <p:tav tm="0">
                                          <p:val>
                                            <p:strVal val="#ppt_y+.06"/>
                                          </p:val>
                                        </p:tav>
                                        <p:tav tm="100000">
                                          <p:val>
                                            <p:strVal val="#ppt_y"/>
                                          </p:val>
                                        </p:tav>
                                      </p:tavLst>
                                    </p:anim>
                                    <p:animEffect transition="in" filter="fade">
                                      <p:cBhvr>
                                        <p:cTn id="144" dur="500"/>
                                        <p:tgtEl>
                                          <p:spTgt spid="41"/>
                                        </p:tgtEl>
                                      </p:cBhvr>
                                    </p:animEffect>
                                  </p:childTnLst>
                                </p:cTn>
                              </p:par>
                              <p:par>
                                <p:cTn id="149" presetID="42" presetClass="entr" presetSubtype="0" fill="hold" grpId="0" nodeType="withEffect">
                                  <p:stCondLst>
                                    <p:cond delay="2300"/>
                                  </p:stCondLst>
                                  <p:childTnLst>
                                    <p:set>
                                      <p:cBhvr>
                                        <p:cTn id="146" dur="1" fill="hold">
                                          <p:stCondLst>
                                            <p:cond delay="0"/>
                                          </p:stCondLst>
                                        </p:cTn>
                                        <p:tgtEl>
                                          <p:spTgt spid="42"/>
                                        </p:tgtEl>
                                        <p:attrNameLst>
                                          <p:attrName>style.visibility</p:attrName>
                                        </p:attrNameLst>
                                      </p:cBhvr>
                                      <p:to>
                                        <p:strVal val="visible"/>
                                      </p:to>
                                    </p:set>
                                    <p:anim calcmode="lin" valueType="num">
                                      <p:cBhvr additive="base">
                                        <p:cTn id="147" dur="500" fill="hold"/>
                                        <p:tgtEl>
                                          <p:spTgt spid="42"/>
                                        </p:tgtEl>
                                        <p:attrNameLst>
                                          <p:attrName>ppt_y</p:attrName>
                                        </p:attrNameLst>
                                      </p:cBhvr>
                                      <p:tavLst>
                                        <p:tav tm="0">
                                          <p:val>
                                            <p:strVal val="#ppt_y+.06"/>
                                          </p:val>
                                        </p:tav>
                                        <p:tav tm="100000">
                                          <p:val>
                                            <p:strVal val="#ppt_y"/>
                                          </p:val>
                                        </p:tav>
                                      </p:tavLst>
                                    </p:anim>
                                    <p:animEffect transition="in" filter="fade">
                                      <p:cBhvr>
                                        <p:cTn id="148" dur="500"/>
                                        <p:tgtEl>
                                          <p:spTgt spid="42"/>
                                        </p:tgtEl>
                                      </p:cBhvr>
                                    </p:animEffect>
                                  </p:childTnLst>
                                </p:cTn>
                              </p:par>
                              <p:par>
                                <p:cTn id="152" presetID="10" presetClass="entr" presetSubtype="0" fill="hold" grpId="0" nodeType="withEffect">
                                  <p:stCondLst>
                                    <p:cond delay="360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600"/>
                                        <p:tgtEl>
                                          <p:spTgt spid="43"/>
                                        </p:tgtEl>
                                      </p:cBhvr>
                                    </p:animEffect>
                                  </p:childTnLst>
                                </p:cTn>
                              </p:par>
                              <p:par>
                                <p:cTn id="155" presetID="10" presetClass="entr" presetSubtype="0" fill="hold" grpId="0" nodeType="withEffect">
                                  <p:stCondLst>
                                    <p:cond delay="360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4" dur="600"/>
                                        <p:tgtEl>
                                          <p:spTgt spid="44"/>
                                        </p:tgtEl>
                                      </p:cBhvr>
                                    </p:animEffect>
                                  </p:childTnLst>
                                </p:cTn>
                              </p:par>
                              <p:par>
                                <p:cTn id="158" presetID="10" presetClass="entr" presetSubtype="0" fill="hold" nodeType="withEffect">
                                  <p:stCondLst>
                                    <p:cond delay="360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7" dur="600"/>
                                        <p:tgtEl>
                                          <p:spTgt spid="45"/>
                                        </p:tgtEl>
                                      </p:cBhvr>
                                    </p:animEffect>
                                  </p:childTnLst>
                                </p:cTn>
                              </p:par>
                              <p:par>
                                <p:cTn id="161" presetID="10" presetClass="entr" presetSubtype="0" fill="hold" nodeType="withEffect">
                                  <p:stCondLst>
                                    <p:cond delay="3600"/>
                                  </p:stCondLst>
                                  <p:childTnLst>
                                    <p:set>
                                      <p:cBhvr>
                                        <p:cTn id="159" dur="1" fill="hold">
                                          <p:stCondLst>
                                            <p:cond delay="0"/>
                                          </p:stCondLst>
                                        </p:cTn>
                                        <p:tgtEl>
                                          <p:spTgt spid="46"/>
                                        </p:tgtEl>
                                        <p:attrNameLst>
                                          <p:attrName>style.visibility</p:attrName>
                                        </p:attrNameLst>
                                      </p:cBhvr>
                                      <p:to>
                                        <p:strVal val="visible"/>
                                      </p:to>
                                    </p:set>
                                    <p:animEffect transition="in" filter="fade">
                                      <p:cBhvr>
                                        <p:cTn id="160" dur="600"/>
                                        <p:tgtEl>
                                          <p:spTgt spid="46"/>
                                        </p:tgtEl>
                                      </p:cBhvr>
                                    </p:animEffect>
                                  </p:childTnLst>
                                </p:cTn>
                              </p:par>
                              <p:par>
                                <p:cTn id="164" presetID="10" presetClass="entr" presetSubtype="0" fill="hold" nodeType="withEffect">
                                  <p:stCondLst>
                                    <p:cond delay="4100"/>
                                  </p:stCondLst>
                                  <p:childTnLst>
                                    <p:set>
                                      <p:cBhvr>
                                        <p:cTn id="162" dur="1" fill="hold">
                                          <p:stCondLst>
                                            <p:cond delay="0"/>
                                          </p:stCondLst>
                                        </p:cTn>
                                        <p:tgtEl>
                                          <p:spTgt spid="47"/>
                                        </p:tgtEl>
                                        <p:attrNameLst>
                                          <p:attrName>style.visibility</p:attrName>
                                        </p:attrNameLst>
                                      </p:cBhvr>
                                      <p:to>
                                        <p:strVal val="visible"/>
                                      </p:to>
                                    </p:set>
                                    <p:animEffect transition="in" filter="fade">
                                      <p:cBhvr>
                                        <p:cTn id="163" dur="600"/>
                                        <p:tgtEl>
                                          <p:spTgt spid="47"/>
                                        </p:tgtEl>
                                      </p:cBhvr>
                                    </p:animEffect>
                                  </p:childTnLst>
                                </p:cTn>
                              </p:par>
                              <p:par>
                                <p:cTn id="167" presetID="10" presetClass="entr" presetSubtype="0" fill="hold" nodeType="withEffect">
                                  <p:stCondLst>
                                    <p:cond delay="4100"/>
                                  </p:stCondLst>
                                  <p:childTnLst>
                                    <p:set>
                                      <p:cBhvr>
                                        <p:cTn id="165" dur="1" fill="hold">
                                          <p:stCondLst>
                                            <p:cond delay="0"/>
                                          </p:stCondLst>
                                        </p:cTn>
                                        <p:tgtEl>
                                          <p:spTgt spid="48"/>
                                        </p:tgtEl>
                                        <p:attrNameLst>
                                          <p:attrName>style.visibility</p:attrName>
                                        </p:attrNameLst>
                                      </p:cBhvr>
                                      <p:to>
                                        <p:strVal val="visible"/>
                                      </p:to>
                                    </p:set>
                                    <p:animEffect transition="in" filter="fade">
                                      <p:cBhvr>
                                        <p:cTn id="166" dur="600"/>
                                        <p:tgtEl>
                                          <p:spTgt spid="48"/>
                                        </p:tgtEl>
                                      </p:cBhvr>
                                    </p:animEffect>
                                  </p:childTnLst>
                                </p:cTn>
                              </p:par>
                              <p:par>
                                <p:cTn id="170" presetID="10" presetClass="entr" presetSubtype="0" fill="hold" nodeType="withEffect">
                                  <p:stCondLst>
                                    <p:cond delay="4100"/>
                                  </p:stCondLst>
                                  <p:childTnLst>
                                    <p:set>
                                      <p:cBhvr>
                                        <p:cTn id="168" dur="1" fill="hold">
                                          <p:stCondLst>
                                            <p:cond delay="0"/>
                                          </p:stCondLst>
                                        </p:cTn>
                                        <p:tgtEl>
                                          <p:spTgt spid="49"/>
                                        </p:tgtEl>
                                        <p:attrNameLst>
                                          <p:attrName>style.visibility</p:attrName>
                                        </p:attrNameLst>
                                      </p:cBhvr>
                                      <p:to>
                                        <p:strVal val="visible"/>
                                      </p:to>
                                    </p:set>
                                    <p:animEffect transition="in" filter="fade">
                                      <p:cBhvr>
                                        <p:cTn id="169" dur="600"/>
                                        <p:tgtEl>
                                          <p:spTgt spid="49"/>
                                        </p:tgtEl>
                                      </p:cBhvr>
                                    </p:animEffect>
                                  </p:childTnLst>
                                </p:cTn>
                              </p:par>
                              <p:par>
                                <p:cTn id="173" presetID="10" presetClass="entr" presetSubtype="0" fill="hold" nodeType="withEffect">
                                  <p:stCondLst>
                                    <p:cond delay="4100"/>
                                  </p:stCondLst>
                                  <p:childTnLst>
                                    <p:set>
                                      <p:cBhvr>
                                        <p:cTn id="171" dur="1" fill="hold">
                                          <p:stCondLst>
                                            <p:cond delay="0"/>
                                          </p:stCondLst>
                                        </p:cTn>
                                        <p:tgtEl>
                                          <p:spTgt spid="50"/>
                                        </p:tgtEl>
                                        <p:attrNameLst>
                                          <p:attrName>style.visibility</p:attrName>
                                        </p:attrNameLst>
                                      </p:cBhvr>
                                      <p:to>
                                        <p:strVal val="visible"/>
                                      </p:to>
                                    </p:set>
                                    <p:animEffect transition="in" filter="fade">
                                      <p:cBhvr>
                                        <p:cTn id="172"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4" grpId="0" animBg="1"/>
      <p:bldP spid="55" grpId="0" animBg="1"/>
      <p:bldP spid="56" grpId="0" animBg="1"/>
      <p:bldP spid="57" grpId="0" animBg="1"/>
      <p:bldP spid="58" grpId="0" animBg="1"/>
      <p:bldP spid="59" grpId="0" animBg="1"/>
      <p:bldP spid="9" grpId="0" animBg="1"/>
      <p:bldP spid="10" grpId="0" animBg="1"/>
      <p:bldP spid="11" grpId="0" animBg="1"/>
      <p:bldP spid="12" grpId="0" animBg="1"/>
      <p:bldP spid="13" grpId="0" animBg="1"/>
      <p:bldP spid="53" grpId="0" animBg="1"/>
      <p:bldP spid="24" grpId="0" animBg="1"/>
      <p:bldP spid="25" grpId="0" animBg="1"/>
      <p:bldP spid="26" grpId="0" animBg="1"/>
      <p:bldP spid="27"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05  —  TECHNOLOGY AND SYSTEM ARCHITECTURE</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Deterministic Intelligence. Explainable Outcomes</a:t>
            </a:r>
            <a:endParaRPr lang="en-US" sz="3400" dirty="0"/>
          </a:p>
        </p:txBody>
      </p:sp>
      <p:sp>
        <p:nvSpPr>
          <p:cNvPr id="4" name="spine_1"/>
          <p:cNvSpPr/>
          <p:nvPr/>
        </p:nvSpPr>
        <p:spPr>
          <a:xfrm>
            <a:off x="896112" y="2121408"/>
            <a:ext cx="0" cy="3383280"/>
          </a:xfrm>
          <a:prstGeom prst="line">
            <a:avLst/>
          </a:prstGeom>
          <a:noFill/>
          <a:ln w="15875">
            <a:solidFill>
              <a:srgbClr val="B8B1A0"/>
            </a:solidFill>
            <a:prstDash val="solid"/>
          </a:ln>
        </p:spPr>
      </p:sp>
      <p:sp>
        <p:nvSpPr>
          <p:cNvPr id="5" name="L0_2"/>
          <p:cNvSpPr/>
          <p:nvPr/>
        </p:nvSpPr>
        <p:spPr>
          <a:xfrm>
            <a:off x="758952" y="1984248"/>
            <a:ext cx="274320" cy="274320"/>
          </a:xfrm>
          <a:prstGeom prst="ellipse">
            <a:avLst/>
          </a:prstGeom>
          <a:solidFill>
            <a:srgbClr val="FFFFFF"/>
          </a:solidFill>
          <a:ln w="15875">
            <a:solidFill>
              <a:srgbClr val="B8B1A0"/>
            </a:solidFill>
            <a:prstDash val="solid"/>
          </a:ln>
        </p:spPr>
      </p:sp>
      <p:sp>
        <p:nvSpPr>
          <p:cNvPr id="6" name="L0_3"/>
          <p:cNvSpPr txBox="1"/>
          <p:nvPr/>
        </p:nvSpPr>
        <p:spPr>
          <a:xfrm>
            <a:off x="758952" y="198424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1</a:t>
            </a:r>
            <a:endParaRPr lang="en-US" sz="1100" dirty="0"/>
          </a:p>
        </p:txBody>
      </p:sp>
      <p:sp>
        <p:nvSpPr>
          <p:cNvPr id="7" name="L0_4"/>
          <p:cNvSpPr txBox="1"/>
          <p:nvPr/>
        </p:nvSpPr>
        <p:spPr>
          <a:xfrm>
            <a:off x="1280160" y="181965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User interface</a:t>
            </a:r>
            <a:endParaRPr lang="en-US" sz="1400" dirty="0"/>
          </a:p>
        </p:txBody>
      </p:sp>
      <p:sp>
        <p:nvSpPr>
          <p:cNvPr id="8" name="L0_5"/>
          <p:cNvSpPr txBox="1"/>
          <p:nvPr/>
        </p:nvSpPr>
        <p:spPr>
          <a:xfrm>
            <a:off x="3337560" y="1819656"/>
            <a:ext cx="4114800" cy="603504"/>
          </a:xfrm>
          <a:prstGeom prst="rect">
            <a:avLst/>
          </a:prstGeom>
          <a:noFill/>
          <a:ln/>
        </p:spPr>
        <p:txBody>
          <a:bodyPr wrap="square" lIns="0" tIns="0" rIns="0" bIns="0" rtlCol="0" anchor="ctr"/>
          <a:lstStyle/>
          <a:p>
            <a:pPr indent="0" marL="0">
              <a:buNone/>
            </a:pPr>
            <a:r>
              <a:rPr lang="en-US" sz="1200" dirty="0">
                <a:solidFill>
                  <a:srgbClr val="2A3650"/>
                </a:solidFill>
              </a:rPr>
              <a:t>Next.js + React + TypeScript</a:t>
            </a:r>
            <a:endParaRPr lang="en-US" sz="1200" dirty="0"/>
          </a:p>
        </p:txBody>
      </p:sp>
      <p:sp>
        <p:nvSpPr>
          <p:cNvPr id="9" name="L1_6"/>
          <p:cNvSpPr/>
          <p:nvPr/>
        </p:nvSpPr>
        <p:spPr>
          <a:xfrm>
            <a:off x="1188720" y="2459736"/>
            <a:ext cx="6446520" cy="0"/>
          </a:xfrm>
          <a:prstGeom prst="line">
            <a:avLst/>
          </a:prstGeom>
          <a:noFill/>
          <a:ln w="9525">
            <a:solidFill>
              <a:srgbClr val="D6D0C2"/>
            </a:solidFill>
            <a:prstDash val="solid"/>
          </a:ln>
        </p:spPr>
      </p:sp>
      <p:sp>
        <p:nvSpPr>
          <p:cNvPr id="10" name="L1_7"/>
          <p:cNvSpPr/>
          <p:nvPr/>
        </p:nvSpPr>
        <p:spPr>
          <a:xfrm>
            <a:off x="758952" y="2660904"/>
            <a:ext cx="274320" cy="274320"/>
          </a:xfrm>
          <a:prstGeom prst="ellipse">
            <a:avLst/>
          </a:prstGeom>
          <a:solidFill>
            <a:srgbClr val="FFFFFF"/>
          </a:solidFill>
          <a:ln w="15875">
            <a:solidFill>
              <a:srgbClr val="B8B1A0"/>
            </a:solidFill>
            <a:prstDash val="solid"/>
          </a:ln>
        </p:spPr>
      </p:sp>
      <p:sp>
        <p:nvSpPr>
          <p:cNvPr id="11" name="L1_8"/>
          <p:cNvSpPr txBox="1"/>
          <p:nvPr/>
        </p:nvSpPr>
        <p:spPr>
          <a:xfrm>
            <a:off x="758952" y="2660904"/>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2</a:t>
            </a:r>
            <a:endParaRPr lang="en-US" sz="1100" dirty="0"/>
          </a:p>
        </p:txBody>
      </p:sp>
      <p:sp>
        <p:nvSpPr>
          <p:cNvPr id="12" name="L1_9"/>
          <p:cNvSpPr txBox="1"/>
          <p:nvPr/>
        </p:nvSpPr>
        <p:spPr>
          <a:xfrm>
            <a:off x="1280160" y="2496312"/>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Interactive mapping</a:t>
            </a:r>
            <a:endParaRPr lang="en-US" sz="1400" dirty="0"/>
          </a:p>
        </p:txBody>
      </p:sp>
      <p:sp>
        <p:nvSpPr>
          <p:cNvPr id="13" name="L1_10"/>
          <p:cNvSpPr txBox="1"/>
          <p:nvPr/>
        </p:nvSpPr>
        <p:spPr>
          <a:xfrm>
            <a:off x="3337560" y="2496312"/>
            <a:ext cx="4114800" cy="603504"/>
          </a:xfrm>
          <a:prstGeom prst="rect">
            <a:avLst/>
          </a:prstGeom>
          <a:noFill/>
          <a:ln/>
        </p:spPr>
        <p:txBody>
          <a:bodyPr wrap="square" lIns="0" tIns="0" rIns="0" bIns="0" rtlCol="0" anchor="ctr"/>
          <a:lstStyle/>
          <a:p>
            <a:pPr indent="0" marL="0">
              <a:buNone/>
            </a:pPr>
            <a:r>
              <a:rPr lang="en-US" sz="1200" dirty="0">
                <a:solidFill>
                  <a:srgbClr val="2A3650"/>
                </a:solidFill>
              </a:rPr>
              <a:t>MapLibre GL JS + OpenStreetMap + locally stored PMTiles map tiles</a:t>
            </a:r>
            <a:endParaRPr lang="en-US" sz="1200" dirty="0"/>
          </a:p>
        </p:txBody>
      </p:sp>
      <p:sp>
        <p:nvSpPr>
          <p:cNvPr id="14" name="L2_11"/>
          <p:cNvSpPr/>
          <p:nvPr/>
        </p:nvSpPr>
        <p:spPr>
          <a:xfrm>
            <a:off x="1188720" y="3136392"/>
            <a:ext cx="6446520" cy="0"/>
          </a:xfrm>
          <a:prstGeom prst="line">
            <a:avLst/>
          </a:prstGeom>
          <a:noFill/>
          <a:ln w="9525">
            <a:solidFill>
              <a:srgbClr val="D6D0C2"/>
            </a:solidFill>
            <a:prstDash val="solid"/>
          </a:ln>
        </p:spPr>
      </p:sp>
      <p:sp>
        <p:nvSpPr>
          <p:cNvPr id="15" name="L2_12"/>
          <p:cNvSpPr/>
          <p:nvPr/>
        </p:nvSpPr>
        <p:spPr>
          <a:xfrm>
            <a:off x="758952" y="3337560"/>
            <a:ext cx="274320" cy="274320"/>
          </a:xfrm>
          <a:prstGeom prst="ellipse">
            <a:avLst/>
          </a:prstGeom>
          <a:solidFill>
            <a:srgbClr val="FFFFFF"/>
          </a:solidFill>
          <a:ln w="15875">
            <a:solidFill>
              <a:srgbClr val="B8B1A0"/>
            </a:solidFill>
            <a:prstDash val="solid"/>
          </a:ln>
        </p:spPr>
      </p:sp>
      <p:sp>
        <p:nvSpPr>
          <p:cNvPr id="16" name="L2_13"/>
          <p:cNvSpPr txBox="1"/>
          <p:nvPr/>
        </p:nvSpPr>
        <p:spPr>
          <a:xfrm>
            <a:off x="758952" y="3337560"/>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3</a:t>
            </a:r>
            <a:endParaRPr lang="en-US" sz="1100" dirty="0"/>
          </a:p>
        </p:txBody>
      </p:sp>
      <p:sp>
        <p:nvSpPr>
          <p:cNvPr id="17" name="L2_14"/>
          <p:cNvSpPr txBox="1"/>
          <p:nvPr/>
        </p:nvSpPr>
        <p:spPr>
          <a:xfrm>
            <a:off x="1280160" y="3172968"/>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Routing engine</a:t>
            </a:r>
            <a:endParaRPr lang="en-US" sz="1400" dirty="0"/>
          </a:p>
        </p:txBody>
      </p:sp>
      <p:sp>
        <p:nvSpPr>
          <p:cNvPr id="18" name="L2_15"/>
          <p:cNvSpPr txBox="1"/>
          <p:nvPr/>
        </p:nvSpPr>
        <p:spPr>
          <a:xfrm>
            <a:off x="3337560" y="3172968"/>
            <a:ext cx="4114800" cy="603504"/>
          </a:xfrm>
          <a:prstGeom prst="rect">
            <a:avLst/>
          </a:prstGeom>
          <a:noFill/>
          <a:ln/>
        </p:spPr>
        <p:txBody>
          <a:bodyPr wrap="square" lIns="0" tIns="0" rIns="0" bIns="0" rtlCol="0" anchor="ctr"/>
          <a:lstStyle/>
          <a:p>
            <a:pPr indent="0" marL="0">
              <a:buNone/>
            </a:pPr>
            <a:r>
              <a:rPr lang="en-US" sz="1200" dirty="0">
                <a:solidFill>
                  <a:srgbClr val="2A3650"/>
                </a:solidFill>
              </a:rPr>
              <a:t>Dijkstra shortest-path algorithm + Yen's k-shortest-path algorithm</a:t>
            </a:r>
            <a:endParaRPr lang="en-US" sz="1200" dirty="0"/>
          </a:p>
        </p:txBody>
      </p:sp>
      <p:sp>
        <p:nvSpPr>
          <p:cNvPr id="19" name="L3_16"/>
          <p:cNvSpPr/>
          <p:nvPr/>
        </p:nvSpPr>
        <p:spPr>
          <a:xfrm>
            <a:off x="640080" y="3840480"/>
            <a:ext cx="6995160" cy="621792"/>
          </a:xfrm>
          <a:prstGeom prst="roundRect">
            <a:avLst>
              <a:gd name="adj" fmla="val 11765"/>
            </a:avLst>
          </a:prstGeom>
          <a:solidFill>
            <a:schemeClr val="tx1"/>
          </a:solidFill>
          <a:ln/>
          <a:effectLst>
            <a:outerShdw sx="100000" sy="100000" kx="0" ky="0" algn="bl" rotWithShape="0" blurRad="177800" dist="50800" dir="5400000">
              <a:srgbClr val="0B1426">
                <a:alpha val="22000"/>
              </a:srgbClr>
            </a:outerShdw>
          </a:effectLst>
        </p:spPr>
      </p:sp>
      <p:sp>
        <p:nvSpPr>
          <p:cNvPr id="20" name="L3_17"/>
          <p:cNvSpPr/>
          <p:nvPr/>
        </p:nvSpPr>
        <p:spPr>
          <a:xfrm>
            <a:off x="758952" y="4014216"/>
            <a:ext cx="274320" cy="274320"/>
          </a:xfrm>
          <a:prstGeom prst="ellipse">
            <a:avLst/>
          </a:prstGeom>
          <a:solidFill>
            <a:schemeClr val="accent1"/>
          </a:solidFill>
          <a:ln/>
        </p:spPr>
      </p:sp>
      <p:sp>
        <p:nvSpPr>
          <p:cNvPr id="21" name="L3_18"/>
          <p:cNvSpPr txBox="1"/>
          <p:nvPr/>
        </p:nvSpPr>
        <p:spPr>
          <a:xfrm>
            <a:off x="758952" y="4014216"/>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4</a:t>
            </a:r>
            <a:endParaRPr lang="en-US" sz="1100" dirty="0"/>
          </a:p>
        </p:txBody>
      </p:sp>
      <p:sp>
        <p:nvSpPr>
          <p:cNvPr id="22" name="L3_19"/>
          <p:cNvSpPr txBox="1"/>
          <p:nvPr/>
        </p:nvSpPr>
        <p:spPr>
          <a:xfrm>
            <a:off x="1280160" y="3849624"/>
            <a:ext cx="1920240" cy="603504"/>
          </a:xfrm>
          <a:prstGeom prst="rect">
            <a:avLst/>
          </a:prstGeom>
          <a:noFill/>
          <a:ln/>
        </p:spPr>
        <p:txBody>
          <a:bodyPr wrap="square" lIns="0" tIns="0" rIns="0" bIns="0" rtlCol="0" anchor="ctr"/>
          <a:lstStyle/>
          <a:p>
            <a:pPr indent="0" marL="0">
              <a:buNone/>
            </a:pPr>
            <a:r>
              <a:rPr lang="en-US" sz="1400" dirty="0">
                <a:solidFill>
                  <a:srgbClr val="5EEAD4"/>
                </a:solidFill>
                <a:latin typeface="Segoe UI Semibold" pitchFamily="34" charset="0"/>
                <a:ea typeface="Segoe UI Semibold" pitchFamily="34" charset="-122"/>
                <a:cs typeface="Segoe UI Semibold" pitchFamily="34" charset="-120"/>
              </a:rPr>
              <a:t>Emergency route evaluator</a:t>
            </a:r>
            <a:endParaRPr lang="en-US" sz="1400" dirty="0"/>
          </a:p>
        </p:txBody>
      </p:sp>
      <p:sp>
        <p:nvSpPr>
          <p:cNvPr id="23" name="L3_20"/>
          <p:cNvSpPr txBox="1"/>
          <p:nvPr/>
        </p:nvSpPr>
        <p:spPr>
          <a:xfrm>
            <a:off x="3337560" y="3849624"/>
            <a:ext cx="4114800" cy="603504"/>
          </a:xfrm>
          <a:prstGeom prst="rect">
            <a:avLst/>
          </a:prstGeom>
          <a:noFill/>
          <a:ln/>
        </p:spPr>
        <p:txBody>
          <a:bodyPr wrap="square" lIns="0" tIns="0" rIns="0" bIns="0" rtlCol="0" anchor="ctr"/>
          <a:lstStyle/>
          <a:p>
            <a:pPr indent="0" marL="0">
              <a:buNone/>
            </a:pPr>
            <a:r>
              <a:rPr lang="en-US" sz="1200" dirty="0">
                <a:solidFill>
                  <a:schemeClr val="bg1"/>
                </a:solidFill>
              </a:rPr>
              <a:t>Hard constraints, hazard penalties, congestion-adjusted travel time, report-age weighting, missing-data penalties</a:t>
            </a:r>
            <a:endParaRPr lang="en-US" sz="1200" dirty="0"/>
          </a:p>
        </p:txBody>
      </p:sp>
      <p:sp>
        <p:nvSpPr>
          <p:cNvPr id="24" name="L4_21"/>
          <p:cNvSpPr/>
          <p:nvPr/>
        </p:nvSpPr>
        <p:spPr>
          <a:xfrm>
            <a:off x="640080" y="4517136"/>
            <a:ext cx="6995160" cy="621792"/>
          </a:xfrm>
          <a:prstGeom prst="roundRect">
            <a:avLst>
              <a:gd name="adj" fmla="val 11765"/>
            </a:avLst>
          </a:prstGeom>
          <a:solidFill>
            <a:schemeClr val="tx1"/>
          </a:solidFill>
          <a:ln/>
          <a:effectLst>
            <a:outerShdw sx="100000" sy="100000" kx="0" ky="0" algn="bl" rotWithShape="0" blurRad="177800" dist="50800" dir="5400000">
              <a:srgbClr val="0B1426">
                <a:alpha val="22000"/>
              </a:srgbClr>
            </a:outerShdw>
          </a:effectLst>
        </p:spPr>
      </p:sp>
      <p:sp>
        <p:nvSpPr>
          <p:cNvPr id="25" name="L4_22"/>
          <p:cNvSpPr/>
          <p:nvPr/>
        </p:nvSpPr>
        <p:spPr>
          <a:xfrm>
            <a:off x="758952" y="4690872"/>
            <a:ext cx="274320" cy="274320"/>
          </a:xfrm>
          <a:prstGeom prst="ellipse">
            <a:avLst/>
          </a:prstGeom>
          <a:solidFill>
            <a:schemeClr val="accent1"/>
          </a:solidFill>
          <a:ln/>
        </p:spPr>
      </p:sp>
      <p:sp>
        <p:nvSpPr>
          <p:cNvPr id="26" name="L4_23"/>
          <p:cNvSpPr txBox="1"/>
          <p:nvPr/>
        </p:nvSpPr>
        <p:spPr>
          <a:xfrm>
            <a:off x="758952" y="4690872"/>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5</a:t>
            </a:r>
            <a:endParaRPr lang="en-US" sz="1100" dirty="0"/>
          </a:p>
        </p:txBody>
      </p:sp>
      <p:sp>
        <p:nvSpPr>
          <p:cNvPr id="27" name="L4_24"/>
          <p:cNvSpPr txBox="1"/>
          <p:nvPr/>
        </p:nvSpPr>
        <p:spPr>
          <a:xfrm>
            <a:off x="1280160" y="4526280"/>
            <a:ext cx="1920240" cy="603504"/>
          </a:xfrm>
          <a:prstGeom prst="rect">
            <a:avLst/>
          </a:prstGeom>
          <a:noFill/>
          <a:ln/>
        </p:spPr>
        <p:txBody>
          <a:bodyPr wrap="square" lIns="0" tIns="0" rIns="0" bIns="0" rtlCol="0" anchor="ctr"/>
          <a:lstStyle/>
          <a:p>
            <a:pPr indent="0" marL="0">
              <a:buNone/>
            </a:pPr>
            <a:r>
              <a:rPr lang="en-US" sz="1400" dirty="0">
                <a:solidFill>
                  <a:srgbClr val="5EEAD4"/>
                </a:solidFill>
                <a:latin typeface="Segoe UI Semibold" pitchFamily="34" charset="0"/>
                <a:ea typeface="Segoe UI Semibold" pitchFamily="34" charset="-122"/>
                <a:cs typeface="Segoe UI Semibold" pitchFamily="34" charset="-120"/>
              </a:rPr>
              <a:t>Recommendation engine</a:t>
            </a:r>
            <a:endParaRPr lang="en-US" sz="1400" dirty="0"/>
          </a:p>
        </p:txBody>
      </p:sp>
      <p:sp>
        <p:nvSpPr>
          <p:cNvPr id="28" name="L4_25"/>
          <p:cNvSpPr txBox="1"/>
          <p:nvPr/>
        </p:nvSpPr>
        <p:spPr>
          <a:xfrm>
            <a:off x="3337560" y="4526280"/>
            <a:ext cx="4114800" cy="603504"/>
          </a:xfrm>
          <a:prstGeom prst="rect">
            <a:avLst/>
          </a:prstGeom>
          <a:noFill/>
          <a:ln/>
        </p:spPr>
        <p:txBody>
          <a:bodyPr wrap="square" lIns="0" tIns="0" rIns="0" bIns="0" rtlCol="0" anchor="ctr"/>
          <a:lstStyle/>
          <a:p>
            <a:pPr indent="0" marL="0">
              <a:buNone/>
            </a:pPr>
            <a:r>
              <a:rPr lang="en-US" sz="1200" dirty="0">
                <a:solidFill>
                  <a:schemeClr val="bg1"/>
                </a:solidFill>
              </a:rPr>
              <a:t>Route ranking, viability assessment, confidence labels, plain-language explanations, switching threshold</a:t>
            </a:r>
            <a:endParaRPr lang="en-US" sz="1200" dirty="0"/>
          </a:p>
        </p:txBody>
      </p:sp>
      <p:sp>
        <p:nvSpPr>
          <p:cNvPr id="29" name="L5_26"/>
          <p:cNvSpPr/>
          <p:nvPr/>
        </p:nvSpPr>
        <p:spPr>
          <a:xfrm>
            <a:off x="1188720" y="5166360"/>
            <a:ext cx="6446520" cy="0"/>
          </a:xfrm>
          <a:prstGeom prst="line">
            <a:avLst/>
          </a:prstGeom>
          <a:noFill/>
          <a:ln w="9525">
            <a:solidFill>
              <a:srgbClr val="D6D0C2"/>
            </a:solidFill>
            <a:prstDash val="solid"/>
          </a:ln>
        </p:spPr>
      </p:sp>
      <p:sp>
        <p:nvSpPr>
          <p:cNvPr id="30" name="L5_27"/>
          <p:cNvSpPr/>
          <p:nvPr/>
        </p:nvSpPr>
        <p:spPr>
          <a:xfrm>
            <a:off x="758952" y="5367528"/>
            <a:ext cx="274320" cy="274320"/>
          </a:xfrm>
          <a:prstGeom prst="ellipse">
            <a:avLst/>
          </a:prstGeom>
          <a:solidFill>
            <a:srgbClr val="FFFFFF"/>
          </a:solidFill>
          <a:ln w="15875">
            <a:solidFill>
              <a:srgbClr val="B8B1A0"/>
            </a:solidFill>
            <a:prstDash val="solid"/>
          </a:ln>
        </p:spPr>
      </p:sp>
      <p:sp>
        <p:nvSpPr>
          <p:cNvPr id="31" name="L5_28"/>
          <p:cNvSpPr txBox="1"/>
          <p:nvPr/>
        </p:nvSpPr>
        <p:spPr>
          <a:xfrm>
            <a:off x="758952" y="536752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6</a:t>
            </a:r>
            <a:endParaRPr lang="en-US" sz="1100" dirty="0"/>
          </a:p>
        </p:txBody>
      </p:sp>
      <p:sp>
        <p:nvSpPr>
          <p:cNvPr id="32" name="L5_29"/>
          <p:cNvSpPr txBox="1"/>
          <p:nvPr/>
        </p:nvSpPr>
        <p:spPr>
          <a:xfrm>
            <a:off x="1280160" y="520293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Output</a:t>
            </a:r>
            <a:endParaRPr lang="en-US" sz="1400" dirty="0"/>
          </a:p>
        </p:txBody>
      </p:sp>
      <p:sp>
        <p:nvSpPr>
          <p:cNvPr id="33" name="L5_30"/>
          <p:cNvSpPr txBox="1"/>
          <p:nvPr/>
        </p:nvSpPr>
        <p:spPr>
          <a:xfrm>
            <a:off x="3337560" y="5202936"/>
            <a:ext cx="4114800" cy="603504"/>
          </a:xfrm>
          <a:prstGeom prst="rect">
            <a:avLst/>
          </a:prstGeom>
          <a:noFill/>
          <a:ln/>
        </p:spPr>
        <p:txBody>
          <a:bodyPr wrap="square" lIns="0" tIns="0" rIns="0" bIns="0" rtlCol="0" anchor="ctr"/>
          <a:lstStyle/>
          <a:p>
            <a:pPr indent="0" marL="0">
              <a:buNone/>
            </a:pPr>
            <a:r>
              <a:rPr lang="en-US" sz="1200" dirty="0">
                <a:solidFill>
                  <a:srgbClr val="2A3650"/>
                </a:solidFill>
              </a:rPr>
              <a:t>Recommended route + alternatives + evidence timeline + updated route when incidents change</a:t>
            </a:r>
            <a:endParaRPr lang="en-US" sz="1200" dirty="0"/>
          </a:p>
        </p:txBody>
      </p:sp>
      <p:sp>
        <p:nvSpPr>
          <p:cNvPr id="34" name="map_31"/>
          <p:cNvSpPr/>
          <p:nvPr/>
        </p:nvSpPr>
        <p:spPr>
          <a:xfrm>
            <a:off x="8138160" y="1783080"/>
            <a:ext cx="3413455" cy="1600200"/>
          </a:xfrm>
          <a:prstGeom prst="roundRect">
            <a:avLst>
              <a:gd name="adj" fmla="val 5714"/>
            </a:avLst>
          </a:prstGeom>
          <a:solidFill>
            <a:srgbClr val="FFFFFF"/>
          </a:solidFill>
          <a:ln/>
          <a:effectLst>
            <a:outerShdw sx="100000" sy="100000" kx="0" ky="0" algn="bl" rotWithShape="0" blurRad="228600" dist="63500" dir="5400000">
              <a:srgbClr val="0B1426">
                <a:alpha val="18000"/>
              </a:srgbClr>
            </a:outerShdw>
          </a:effectLst>
        </p:spPr>
      </p:sp>
      <p:pic>
        <p:nvPicPr>
          <p:cNvPr id="35" name="map_32" descr="3D map of a flood-prone rail corridor, built from OpenStreetMap data">    </p:cNvPr>
          <p:cNvPicPr>
            <a:picLocks noChangeAspect="1"/>
          </p:cNvPicPr>
          <p:nvPr/>
        </p:nvPicPr>
        <p:blipFill>
          <a:blip r:embed="rId1"/>
          <a:stretch>
            <a:fillRect/>
          </a:stretch>
        </p:blipFill>
        <p:spPr>
          <a:xfrm>
            <a:off x="8138160" y="1783080"/>
            <a:ext cx="3413455" cy="1600200"/>
          </a:xfrm>
          <a:prstGeom prst="rect">
            <a:avLst/>
          </a:prstGeom>
        </p:spPr>
      </p:pic>
      <p:pic>
        <p:nvPicPr>
          <p:cNvPr id="36" name="map_33" descr="Route A">    </p:cNvPr>
          <p:cNvPicPr>
            <a:picLocks noChangeAspect="1"/>
          </p:cNvPicPr>
          <p:nvPr/>
        </p:nvPicPr>
        <p:blipFill>
          <a:blip r:embed="rId2"/>
          <a:stretch>
            <a:fillRect/>
          </a:stretch>
        </p:blipFill>
        <p:spPr>
          <a:xfrm>
            <a:off x="8138160" y="1783080"/>
            <a:ext cx="3413455" cy="1600200"/>
          </a:xfrm>
          <a:prstGeom prst="rect">
            <a:avLst/>
          </a:prstGeom>
        </p:spPr>
      </p:pic>
      <p:pic>
        <p:nvPicPr>
          <p:cNvPr id="37" name="map_34" descr="Route B">    </p:cNvPr>
          <p:cNvPicPr>
            <a:picLocks noChangeAspect="1"/>
          </p:cNvPicPr>
          <p:nvPr/>
        </p:nvPicPr>
        <p:blipFill>
          <a:blip r:embed="rId3"/>
          <a:stretch>
            <a:fillRect/>
          </a:stretch>
        </p:blipFill>
        <p:spPr>
          <a:xfrm>
            <a:off x="8138160" y="1783080"/>
            <a:ext cx="3413455" cy="1600200"/>
          </a:xfrm>
          <a:prstGeom prst="rect">
            <a:avLst/>
          </a:prstGeom>
        </p:spPr>
      </p:pic>
      <p:sp>
        <p:nvSpPr>
          <p:cNvPr id="38" name="map_35"/>
          <p:cNvSpPr txBox="1"/>
          <p:nvPr/>
        </p:nvSpPr>
        <p:spPr>
          <a:xfrm>
            <a:off x="8138160" y="3456432"/>
            <a:ext cx="3413455" cy="365760"/>
          </a:xfrm>
          <a:prstGeom prst="rect">
            <a:avLst/>
          </a:prstGeom>
          <a:noFill/>
          <a:ln/>
        </p:spPr>
        <p:txBody>
          <a:bodyPr wrap="square" lIns="0" tIns="0" rIns="0" bIns="0" rtlCol="0" anchor="t"/>
          <a:lstStyle/>
          <a:p>
            <a:pPr indent="0" marL="0">
              <a:buNone/>
            </a:pPr>
            <a:r>
              <a:rPr lang="en-US" sz="1050" dirty="0">
                <a:solidFill>
                  <a:schemeClr val="accent5"/>
                </a:solidFill>
              </a:rPr>
              <a:t>Local PMTiles map, OpenStreetMap data, simulated incidents overlaid</a:t>
            </a:r>
            <a:endParaRPr lang="en-US" sz="1050" dirty="0"/>
          </a:p>
        </p:txBody>
      </p:sp>
      <p:sp>
        <p:nvSpPr>
          <p:cNvPr id="39" name="pt0_36"/>
          <p:cNvSpPr/>
          <p:nvPr/>
        </p:nvSpPr>
        <p:spPr>
          <a:xfrm>
            <a:off x="8151876" y="4000500"/>
            <a:ext cx="82296" cy="82296"/>
          </a:xfrm>
          <a:prstGeom prst="ellipse">
            <a:avLst/>
          </a:prstGeom>
          <a:solidFill>
            <a:schemeClr val="accent1"/>
          </a:solidFill>
          <a:ln/>
        </p:spPr>
      </p:sp>
      <p:sp>
        <p:nvSpPr>
          <p:cNvPr id="40" name="pt0_37"/>
          <p:cNvSpPr txBox="1"/>
          <p:nvPr/>
        </p:nvSpPr>
        <p:spPr>
          <a:xfrm>
            <a:off x="8366760" y="3931920"/>
            <a:ext cx="3184855" cy="420624"/>
          </a:xfrm>
          <a:prstGeom prst="rect">
            <a:avLst/>
          </a:prstGeom>
          <a:noFill/>
          <a:ln/>
        </p:spPr>
        <p:txBody>
          <a:bodyPr wrap="square" lIns="0" tIns="0" rIns="0" bIns="0" rtlCol="0" anchor="t"/>
          <a:lstStyle/>
          <a:p>
            <a:pPr indent="0" marL="0">
              <a:buNone/>
            </a:pPr>
            <a:r>
              <a:rPr lang="en-US" sz="1150" dirty="0">
                <a:solidFill>
                  <a:srgbClr val="2A3650"/>
                </a:solidFill>
              </a:rPr>
              <a:t>TypeScript engine with deterministic, testable rules</a:t>
            </a:r>
            <a:endParaRPr lang="en-US" sz="1150" dirty="0"/>
          </a:p>
        </p:txBody>
      </p:sp>
      <p:sp>
        <p:nvSpPr>
          <p:cNvPr id="41" name="pt1_38"/>
          <p:cNvSpPr/>
          <p:nvPr/>
        </p:nvSpPr>
        <p:spPr>
          <a:xfrm>
            <a:off x="8151876" y="4430268"/>
            <a:ext cx="82296" cy="82296"/>
          </a:xfrm>
          <a:prstGeom prst="ellipse">
            <a:avLst/>
          </a:prstGeom>
          <a:solidFill>
            <a:schemeClr val="accent1"/>
          </a:solidFill>
          <a:ln/>
        </p:spPr>
      </p:sp>
      <p:sp>
        <p:nvSpPr>
          <p:cNvPr id="42" name="pt1_39"/>
          <p:cNvSpPr txBox="1"/>
          <p:nvPr/>
        </p:nvSpPr>
        <p:spPr>
          <a:xfrm>
            <a:off x="8366760" y="4361688"/>
            <a:ext cx="3184855" cy="420624"/>
          </a:xfrm>
          <a:prstGeom prst="rect">
            <a:avLst/>
          </a:prstGeom>
          <a:noFill/>
          <a:ln/>
        </p:spPr>
        <p:txBody>
          <a:bodyPr wrap="square" lIns="0" tIns="0" rIns="0" bIns="0" rtlCol="0" anchor="t"/>
          <a:lstStyle/>
          <a:p>
            <a:pPr indent="0" marL="0">
              <a:buNone/>
            </a:pPr>
            <a:r>
              <a:rPr lang="en-US" sz="1150" dirty="0">
                <a:solidFill>
                  <a:srgbClr val="2A3650"/>
                </a:solidFill>
              </a:rPr>
              <a:t>Responsive web app with installable Progressive Web App support</a:t>
            </a:r>
            <a:endParaRPr lang="en-US" sz="1150" dirty="0"/>
          </a:p>
        </p:txBody>
      </p:sp>
      <p:sp>
        <p:nvSpPr>
          <p:cNvPr id="43" name="pt2_40"/>
          <p:cNvSpPr/>
          <p:nvPr/>
        </p:nvSpPr>
        <p:spPr>
          <a:xfrm>
            <a:off x="8151876" y="4860036"/>
            <a:ext cx="82296" cy="82296"/>
          </a:xfrm>
          <a:prstGeom prst="ellipse">
            <a:avLst/>
          </a:prstGeom>
          <a:solidFill>
            <a:schemeClr val="accent2"/>
          </a:solidFill>
          <a:ln/>
        </p:spPr>
      </p:sp>
      <p:sp>
        <p:nvSpPr>
          <p:cNvPr id="44" name="pt2_41"/>
          <p:cNvSpPr txBox="1"/>
          <p:nvPr/>
        </p:nvSpPr>
        <p:spPr>
          <a:xfrm>
            <a:off x="8366760" y="4791456"/>
            <a:ext cx="3184855" cy="420624"/>
          </a:xfrm>
          <a:prstGeom prst="rect">
            <a:avLst/>
          </a:prstGeom>
          <a:noFill/>
          <a:ln/>
        </p:spPr>
        <p:txBody>
          <a:bodyPr wrap="square" lIns="0" tIns="0" rIns="0" bIns="0" rtlCol="0" anchor="t"/>
          <a:lstStyle/>
          <a:p>
            <a:pPr indent="0" marL="0">
              <a:buNone/>
            </a:pPr>
            <a:r>
              <a:rPr lang="en-US" sz="1150" dirty="0">
                <a:solidFill>
                  <a:srgbClr val="2A3650"/>
                </a:solidFill>
              </a:rPr>
              <a:t>Optional Supabase Realtime for live cross-device incident reporting</a:t>
            </a:r>
            <a:endParaRPr lang="en-US" sz="1150" dirty="0"/>
          </a:p>
        </p:txBody>
      </p:sp>
      <p:sp>
        <p:nvSpPr>
          <p:cNvPr id="45" name="pt3_42"/>
          <p:cNvSpPr/>
          <p:nvPr/>
        </p:nvSpPr>
        <p:spPr>
          <a:xfrm>
            <a:off x="8151876" y="5289804"/>
            <a:ext cx="82296" cy="82296"/>
          </a:xfrm>
          <a:prstGeom prst="ellipse">
            <a:avLst/>
          </a:prstGeom>
          <a:solidFill>
            <a:schemeClr val="accent1"/>
          </a:solidFill>
          <a:ln/>
        </p:spPr>
      </p:sp>
      <p:sp>
        <p:nvSpPr>
          <p:cNvPr id="46" name="pt3_43"/>
          <p:cNvSpPr txBox="1"/>
          <p:nvPr/>
        </p:nvSpPr>
        <p:spPr>
          <a:xfrm>
            <a:off x="8366760" y="5221224"/>
            <a:ext cx="3184855" cy="420624"/>
          </a:xfrm>
          <a:prstGeom prst="rect">
            <a:avLst/>
          </a:prstGeom>
          <a:noFill/>
          <a:ln/>
        </p:spPr>
        <p:txBody>
          <a:bodyPr wrap="square" lIns="0" tIns="0" rIns="0" bIns="0" rtlCol="0" anchor="t"/>
          <a:lstStyle/>
          <a:p>
            <a:pPr indent="0" marL="0">
              <a:buNone/>
            </a:pPr>
            <a:r>
              <a:rPr lang="en-US" sz="1150" dirty="0">
                <a:solidFill>
                  <a:srgbClr val="2A3650"/>
                </a:solidFill>
              </a:rPr>
              <a:t>Local map and scenario data support an offline demonstration</a:t>
            </a:r>
            <a:endParaRPr lang="en-US" sz="1150" dirty="0"/>
          </a:p>
        </p:txBody>
      </p:sp>
      <p:sp>
        <p:nvSpPr>
          <p:cNvPr id="47" name="bd_44"/>
          <p:cNvSpPr/>
          <p:nvPr/>
        </p:nvSpPr>
        <p:spPr>
          <a:xfrm>
            <a:off x="8138160" y="5760720"/>
            <a:ext cx="3413455" cy="0"/>
          </a:xfrm>
          <a:prstGeom prst="line">
            <a:avLst/>
          </a:prstGeom>
          <a:noFill/>
          <a:ln w="12700">
            <a:solidFill>
              <a:srgbClr val="D6D0C2"/>
            </a:solidFill>
            <a:prstDash val="solid"/>
          </a:ln>
        </p:spPr>
      </p:sp>
      <p:sp>
        <p:nvSpPr>
          <p:cNvPr id="48" name="bd_45"/>
          <p:cNvSpPr txBox="1"/>
          <p:nvPr/>
        </p:nvSpPr>
        <p:spPr>
          <a:xfrm>
            <a:off x="8138160" y="5833872"/>
            <a:ext cx="3413455"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No machine learning or LLM</a:t>
            </a:r>
            <a:pPr indent="0" marL="0">
              <a:buNone/>
            </a:pPr>
            <a:r>
              <a:rPr lang="en-US" sz="1100" dirty="0">
                <a:solidFill>
                  <a:schemeClr val="tx1"/>
                </a:solidFill>
              </a:rPr>
              <a:t> makes route decisions. Simulated incidents stay separate from real road data.</a:t>
            </a:r>
            <a:endParaRPr lang="en-US" sz="1100" dirty="0"/>
          </a:p>
        </p:txBody>
      </p:sp>
      <p:sp>
        <p:nvSpPr>
          <p:cNvPr id="49" name="jn_46"/>
          <p:cNvSpPr/>
          <p:nvPr/>
        </p:nvSpPr>
        <p:spPr>
          <a:xfrm>
            <a:off x="4343400" y="6537960"/>
            <a:ext cx="3520440" cy="0"/>
          </a:xfrm>
          <a:prstGeom prst="line">
            <a:avLst/>
          </a:prstGeom>
          <a:noFill/>
          <a:ln w="12700">
            <a:solidFill>
              <a:srgbClr val="D2CBBB"/>
            </a:solidFill>
            <a:prstDash val="solid"/>
          </a:ln>
        </p:spPr>
      </p:sp>
      <p:sp>
        <p:nvSpPr>
          <p:cNvPr id="50" name="jn_47"/>
          <p:cNvSpPr/>
          <p:nvPr/>
        </p:nvSpPr>
        <p:spPr>
          <a:xfrm>
            <a:off x="4343400" y="6537960"/>
            <a:ext cx="2112264" cy="0"/>
          </a:xfrm>
          <a:prstGeom prst="line">
            <a:avLst/>
          </a:prstGeom>
          <a:noFill/>
          <a:ln w="19050">
            <a:solidFill>
              <a:srgbClr val="14B8A6"/>
            </a:solidFill>
            <a:prstDash val="solid"/>
          </a:ln>
        </p:spPr>
      </p:sp>
      <p:sp>
        <p:nvSpPr>
          <p:cNvPr id="51" name="jseg_48"/>
          <p:cNvSpPr/>
          <p:nvPr/>
        </p:nvSpPr>
        <p:spPr>
          <a:xfrm>
            <a:off x="6455664" y="6537960"/>
            <a:ext cx="704088" cy="0"/>
          </a:xfrm>
          <a:prstGeom prst="line">
            <a:avLst/>
          </a:prstGeom>
          <a:noFill/>
          <a:ln w="19050">
            <a:solidFill>
              <a:srgbClr val="14B8A6"/>
            </a:solidFill>
            <a:prstDash val="solid"/>
          </a:ln>
        </p:spPr>
      </p:sp>
      <p:sp>
        <p:nvSpPr>
          <p:cNvPr id="52" name="jn_49"/>
          <p:cNvSpPr/>
          <p:nvPr/>
        </p:nvSpPr>
        <p:spPr>
          <a:xfrm>
            <a:off x="4306824" y="6501384"/>
            <a:ext cx="73152" cy="73152"/>
          </a:xfrm>
          <a:prstGeom prst="ellipse">
            <a:avLst/>
          </a:prstGeom>
          <a:solidFill>
            <a:schemeClr val="accent1"/>
          </a:solidFill>
          <a:ln/>
        </p:spPr>
      </p:sp>
      <p:sp>
        <p:nvSpPr>
          <p:cNvPr id="53" name="jn_50"/>
          <p:cNvSpPr/>
          <p:nvPr/>
        </p:nvSpPr>
        <p:spPr>
          <a:xfrm>
            <a:off x="5010912" y="6501384"/>
            <a:ext cx="73152" cy="73152"/>
          </a:xfrm>
          <a:prstGeom prst="ellipse">
            <a:avLst/>
          </a:prstGeom>
          <a:solidFill>
            <a:schemeClr val="accent1"/>
          </a:solidFill>
          <a:ln/>
        </p:spPr>
      </p:sp>
      <p:sp>
        <p:nvSpPr>
          <p:cNvPr id="54" name="jn_51"/>
          <p:cNvSpPr/>
          <p:nvPr/>
        </p:nvSpPr>
        <p:spPr>
          <a:xfrm>
            <a:off x="5715000" y="6501384"/>
            <a:ext cx="73152" cy="73152"/>
          </a:xfrm>
          <a:prstGeom prst="ellipse">
            <a:avLst/>
          </a:prstGeom>
          <a:solidFill>
            <a:schemeClr val="accent1"/>
          </a:solidFill>
          <a:ln/>
        </p:spPr>
      </p:sp>
      <p:sp>
        <p:nvSpPr>
          <p:cNvPr id="55" name="jn_52"/>
          <p:cNvSpPr/>
          <p:nvPr/>
        </p:nvSpPr>
        <p:spPr>
          <a:xfrm>
            <a:off x="6419088" y="6501384"/>
            <a:ext cx="73152" cy="73152"/>
          </a:xfrm>
          <a:prstGeom prst="ellipse">
            <a:avLst/>
          </a:prstGeom>
          <a:solidFill>
            <a:schemeClr val="accent1"/>
          </a:solidFill>
          <a:ln/>
        </p:spPr>
      </p:sp>
      <p:sp>
        <p:nvSpPr>
          <p:cNvPr id="56" name="jn_53"/>
          <p:cNvSpPr/>
          <p:nvPr/>
        </p:nvSpPr>
        <p:spPr>
          <a:xfrm>
            <a:off x="7123176" y="6501384"/>
            <a:ext cx="73152" cy="73152"/>
          </a:xfrm>
          <a:prstGeom prst="ellipse">
            <a:avLst/>
          </a:prstGeom>
          <a:solidFill>
            <a:srgbClr val="B8B1A0"/>
          </a:solidFill>
          <a:ln/>
        </p:spPr>
      </p:sp>
      <p:sp>
        <p:nvSpPr>
          <p:cNvPr id="57" name="jn_54"/>
          <p:cNvSpPr/>
          <p:nvPr/>
        </p:nvSpPr>
        <p:spPr>
          <a:xfrm>
            <a:off x="7827264" y="6501384"/>
            <a:ext cx="73152" cy="73152"/>
          </a:xfrm>
          <a:prstGeom prst="ellipse">
            <a:avLst/>
          </a:prstGeom>
          <a:solidFill>
            <a:srgbClr val="B8B1A0"/>
          </a:solidFill>
          <a:ln/>
        </p:spPr>
      </p:sp>
      <p:sp>
        <p:nvSpPr>
          <p:cNvPr id="58" name="jdot_55"/>
          <p:cNvSpPr/>
          <p:nvPr/>
        </p:nvSpPr>
        <p:spPr>
          <a:xfrm>
            <a:off x="7072884" y="6451092"/>
            <a:ext cx="173736" cy="173736"/>
          </a:xfrm>
          <a:prstGeom prst="ellipse">
            <a:avLst/>
          </a:prstGeom>
          <a:solidFill>
            <a:schemeClr val="accent1"/>
          </a:solidFill>
          <a:ln w="28575">
            <a:solidFill>
              <a:srgbClr val="F7F5F0"/>
            </a:solidFill>
            <a:prstDash val="solid"/>
          </a:ln>
        </p:spPr>
      </p:sp>
      <p:sp>
        <p:nvSpPr>
          <p:cNvPr id="59" name="Text 54"/>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05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9"/>
                                        </p:tgtEl>
                                        <p:attrNameLst>
                                          <p:attrName>style.visibility</p:attrName>
                                        </p:attrNameLst>
                                      </p:cBhvr>
                                      <p:to>
                                        <p:strVal val="visible"/>
                                      </p:to>
                                    </p:set>
                                    <p:animEffect transition="in" filter="fade">
                                      <p:cBhvr>
                                        <p:cTn id="6" dur="500"/>
                                        <p:tgtEl>
                                          <p:spTgt spid="49"/>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0"/>
                                        </p:tgtEl>
                                        <p:attrNameLst>
                                          <p:attrName>style.visibility</p:attrName>
                                        </p:attrNameLst>
                                      </p:cBhvr>
                                      <p:to>
                                        <p:strVal val="visible"/>
                                      </p:to>
                                    </p:set>
                                    <p:animEffect transition="in" filter="fade">
                                      <p:cBhvr>
                                        <p:cTn id="9" dur="500"/>
                                        <p:tgtEl>
                                          <p:spTgt spid="5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ppt_y</p:attrName>
                                        </p:attrNameLst>
                                      </p:cBhvr>
                                      <p:tavLst>
                                        <p:tav tm="0">
                                          <p:val>
                                            <p:strVal val="#ppt_y+.06"/>
                                          </p:val>
                                        </p:tav>
                                        <p:tav tm="100000">
                                          <p:val>
                                            <p:strVal val="#ppt_y"/>
                                          </p:val>
                                        </p:tav>
                                      </p:tavLst>
                                    </p:anim>
                                    <p:animEffect transition="in" filter="fade">
                                      <p:cBhvr>
                                        <p:cTn id="31" dur="45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50" fill="hold"/>
                                        <p:tgtEl>
                                          <p:spTgt spid="10"/>
                                        </p:tgtEl>
                                        <p:attrNameLst>
                                          <p:attrName>ppt_y</p:attrName>
                                        </p:attrNameLst>
                                      </p:cBhvr>
                                      <p:tavLst>
                                        <p:tav tm="0">
                                          <p:val>
                                            <p:strVal val="#ppt_y+.06"/>
                                          </p:val>
                                        </p:tav>
                                        <p:tav tm="100000">
                                          <p:val>
                                            <p:strVal val="#ppt_y"/>
                                          </p:val>
                                        </p:tav>
                                      </p:tavLst>
                                    </p:anim>
                                    <p:animEffect transition="in" filter="fade">
                                      <p:cBhvr>
                                        <p:cTn id="35" dur="45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50" fill="hold"/>
                                        <p:tgtEl>
                                          <p:spTgt spid="11"/>
                                        </p:tgtEl>
                                        <p:attrNameLst>
                                          <p:attrName>ppt_y</p:attrName>
                                        </p:attrNameLst>
                                      </p:cBhvr>
                                      <p:tavLst>
                                        <p:tav tm="0">
                                          <p:val>
                                            <p:strVal val="#ppt_y+.06"/>
                                          </p:val>
                                        </p:tav>
                                        <p:tav tm="100000">
                                          <p:val>
                                            <p:strVal val="#ppt_y"/>
                                          </p:val>
                                        </p:tav>
                                      </p:tavLst>
                                    </p:anim>
                                    <p:animEffect transition="in" filter="fade">
                                      <p:cBhvr>
                                        <p:cTn id="39" dur="45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50" fill="hold"/>
                                        <p:tgtEl>
                                          <p:spTgt spid="12"/>
                                        </p:tgtEl>
                                        <p:attrNameLst>
                                          <p:attrName>ppt_y</p:attrName>
                                        </p:attrNameLst>
                                      </p:cBhvr>
                                      <p:tavLst>
                                        <p:tav tm="0">
                                          <p:val>
                                            <p:strVal val="#ppt_y+.06"/>
                                          </p:val>
                                        </p:tav>
                                        <p:tav tm="100000">
                                          <p:val>
                                            <p:strVal val="#ppt_y"/>
                                          </p:val>
                                        </p:tav>
                                      </p:tavLst>
                                    </p:anim>
                                    <p:animEffect transition="in" filter="fade">
                                      <p:cBhvr>
                                        <p:cTn id="43" dur="45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450" fill="hold"/>
                                        <p:tgtEl>
                                          <p:spTgt spid="13"/>
                                        </p:tgtEl>
                                        <p:attrNameLst>
                                          <p:attrName>ppt_y</p:attrName>
                                        </p:attrNameLst>
                                      </p:cBhvr>
                                      <p:tavLst>
                                        <p:tav tm="0">
                                          <p:val>
                                            <p:strVal val="#ppt_y+.06"/>
                                          </p:val>
                                        </p:tav>
                                        <p:tav tm="100000">
                                          <p:val>
                                            <p:strVal val="#ppt_y"/>
                                          </p:val>
                                        </p:tav>
                                      </p:tavLst>
                                    </p:anim>
                                    <p:animEffect transition="in" filter="fade">
                                      <p:cBhvr>
                                        <p:cTn id="47" dur="450"/>
                                        <p:tgtEl>
                                          <p:spTgt spid="13"/>
                                        </p:tgtEl>
                                      </p:cBhvr>
                                    </p:animEffect>
                                  </p:childTnLst>
                                </p:cTn>
                              </p:par>
                              <p:par>
                                <p:cTn id="51" presetID="22" presetClass="entr" presetSubtype="8" fill="hold" grpId="0" nodeType="withEffect">
                                  <p:stCondLst>
                                    <p:cond delay="25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1500"/>
                                        <p:tgtEl>
                                          <p:spTgt spid="4"/>
                                        </p:tgtEl>
                                      </p:cBhvr>
                                    </p:animEffect>
                                  </p:childTnLst>
                                </p:cTn>
                              </p:par>
                              <p:par>
                                <p:cTn id="53" presetID="0" presetClass="path" presetSubtype="0" accel="50000" decel="50000" fill="hold" nodeType="withEffect">
                                  <p:stCondLst>
                                    <p:cond delay="500"/>
                                  </p:stCondLst>
                                  <p:childTnLst>
                                    <p:animMotion origin="layout" path="M -0.0578 0 L 0 0 E" pathEditMode="relative" rAng="0" ptsTypes="AA">
                                      <p:cBhvr>
                                        <p:cTn id="52" dur="1100" fill="hold"/>
                                        <p:tgtEl>
                                          <p:spTgt spid="58"/>
                                        </p:tgtEl>
                                        <p:attrNameLst>
                                          <p:attrName>ppt_x</p:attrName>
                                          <p:attrName>ppt_y</p:attrName>
                                        </p:attrNameLst>
                                      </p:cBhvr>
                                    </p:animMotion>
                                  </p:childTnLst>
                                </p:cTn>
                              </p:par>
                              <p:par>
                                <p:cTn id="56" presetID="22" presetClass="entr" presetSubtype="8" fill="hold" grpId="0" nodeType="withEffect">
                                  <p:stCondLst>
                                    <p:cond delay="50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1100"/>
                                        <p:tgtEl>
                                          <p:spTgt spid="51"/>
                                        </p:tgtEl>
                                      </p:cBhvr>
                                    </p:animEffect>
                                  </p:childTnLst>
                                </p:cTn>
                              </p:par>
                              <p:par>
                                <p:cTn id="60" presetID="42" presetClass="entr" presetSubtype="0" fill="hold" grpId="0" nodeType="withEffect">
                                  <p:stCondLst>
                                    <p:cond delay="55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450" fill="hold"/>
                                        <p:tgtEl>
                                          <p:spTgt spid="14"/>
                                        </p:tgtEl>
                                        <p:attrNameLst>
                                          <p:attrName>ppt_y</p:attrName>
                                        </p:attrNameLst>
                                      </p:cBhvr>
                                      <p:tavLst>
                                        <p:tav tm="0">
                                          <p:val>
                                            <p:strVal val="#ppt_y+.06"/>
                                          </p:val>
                                        </p:tav>
                                        <p:tav tm="100000">
                                          <p:val>
                                            <p:strVal val="#ppt_y"/>
                                          </p:val>
                                        </p:tav>
                                      </p:tavLst>
                                    </p:anim>
                                    <p:animEffect transition="in" filter="fade">
                                      <p:cBhvr>
                                        <p:cTn id="59" dur="450"/>
                                        <p:tgtEl>
                                          <p:spTgt spid="14"/>
                                        </p:tgtEl>
                                      </p:cBhvr>
                                    </p:animEffect>
                                  </p:childTnLst>
                                </p:cTn>
                              </p:par>
                              <p:par>
                                <p:cTn id="64" presetID="42" presetClass="entr" presetSubtype="0" fill="hold" grpId="0" nodeType="withEffect">
                                  <p:stCondLst>
                                    <p:cond delay="55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50" fill="hold"/>
                                        <p:tgtEl>
                                          <p:spTgt spid="15"/>
                                        </p:tgtEl>
                                        <p:attrNameLst>
                                          <p:attrName>ppt_y</p:attrName>
                                        </p:attrNameLst>
                                      </p:cBhvr>
                                      <p:tavLst>
                                        <p:tav tm="0">
                                          <p:val>
                                            <p:strVal val="#ppt_y+.06"/>
                                          </p:val>
                                        </p:tav>
                                        <p:tav tm="100000">
                                          <p:val>
                                            <p:strVal val="#ppt_y"/>
                                          </p:val>
                                        </p:tav>
                                      </p:tavLst>
                                    </p:anim>
                                    <p:animEffect transition="in" filter="fade">
                                      <p:cBhvr>
                                        <p:cTn id="63" dur="450"/>
                                        <p:tgtEl>
                                          <p:spTgt spid="15"/>
                                        </p:tgtEl>
                                      </p:cBhvr>
                                    </p:animEffect>
                                  </p:childTnLst>
                                </p:cTn>
                              </p:par>
                              <p:par>
                                <p:cTn id="68" presetID="42" presetClass="entr" presetSubtype="0" fill="hold" grpId="0" nodeType="withEffect">
                                  <p:stCondLst>
                                    <p:cond delay="55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50" fill="hold"/>
                                        <p:tgtEl>
                                          <p:spTgt spid="16"/>
                                        </p:tgtEl>
                                        <p:attrNameLst>
                                          <p:attrName>ppt_y</p:attrName>
                                        </p:attrNameLst>
                                      </p:cBhvr>
                                      <p:tavLst>
                                        <p:tav tm="0">
                                          <p:val>
                                            <p:strVal val="#ppt_y+.06"/>
                                          </p:val>
                                        </p:tav>
                                        <p:tav tm="100000">
                                          <p:val>
                                            <p:strVal val="#ppt_y"/>
                                          </p:val>
                                        </p:tav>
                                      </p:tavLst>
                                    </p:anim>
                                    <p:animEffect transition="in" filter="fade">
                                      <p:cBhvr>
                                        <p:cTn id="67" dur="450"/>
                                        <p:tgtEl>
                                          <p:spTgt spid="16"/>
                                        </p:tgtEl>
                                      </p:cBhvr>
                                    </p:animEffect>
                                  </p:childTnLst>
                                </p:cTn>
                              </p:par>
                              <p:par>
                                <p:cTn id="72" presetID="42" presetClass="entr" presetSubtype="0" fill="hold" grpId="0" nodeType="withEffect">
                                  <p:stCondLst>
                                    <p:cond delay="55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450" fill="hold"/>
                                        <p:tgtEl>
                                          <p:spTgt spid="17"/>
                                        </p:tgtEl>
                                        <p:attrNameLst>
                                          <p:attrName>ppt_y</p:attrName>
                                        </p:attrNameLst>
                                      </p:cBhvr>
                                      <p:tavLst>
                                        <p:tav tm="0">
                                          <p:val>
                                            <p:strVal val="#ppt_y+.06"/>
                                          </p:val>
                                        </p:tav>
                                        <p:tav tm="100000">
                                          <p:val>
                                            <p:strVal val="#ppt_y"/>
                                          </p:val>
                                        </p:tav>
                                      </p:tavLst>
                                    </p:anim>
                                    <p:animEffect transition="in" filter="fade">
                                      <p:cBhvr>
                                        <p:cTn id="71" dur="450"/>
                                        <p:tgtEl>
                                          <p:spTgt spid="17"/>
                                        </p:tgtEl>
                                      </p:cBhvr>
                                    </p:animEffect>
                                  </p:childTnLst>
                                </p:cTn>
                              </p:par>
                              <p:par>
                                <p:cTn id="76" presetID="42" presetClass="entr" presetSubtype="0" fill="hold" grpId="0" nodeType="withEffect">
                                  <p:stCondLst>
                                    <p:cond delay="55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450" fill="hold"/>
                                        <p:tgtEl>
                                          <p:spTgt spid="18"/>
                                        </p:tgtEl>
                                        <p:attrNameLst>
                                          <p:attrName>ppt_y</p:attrName>
                                        </p:attrNameLst>
                                      </p:cBhvr>
                                      <p:tavLst>
                                        <p:tav tm="0">
                                          <p:val>
                                            <p:strVal val="#ppt_y+.06"/>
                                          </p:val>
                                        </p:tav>
                                        <p:tav tm="100000">
                                          <p:val>
                                            <p:strVal val="#ppt_y"/>
                                          </p:val>
                                        </p:tav>
                                      </p:tavLst>
                                    </p:anim>
                                    <p:animEffect transition="in" filter="fade">
                                      <p:cBhvr>
                                        <p:cTn id="75" dur="450"/>
                                        <p:tgtEl>
                                          <p:spTgt spid="18"/>
                                        </p:tgtEl>
                                      </p:cBhvr>
                                    </p:animEffect>
                                  </p:childTnLst>
                                </p:cTn>
                              </p:par>
                              <p:par>
                                <p:cTn id="80" presetID="42" presetClass="entr" presetSubtype="0" fill="hold" grpId="0" nodeType="withEffect">
                                  <p:stCondLst>
                                    <p:cond delay="85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450" fill="hold"/>
                                        <p:tgtEl>
                                          <p:spTgt spid="19"/>
                                        </p:tgtEl>
                                        <p:attrNameLst>
                                          <p:attrName>ppt_y</p:attrName>
                                        </p:attrNameLst>
                                      </p:cBhvr>
                                      <p:tavLst>
                                        <p:tav tm="0">
                                          <p:val>
                                            <p:strVal val="#ppt_y+.06"/>
                                          </p:val>
                                        </p:tav>
                                        <p:tav tm="100000">
                                          <p:val>
                                            <p:strVal val="#ppt_y"/>
                                          </p:val>
                                        </p:tav>
                                      </p:tavLst>
                                    </p:anim>
                                    <p:animEffect transition="in" filter="fade">
                                      <p:cBhvr>
                                        <p:cTn id="79" dur="450"/>
                                        <p:tgtEl>
                                          <p:spTgt spid="19"/>
                                        </p:tgtEl>
                                      </p:cBhvr>
                                    </p:animEffect>
                                  </p:childTnLst>
                                </p:cTn>
                              </p:par>
                              <p:par>
                                <p:cTn id="84" presetID="42" presetClass="entr" presetSubtype="0" fill="hold" grpId="0" nodeType="withEffect">
                                  <p:stCondLst>
                                    <p:cond delay="85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450" fill="hold"/>
                                        <p:tgtEl>
                                          <p:spTgt spid="20"/>
                                        </p:tgtEl>
                                        <p:attrNameLst>
                                          <p:attrName>ppt_y</p:attrName>
                                        </p:attrNameLst>
                                      </p:cBhvr>
                                      <p:tavLst>
                                        <p:tav tm="0">
                                          <p:val>
                                            <p:strVal val="#ppt_y+.06"/>
                                          </p:val>
                                        </p:tav>
                                        <p:tav tm="100000">
                                          <p:val>
                                            <p:strVal val="#ppt_y"/>
                                          </p:val>
                                        </p:tav>
                                      </p:tavLst>
                                    </p:anim>
                                    <p:animEffect transition="in" filter="fade">
                                      <p:cBhvr>
                                        <p:cTn id="83" dur="450"/>
                                        <p:tgtEl>
                                          <p:spTgt spid="20"/>
                                        </p:tgtEl>
                                      </p:cBhvr>
                                    </p:animEffect>
                                  </p:childTnLst>
                                </p:cTn>
                              </p:par>
                              <p:par>
                                <p:cTn id="88" presetID="42" presetClass="entr" presetSubtype="0" fill="hold" grpId="0" nodeType="withEffect">
                                  <p:stCondLst>
                                    <p:cond delay="850"/>
                                  </p:stCondLst>
                                  <p:childTnLst>
                                    <p:set>
                                      <p:cBhvr>
                                        <p:cTn id="85" dur="1" fill="hold">
                                          <p:stCondLst>
                                            <p:cond delay="0"/>
                                          </p:stCondLst>
                                        </p:cTn>
                                        <p:tgtEl>
                                          <p:spTgt spid="21"/>
                                        </p:tgtEl>
                                        <p:attrNameLst>
                                          <p:attrName>style.visibility</p:attrName>
                                        </p:attrNameLst>
                                      </p:cBhvr>
                                      <p:to>
                                        <p:strVal val="visible"/>
                                      </p:to>
                                    </p:set>
                                    <p:anim calcmode="lin" valueType="num">
                                      <p:cBhvr additive="base">
                                        <p:cTn id="86" dur="450" fill="hold"/>
                                        <p:tgtEl>
                                          <p:spTgt spid="21"/>
                                        </p:tgtEl>
                                        <p:attrNameLst>
                                          <p:attrName>ppt_y</p:attrName>
                                        </p:attrNameLst>
                                      </p:cBhvr>
                                      <p:tavLst>
                                        <p:tav tm="0">
                                          <p:val>
                                            <p:strVal val="#ppt_y+.06"/>
                                          </p:val>
                                        </p:tav>
                                        <p:tav tm="100000">
                                          <p:val>
                                            <p:strVal val="#ppt_y"/>
                                          </p:val>
                                        </p:tav>
                                      </p:tavLst>
                                    </p:anim>
                                    <p:animEffect transition="in" filter="fade">
                                      <p:cBhvr>
                                        <p:cTn id="87" dur="450"/>
                                        <p:tgtEl>
                                          <p:spTgt spid="21"/>
                                        </p:tgtEl>
                                      </p:cBhvr>
                                    </p:animEffect>
                                  </p:childTnLst>
                                </p:cTn>
                              </p:par>
                              <p:par>
                                <p:cTn id="92" presetID="42" presetClass="entr" presetSubtype="0" fill="hold" grpId="0" nodeType="withEffect">
                                  <p:stCondLst>
                                    <p:cond delay="85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450" fill="hold"/>
                                        <p:tgtEl>
                                          <p:spTgt spid="22"/>
                                        </p:tgtEl>
                                        <p:attrNameLst>
                                          <p:attrName>ppt_y</p:attrName>
                                        </p:attrNameLst>
                                      </p:cBhvr>
                                      <p:tavLst>
                                        <p:tav tm="0">
                                          <p:val>
                                            <p:strVal val="#ppt_y+.06"/>
                                          </p:val>
                                        </p:tav>
                                        <p:tav tm="100000">
                                          <p:val>
                                            <p:strVal val="#ppt_y"/>
                                          </p:val>
                                        </p:tav>
                                      </p:tavLst>
                                    </p:anim>
                                    <p:animEffect transition="in" filter="fade">
                                      <p:cBhvr>
                                        <p:cTn id="91" dur="450"/>
                                        <p:tgtEl>
                                          <p:spTgt spid="22"/>
                                        </p:tgtEl>
                                      </p:cBhvr>
                                    </p:animEffect>
                                  </p:childTnLst>
                                </p:cTn>
                              </p:par>
                              <p:par>
                                <p:cTn id="96" presetID="42" presetClass="entr" presetSubtype="0" fill="hold" grpId="0" nodeType="withEffect">
                                  <p:stCondLst>
                                    <p:cond delay="850"/>
                                  </p:stCondLst>
                                  <p:childTnLst>
                                    <p:set>
                                      <p:cBhvr>
                                        <p:cTn id="93" dur="1" fill="hold">
                                          <p:stCondLst>
                                            <p:cond delay="0"/>
                                          </p:stCondLst>
                                        </p:cTn>
                                        <p:tgtEl>
                                          <p:spTgt spid="23"/>
                                        </p:tgtEl>
                                        <p:attrNameLst>
                                          <p:attrName>style.visibility</p:attrName>
                                        </p:attrNameLst>
                                      </p:cBhvr>
                                      <p:to>
                                        <p:strVal val="visible"/>
                                      </p:to>
                                    </p:set>
                                    <p:anim calcmode="lin" valueType="num">
                                      <p:cBhvr additive="base">
                                        <p:cTn id="94" dur="450" fill="hold"/>
                                        <p:tgtEl>
                                          <p:spTgt spid="23"/>
                                        </p:tgtEl>
                                        <p:attrNameLst>
                                          <p:attrName>ppt_y</p:attrName>
                                        </p:attrNameLst>
                                      </p:cBhvr>
                                      <p:tavLst>
                                        <p:tav tm="0">
                                          <p:val>
                                            <p:strVal val="#ppt_y+.06"/>
                                          </p:val>
                                        </p:tav>
                                        <p:tav tm="100000">
                                          <p:val>
                                            <p:strVal val="#ppt_y"/>
                                          </p:val>
                                        </p:tav>
                                      </p:tavLst>
                                    </p:anim>
                                    <p:animEffect transition="in" filter="fade">
                                      <p:cBhvr>
                                        <p:cTn id="95" dur="450"/>
                                        <p:tgtEl>
                                          <p:spTgt spid="23"/>
                                        </p:tgtEl>
                                      </p:cBhvr>
                                    </p:animEffect>
                                  </p:childTnLst>
                                </p:cTn>
                              </p:par>
                              <p:par>
                                <p:cTn id="100" presetID="42" presetClass="entr" presetSubtype="0" fill="hold" grpId="0" nodeType="withEffect">
                                  <p:stCondLst>
                                    <p:cond delay="1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ppt_y</p:attrName>
                                        </p:attrNameLst>
                                      </p:cBhvr>
                                      <p:tavLst>
                                        <p:tav tm="0">
                                          <p:val>
                                            <p:strVal val="#ppt_y+.06"/>
                                          </p:val>
                                        </p:tav>
                                        <p:tav tm="100000">
                                          <p:val>
                                            <p:strVal val="#ppt_y"/>
                                          </p:val>
                                        </p:tav>
                                      </p:tavLst>
                                    </p:anim>
                                    <p:animEffect transition="in" filter="fade">
                                      <p:cBhvr>
                                        <p:cTn id="99" dur="450"/>
                                        <p:tgtEl>
                                          <p:spTgt spid="24"/>
                                        </p:tgtEl>
                                      </p:cBhvr>
                                    </p:animEffect>
                                  </p:childTnLst>
                                </p:cTn>
                              </p:par>
                              <p:par>
                                <p:cTn id="104" presetID="42" presetClass="entr" presetSubtype="0" fill="hold" grpId="0" nodeType="withEffect">
                                  <p:stCondLst>
                                    <p:cond delay="1150"/>
                                  </p:stCondLst>
                                  <p:childTnLst>
                                    <p:set>
                                      <p:cBhvr>
                                        <p:cTn id="101" dur="1" fill="hold">
                                          <p:stCondLst>
                                            <p:cond delay="0"/>
                                          </p:stCondLst>
                                        </p:cTn>
                                        <p:tgtEl>
                                          <p:spTgt spid="25"/>
                                        </p:tgtEl>
                                        <p:attrNameLst>
                                          <p:attrName>style.visibility</p:attrName>
                                        </p:attrNameLst>
                                      </p:cBhvr>
                                      <p:to>
                                        <p:strVal val="visible"/>
                                      </p:to>
                                    </p:set>
                                    <p:anim calcmode="lin" valueType="num">
                                      <p:cBhvr additive="base">
                                        <p:cTn id="102" dur="450" fill="hold"/>
                                        <p:tgtEl>
                                          <p:spTgt spid="25"/>
                                        </p:tgtEl>
                                        <p:attrNameLst>
                                          <p:attrName>ppt_y</p:attrName>
                                        </p:attrNameLst>
                                      </p:cBhvr>
                                      <p:tavLst>
                                        <p:tav tm="0">
                                          <p:val>
                                            <p:strVal val="#ppt_y+.06"/>
                                          </p:val>
                                        </p:tav>
                                        <p:tav tm="100000">
                                          <p:val>
                                            <p:strVal val="#ppt_y"/>
                                          </p:val>
                                        </p:tav>
                                      </p:tavLst>
                                    </p:anim>
                                    <p:animEffect transition="in" filter="fade">
                                      <p:cBhvr>
                                        <p:cTn id="103" dur="450"/>
                                        <p:tgtEl>
                                          <p:spTgt spid="25"/>
                                        </p:tgtEl>
                                      </p:cBhvr>
                                    </p:animEffect>
                                  </p:childTnLst>
                                </p:cTn>
                              </p:par>
                              <p:par>
                                <p:cTn id="108" presetID="42" presetClass="entr" presetSubtype="0" fill="hold" grpId="0" nodeType="withEffect">
                                  <p:stCondLst>
                                    <p:cond delay="1150"/>
                                  </p:stCondLst>
                                  <p:childTnLst>
                                    <p:set>
                                      <p:cBhvr>
                                        <p:cTn id="105" dur="1" fill="hold">
                                          <p:stCondLst>
                                            <p:cond delay="0"/>
                                          </p:stCondLst>
                                        </p:cTn>
                                        <p:tgtEl>
                                          <p:spTgt spid="26"/>
                                        </p:tgtEl>
                                        <p:attrNameLst>
                                          <p:attrName>style.visibility</p:attrName>
                                        </p:attrNameLst>
                                      </p:cBhvr>
                                      <p:to>
                                        <p:strVal val="visible"/>
                                      </p:to>
                                    </p:set>
                                    <p:anim calcmode="lin" valueType="num">
                                      <p:cBhvr additive="base">
                                        <p:cTn id="106" dur="450" fill="hold"/>
                                        <p:tgtEl>
                                          <p:spTgt spid="26"/>
                                        </p:tgtEl>
                                        <p:attrNameLst>
                                          <p:attrName>ppt_y</p:attrName>
                                        </p:attrNameLst>
                                      </p:cBhvr>
                                      <p:tavLst>
                                        <p:tav tm="0">
                                          <p:val>
                                            <p:strVal val="#ppt_y+.06"/>
                                          </p:val>
                                        </p:tav>
                                        <p:tav tm="100000">
                                          <p:val>
                                            <p:strVal val="#ppt_y"/>
                                          </p:val>
                                        </p:tav>
                                      </p:tavLst>
                                    </p:anim>
                                    <p:animEffect transition="in" filter="fade">
                                      <p:cBhvr>
                                        <p:cTn id="107" dur="450"/>
                                        <p:tgtEl>
                                          <p:spTgt spid="26"/>
                                        </p:tgtEl>
                                      </p:cBhvr>
                                    </p:animEffect>
                                  </p:childTnLst>
                                </p:cTn>
                              </p:par>
                              <p:par>
                                <p:cTn id="112" presetID="42" presetClass="entr" presetSubtype="0" fill="hold" grpId="0" nodeType="withEffect">
                                  <p:stCondLst>
                                    <p:cond delay="115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450" fill="hold"/>
                                        <p:tgtEl>
                                          <p:spTgt spid="27"/>
                                        </p:tgtEl>
                                        <p:attrNameLst>
                                          <p:attrName>ppt_y</p:attrName>
                                        </p:attrNameLst>
                                      </p:cBhvr>
                                      <p:tavLst>
                                        <p:tav tm="0">
                                          <p:val>
                                            <p:strVal val="#ppt_y+.06"/>
                                          </p:val>
                                        </p:tav>
                                        <p:tav tm="100000">
                                          <p:val>
                                            <p:strVal val="#ppt_y"/>
                                          </p:val>
                                        </p:tav>
                                      </p:tavLst>
                                    </p:anim>
                                    <p:animEffect transition="in" filter="fade">
                                      <p:cBhvr>
                                        <p:cTn id="111" dur="450"/>
                                        <p:tgtEl>
                                          <p:spTgt spid="27"/>
                                        </p:tgtEl>
                                      </p:cBhvr>
                                    </p:animEffect>
                                  </p:childTnLst>
                                </p:cTn>
                              </p:par>
                              <p:par>
                                <p:cTn id="116" presetID="42" presetClass="entr" presetSubtype="0" fill="hold" grpId="0" nodeType="withEffect">
                                  <p:stCondLst>
                                    <p:cond delay="1150"/>
                                  </p:stCondLst>
                                  <p:childTnLst>
                                    <p:set>
                                      <p:cBhvr>
                                        <p:cTn id="113" dur="1" fill="hold">
                                          <p:stCondLst>
                                            <p:cond delay="0"/>
                                          </p:stCondLst>
                                        </p:cTn>
                                        <p:tgtEl>
                                          <p:spTgt spid="28"/>
                                        </p:tgtEl>
                                        <p:attrNameLst>
                                          <p:attrName>style.visibility</p:attrName>
                                        </p:attrNameLst>
                                      </p:cBhvr>
                                      <p:to>
                                        <p:strVal val="visible"/>
                                      </p:to>
                                    </p:set>
                                    <p:anim calcmode="lin" valueType="num">
                                      <p:cBhvr additive="base">
                                        <p:cTn id="114" dur="450" fill="hold"/>
                                        <p:tgtEl>
                                          <p:spTgt spid="28"/>
                                        </p:tgtEl>
                                        <p:attrNameLst>
                                          <p:attrName>ppt_y</p:attrName>
                                        </p:attrNameLst>
                                      </p:cBhvr>
                                      <p:tavLst>
                                        <p:tav tm="0">
                                          <p:val>
                                            <p:strVal val="#ppt_y+.06"/>
                                          </p:val>
                                        </p:tav>
                                        <p:tav tm="100000">
                                          <p:val>
                                            <p:strVal val="#ppt_y"/>
                                          </p:val>
                                        </p:tav>
                                      </p:tavLst>
                                    </p:anim>
                                    <p:animEffect transition="in" filter="fade">
                                      <p:cBhvr>
                                        <p:cTn id="115" dur="450"/>
                                        <p:tgtEl>
                                          <p:spTgt spid="28"/>
                                        </p:tgtEl>
                                      </p:cBhvr>
                                    </p:animEffect>
                                  </p:childTnLst>
                                </p:cTn>
                              </p:par>
                              <p:par>
                                <p:cTn id="120" presetID="42" presetClass="entr" presetSubtype="0" fill="hold" grpId="0" nodeType="withEffect">
                                  <p:stCondLst>
                                    <p:cond delay="1450"/>
                                  </p:stCondLst>
                                  <p:childTnLst>
                                    <p:set>
                                      <p:cBhvr>
                                        <p:cTn id="117" dur="1" fill="hold">
                                          <p:stCondLst>
                                            <p:cond delay="0"/>
                                          </p:stCondLst>
                                        </p:cTn>
                                        <p:tgtEl>
                                          <p:spTgt spid="29"/>
                                        </p:tgtEl>
                                        <p:attrNameLst>
                                          <p:attrName>style.visibility</p:attrName>
                                        </p:attrNameLst>
                                      </p:cBhvr>
                                      <p:to>
                                        <p:strVal val="visible"/>
                                      </p:to>
                                    </p:set>
                                    <p:anim calcmode="lin" valueType="num">
                                      <p:cBhvr additive="base">
                                        <p:cTn id="118" dur="450" fill="hold"/>
                                        <p:tgtEl>
                                          <p:spTgt spid="29"/>
                                        </p:tgtEl>
                                        <p:attrNameLst>
                                          <p:attrName>ppt_y</p:attrName>
                                        </p:attrNameLst>
                                      </p:cBhvr>
                                      <p:tavLst>
                                        <p:tav tm="0">
                                          <p:val>
                                            <p:strVal val="#ppt_y+.06"/>
                                          </p:val>
                                        </p:tav>
                                        <p:tav tm="100000">
                                          <p:val>
                                            <p:strVal val="#ppt_y"/>
                                          </p:val>
                                        </p:tav>
                                      </p:tavLst>
                                    </p:anim>
                                    <p:animEffect transition="in" filter="fade">
                                      <p:cBhvr>
                                        <p:cTn id="119" dur="450"/>
                                        <p:tgtEl>
                                          <p:spTgt spid="29"/>
                                        </p:tgtEl>
                                      </p:cBhvr>
                                    </p:animEffect>
                                  </p:childTnLst>
                                </p:cTn>
                              </p:par>
                              <p:par>
                                <p:cTn id="124" presetID="42" presetClass="entr" presetSubtype="0" fill="hold" grpId="0" nodeType="withEffect">
                                  <p:stCondLst>
                                    <p:cond delay="145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ppt_y</p:attrName>
                                        </p:attrNameLst>
                                      </p:cBhvr>
                                      <p:tavLst>
                                        <p:tav tm="0">
                                          <p:val>
                                            <p:strVal val="#ppt_y+.06"/>
                                          </p:val>
                                        </p:tav>
                                        <p:tav tm="100000">
                                          <p:val>
                                            <p:strVal val="#ppt_y"/>
                                          </p:val>
                                        </p:tav>
                                      </p:tavLst>
                                    </p:anim>
                                    <p:animEffect transition="in" filter="fade">
                                      <p:cBhvr>
                                        <p:cTn id="123" dur="450"/>
                                        <p:tgtEl>
                                          <p:spTgt spid="30"/>
                                        </p:tgtEl>
                                      </p:cBhvr>
                                    </p:animEffect>
                                  </p:childTnLst>
                                </p:cTn>
                              </p:par>
                              <p:par>
                                <p:cTn id="128" presetID="42" presetClass="entr" presetSubtype="0" fill="hold" grpId="0" nodeType="withEffect">
                                  <p:stCondLst>
                                    <p:cond delay="145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450" fill="hold"/>
                                        <p:tgtEl>
                                          <p:spTgt spid="31"/>
                                        </p:tgtEl>
                                        <p:attrNameLst>
                                          <p:attrName>ppt_y</p:attrName>
                                        </p:attrNameLst>
                                      </p:cBhvr>
                                      <p:tavLst>
                                        <p:tav tm="0">
                                          <p:val>
                                            <p:strVal val="#ppt_y+.06"/>
                                          </p:val>
                                        </p:tav>
                                        <p:tav tm="100000">
                                          <p:val>
                                            <p:strVal val="#ppt_y"/>
                                          </p:val>
                                        </p:tav>
                                      </p:tavLst>
                                    </p:anim>
                                    <p:animEffect transition="in" filter="fade">
                                      <p:cBhvr>
                                        <p:cTn id="127" dur="450"/>
                                        <p:tgtEl>
                                          <p:spTgt spid="31"/>
                                        </p:tgtEl>
                                      </p:cBhvr>
                                    </p:animEffect>
                                  </p:childTnLst>
                                </p:cTn>
                              </p:par>
                              <p:par>
                                <p:cTn id="132" presetID="42" presetClass="entr" presetSubtype="0" fill="hold" grpId="0" nodeType="withEffect">
                                  <p:stCondLst>
                                    <p:cond delay="1450"/>
                                  </p:stCondLst>
                                  <p:childTnLst>
                                    <p:set>
                                      <p:cBhvr>
                                        <p:cTn id="129" dur="1" fill="hold">
                                          <p:stCondLst>
                                            <p:cond delay="0"/>
                                          </p:stCondLst>
                                        </p:cTn>
                                        <p:tgtEl>
                                          <p:spTgt spid="32"/>
                                        </p:tgtEl>
                                        <p:attrNameLst>
                                          <p:attrName>style.visibility</p:attrName>
                                        </p:attrNameLst>
                                      </p:cBhvr>
                                      <p:to>
                                        <p:strVal val="visible"/>
                                      </p:to>
                                    </p:set>
                                    <p:anim calcmode="lin" valueType="num">
                                      <p:cBhvr additive="base">
                                        <p:cTn id="130" dur="450" fill="hold"/>
                                        <p:tgtEl>
                                          <p:spTgt spid="32"/>
                                        </p:tgtEl>
                                        <p:attrNameLst>
                                          <p:attrName>ppt_y</p:attrName>
                                        </p:attrNameLst>
                                      </p:cBhvr>
                                      <p:tavLst>
                                        <p:tav tm="0">
                                          <p:val>
                                            <p:strVal val="#ppt_y+.06"/>
                                          </p:val>
                                        </p:tav>
                                        <p:tav tm="100000">
                                          <p:val>
                                            <p:strVal val="#ppt_y"/>
                                          </p:val>
                                        </p:tav>
                                      </p:tavLst>
                                    </p:anim>
                                    <p:animEffect transition="in" filter="fade">
                                      <p:cBhvr>
                                        <p:cTn id="131" dur="450"/>
                                        <p:tgtEl>
                                          <p:spTgt spid="32"/>
                                        </p:tgtEl>
                                      </p:cBhvr>
                                    </p:animEffect>
                                  </p:childTnLst>
                                </p:cTn>
                              </p:par>
                              <p:par>
                                <p:cTn id="136" presetID="42" presetClass="entr" presetSubtype="0" fill="hold" grpId="0" nodeType="withEffect">
                                  <p:stCondLst>
                                    <p:cond delay="1450"/>
                                  </p:stCondLst>
                                  <p:childTnLst>
                                    <p:set>
                                      <p:cBhvr>
                                        <p:cTn id="133" dur="1" fill="hold">
                                          <p:stCondLst>
                                            <p:cond delay="0"/>
                                          </p:stCondLst>
                                        </p:cTn>
                                        <p:tgtEl>
                                          <p:spTgt spid="33"/>
                                        </p:tgtEl>
                                        <p:attrNameLst>
                                          <p:attrName>style.visibility</p:attrName>
                                        </p:attrNameLst>
                                      </p:cBhvr>
                                      <p:to>
                                        <p:strVal val="visible"/>
                                      </p:to>
                                    </p:set>
                                    <p:anim calcmode="lin" valueType="num">
                                      <p:cBhvr additive="base">
                                        <p:cTn id="134" dur="450" fill="hold"/>
                                        <p:tgtEl>
                                          <p:spTgt spid="33"/>
                                        </p:tgtEl>
                                        <p:attrNameLst>
                                          <p:attrName>ppt_y</p:attrName>
                                        </p:attrNameLst>
                                      </p:cBhvr>
                                      <p:tavLst>
                                        <p:tav tm="0">
                                          <p:val>
                                            <p:strVal val="#ppt_y+.06"/>
                                          </p:val>
                                        </p:tav>
                                        <p:tav tm="100000">
                                          <p:val>
                                            <p:strVal val="#ppt_y"/>
                                          </p:val>
                                        </p:tav>
                                      </p:tavLst>
                                    </p:anim>
                                    <p:animEffect transition="in" filter="fade">
                                      <p:cBhvr>
                                        <p:cTn id="135" dur="450"/>
                                        <p:tgtEl>
                                          <p:spTgt spid="33"/>
                                        </p:tgtEl>
                                      </p:cBhvr>
                                    </p:animEffect>
                                  </p:childTnLst>
                                </p:cTn>
                              </p:par>
                              <p:par>
                                <p:cTn id="139" presetID="10" presetClass="entr" presetSubtype="0" fill="hold" grpId="0" nodeType="withEffect">
                                  <p:stCondLst>
                                    <p:cond delay="1500"/>
                                  </p:stCondLst>
                                  <p:childTnLst>
                                    <p:set>
                                      <p:cBhvr>
                                        <p:cTn id="137" dur="1" fill="hold">
                                          <p:stCondLst>
                                            <p:cond delay="0"/>
                                          </p:stCondLst>
                                        </p:cTn>
                                        <p:tgtEl>
                                          <p:spTgt spid="34"/>
                                        </p:tgtEl>
                                        <p:attrNameLst>
                                          <p:attrName>style.visibility</p:attrName>
                                        </p:attrNameLst>
                                      </p:cBhvr>
                                      <p:to>
                                        <p:strVal val="visible"/>
                                      </p:to>
                                    </p:set>
                                    <p:animEffect transition="in" filter="fade">
                                      <p:cBhvr>
                                        <p:cTn id="138" dur="600"/>
                                        <p:tgtEl>
                                          <p:spTgt spid="34"/>
                                        </p:tgtEl>
                                      </p:cBhvr>
                                    </p:animEffect>
                                  </p:childTnLst>
                                </p:cTn>
                              </p:par>
                              <p:par>
                                <p:cTn id="142" presetID="10" presetClass="entr" presetSubtype="0" fill="hold" nodeType="withEffect">
                                  <p:stCondLst>
                                    <p:cond delay="1500"/>
                                  </p:stCondLst>
                                  <p:childTnLst>
                                    <p:set>
                                      <p:cBhvr>
                                        <p:cTn id="140" dur="1" fill="hold">
                                          <p:stCondLst>
                                            <p:cond delay="0"/>
                                          </p:stCondLst>
                                        </p:cTn>
                                        <p:tgtEl>
                                          <p:spTgt spid="35"/>
                                        </p:tgtEl>
                                        <p:attrNameLst>
                                          <p:attrName>style.visibility</p:attrName>
                                        </p:attrNameLst>
                                      </p:cBhvr>
                                      <p:to>
                                        <p:strVal val="visible"/>
                                      </p:to>
                                    </p:set>
                                    <p:animEffect transition="in" filter="fade">
                                      <p:cBhvr>
                                        <p:cTn id="141" dur="600"/>
                                        <p:tgtEl>
                                          <p:spTgt spid="35"/>
                                        </p:tgtEl>
                                      </p:cBhvr>
                                    </p:animEffect>
                                  </p:childTnLst>
                                </p:cTn>
                              </p:par>
                              <p:par>
                                <p:cTn id="145" presetID="10" presetClass="entr" presetSubtype="0" fill="hold" nodeType="withEffect">
                                  <p:stCondLst>
                                    <p:cond delay="150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44" dur="600"/>
                                        <p:tgtEl>
                                          <p:spTgt spid="36"/>
                                        </p:tgtEl>
                                      </p:cBhvr>
                                    </p:animEffect>
                                  </p:childTnLst>
                                </p:cTn>
                              </p:par>
                              <p:par>
                                <p:cTn id="148" presetID="10" presetClass="entr" presetSubtype="0" fill="hold" nodeType="withEffect">
                                  <p:stCondLst>
                                    <p:cond delay="15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600"/>
                                        <p:tgtEl>
                                          <p:spTgt spid="37"/>
                                        </p:tgtEl>
                                      </p:cBhvr>
                                    </p:animEffect>
                                  </p:childTnLst>
                                </p:cTn>
                              </p:par>
                              <p:par>
                                <p:cTn id="151" presetID="10"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600"/>
                                        <p:tgtEl>
                                          <p:spTgt spid="38"/>
                                        </p:tgtEl>
                                      </p:cBhvr>
                                    </p:animEffect>
                                  </p:childTnLst>
                                </p:cTn>
                              </p:par>
                              <p:par>
                                <p:cTn id="155" presetID="42" presetClass="entr" presetSubtype="0" fill="hold" grpId="0" nodeType="withEffect">
                                  <p:stCondLst>
                                    <p:cond delay="2100"/>
                                  </p:stCondLst>
                                  <p:childTnLst>
                                    <p:set>
                                      <p:cBhvr>
                                        <p:cTn id="152" dur="1" fill="hold">
                                          <p:stCondLst>
                                            <p:cond delay="0"/>
                                          </p:stCondLst>
                                        </p:cTn>
                                        <p:tgtEl>
                                          <p:spTgt spid="41"/>
                                        </p:tgtEl>
                                        <p:attrNameLst>
                                          <p:attrName>style.visibility</p:attrName>
                                        </p:attrNameLst>
                                      </p:cBhvr>
                                      <p:to>
                                        <p:strVal val="visible"/>
                                      </p:to>
                                    </p:set>
                                    <p:anim calcmode="lin" valueType="num">
                                      <p:cBhvr additive="base">
                                        <p:cTn id="153" dur="400" fill="hold"/>
                                        <p:tgtEl>
                                          <p:spTgt spid="41"/>
                                        </p:tgtEl>
                                        <p:attrNameLst>
                                          <p:attrName>ppt_y</p:attrName>
                                        </p:attrNameLst>
                                      </p:cBhvr>
                                      <p:tavLst>
                                        <p:tav tm="0">
                                          <p:val>
                                            <p:strVal val="#ppt_y+.06"/>
                                          </p:val>
                                        </p:tav>
                                        <p:tav tm="100000">
                                          <p:val>
                                            <p:strVal val="#ppt_y"/>
                                          </p:val>
                                        </p:tav>
                                      </p:tavLst>
                                    </p:anim>
                                    <p:animEffect transition="in" filter="fade">
                                      <p:cBhvr>
                                        <p:cTn id="154" dur="400"/>
                                        <p:tgtEl>
                                          <p:spTgt spid="41"/>
                                        </p:tgtEl>
                                      </p:cBhvr>
                                    </p:animEffect>
                                  </p:childTnLst>
                                </p:cTn>
                              </p:par>
                              <p:par>
                                <p:cTn id="159" presetID="42" presetClass="entr" presetSubtype="0" fill="hold" grpId="0" nodeType="withEffect">
                                  <p:stCondLst>
                                    <p:cond delay="210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400" fill="hold"/>
                                        <p:tgtEl>
                                          <p:spTgt spid="42"/>
                                        </p:tgtEl>
                                        <p:attrNameLst>
                                          <p:attrName>ppt_y</p:attrName>
                                        </p:attrNameLst>
                                      </p:cBhvr>
                                      <p:tavLst>
                                        <p:tav tm="0">
                                          <p:val>
                                            <p:strVal val="#ppt_y+.06"/>
                                          </p:val>
                                        </p:tav>
                                        <p:tav tm="100000">
                                          <p:val>
                                            <p:strVal val="#ppt_y"/>
                                          </p:val>
                                        </p:tav>
                                      </p:tavLst>
                                    </p:anim>
                                    <p:animEffect transition="in" filter="fade">
                                      <p:cBhvr>
                                        <p:cTn id="158" dur="400"/>
                                        <p:tgtEl>
                                          <p:spTgt spid="42"/>
                                        </p:tgtEl>
                                      </p:cBhvr>
                                    </p:animEffect>
                                  </p:childTnLst>
                                </p:cTn>
                              </p:par>
                              <p:par>
                                <p:cTn id="163" presetID="42" presetClass="entr" presetSubtype="0" fill="hold" grpId="0" nodeType="withEffect">
                                  <p:stCondLst>
                                    <p:cond delay="2300"/>
                                  </p:stCondLst>
                                  <p:childTnLst>
                                    <p:set>
                                      <p:cBhvr>
                                        <p:cTn id="160" dur="1" fill="hold">
                                          <p:stCondLst>
                                            <p:cond delay="0"/>
                                          </p:stCondLst>
                                        </p:cTn>
                                        <p:tgtEl>
                                          <p:spTgt spid="43"/>
                                        </p:tgtEl>
                                        <p:attrNameLst>
                                          <p:attrName>style.visibility</p:attrName>
                                        </p:attrNameLst>
                                      </p:cBhvr>
                                      <p:to>
                                        <p:strVal val="visible"/>
                                      </p:to>
                                    </p:set>
                                    <p:anim calcmode="lin" valueType="num">
                                      <p:cBhvr additive="base">
                                        <p:cTn id="161" dur="400" fill="hold"/>
                                        <p:tgtEl>
                                          <p:spTgt spid="43"/>
                                        </p:tgtEl>
                                        <p:attrNameLst>
                                          <p:attrName>ppt_y</p:attrName>
                                        </p:attrNameLst>
                                      </p:cBhvr>
                                      <p:tavLst>
                                        <p:tav tm="0">
                                          <p:val>
                                            <p:strVal val="#ppt_y+.06"/>
                                          </p:val>
                                        </p:tav>
                                        <p:tav tm="100000">
                                          <p:val>
                                            <p:strVal val="#ppt_y"/>
                                          </p:val>
                                        </p:tav>
                                      </p:tavLst>
                                    </p:anim>
                                    <p:animEffect transition="in" filter="fade">
                                      <p:cBhvr>
                                        <p:cTn id="162" dur="400"/>
                                        <p:tgtEl>
                                          <p:spTgt spid="43"/>
                                        </p:tgtEl>
                                      </p:cBhvr>
                                    </p:animEffect>
                                  </p:childTnLst>
                                </p:cTn>
                              </p:par>
                              <p:par>
                                <p:cTn id="167" presetID="42" presetClass="entr" presetSubtype="0" fill="hold" grpId="0" nodeType="withEffect">
                                  <p:stCondLst>
                                    <p:cond delay="2300"/>
                                  </p:stCondLst>
                                  <p:childTnLst>
                                    <p:set>
                                      <p:cBhvr>
                                        <p:cTn id="164" dur="1" fill="hold">
                                          <p:stCondLst>
                                            <p:cond delay="0"/>
                                          </p:stCondLst>
                                        </p:cTn>
                                        <p:tgtEl>
                                          <p:spTgt spid="44"/>
                                        </p:tgtEl>
                                        <p:attrNameLst>
                                          <p:attrName>style.visibility</p:attrName>
                                        </p:attrNameLst>
                                      </p:cBhvr>
                                      <p:to>
                                        <p:strVal val="visible"/>
                                      </p:to>
                                    </p:set>
                                    <p:anim calcmode="lin" valueType="num">
                                      <p:cBhvr additive="base">
                                        <p:cTn id="165" dur="400" fill="hold"/>
                                        <p:tgtEl>
                                          <p:spTgt spid="44"/>
                                        </p:tgtEl>
                                        <p:attrNameLst>
                                          <p:attrName>ppt_y</p:attrName>
                                        </p:attrNameLst>
                                      </p:cBhvr>
                                      <p:tavLst>
                                        <p:tav tm="0">
                                          <p:val>
                                            <p:strVal val="#ppt_y+.06"/>
                                          </p:val>
                                        </p:tav>
                                        <p:tav tm="100000">
                                          <p:val>
                                            <p:strVal val="#ppt_y"/>
                                          </p:val>
                                        </p:tav>
                                      </p:tavLst>
                                    </p:anim>
                                    <p:animEffect transition="in" filter="fade">
                                      <p:cBhvr>
                                        <p:cTn id="166" dur="400"/>
                                        <p:tgtEl>
                                          <p:spTgt spid="44"/>
                                        </p:tgtEl>
                                      </p:cBhvr>
                                    </p:animEffect>
                                  </p:childTnLst>
                                </p:cTn>
                              </p:par>
                              <p:par>
                                <p:cTn id="171" presetID="42" presetClass="entr" presetSubtype="0" fill="hold" grpId="0" nodeType="withEffect">
                                  <p:stCondLst>
                                    <p:cond delay="2500"/>
                                  </p:stCondLst>
                                  <p:childTnLst>
                                    <p:set>
                                      <p:cBhvr>
                                        <p:cTn id="168" dur="1" fill="hold">
                                          <p:stCondLst>
                                            <p:cond delay="0"/>
                                          </p:stCondLst>
                                        </p:cTn>
                                        <p:tgtEl>
                                          <p:spTgt spid="45"/>
                                        </p:tgtEl>
                                        <p:attrNameLst>
                                          <p:attrName>style.visibility</p:attrName>
                                        </p:attrNameLst>
                                      </p:cBhvr>
                                      <p:to>
                                        <p:strVal val="visible"/>
                                      </p:to>
                                    </p:set>
                                    <p:anim calcmode="lin" valueType="num">
                                      <p:cBhvr additive="base">
                                        <p:cTn id="169" dur="400" fill="hold"/>
                                        <p:tgtEl>
                                          <p:spTgt spid="45"/>
                                        </p:tgtEl>
                                        <p:attrNameLst>
                                          <p:attrName>ppt_y</p:attrName>
                                        </p:attrNameLst>
                                      </p:cBhvr>
                                      <p:tavLst>
                                        <p:tav tm="0">
                                          <p:val>
                                            <p:strVal val="#ppt_y+.06"/>
                                          </p:val>
                                        </p:tav>
                                        <p:tav tm="100000">
                                          <p:val>
                                            <p:strVal val="#ppt_y"/>
                                          </p:val>
                                        </p:tav>
                                      </p:tavLst>
                                    </p:anim>
                                    <p:animEffect transition="in" filter="fade">
                                      <p:cBhvr>
                                        <p:cTn id="170" dur="400"/>
                                        <p:tgtEl>
                                          <p:spTgt spid="45"/>
                                        </p:tgtEl>
                                      </p:cBhvr>
                                    </p:animEffect>
                                  </p:childTnLst>
                                </p:cTn>
                              </p:par>
                              <p:par>
                                <p:cTn id="175" presetID="42" presetClass="entr" presetSubtype="0" fill="hold" grpId="0" nodeType="withEffect">
                                  <p:stCondLst>
                                    <p:cond delay="2500"/>
                                  </p:stCondLst>
                                  <p:childTnLst>
                                    <p:set>
                                      <p:cBhvr>
                                        <p:cTn id="172" dur="1" fill="hold">
                                          <p:stCondLst>
                                            <p:cond delay="0"/>
                                          </p:stCondLst>
                                        </p:cTn>
                                        <p:tgtEl>
                                          <p:spTgt spid="46"/>
                                        </p:tgtEl>
                                        <p:attrNameLst>
                                          <p:attrName>style.visibility</p:attrName>
                                        </p:attrNameLst>
                                      </p:cBhvr>
                                      <p:to>
                                        <p:strVal val="visible"/>
                                      </p:to>
                                    </p:set>
                                    <p:anim calcmode="lin" valueType="num">
                                      <p:cBhvr additive="base">
                                        <p:cTn id="173" dur="400" fill="hold"/>
                                        <p:tgtEl>
                                          <p:spTgt spid="46"/>
                                        </p:tgtEl>
                                        <p:attrNameLst>
                                          <p:attrName>ppt_y</p:attrName>
                                        </p:attrNameLst>
                                      </p:cBhvr>
                                      <p:tavLst>
                                        <p:tav tm="0">
                                          <p:val>
                                            <p:strVal val="#ppt_y+.06"/>
                                          </p:val>
                                        </p:tav>
                                        <p:tav tm="100000">
                                          <p:val>
                                            <p:strVal val="#ppt_y"/>
                                          </p:val>
                                        </p:tav>
                                      </p:tavLst>
                                    </p:anim>
                                    <p:animEffect transition="in" filter="fade">
                                      <p:cBhvr>
                                        <p:cTn id="174" dur="400"/>
                                        <p:tgtEl>
                                          <p:spTgt spid="46"/>
                                        </p:tgtEl>
                                      </p:cBhvr>
                                    </p:animEffect>
                                  </p:childTnLst>
                                </p:cTn>
                              </p:par>
                              <p:par>
                                <p:cTn id="178" presetID="10" presetClass="entr" presetSubtype="0" fill="hold" grpId="0" nodeType="withEffect">
                                  <p:stCondLst>
                                    <p:cond delay="3000"/>
                                  </p:stCondLst>
                                  <p:childTnLst>
                                    <p:set>
                                      <p:cBhvr>
                                        <p:cTn id="176" dur="1" fill="hold">
                                          <p:stCondLst>
                                            <p:cond delay="0"/>
                                          </p:stCondLst>
                                        </p:cTn>
                                        <p:tgtEl>
                                          <p:spTgt spid="47"/>
                                        </p:tgtEl>
                                        <p:attrNameLst>
                                          <p:attrName>style.visibility</p:attrName>
                                        </p:attrNameLst>
                                      </p:cBhvr>
                                      <p:to>
                                        <p:strVal val="visible"/>
                                      </p:to>
                                    </p:set>
                                    <p:animEffect transition="in" filter="fade">
                                      <p:cBhvr>
                                        <p:cTn id="177" dur="500"/>
                                        <p:tgtEl>
                                          <p:spTgt spid="47"/>
                                        </p:tgtEl>
                                      </p:cBhvr>
                                    </p:animEffect>
                                  </p:childTnLst>
                                </p:cTn>
                              </p:par>
                              <p:par>
                                <p:cTn id="181" presetID="10" presetClass="entr" presetSubtype="0" fill="hold" grpId="0" nodeType="withEffect">
                                  <p:stCondLst>
                                    <p:cond delay="3000"/>
                                  </p:stCondLst>
                                  <p:childTnLst>
                                    <p:set>
                                      <p:cBhvr>
                                        <p:cTn id="179" dur="1" fill="hold">
                                          <p:stCondLst>
                                            <p:cond delay="0"/>
                                          </p:stCondLst>
                                        </p:cTn>
                                        <p:tgtEl>
                                          <p:spTgt spid="48"/>
                                        </p:tgtEl>
                                        <p:attrNameLst>
                                          <p:attrName>style.visibility</p:attrName>
                                        </p:attrNameLst>
                                      </p:cBhvr>
                                      <p:to>
                                        <p:strVal val="visible"/>
                                      </p:to>
                                    </p:set>
                                    <p:animEffect transition="in" filter="fade">
                                      <p:cBhvr>
                                        <p:cTn id="18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2" grpId="0" animBg="1"/>
      <p:bldP spid="53" grpId="0" animBg="1"/>
      <p:bldP spid="54" grpId="0" animBg="1"/>
      <p:bldP spid="55" grpId="0" animBg="1"/>
      <p:bldP spid="56" grpId="0" animBg="1"/>
      <p:bldP spid="57" grpId="0" animBg="1"/>
      <p:bldP spid="9" grpId="0" animBg="1"/>
      <p:bldP spid="10" grpId="0" animBg="1"/>
      <p:bldP spid="11" grpId="0" animBg="1"/>
      <p:bldP spid="12" grpId="0" animBg="1"/>
      <p:bldP spid="13" grpId="0" animBg="1"/>
      <p:bldP spid="4" grpId="0" animBg="1"/>
      <p:bldP spid="5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8"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06  —  LIVE DEMO, IMPACT AND ROADMAP</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Demonstrate the Decision. Prove the Difference</a:t>
            </a:r>
            <a:endParaRPr lang="en-US" sz="3400" dirty="0"/>
          </a:p>
        </p:txBody>
      </p:sp>
      <p:sp>
        <p:nvSpPr>
          <p:cNvPr id="4" name="h0_1"/>
          <p:cNvSpPr txBox="1"/>
          <p:nvPr/>
        </p:nvSpPr>
        <p:spPr>
          <a:xfrm>
            <a:off x="640080" y="1783080"/>
            <a:ext cx="4023360" cy="256032"/>
          </a:xfrm>
          <a:prstGeom prst="rect">
            <a:avLst/>
          </a:prstGeom>
          <a:noFill/>
          <a:ln/>
        </p:spPr>
        <p:txBody>
          <a:bodyPr wrap="square" lIns="0" tIns="0" rIns="0" bIns="0" rtlCol="0" anchor="t"/>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Live hackathon demonstration</a:t>
            </a:r>
            <a:endParaRPr lang="en-US" sz="1400" dirty="0"/>
          </a:p>
        </p:txBody>
      </p:sp>
      <p:sp>
        <p:nvSpPr>
          <p:cNvPr id="5" name="h0_2"/>
          <p:cNvSpPr txBox="1"/>
          <p:nvPr/>
        </p:nvSpPr>
        <p:spPr>
          <a:xfrm>
            <a:off x="640080" y="2057400"/>
            <a:ext cx="4023360" cy="219456"/>
          </a:xfrm>
          <a:prstGeom prst="rect">
            <a:avLst/>
          </a:prstGeom>
          <a:noFill/>
          <a:ln/>
        </p:spPr>
        <p:txBody>
          <a:bodyPr wrap="square" lIns="0" tIns="0" rIns="0" bIns="0" rtlCol="0" anchor="t"/>
          <a:lstStyle/>
          <a:p>
            <a:pPr indent="0" marL="0">
              <a:buNone/>
            </a:pPr>
            <a:r>
              <a:rPr lang="en-US" sz="1100" dirty="0">
                <a:solidFill>
                  <a:schemeClr val="accent5"/>
                </a:solidFill>
              </a:rPr>
              <a:t>Prototype, simulated incidents</a:t>
            </a:r>
            <a:endParaRPr lang="en-US" sz="1100" dirty="0"/>
          </a:p>
        </p:txBody>
      </p:sp>
      <p:sp>
        <p:nvSpPr>
          <p:cNvPr id="6" name="h0_3"/>
          <p:cNvSpPr/>
          <p:nvPr/>
        </p:nvSpPr>
        <p:spPr>
          <a:xfrm>
            <a:off x="640080" y="2386584"/>
            <a:ext cx="4023360" cy="0"/>
          </a:xfrm>
          <a:prstGeom prst="line">
            <a:avLst/>
          </a:prstGeom>
          <a:noFill/>
          <a:ln w="12700">
            <a:solidFill>
              <a:srgbClr val="D6D0C2"/>
            </a:solidFill>
            <a:prstDash val="solid"/>
          </a:ln>
        </p:spPr>
      </p:sp>
      <p:sp>
        <p:nvSpPr>
          <p:cNvPr id="7" name="h1_4"/>
          <p:cNvSpPr txBox="1"/>
          <p:nvPr/>
        </p:nvSpPr>
        <p:spPr>
          <a:xfrm>
            <a:off x="4937760" y="1783080"/>
            <a:ext cx="2697480" cy="256032"/>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Potential impact</a:t>
            </a:r>
            <a:endParaRPr lang="en-US" sz="1400" dirty="0"/>
          </a:p>
        </p:txBody>
      </p:sp>
      <p:sp>
        <p:nvSpPr>
          <p:cNvPr id="8" name="h1_5"/>
          <p:cNvSpPr txBox="1"/>
          <p:nvPr/>
        </p:nvSpPr>
        <p:spPr>
          <a:xfrm>
            <a:off x="4937760" y="2057400"/>
            <a:ext cx="2697480" cy="219456"/>
          </a:xfrm>
          <a:prstGeom prst="rect">
            <a:avLst/>
          </a:prstGeom>
          <a:noFill/>
          <a:ln/>
        </p:spPr>
        <p:txBody>
          <a:bodyPr wrap="square" lIns="0" tIns="0" rIns="0" bIns="0" rtlCol="0" anchor="t"/>
          <a:lstStyle/>
          <a:p>
            <a:pPr indent="0" marL="0">
              <a:buNone/>
            </a:pPr>
            <a:r>
              <a:rPr lang="en-US" sz="1100" dirty="0">
                <a:solidFill>
                  <a:schemeClr val="accent5"/>
                </a:solidFill>
              </a:rPr>
              <a:t>What this enables</a:t>
            </a:r>
            <a:endParaRPr lang="en-US" sz="1100" dirty="0"/>
          </a:p>
        </p:txBody>
      </p:sp>
      <p:sp>
        <p:nvSpPr>
          <p:cNvPr id="9" name="h1_6"/>
          <p:cNvSpPr/>
          <p:nvPr/>
        </p:nvSpPr>
        <p:spPr>
          <a:xfrm>
            <a:off x="4937760" y="2386584"/>
            <a:ext cx="2697480" cy="0"/>
          </a:xfrm>
          <a:prstGeom prst="line">
            <a:avLst/>
          </a:prstGeom>
          <a:noFill/>
          <a:ln w="12700">
            <a:solidFill>
              <a:srgbClr val="D6D0C2"/>
            </a:solidFill>
            <a:prstDash val="solid"/>
          </a:ln>
        </p:spPr>
      </p:sp>
      <p:sp>
        <p:nvSpPr>
          <p:cNvPr id="10" name="h2_7"/>
          <p:cNvSpPr txBox="1"/>
          <p:nvPr/>
        </p:nvSpPr>
        <p:spPr>
          <a:xfrm>
            <a:off x="7909560" y="1783080"/>
            <a:ext cx="3642055" cy="256032"/>
          </a:xfrm>
          <a:prstGeom prst="rect">
            <a:avLst/>
          </a:prstGeom>
          <a:noFill/>
          <a:ln/>
        </p:spPr>
        <p:txBody>
          <a:bodyPr wrap="square" lIns="0" tIns="0" rIns="0" bIns="0" rtlCol="0" anchor="t"/>
          <a:lstStyle/>
          <a:p>
            <a:pPr indent="0" marL="0">
              <a:buNone/>
            </a:pPr>
            <a:r>
              <a:rPr lang="en-US" sz="1400" dirty="0">
                <a:solidFill>
                  <a:srgbClr val="B45309"/>
                </a:solidFill>
                <a:latin typeface="Segoe UI Semibold" pitchFamily="34" charset="0"/>
                <a:ea typeface="Segoe UI Semibold" pitchFamily="34" charset="-122"/>
                <a:cs typeface="Segoe UI Semibold" pitchFamily="34" charset="-120"/>
              </a:rPr>
              <a:t>Future roadmap</a:t>
            </a:r>
            <a:endParaRPr lang="en-US" sz="1400" dirty="0"/>
          </a:p>
        </p:txBody>
      </p:sp>
      <p:sp>
        <p:nvSpPr>
          <p:cNvPr id="11" name="h2_8"/>
          <p:cNvSpPr txBox="1"/>
          <p:nvPr/>
        </p:nvSpPr>
        <p:spPr>
          <a:xfrm>
            <a:off x="7909560" y="2057400"/>
            <a:ext cx="3642055" cy="219456"/>
          </a:xfrm>
          <a:prstGeom prst="rect">
            <a:avLst/>
          </a:prstGeom>
          <a:noFill/>
          <a:ln/>
        </p:spPr>
        <p:txBody>
          <a:bodyPr wrap="square" lIns="0" tIns="0" rIns="0" bIns="0" rtlCol="0" anchor="t"/>
          <a:lstStyle/>
          <a:p>
            <a:pPr indent="0" marL="0">
              <a:buNone/>
            </a:pPr>
            <a:r>
              <a:rPr lang="en-US" sz="1100" dirty="0">
                <a:solidFill>
                  <a:schemeClr val="accent5"/>
                </a:solidFill>
              </a:rPr>
              <a:t>Proposed, not yet built</a:t>
            </a:r>
            <a:endParaRPr lang="en-US" sz="1100" dirty="0"/>
          </a:p>
        </p:txBody>
      </p:sp>
      <p:sp>
        <p:nvSpPr>
          <p:cNvPr id="12" name="h2_9"/>
          <p:cNvSpPr/>
          <p:nvPr/>
        </p:nvSpPr>
        <p:spPr>
          <a:xfrm>
            <a:off x="7909560" y="2386584"/>
            <a:ext cx="3642055" cy="0"/>
          </a:xfrm>
          <a:prstGeom prst="line">
            <a:avLst/>
          </a:prstGeom>
          <a:noFill/>
          <a:ln w="12700">
            <a:solidFill>
              <a:srgbClr val="D6D0C2"/>
            </a:solidFill>
            <a:prstDash val="solid"/>
          </a:ln>
        </p:spPr>
      </p:sp>
      <p:sp>
        <p:nvSpPr>
          <p:cNvPr id="13" name="d1_10"/>
          <p:cNvSpPr txBox="1"/>
          <p:nvPr/>
        </p:nvSpPr>
        <p:spPr>
          <a:xfrm>
            <a:off x="640080" y="2514600"/>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1</a:t>
            </a:r>
            <a:endParaRPr lang="en-US" sz="1500" dirty="0"/>
          </a:p>
        </p:txBody>
      </p:sp>
      <p:sp>
        <p:nvSpPr>
          <p:cNvPr id="14" name="d1_11"/>
          <p:cNvSpPr txBox="1"/>
          <p:nvPr/>
        </p:nvSpPr>
        <p:spPr>
          <a:xfrm>
            <a:off x="1005840" y="2514600"/>
            <a:ext cx="3611880" cy="402336"/>
          </a:xfrm>
          <a:prstGeom prst="rect">
            <a:avLst/>
          </a:prstGeom>
          <a:noFill/>
          <a:ln/>
        </p:spPr>
        <p:txBody>
          <a:bodyPr wrap="square" lIns="0" tIns="0" rIns="0" bIns="0" rtlCol="0" anchor="ctr"/>
          <a:lstStyle/>
          <a:p>
            <a:pPr indent="0" marL="0">
              <a:buNone/>
            </a:pPr>
            <a:r>
              <a:rPr lang="en-US" sz="1200" dirty="0">
                <a:solidFill>
                  <a:schemeClr val="tx1"/>
                </a:solidFill>
              </a:rPr>
              <a:t>Start with three candidate routes</a:t>
            </a:r>
            <a:endParaRPr lang="en-US" sz="1200" dirty="0"/>
          </a:p>
        </p:txBody>
      </p:sp>
      <p:sp>
        <p:nvSpPr>
          <p:cNvPr id="15" name="d2_12"/>
          <p:cNvSpPr txBox="1"/>
          <p:nvPr/>
        </p:nvSpPr>
        <p:spPr>
          <a:xfrm>
            <a:off x="640080" y="2953512"/>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2</a:t>
            </a:r>
            <a:endParaRPr lang="en-US" sz="1500" dirty="0"/>
          </a:p>
        </p:txBody>
      </p:sp>
      <p:sp>
        <p:nvSpPr>
          <p:cNvPr id="16" name="d2_13"/>
          <p:cNvSpPr txBox="1"/>
          <p:nvPr/>
        </p:nvSpPr>
        <p:spPr>
          <a:xfrm>
            <a:off x="1005840" y="2953512"/>
            <a:ext cx="3611880" cy="402336"/>
          </a:xfrm>
          <a:prstGeom prst="rect">
            <a:avLst/>
          </a:prstGeom>
          <a:noFill/>
          <a:ln/>
        </p:spPr>
        <p:txBody>
          <a:bodyPr wrap="square" lIns="0" tIns="0" rIns="0" bIns="0" rtlCol="0" anchor="ctr"/>
          <a:lstStyle/>
          <a:p>
            <a:pPr indent="0" marL="0">
              <a:buNone/>
            </a:pPr>
            <a:r>
              <a:rPr lang="en-US" sz="1200" dirty="0">
                <a:solidFill>
                  <a:schemeClr val="tx1"/>
                </a:solidFill>
              </a:rPr>
              <a:t>Add one unverified flood report: the route stays unchanged, and the reason is shown</a:t>
            </a:r>
            <a:endParaRPr lang="en-US" sz="1200" dirty="0"/>
          </a:p>
        </p:txBody>
      </p:sp>
      <p:sp>
        <p:nvSpPr>
          <p:cNvPr id="17" name="d3_14"/>
          <p:cNvSpPr txBox="1"/>
          <p:nvPr/>
        </p:nvSpPr>
        <p:spPr>
          <a:xfrm>
            <a:off x="640080" y="3392424"/>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3</a:t>
            </a:r>
            <a:endParaRPr lang="en-US" sz="1500" dirty="0"/>
          </a:p>
        </p:txBody>
      </p:sp>
      <p:sp>
        <p:nvSpPr>
          <p:cNvPr id="18" name="d3_15"/>
          <p:cNvSpPr txBox="1"/>
          <p:nvPr/>
        </p:nvSpPr>
        <p:spPr>
          <a:xfrm>
            <a:off x="1005840" y="3392424"/>
            <a:ext cx="3611880" cy="402336"/>
          </a:xfrm>
          <a:prstGeom prst="rect">
            <a:avLst/>
          </a:prstGeom>
          <a:noFill/>
          <a:ln/>
        </p:spPr>
        <p:txBody>
          <a:bodyPr wrap="square" lIns="0" tIns="0" rIns="0" bIns="0" rtlCol="0" anchor="ctr"/>
          <a:lstStyle/>
          <a:p>
            <a:pPr indent="0" marL="0">
              <a:buNone/>
            </a:pPr>
            <a:r>
              <a:rPr lang="en-US" sz="1200" dirty="0">
                <a:solidFill>
                  <a:schemeClr val="tx1"/>
                </a:solidFill>
              </a:rPr>
              <a:t>Corroborate a severe flood report: the underpass route is rejected</a:t>
            </a:r>
            <a:endParaRPr lang="en-US" sz="1200" dirty="0"/>
          </a:p>
        </p:txBody>
      </p:sp>
      <p:sp>
        <p:nvSpPr>
          <p:cNvPr id="19" name="d4_16"/>
          <p:cNvSpPr txBox="1"/>
          <p:nvPr/>
        </p:nvSpPr>
        <p:spPr>
          <a:xfrm>
            <a:off x="640080" y="3831336"/>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4</a:t>
            </a:r>
            <a:endParaRPr lang="en-US" sz="1500" dirty="0"/>
          </a:p>
        </p:txBody>
      </p:sp>
      <p:sp>
        <p:nvSpPr>
          <p:cNvPr id="20" name="d4_17"/>
          <p:cNvSpPr txBox="1"/>
          <p:nvPr/>
        </p:nvSpPr>
        <p:spPr>
          <a:xfrm>
            <a:off x="1005840" y="3831336"/>
            <a:ext cx="3611880" cy="402336"/>
          </a:xfrm>
          <a:prstGeom prst="rect">
            <a:avLst/>
          </a:prstGeom>
          <a:noFill/>
          <a:ln/>
        </p:spPr>
        <p:txBody>
          <a:bodyPr wrap="square" lIns="0" tIns="0" rIns="0" bIns="0" rtlCol="0" anchor="ctr"/>
          <a:lstStyle/>
          <a:p>
            <a:pPr indent="0" marL="0">
              <a:buNone/>
            </a:pPr>
            <a:r>
              <a:rPr lang="en-US" sz="1200" dirty="0">
                <a:solidFill>
                  <a:schemeClr val="tx1"/>
                </a:solidFill>
              </a:rPr>
              <a:t>Increase flyover congestion: potential switch to the farther crossing</a:t>
            </a:r>
            <a:endParaRPr lang="en-US" sz="1200" dirty="0"/>
          </a:p>
        </p:txBody>
      </p:sp>
      <p:sp>
        <p:nvSpPr>
          <p:cNvPr id="21" name="d5_18"/>
          <p:cNvSpPr txBox="1"/>
          <p:nvPr/>
        </p:nvSpPr>
        <p:spPr>
          <a:xfrm>
            <a:off x="640080" y="4270248"/>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5</a:t>
            </a:r>
            <a:endParaRPr lang="en-US" sz="1500" dirty="0"/>
          </a:p>
        </p:txBody>
      </p:sp>
      <p:sp>
        <p:nvSpPr>
          <p:cNvPr id="22" name="d5_19"/>
          <p:cNvSpPr txBox="1"/>
          <p:nvPr/>
        </p:nvSpPr>
        <p:spPr>
          <a:xfrm>
            <a:off x="1005840" y="4270248"/>
            <a:ext cx="3611880" cy="402336"/>
          </a:xfrm>
          <a:prstGeom prst="rect">
            <a:avLst/>
          </a:prstGeom>
          <a:noFill/>
          <a:ln/>
        </p:spPr>
        <p:txBody>
          <a:bodyPr wrap="square" lIns="0" tIns="0" rIns="0" bIns="0" rtlCol="0" anchor="ctr"/>
          <a:lstStyle/>
          <a:p>
            <a:pPr indent="0" marL="0">
              <a:buNone/>
            </a:pPr>
            <a:r>
              <a:rPr lang="en-US" sz="1200" dirty="0">
                <a:solidFill>
                  <a:schemeClr val="tx1"/>
                </a:solidFill>
              </a:rPr>
              <a:t>Open the evidence timeline: every change is explained</a:t>
            </a:r>
            <a:endParaRPr lang="en-US" sz="1200" dirty="0"/>
          </a:p>
        </p:txBody>
      </p:sp>
      <p:sp>
        <p:nvSpPr>
          <p:cNvPr id="23" name="p1_20"/>
          <p:cNvSpPr/>
          <p:nvPr/>
        </p:nvSpPr>
        <p:spPr>
          <a:xfrm>
            <a:off x="4946904" y="2606040"/>
            <a:ext cx="73152" cy="73152"/>
          </a:xfrm>
          <a:prstGeom prst="ellipse">
            <a:avLst/>
          </a:prstGeom>
          <a:solidFill>
            <a:schemeClr val="accent5"/>
          </a:solidFill>
          <a:ln/>
        </p:spPr>
      </p:sp>
      <p:sp>
        <p:nvSpPr>
          <p:cNvPr id="24" name="p1_21"/>
          <p:cNvSpPr txBox="1"/>
          <p:nvPr/>
        </p:nvSpPr>
        <p:spPr>
          <a:xfrm>
            <a:off x="5166360" y="2514600"/>
            <a:ext cx="2468880" cy="512064"/>
          </a:xfrm>
          <a:prstGeom prst="rect">
            <a:avLst/>
          </a:prstGeom>
          <a:noFill/>
          <a:ln/>
        </p:spPr>
        <p:txBody>
          <a:bodyPr wrap="square" lIns="0" tIns="0" rIns="0" bIns="0" rtlCol="0" anchor="t"/>
          <a:lstStyle/>
          <a:p>
            <a:pPr indent="0" marL="0">
              <a:buNone/>
            </a:pPr>
            <a:r>
              <a:rPr lang="en-US" sz="1200" dirty="0">
                <a:solidFill>
                  <a:schemeClr val="tx1"/>
                </a:solidFill>
              </a:rPr>
              <a:t>Better-informed route choices during emergencies</a:t>
            </a:r>
            <a:endParaRPr lang="en-US" sz="1200" dirty="0"/>
          </a:p>
        </p:txBody>
      </p:sp>
      <p:sp>
        <p:nvSpPr>
          <p:cNvPr id="25" name="p2_22"/>
          <p:cNvSpPr/>
          <p:nvPr/>
        </p:nvSpPr>
        <p:spPr>
          <a:xfrm>
            <a:off x="4946904" y="3154680"/>
            <a:ext cx="73152" cy="73152"/>
          </a:xfrm>
          <a:prstGeom prst="ellipse">
            <a:avLst/>
          </a:prstGeom>
          <a:solidFill>
            <a:schemeClr val="accent5"/>
          </a:solidFill>
          <a:ln/>
        </p:spPr>
      </p:sp>
      <p:sp>
        <p:nvSpPr>
          <p:cNvPr id="26" name="p2_23"/>
          <p:cNvSpPr txBox="1"/>
          <p:nvPr/>
        </p:nvSpPr>
        <p:spPr>
          <a:xfrm>
            <a:off x="5166360" y="3063240"/>
            <a:ext cx="2468880" cy="512064"/>
          </a:xfrm>
          <a:prstGeom prst="rect">
            <a:avLst/>
          </a:prstGeom>
          <a:noFill/>
          <a:ln/>
        </p:spPr>
        <p:txBody>
          <a:bodyPr wrap="square" lIns="0" tIns="0" rIns="0" bIns="0" rtlCol="0" anchor="t"/>
          <a:lstStyle/>
          <a:p>
            <a:pPr indent="0" marL="0">
              <a:buNone/>
            </a:pPr>
            <a:r>
              <a:rPr lang="en-US" sz="1200" dirty="0">
                <a:solidFill>
                  <a:schemeClr val="tx1"/>
                </a:solidFill>
              </a:rPr>
              <a:t>Transparent communication of uncertainty</a:t>
            </a:r>
            <a:endParaRPr lang="en-US" sz="1200" dirty="0"/>
          </a:p>
        </p:txBody>
      </p:sp>
      <p:sp>
        <p:nvSpPr>
          <p:cNvPr id="27" name="p3_24"/>
          <p:cNvSpPr/>
          <p:nvPr/>
        </p:nvSpPr>
        <p:spPr>
          <a:xfrm>
            <a:off x="4946904" y="3703320"/>
            <a:ext cx="73152" cy="73152"/>
          </a:xfrm>
          <a:prstGeom prst="ellipse">
            <a:avLst/>
          </a:prstGeom>
          <a:solidFill>
            <a:schemeClr val="accent5"/>
          </a:solidFill>
          <a:ln/>
        </p:spPr>
      </p:sp>
      <p:sp>
        <p:nvSpPr>
          <p:cNvPr id="28" name="p3_25"/>
          <p:cNvSpPr txBox="1"/>
          <p:nvPr/>
        </p:nvSpPr>
        <p:spPr>
          <a:xfrm>
            <a:off x="5166360" y="3611880"/>
            <a:ext cx="2468880" cy="512064"/>
          </a:xfrm>
          <a:prstGeom prst="rect">
            <a:avLst/>
          </a:prstGeom>
          <a:noFill/>
          <a:ln/>
        </p:spPr>
        <p:txBody>
          <a:bodyPr wrap="square" lIns="0" tIns="0" rIns="0" bIns="0" rtlCol="0" anchor="t"/>
          <a:lstStyle/>
          <a:p>
            <a:pPr indent="0" marL="0">
              <a:buNone/>
            </a:pPr>
            <a:r>
              <a:rPr lang="en-US" sz="1200" dirty="0">
                <a:solidFill>
                  <a:schemeClr val="tx1"/>
                </a:solidFill>
              </a:rPr>
              <a:t>Adaptation to changing road conditions</a:t>
            </a:r>
            <a:endParaRPr lang="en-US" sz="1200" dirty="0"/>
          </a:p>
        </p:txBody>
      </p:sp>
      <p:sp>
        <p:nvSpPr>
          <p:cNvPr id="29" name="p4_26"/>
          <p:cNvSpPr/>
          <p:nvPr/>
        </p:nvSpPr>
        <p:spPr>
          <a:xfrm>
            <a:off x="4946904" y="4251960"/>
            <a:ext cx="73152" cy="73152"/>
          </a:xfrm>
          <a:prstGeom prst="ellipse">
            <a:avLst/>
          </a:prstGeom>
          <a:solidFill>
            <a:schemeClr val="accent5"/>
          </a:solidFill>
          <a:ln/>
        </p:spPr>
      </p:sp>
      <p:sp>
        <p:nvSpPr>
          <p:cNvPr id="30" name="p4_27"/>
          <p:cNvSpPr txBox="1"/>
          <p:nvPr/>
        </p:nvSpPr>
        <p:spPr>
          <a:xfrm>
            <a:off x="5166360" y="4160520"/>
            <a:ext cx="2468880" cy="512064"/>
          </a:xfrm>
          <a:prstGeom prst="rect">
            <a:avLst/>
          </a:prstGeom>
          <a:noFill/>
          <a:ln/>
        </p:spPr>
        <p:txBody>
          <a:bodyPr wrap="square" lIns="0" tIns="0" rIns="0" bIns="0" rtlCol="0" anchor="t"/>
          <a:lstStyle/>
          <a:p>
            <a:pPr indent="0" marL="0">
              <a:buNone/>
            </a:pPr>
            <a:r>
              <a:rPr lang="en-US" sz="1200" dirty="0">
                <a:solidFill>
                  <a:schemeClr val="tx1"/>
                </a:solidFill>
              </a:rPr>
              <a:t>A foundation for inclusive, accessible emergency navigation</a:t>
            </a:r>
            <a:endParaRPr lang="en-US" sz="1200" dirty="0"/>
          </a:p>
        </p:txBody>
      </p:sp>
      <p:sp>
        <p:nvSpPr>
          <p:cNvPr id="31" name="r1_28"/>
          <p:cNvSpPr/>
          <p:nvPr/>
        </p:nvSpPr>
        <p:spPr>
          <a:xfrm>
            <a:off x="7918704" y="2587752"/>
            <a:ext cx="73152" cy="73152"/>
          </a:xfrm>
          <a:prstGeom prst="ellipse">
            <a:avLst/>
          </a:prstGeom>
          <a:solidFill>
            <a:schemeClr val="accent2"/>
          </a:solidFill>
          <a:ln/>
        </p:spPr>
      </p:sp>
      <p:sp>
        <p:nvSpPr>
          <p:cNvPr id="32" name="r1_29"/>
          <p:cNvSpPr txBox="1"/>
          <p:nvPr/>
        </p:nvSpPr>
        <p:spPr>
          <a:xfrm>
            <a:off x="8138160" y="2514600"/>
            <a:ext cx="3413455" cy="420624"/>
          </a:xfrm>
          <a:prstGeom prst="rect">
            <a:avLst/>
          </a:prstGeom>
          <a:noFill/>
          <a:ln/>
        </p:spPr>
        <p:txBody>
          <a:bodyPr wrap="square" lIns="0" tIns="0" rIns="0" bIns="0" rtlCol="0" anchor="t"/>
          <a:lstStyle/>
          <a:p>
            <a:pPr indent="0" marL="0">
              <a:buNone/>
            </a:pPr>
            <a:r>
              <a:rPr lang="en-US" sz="1200" dirty="0">
                <a:solidFill>
                  <a:schemeClr val="tx1"/>
                </a:solidFill>
              </a:rPr>
              <a:t>Official emergency-alert and traffic-authority integrations</a:t>
            </a:r>
            <a:endParaRPr lang="en-US" sz="1200" dirty="0"/>
          </a:p>
        </p:txBody>
      </p:sp>
      <p:sp>
        <p:nvSpPr>
          <p:cNvPr id="33" name="r2_30"/>
          <p:cNvSpPr/>
          <p:nvPr/>
        </p:nvSpPr>
        <p:spPr>
          <a:xfrm>
            <a:off x="7918704" y="3044952"/>
            <a:ext cx="73152" cy="73152"/>
          </a:xfrm>
          <a:prstGeom prst="ellipse">
            <a:avLst/>
          </a:prstGeom>
          <a:solidFill>
            <a:schemeClr val="accent2"/>
          </a:solidFill>
          <a:ln/>
        </p:spPr>
      </p:sp>
      <p:sp>
        <p:nvSpPr>
          <p:cNvPr id="34" name="r2_31"/>
          <p:cNvSpPr txBox="1"/>
          <p:nvPr/>
        </p:nvSpPr>
        <p:spPr>
          <a:xfrm>
            <a:off x="8138160" y="2971800"/>
            <a:ext cx="3413455" cy="420624"/>
          </a:xfrm>
          <a:prstGeom prst="rect">
            <a:avLst/>
          </a:prstGeom>
          <a:noFill/>
          <a:ln/>
        </p:spPr>
        <p:txBody>
          <a:bodyPr wrap="square" lIns="0" tIns="0" rIns="0" bIns="0" rtlCol="0" anchor="t"/>
          <a:lstStyle/>
          <a:p>
            <a:pPr indent="0" marL="0">
              <a:buNone/>
            </a:pPr>
            <a:r>
              <a:rPr lang="en-US" sz="1200" dirty="0">
                <a:solidFill>
                  <a:schemeClr val="tx1"/>
                </a:solidFill>
              </a:rPr>
              <a:t>Accessibility-aware route profiles</a:t>
            </a:r>
            <a:endParaRPr lang="en-US" sz="1200" dirty="0"/>
          </a:p>
        </p:txBody>
      </p:sp>
      <p:sp>
        <p:nvSpPr>
          <p:cNvPr id="35" name="r3_32"/>
          <p:cNvSpPr/>
          <p:nvPr/>
        </p:nvSpPr>
        <p:spPr>
          <a:xfrm>
            <a:off x="7918704" y="3337560"/>
            <a:ext cx="73152" cy="73152"/>
          </a:xfrm>
          <a:prstGeom prst="ellipse">
            <a:avLst/>
          </a:prstGeom>
          <a:solidFill>
            <a:schemeClr val="accent2"/>
          </a:solidFill>
          <a:ln/>
        </p:spPr>
      </p:sp>
      <p:sp>
        <p:nvSpPr>
          <p:cNvPr id="36" name="r3_33"/>
          <p:cNvSpPr txBox="1"/>
          <p:nvPr/>
        </p:nvSpPr>
        <p:spPr>
          <a:xfrm>
            <a:off x="8138160" y="3264408"/>
            <a:ext cx="3413455" cy="420624"/>
          </a:xfrm>
          <a:prstGeom prst="rect">
            <a:avLst/>
          </a:prstGeom>
          <a:noFill/>
          <a:ln/>
        </p:spPr>
        <p:txBody>
          <a:bodyPr wrap="square" lIns="0" tIns="0" rIns="0" bIns="0" rtlCol="0" anchor="t"/>
          <a:lstStyle/>
          <a:p>
            <a:pPr indent="0" marL="0">
              <a:buNone/>
            </a:pPr>
            <a:r>
              <a:rPr lang="en-US" sz="1200" dirty="0">
                <a:solidFill>
                  <a:schemeClr val="tx1"/>
                </a:solidFill>
              </a:rPr>
              <a:t>Voice guidance in Hindi, Punjabi and English</a:t>
            </a:r>
            <a:endParaRPr lang="en-US" sz="1200" dirty="0"/>
          </a:p>
        </p:txBody>
      </p:sp>
      <p:sp>
        <p:nvSpPr>
          <p:cNvPr id="37" name="r4_34"/>
          <p:cNvSpPr/>
          <p:nvPr/>
        </p:nvSpPr>
        <p:spPr>
          <a:xfrm>
            <a:off x="7918704" y="3630168"/>
            <a:ext cx="73152" cy="73152"/>
          </a:xfrm>
          <a:prstGeom prst="ellipse">
            <a:avLst/>
          </a:prstGeom>
          <a:solidFill>
            <a:schemeClr val="accent2"/>
          </a:solidFill>
          <a:ln/>
        </p:spPr>
      </p:sp>
      <p:sp>
        <p:nvSpPr>
          <p:cNvPr id="38" name="r4_35"/>
          <p:cNvSpPr txBox="1"/>
          <p:nvPr/>
        </p:nvSpPr>
        <p:spPr>
          <a:xfrm>
            <a:off x="8138160" y="3557016"/>
            <a:ext cx="3413455" cy="420624"/>
          </a:xfrm>
          <a:prstGeom prst="rect">
            <a:avLst/>
          </a:prstGeom>
          <a:noFill/>
          <a:ln/>
        </p:spPr>
        <p:txBody>
          <a:bodyPr wrap="square" lIns="0" tIns="0" rIns="0" bIns="0" rtlCol="0" anchor="t"/>
          <a:lstStyle/>
          <a:p>
            <a:pPr indent="0" marL="0">
              <a:buNone/>
            </a:pPr>
            <a:r>
              <a:rPr lang="en-US" sz="1200" dirty="0">
                <a:solidFill>
                  <a:schemeClr val="tx1"/>
                </a:solidFill>
              </a:rPr>
              <a:t>More robust offline functionality</a:t>
            </a:r>
            <a:endParaRPr lang="en-US" sz="1200" dirty="0"/>
          </a:p>
        </p:txBody>
      </p:sp>
      <p:sp>
        <p:nvSpPr>
          <p:cNvPr id="39" name="r5_36"/>
          <p:cNvSpPr/>
          <p:nvPr/>
        </p:nvSpPr>
        <p:spPr>
          <a:xfrm>
            <a:off x="7918704" y="3922776"/>
            <a:ext cx="73152" cy="73152"/>
          </a:xfrm>
          <a:prstGeom prst="ellipse">
            <a:avLst/>
          </a:prstGeom>
          <a:solidFill>
            <a:schemeClr val="accent2"/>
          </a:solidFill>
          <a:ln/>
        </p:spPr>
      </p:sp>
      <p:sp>
        <p:nvSpPr>
          <p:cNvPr id="40" name="r5_37"/>
          <p:cNvSpPr txBox="1"/>
          <p:nvPr/>
        </p:nvSpPr>
        <p:spPr>
          <a:xfrm>
            <a:off x="8138160" y="3849624"/>
            <a:ext cx="3413455" cy="420624"/>
          </a:xfrm>
          <a:prstGeom prst="rect">
            <a:avLst/>
          </a:prstGeom>
          <a:noFill/>
          <a:ln/>
        </p:spPr>
        <p:txBody>
          <a:bodyPr wrap="square" lIns="0" tIns="0" rIns="0" bIns="0" rtlCol="0" anchor="t"/>
          <a:lstStyle/>
          <a:p>
            <a:pPr indent="0" marL="0">
              <a:buNone/>
            </a:pPr>
            <a:r>
              <a:rPr lang="en-US" sz="1200" dirty="0">
                <a:solidFill>
                  <a:schemeClr val="tx1"/>
                </a:solidFill>
              </a:rPr>
              <a:t>Route-capacity intelligence and evacuation load distribution</a:t>
            </a:r>
            <a:endParaRPr lang="en-US" sz="1200" dirty="0"/>
          </a:p>
        </p:txBody>
      </p:sp>
      <p:sp>
        <p:nvSpPr>
          <p:cNvPr id="41" name="r6_38"/>
          <p:cNvSpPr/>
          <p:nvPr/>
        </p:nvSpPr>
        <p:spPr>
          <a:xfrm>
            <a:off x="7918704" y="4379976"/>
            <a:ext cx="73152" cy="73152"/>
          </a:xfrm>
          <a:prstGeom prst="ellipse">
            <a:avLst/>
          </a:prstGeom>
          <a:solidFill>
            <a:schemeClr val="accent2"/>
          </a:solidFill>
          <a:ln/>
        </p:spPr>
      </p:sp>
      <p:sp>
        <p:nvSpPr>
          <p:cNvPr id="42" name="r6_39"/>
          <p:cNvSpPr txBox="1"/>
          <p:nvPr/>
        </p:nvSpPr>
        <p:spPr>
          <a:xfrm>
            <a:off x="8138160" y="4306824"/>
            <a:ext cx="3413455" cy="420624"/>
          </a:xfrm>
          <a:prstGeom prst="rect">
            <a:avLst/>
          </a:prstGeom>
          <a:noFill/>
          <a:ln/>
        </p:spPr>
        <p:txBody>
          <a:bodyPr wrap="square" lIns="0" tIns="0" rIns="0" bIns="0" rtlCol="0" anchor="t"/>
          <a:lstStyle/>
          <a:p>
            <a:pPr indent="0" marL="0">
              <a:buNone/>
            </a:pPr>
            <a:r>
              <a:rPr lang="en-US" sz="1200" dirty="0">
                <a:solidFill>
                  <a:schemeClr val="tx1"/>
                </a:solidFill>
              </a:rPr>
              <a:t>Carefully designed journey sharing and check-in</a:t>
            </a:r>
            <a:endParaRPr lang="en-US" sz="1200" dirty="0"/>
          </a:p>
        </p:txBody>
      </p:sp>
      <p:sp>
        <p:nvSpPr>
          <p:cNvPr id="43" name="q_40"/>
          <p:cNvSpPr txBox="1"/>
          <p:nvPr/>
        </p:nvSpPr>
        <p:spPr>
          <a:xfrm>
            <a:off x="640080" y="5029200"/>
            <a:ext cx="6400800" cy="96012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Vighanaway does not promise a safe route. </a:t>
            </a:r>
            <a:pPr indent="0" marL="0">
              <a:buNone/>
            </a:pPr>
            <a:r>
              <a:rPr lang="en-US" sz="1900" dirty="0">
                <a:solidFill>
                  <a:schemeClr val="tx1"/>
                </a:solidFill>
                <a:latin typeface="Segoe UI Light" pitchFamily="34" charset="0"/>
                <a:ea typeface="Segoe UI Light" pitchFamily="34" charset="-122"/>
                <a:cs typeface="Segoe UI Light" pitchFamily="34" charset="-120"/>
              </a:rPr>
              <a:t>It recommends a viable option based on available evidence, explains its reasoning, and adapts when conditions change.</a:t>
            </a:r>
            <a:endParaRPr lang="en-US" sz="1900" dirty="0"/>
          </a:p>
        </p:txBody>
      </p:sp>
      <p:sp>
        <p:nvSpPr>
          <p:cNvPr id="44" name="fm_41"/>
          <p:cNvSpPr/>
          <p:nvPr/>
        </p:nvSpPr>
        <p:spPr>
          <a:xfrm>
            <a:off x="7573975" y="5010912"/>
            <a:ext cx="3977640" cy="1280160"/>
          </a:xfrm>
          <a:prstGeom prst="roundRect">
            <a:avLst>
              <a:gd name="adj" fmla="val 7143"/>
            </a:avLst>
          </a:prstGeom>
          <a:solidFill>
            <a:srgbClr val="FFFFFF"/>
          </a:solidFill>
          <a:ln/>
          <a:effectLst>
            <a:outerShdw sx="100000" sy="100000" kx="0" ky="0" algn="bl" rotWithShape="0" blurRad="228600" dist="63500" dir="5400000">
              <a:srgbClr val="0B1426">
                <a:alpha val="18000"/>
              </a:srgbClr>
            </a:outerShdw>
          </a:effectLst>
        </p:spPr>
      </p:sp>
      <p:pic>
        <p:nvPicPr>
          <p:cNvPr id="45" name="fm_42" descr="3D map of a flood-prone rail corridor, built from OpenStreetMap data">    </p:cNvPr>
          <p:cNvPicPr>
            <a:picLocks noChangeAspect="1"/>
          </p:cNvPicPr>
          <p:nvPr/>
        </p:nvPicPr>
        <p:blipFill>
          <a:blip r:embed="rId1"/>
          <a:stretch>
            <a:fillRect/>
          </a:stretch>
        </p:blipFill>
        <p:spPr>
          <a:xfrm>
            <a:off x="7573975" y="5010912"/>
            <a:ext cx="3977640" cy="1280160"/>
          </a:xfrm>
          <a:prstGeom prst="rect">
            <a:avLst/>
          </a:prstGeom>
        </p:spPr>
      </p:pic>
      <p:pic>
        <p:nvPicPr>
          <p:cNvPr id="46" name="fr1_43" descr="Route A">    </p:cNvPr>
          <p:cNvPicPr>
            <a:picLocks noChangeAspect="1"/>
          </p:cNvPicPr>
          <p:nvPr/>
        </p:nvPicPr>
        <p:blipFill>
          <a:blip r:embed="rId2"/>
          <a:stretch>
            <a:fillRect/>
          </a:stretch>
        </p:blipFill>
        <p:spPr>
          <a:xfrm>
            <a:off x="7573975" y="5010912"/>
            <a:ext cx="3977640" cy="1280160"/>
          </a:xfrm>
          <a:prstGeom prst="rect">
            <a:avLst/>
          </a:prstGeom>
        </p:spPr>
      </p:pic>
      <p:pic>
        <p:nvPicPr>
          <p:cNvPr id="47" name="fr2_44" descr="Route B">    </p:cNvPr>
          <p:cNvPicPr>
            <a:picLocks noChangeAspect="1"/>
          </p:cNvPicPr>
          <p:nvPr/>
        </p:nvPicPr>
        <p:blipFill>
          <a:blip r:embed="rId3"/>
          <a:stretch>
            <a:fillRect/>
          </a:stretch>
        </p:blipFill>
        <p:spPr>
          <a:xfrm>
            <a:off x="7573975" y="5010912"/>
            <a:ext cx="3977640" cy="1280160"/>
          </a:xfrm>
          <a:prstGeom prst="rect">
            <a:avLst/>
          </a:prstGeom>
        </p:spPr>
      </p:pic>
      <p:sp>
        <p:nvSpPr>
          <p:cNvPr id="48" name="fm_45"/>
          <p:cNvSpPr/>
          <p:nvPr/>
        </p:nvSpPr>
        <p:spPr>
          <a:xfrm>
            <a:off x="8605457" y="5228726"/>
            <a:ext cx="274320" cy="274320"/>
          </a:xfrm>
          <a:prstGeom prst="ellipse">
            <a:avLst/>
          </a:prstGeom>
          <a:solidFill>
            <a:srgbClr val="FFFFFF"/>
          </a:solidFill>
          <a:ln/>
        </p:spPr>
      </p:sp>
      <p:sp>
        <p:nvSpPr>
          <p:cNvPr id="49" name="fm_46"/>
          <p:cNvSpPr/>
          <p:nvPr/>
        </p:nvSpPr>
        <p:spPr>
          <a:xfrm>
            <a:off x="8683181" y="5306450"/>
            <a:ext cx="118872" cy="118872"/>
          </a:xfrm>
          <a:prstGeom prst="ellipse">
            <a:avLst/>
          </a:prstGeom>
          <a:solidFill>
            <a:srgbClr val="0B1426"/>
          </a:solidFill>
          <a:ln/>
        </p:spPr>
      </p:sp>
      <p:sp>
        <p:nvSpPr>
          <p:cNvPr id="50" name="fr2_47"/>
          <p:cNvSpPr/>
          <p:nvPr/>
        </p:nvSpPr>
        <p:spPr>
          <a:xfrm>
            <a:off x="10368984" y="5507846"/>
            <a:ext cx="376733" cy="376733"/>
          </a:xfrm>
          <a:prstGeom prst="ellipse">
            <a:avLst/>
          </a:prstGeom>
          <a:solidFill>
            <a:srgbClr val="FFFFFF"/>
          </a:solidFill>
          <a:ln/>
        </p:spPr>
      </p:sp>
      <p:sp>
        <p:nvSpPr>
          <p:cNvPr id="51" name="fr2_48"/>
          <p:cNvSpPr txBox="1"/>
          <p:nvPr/>
        </p:nvSpPr>
        <p:spPr>
          <a:xfrm>
            <a:off x="10432992" y="5571854"/>
            <a:ext cx="248717" cy="248717"/>
          </a:xfrm>
          <a:prstGeom prst="roundRect">
            <a:avLst>
              <a:gd name="adj" fmla="val 25735"/>
            </a:avLst>
          </a:prstGeom>
          <a:solidFill>
            <a:schemeClr val="accent1"/>
          </a:solidFill>
          <a:ln/>
        </p:spPr>
        <p:txBody>
          <a:bodyPr wrap="square" lIns="0" tIns="0" rIns="0" bIns="0" rtlCol="0" anchor="ctr"/>
          <a:lstStyle/>
          <a:p>
            <a:pPr algn="ctr" indent="0" marL="0">
              <a:buNone/>
            </a:pPr>
            <a:r>
              <a:rPr lang="en-US" sz="960" dirty="0">
                <a:solidFill>
                  <a:schemeClr val="tx1"/>
                </a:solidFill>
                <a:latin typeface="Segoe UI Semibold" pitchFamily="34" charset="0"/>
                <a:ea typeface="Segoe UI Semibold" pitchFamily="34" charset="-122"/>
                <a:cs typeface="Segoe UI Semibold" pitchFamily="34" charset="-120"/>
              </a:rPr>
              <a:t>H</a:t>
            </a:r>
            <a:endParaRPr lang="en-US" sz="960" dirty="0"/>
          </a:p>
        </p:txBody>
      </p:sp>
      <p:sp>
        <p:nvSpPr>
          <p:cNvPr id="52" name="disc_49"/>
          <p:cNvSpPr txBox="1"/>
          <p:nvPr/>
        </p:nvSpPr>
        <p:spPr>
          <a:xfrm>
            <a:off x="640080" y="6053328"/>
            <a:ext cx="6949440" cy="219456"/>
          </a:xfrm>
          <a:prstGeom prst="rect">
            <a:avLst/>
          </a:prstGeom>
          <a:noFill/>
          <a:ln/>
        </p:spPr>
        <p:txBody>
          <a:bodyPr wrap="square" lIns="0" tIns="0" rIns="0" bIns="0" rtlCol="0" anchor="ctr"/>
          <a:lstStyle/>
          <a:p>
            <a:pPr indent="0" marL="0">
              <a:buNone/>
            </a:pPr>
            <a:r>
              <a:rPr lang="en-US" sz="1000" dirty="0">
                <a:solidFill>
                  <a:srgbClr val="B45309"/>
                </a:solidFill>
              </a:rPr>
              <a:t>Hackathon prototype. Incidents and congestion in the demonstration are simulated. Not validated for real emergency use.</a:t>
            </a:r>
            <a:endParaRPr lang="en-US" sz="1000" dirty="0"/>
          </a:p>
        </p:txBody>
      </p:sp>
      <p:sp>
        <p:nvSpPr>
          <p:cNvPr id="53" name="jn_50"/>
          <p:cNvSpPr/>
          <p:nvPr/>
        </p:nvSpPr>
        <p:spPr>
          <a:xfrm>
            <a:off x="4343400" y="6537960"/>
            <a:ext cx="3520440" cy="0"/>
          </a:xfrm>
          <a:prstGeom prst="line">
            <a:avLst/>
          </a:prstGeom>
          <a:noFill/>
          <a:ln w="12700">
            <a:solidFill>
              <a:srgbClr val="D2CBBB"/>
            </a:solidFill>
            <a:prstDash val="solid"/>
          </a:ln>
        </p:spPr>
      </p:sp>
      <p:sp>
        <p:nvSpPr>
          <p:cNvPr id="54" name="jn_51"/>
          <p:cNvSpPr/>
          <p:nvPr/>
        </p:nvSpPr>
        <p:spPr>
          <a:xfrm>
            <a:off x="4343400" y="6537960"/>
            <a:ext cx="2816352" cy="0"/>
          </a:xfrm>
          <a:prstGeom prst="line">
            <a:avLst/>
          </a:prstGeom>
          <a:noFill/>
          <a:ln w="19050">
            <a:solidFill>
              <a:srgbClr val="14B8A6"/>
            </a:solidFill>
            <a:prstDash val="solid"/>
          </a:ln>
        </p:spPr>
      </p:sp>
      <p:sp>
        <p:nvSpPr>
          <p:cNvPr id="55" name="jseg_52"/>
          <p:cNvSpPr/>
          <p:nvPr/>
        </p:nvSpPr>
        <p:spPr>
          <a:xfrm>
            <a:off x="7159752" y="6537960"/>
            <a:ext cx="704088" cy="0"/>
          </a:xfrm>
          <a:prstGeom prst="line">
            <a:avLst/>
          </a:prstGeom>
          <a:noFill/>
          <a:ln w="19050">
            <a:solidFill>
              <a:srgbClr val="14B8A6"/>
            </a:solidFill>
            <a:prstDash val="solid"/>
          </a:ln>
        </p:spPr>
      </p:sp>
      <p:sp>
        <p:nvSpPr>
          <p:cNvPr id="56" name="jn_53"/>
          <p:cNvSpPr/>
          <p:nvPr/>
        </p:nvSpPr>
        <p:spPr>
          <a:xfrm>
            <a:off x="4306824" y="6501384"/>
            <a:ext cx="73152" cy="73152"/>
          </a:xfrm>
          <a:prstGeom prst="ellipse">
            <a:avLst/>
          </a:prstGeom>
          <a:solidFill>
            <a:schemeClr val="accent1"/>
          </a:solidFill>
          <a:ln/>
        </p:spPr>
      </p:sp>
      <p:sp>
        <p:nvSpPr>
          <p:cNvPr id="57" name="jn_54"/>
          <p:cNvSpPr/>
          <p:nvPr/>
        </p:nvSpPr>
        <p:spPr>
          <a:xfrm>
            <a:off x="5010912" y="6501384"/>
            <a:ext cx="73152" cy="73152"/>
          </a:xfrm>
          <a:prstGeom prst="ellipse">
            <a:avLst/>
          </a:prstGeom>
          <a:solidFill>
            <a:schemeClr val="accent1"/>
          </a:solidFill>
          <a:ln/>
        </p:spPr>
      </p:sp>
      <p:sp>
        <p:nvSpPr>
          <p:cNvPr id="58" name="jn_55"/>
          <p:cNvSpPr/>
          <p:nvPr/>
        </p:nvSpPr>
        <p:spPr>
          <a:xfrm>
            <a:off x="5715000" y="6501384"/>
            <a:ext cx="73152" cy="73152"/>
          </a:xfrm>
          <a:prstGeom prst="ellipse">
            <a:avLst/>
          </a:prstGeom>
          <a:solidFill>
            <a:schemeClr val="accent1"/>
          </a:solidFill>
          <a:ln/>
        </p:spPr>
      </p:sp>
      <p:sp>
        <p:nvSpPr>
          <p:cNvPr id="59" name="jn_56"/>
          <p:cNvSpPr/>
          <p:nvPr/>
        </p:nvSpPr>
        <p:spPr>
          <a:xfrm>
            <a:off x="6419088" y="6501384"/>
            <a:ext cx="73152" cy="73152"/>
          </a:xfrm>
          <a:prstGeom prst="ellipse">
            <a:avLst/>
          </a:prstGeom>
          <a:solidFill>
            <a:schemeClr val="accent1"/>
          </a:solidFill>
          <a:ln/>
        </p:spPr>
      </p:sp>
      <p:sp>
        <p:nvSpPr>
          <p:cNvPr id="60" name="jn_57"/>
          <p:cNvSpPr/>
          <p:nvPr/>
        </p:nvSpPr>
        <p:spPr>
          <a:xfrm>
            <a:off x="7123176" y="6501384"/>
            <a:ext cx="73152" cy="73152"/>
          </a:xfrm>
          <a:prstGeom prst="ellipse">
            <a:avLst/>
          </a:prstGeom>
          <a:solidFill>
            <a:schemeClr val="accent1"/>
          </a:solidFill>
          <a:ln/>
        </p:spPr>
      </p:sp>
      <p:sp>
        <p:nvSpPr>
          <p:cNvPr id="61" name="jn_58"/>
          <p:cNvSpPr/>
          <p:nvPr/>
        </p:nvSpPr>
        <p:spPr>
          <a:xfrm>
            <a:off x="7827264" y="6501384"/>
            <a:ext cx="73152" cy="73152"/>
          </a:xfrm>
          <a:prstGeom prst="ellipse">
            <a:avLst/>
          </a:prstGeom>
          <a:solidFill>
            <a:srgbClr val="B8B1A0"/>
          </a:solidFill>
          <a:ln/>
        </p:spPr>
      </p:sp>
      <p:sp>
        <p:nvSpPr>
          <p:cNvPr id="62" name="jdot_59"/>
          <p:cNvSpPr/>
          <p:nvPr/>
        </p:nvSpPr>
        <p:spPr>
          <a:xfrm>
            <a:off x="7776972" y="6451092"/>
            <a:ext cx="173736" cy="173736"/>
          </a:xfrm>
          <a:prstGeom prst="ellipse">
            <a:avLst/>
          </a:prstGeom>
          <a:solidFill>
            <a:schemeClr val="accent1"/>
          </a:solidFill>
          <a:ln w="28575">
            <a:solidFill>
              <a:srgbClr val="F7F5F0"/>
            </a:solidFill>
            <a:prstDash val="solid"/>
          </a:ln>
        </p:spPr>
      </p:sp>
      <p:sp>
        <p:nvSpPr>
          <p:cNvPr id="63" name="Text 58"/>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06 / 06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3"/>
                                        </p:tgtEl>
                                        <p:attrNameLst>
                                          <p:attrName>style.visibility</p:attrName>
                                        </p:attrNameLst>
                                      </p:cBhvr>
                                      <p:to>
                                        <p:strVal val="visible"/>
                                      </p:to>
                                    </p:set>
                                    <p:animEffect transition="in" filter="fade">
                                      <p:cBhvr>
                                        <p:cTn id="6" dur="500"/>
                                        <p:tgtEl>
                                          <p:spTgt spid="53"/>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4"/>
                                        </p:tgtEl>
                                        <p:attrNameLst>
                                          <p:attrName>style.visibility</p:attrName>
                                        </p:attrNameLst>
                                      </p:cBhvr>
                                      <p:to>
                                        <p:strVal val="visible"/>
                                      </p:to>
                                    </p:set>
                                    <p:animEffect transition="in" filter="fade">
                                      <p:cBhvr>
                                        <p:cTn id="9" dur="500"/>
                                        <p:tgtEl>
                                          <p:spTgt spid="54"/>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500"/>
                                        <p:tgtEl>
                                          <p:spTgt spid="5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ppt_y</p:attrName>
                                        </p:attrNameLst>
                                      </p:cBhvr>
                                      <p:tavLst>
                                        <p:tav tm="0">
                                          <p:val>
                                            <p:strVal val="#ppt_y+.06"/>
                                          </p:val>
                                        </p:tav>
                                        <p:tav tm="100000">
                                          <p:val>
                                            <p:strVal val="#ppt_y"/>
                                          </p:val>
                                        </p:tav>
                                      </p:tavLst>
                                    </p:anim>
                                    <p:animEffect transition="in" filter="fade">
                                      <p:cBhvr>
                                        <p:cTn id="31" dur="50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ppt_y</p:attrName>
                                        </p:attrNameLst>
                                      </p:cBhvr>
                                      <p:tavLst>
                                        <p:tav tm="0">
                                          <p:val>
                                            <p:strVal val="#ppt_y+.06"/>
                                          </p:val>
                                        </p:tav>
                                        <p:tav tm="100000">
                                          <p:val>
                                            <p:strVal val="#ppt_y"/>
                                          </p:val>
                                        </p:tav>
                                      </p:tavLst>
                                    </p:anim>
                                    <p:animEffect transition="in" filter="fade">
                                      <p:cBhvr>
                                        <p:cTn id="35" dur="50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ppt_y</p:attrName>
                                        </p:attrNameLst>
                                      </p:cBhvr>
                                      <p:tavLst>
                                        <p:tav tm="0">
                                          <p:val>
                                            <p:strVal val="#ppt_y+.06"/>
                                          </p:val>
                                        </p:tav>
                                        <p:tav tm="100000">
                                          <p:val>
                                            <p:strVal val="#ppt_y"/>
                                          </p:val>
                                        </p:tav>
                                      </p:tavLst>
                                    </p:anim>
                                    <p:animEffect transition="in" filter="fade">
                                      <p:cBhvr>
                                        <p:cTn id="39" dur="500"/>
                                        <p:tgtEl>
                                          <p:spTgt spid="9"/>
                                        </p:tgtEl>
                                      </p:cBhvr>
                                    </p:animEffect>
                                  </p:childTnLst>
                                </p:cTn>
                              </p:par>
                              <p:par>
                                <p:cTn id="42" presetID="0" presetClass="path" presetSubtype="0" accel="50000" decel="50000" fill="hold" nodeType="withEffect">
                                  <p:stCondLst>
                                    <p:cond delay="500"/>
                                  </p:stCondLst>
                                  <p:childTnLst>
                                    <p:animMotion origin="layout" path="M -0.0578 0 L 0 0 E" pathEditMode="relative" rAng="0" ptsTypes="AA">
                                      <p:cBhvr>
                                        <p:cTn id="41" dur="1100" fill="hold"/>
                                        <p:tgtEl>
                                          <p:spTgt spid="62"/>
                                        </p:tgtEl>
                                        <p:attrNameLst>
                                          <p:attrName>ppt_x</p:attrName>
                                          <p:attrName>ppt_y</p:attrName>
                                        </p:attrNameLst>
                                      </p:cBhvr>
                                    </p:animMotion>
                                  </p:childTnLst>
                                </p:cTn>
                              </p:par>
                              <p:par>
                                <p:cTn id="45" presetID="22" presetClass="entr" presetSubtype="8" fill="hold" grpId="0" nodeType="withEffect">
                                  <p:stCondLst>
                                    <p:cond delay="50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1100"/>
                                        <p:tgtEl>
                                          <p:spTgt spid="55"/>
                                        </p:tgtEl>
                                      </p:cBhvr>
                                    </p:animEffect>
                                  </p:childTnLst>
                                </p:cTn>
                              </p:par>
                              <p:par>
                                <p:cTn id="49" presetID="42" presetClass="entr" presetSubtype="0" fill="hold" grpId="0" nodeType="withEffect">
                                  <p:stCondLst>
                                    <p:cond delay="5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ppt_y</p:attrName>
                                        </p:attrNameLst>
                                      </p:cBhvr>
                                      <p:tavLst>
                                        <p:tav tm="0">
                                          <p:val>
                                            <p:strVal val="#ppt_y+.06"/>
                                          </p:val>
                                        </p:tav>
                                        <p:tav tm="100000">
                                          <p:val>
                                            <p:strVal val="#ppt_y"/>
                                          </p:val>
                                        </p:tav>
                                      </p:tavLst>
                                    </p:anim>
                                    <p:animEffect transition="in" filter="fade">
                                      <p:cBhvr>
                                        <p:cTn id="48" dur="500"/>
                                        <p:tgtEl>
                                          <p:spTgt spid="10"/>
                                        </p:tgtEl>
                                      </p:cBhvr>
                                    </p:animEffect>
                                  </p:childTnLst>
                                </p:cTn>
                              </p:par>
                              <p:par>
                                <p:cTn id="53" presetID="42" presetClass="entr" presetSubtype="0" fill="hold" grpId="0" nodeType="withEffect">
                                  <p:stCondLst>
                                    <p:cond delay="5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ppt_y</p:attrName>
                                        </p:attrNameLst>
                                      </p:cBhvr>
                                      <p:tavLst>
                                        <p:tav tm="0">
                                          <p:val>
                                            <p:strVal val="#ppt_y+.06"/>
                                          </p:val>
                                        </p:tav>
                                        <p:tav tm="100000">
                                          <p:val>
                                            <p:strVal val="#ppt_y"/>
                                          </p:val>
                                        </p:tav>
                                      </p:tavLst>
                                    </p:anim>
                                    <p:animEffect transition="in" filter="fade">
                                      <p:cBhvr>
                                        <p:cTn id="52" dur="500"/>
                                        <p:tgtEl>
                                          <p:spTgt spid="11"/>
                                        </p:tgtEl>
                                      </p:cBhvr>
                                    </p:animEffect>
                                  </p:childTnLst>
                                </p:cTn>
                              </p:par>
                              <p:par>
                                <p:cTn id="57" presetID="42" presetClass="entr" presetSubtype="0" fill="hold" grpId="0" nodeType="withEffect">
                                  <p:stCondLst>
                                    <p:cond delay="50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ppt_y</p:attrName>
                                        </p:attrNameLst>
                                      </p:cBhvr>
                                      <p:tavLst>
                                        <p:tav tm="0">
                                          <p:val>
                                            <p:strVal val="#ppt_y+.06"/>
                                          </p:val>
                                        </p:tav>
                                        <p:tav tm="100000">
                                          <p:val>
                                            <p:strVal val="#ppt_y"/>
                                          </p:val>
                                        </p:tav>
                                      </p:tavLst>
                                    </p:anim>
                                    <p:animEffect transition="in" filter="fade">
                                      <p:cBhvr>
                                        <p:cTn id="56" dur="500"/>
                                        <p:tgtEl>
                                          <p:spTgt spid="12"/>
                                        </p:tgtEl>
                                      </p:cBhvr>
                                    </p:animEffect>
                                  </p:childTnLst>
                                </p:cTn>
                              </p:par>
                              <p:par>
                                <p:cTn id="61" presetID="42" presetClass="entr" presetSubtype="0" fill="hold" grpId="0" nodeType="withEffect">
                                  <p:stCondLst>
                                    <p:cond delay="9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p:tgtEl>
                                          <p:spTgt spid="13"/>
                                        </p:tgtEl>
                                        <p:attrNameLst>
                                          <p:attrName>ppt_y</p:attrName>
                                        </p:attrNameLst>
                                      </p:cBhvr>
                                      <p:tavLst>
                                        <p:tav tm="0">
                                          <p:val>
                                            <p:strVal val="#ppt_y+.06"/>
                                          </p:val>
                                        </p:tav>
                                        <p:tav tm="100000">
                                          <p:val>
                                            <p:strVal val="#ppt_y"/>
                                          </p:val>
                                        </p:tav>
                                      </p:tavLst>
                                    </p:anim>
                                    <p:animEffect transition="in" filter="fade">
                                      <p:cBhvr>
                                        <p:cTn id="60" dur="400"/>
                                        <p:tgtEl>
                                          <p:spTgt spid="13"/>
                                        </p:tgtEl>
                                      </p:cBhvr>
                                    </p:animEffect>
                                  </p:childTnLst>
                                </p:cTn>
                              </p:par>
                              <p:par>
                                <p:cTn id="65"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400" fill="hold"/>
                                        <p:tgtEl>
                                          <p:spTgt spid="14"/>
                                        </p:tgtEl>
                                        <p:attrNameLst>
                                          <p:attrName>ppt_y</p:attrName>
                                        </p:attrNameLst>
                                      </p:cBhvr>
                                      <p:tavLst>
                                        <p:tav tm="0">
                                          <p:val>
                                            <p:strVal val="#ppt_y+.06"/>
                                          </p:val>
                                        </p:tav>
                                        <p:tav tm="100000">
                                          <p:val>
                                            <p:strVal val="#ppt_y"/>
                                          </p:val>
                                        </p:tav>
                                      </p:tavLst>
                                    </p:anim>
                                    <p:animEffect transition="in" filter="fade">
                                      <p:cBhvr>
                                        <p:cTn id="64" dur="400"/>
                                        <p:tgtEl>
                                          <p:spTgt spid="14"/>
                                        </p:tgtEl>
                                      </p:cBhvr>
                                    </p:animEffect>
                                  </p:childTnLst>
                                </p:cTn>
                              </p:par>
                              <p:par>
                                <p:cTn id="69" presetID="42" presetClass="entr" presetSubtype="0" fill="hold" grpId="0" nodeType="withEffect">
                                  <p:stCondLst>
                                    <p:cond delay="108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400" fill="hold"/>
                                        <p:tgtEl>
                                          <p:spTgt spid="15"/>
                                        </p:tgtEl>
                                        <p:attrNameLst>
                                          <p:attrName>ppt_y</p:attrName>
                                        </p:attrNameLst>
                                      </p:cBhvr>
                                      <p:tavLst>
                                        <p:tav tm="0">
                                          <p:val>
                                            <p:strVal val="#ppt_y+.06"/>
                                          </p:val>
                                        </p:tav>
                                        <p:tav tm="100000">
                                          <p:val>
                                            <p:strVal val="#ppt_y"/>
                                          </p:val>
                                        </p:tav>
                                      </p:tavLst>
                                    </p:anim>
                                    <p:animEffect transition="in" filter="fade">
                                      <p:cBhvr>
                                        <p:cTn id="68" dur="400"/>
                                        <p:tgtEl>
                                          <p:spTgt spid="15"/>
                                        </p:tgtEl>
                                      </p:cBhvr>
                                    </p:animEffect>
                                  </p:childTnLst>
                                </p:cTn>
                              </p:par>
                              <p:par>
                                <p:cTn id="73" presetID="42" presetClass="entr" presetSubtype="0" fill="hold" grpId="0" nodeType="withEffect">
                                  <p:stCondLst>
                                    <p:cond delay="108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400" fill="hold"/>
                                        <p:tgtEl>
                                          <p:spTgt spid="16"/>
                                        </p:tgtEl>
                                        <p:attrNameLst>
                                          <p:attrName>ppt_y</p:attrName>
                                        </p:attrNameLst>
                                      </p:cBhvr>
                                      <p:tavLst>
                                        <p:tav tm="0">
                                          <p:val>
                                            <p:strVal val="#ppt_y+.06"/>
                                          </p:val>
                                        </p:tav>
                                        <p:tav tm="100000">
                                          <p:val>
                                            <p:strVal val="#ppt_y"/>
                                          </p:val>
                                        </p:tav>
                                      </p:tavLst>
                                    </p:anim>
                                    <p:animEffect transition="in" filter="fade">
                                      <p:cBhvr>
                                        <p:cTn id="72" dur="400"/>
                                        <p:tgtEl>
                                          <p:spTgt spid="16"/>
                                        </p:tgtEl>
                                      </p:cBhvr>
                                    </p:animEffect>
                                  </p:childTnLst>
                                </p:cTn>
                              </p:par>
                              <p:par>
                                <p:cTn id="77" presetID="42" presetClass="entr" presetSubtype="0" fill="hold" grpId="0" nodeType="withEffect">
                                  <p:stCondLst>
                                    <p:cond delay="115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400" fill="hold"/>
                                        <p:tgtEl>
                                          <p:spTgt spid="23"/>
                                        </p:tgtEl>
                                        <p:attrNameLst>
                                          <p:attrName>ppt_y</p:attrName>
                                        </p:attrNameLst>
                                      </p:cBhvr>
                                      <p:tavLst>
                                        <p:tav tm="0">
                                          <p:val>
                                            <p:strVal val="#ppt_y+.06"/>
                                          </p:val>
                                        </p:tav>
                                        <p:tav tm="100000">
                                          <p:val>
                                            <p:strVal val="#ppt_y"/>
                                          </p:val>
                                        </p:tav>
                                      </p:tavLst>
                                    </p:anim>
                                    <p:animEffect transition="in" filter="fade">
                                      <p:cBhvr>
                                        <p:cTn id="76" dur="400"/>
                                        <p:tgtEl>
                                          <p:spTgt spid="23"/>
                                        </p:tgtEl>
                                      </p:cBhvr>
                                    </p:animEffect>
                                  </p:childTnLst>
                                </p:cTn>
                              </p:par>
                              <p:par>
                                <p:cTn id="81" presetID="42" presetClass="entr" presetSubtype="0" fill="hold" grpId="0" nodeType="withEffect">
                                  <p:stCondLst>
                                    <p:cond delay="115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400" fill="hold"/>
                                        <p:tgtEl>
                                          <p:spTgt spid="24"/>
                                        </p:tgtEl>
                                        <p:attrNameLst>
                                          <p:attrName>ppt_y</p:attrName>
                                        </p:attrNameLst>
                                      </p:cBhvr>
                                      <p:tavLst>
                                        <p:tav tm="0">
                                          <p:val>
                                            <p:strVal val="#ppt_y+.06"/>
                                          </p:val>
                                        </p:tav>
                                        <p:tav tm="100000">
                                          <p:val>
                                            <p:strVal val="#ppt_y"/>
                                          </p:val>
                                        </p:tav>
                                      </p:tavLst>
                                    </p:anim>
                                    <p:animEffect transition="in" filter="fade">
                                      <p:cBhvr>
                                        <p:cTn id="80" dur="400"/>
                                        <p:tgtEl>
                                          <p:spTgt spid="24"/>
                                        </p:tgtEl>
                                      </p:cBhvr>
                                    </p:animEffect>
                                  </p:childTnLst>
                                </p:cTn>
                              </p:par>
                              <p:par>
                                <p:cTn id="85" presetID="42" presetClass="entr" presetSubtype="0" fill="hold" grpId="0" nodeType="withEffect">
                                  <p:stCondLst>
                                    <p:cond delay="126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400" fill="hold"/>
                                        <p:tgtEl>
                                          <p:spTgt spid="17"/>
                                        </p:tgtEl>
                                        <p:attrNameLst>
                                          <p:attrName>ppt_y</p:attrName>
                                        </p:attrNameLst>
                                      </p:cBhvr>
                                      <p:tavLst>
                                        <p:tav tm="0">
                                          <p:val>
                                            <p:strVal val="#ppt_y+.06"/>
                                          </p:val>
                                        </p:tav>
                                        <p:tav tm="100000">
                                          <p:val>
                                            <p:strVal val="#ppt_y"/>
                                          </p:val>
                                        </p:tav>
                                      </p:tavLst>
                                    </p:anim>
                                    <p:animEffect transition="in" filter="fade">
                                      <p:cBhvr>
                                        <p:cTn id="84" dur="400"/>
                                        <p:tgtEl>
                                          <p:spTgt spid="17"/>
                                        </p:tgtEl>
                                      </p:cBhvr>
                                    </p:animEffect>
                                  </p:childTnLst>
                                </p:cTn>
                              </p:par>
                              <p:par>
                                <p:cTn id="89" presetID="42" presetClass="entr" presetSubtype="0" fill="hold" grpId="0" nodeType="withEffect">
                                  <p:stCondLst>
                                    <p:cond delay="126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400" fill="hold"/>
                                        <p:tgtEl>
                                          <p:spTgt spid="18"/>
                                        </p:tgtEl>
                                        <p:attrNameLst>
                                          <p:attrName>ppt_y</p:attrName>
                                        </p:attrNameLst>
                                      </p:cBhvr>
                                      <p:tavLst>
                                        <p:tav tm="0">
                                          <p:val>
                                            <p:strVal val="#ppt_y+.06"/>
                                          </p:val>
                                        </p:tav>
                                        <p:tav tm="100000">
                                          <p:val>
                                            <p:strVal val="#ppt_y"/>
                                          </p:val>
                                        </p:tav>
                                      </p:tavLst>
                                    </p:anim>
                                    <p:animEffect transition="in" filter="fade">
                                      <p:cBhvr>
                                        <p:cTn id="88" dur="400"/>
                                        <p:tgtEl>
                                          <p:spTgt spid="18"/>
                                        </p:tgtEl>
                                      </p:cBhvr>
                                    </p:animEffect>
                                  </p:childTnLst>
                                </p:cTn>
                              </p:par>
                              <p:par>
                                <p:cTn id="93" presetID="42" presetClass="entr" presetSubtype="0" fill="hold" grpId="0" nodeType="withEffect">
                                  <p:stCondLst>
                                    <p:cond delay="130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400" fill="hold"/>
                                        <p:tgtEl>
                                          <p:spTgt spid="31"/>
                                        </p:tgtEl>
                                        <p:attrNameLst>
                                          <p:attrName>ppt_y</p:attrName>
                                        </p:attrNameLst>
                                      </p:cBhvr>
                                      <p:tavLst>
                                        <p:tav tm="0">
                                          <p:val>
                                            <p:strVal val="#ppt_y+.06"/>
                                          </p:val>
                                        </p:tav>
                                        <p:tav tm="100000">
                                          <p:val>
                                            <p:strVal val="#ppt_y"/>
                                          </p:val>
                                        </p:tav>
                                      </p:tavLst>
                                    </p:anim>
                                    <p:animEffect transition="in" filter="fade">
                                      <p:cBhvr>
                                        <p:cTn id="92" dur="400"/>
                                        <p:tgtEl>
                                          <p:spTgt spid="31"/>
                                        </p:tgtEl>
                                      </p:cBhvr>
                                    </p:animEffect>
                                  </p:childTnLst>
                                </p:cTn>
                              </p:par>
                              <p:par>
                                <p:cTn id="97" presetID="42" presetClass="entr" presetSubtype="0" fill="hold" grpId="0" nodeType="withEffect">
                                  <p:stCondLst>
                                    <p:cond delay="130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400" fill="hold"/>
                                        <p:tgtEl>
                                          <p:spTgt spid="32"/>
                                        </p:tgtEl>
                                        <p:attrNameLst>
                                          <p:attrName>ppt_y</p:attrName>
                                        </p:attrNameLst>
                                      </p:cBhvr>
                                      <p:tavLst>
                                        <p:tav tm="0">
                                          <p:val>
                                            <p:strVal val="#ppt_y+.06"/>
                                          </p:val>
                                        </p:tav>
                                        <p:tav tm="100000">
                                          <p:val>
                                            <p:strVal val="#ppt_y"/>
                                          </p:val>
                                        </p:tav>
                                      </p:tavLst>
                                    </p:anim>
                                    <p:animEffect transition="in" filter="fade">
                                      <p:cBhvr>
                                        <p:cTn id="96" dur="400"/>
                                        <p:tgtEl>
                                          <p:spTgt spid="32"/>
                                        </p:tgtEl>
                                      </p:cBhvr>
                                    </p:animEffect>
                                  </p:childTnLst>
                                </p:cTn>
                              </p:par>
                              <p:par>
                                <p:cTn id="101" presetID="42" presetClass="entr" presetSubtype="0" fill="hold" grpId="0" nodeType="withEffect">
                                  <p:stCondLst>
                                    <p:cond delay="135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400" fill="hold"/>
                                        <p:tgtEl>
                                          <p:spTgt spid="25"/>
                                        </p:tgtEl>
                                        <p:attrNameLst>
                                          <p:attrName>ppt_y</p:attrName>
                                        </p:attrNameLst>
                                      </p:cBhvr>
                                      <p:tavLst>
                                        <p:tav tm="0">
                                          <p:val>
                                            <p:strVal val="#ppt_y+.06"/>
                                          </p:val>
                                        </p:tav>
                                        <p:tav tm="100000">
                                          <p:val>
                                            <p:strVal val="#ppt_y"/>
                                          </p:val>
                                        </p:tav>
                                      </p:tavLst>
                                    </p:anim>
                                    <p:animEffect transition="in" filter="fade">
                                      <p:cBhvr>
                                        <p:cTn id="100" dur="400"/>
                                        <p:tgtEl>
                                          <p:spTgt spid="25"/>
                                        </p:tgtEl>
                                      </p:cBhvr>
                                    </p:animEffect>
                                  </p:childTnLst>
                                </p:cTn>
                              </p:par>
                              <p:par>
                                <p:cTn id="105" presetID="42" presetClass="entr" presetSubtype="0" fill="hold" grpId="0" nodeType="withEffect">
                                  <p:stCondLst>
                                    <p:cond delay="135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400" fill="hold"/>
                                        <p:tgtEl>
                                          <p:spTgt spid="26"/>
                                        </p:tgtEl>
                                        <p:attrNameLst>
                                          <p:attrName>ppt_y</p:attrName>
                                        </p:attrNameLst>
                                      </p:cBhvr>
                                      <p:tavLst>
                                        <p:tav tm="0">
                                          <p:val>
                                            <p:strVal val="#ppt_y+.06"/>
                                          </p:val>
                                        </p:tav>
                                        <p:tav tm="100000">
                                          <p:val>
                                            <p:strVal val="#ppt_y"/>
                                          </p:val>
                                        </p:tav>
                                      </p:tavLst>
                                    </p:anim>
                                    <p:animEffect transition="in" filter="fade">
                                      <p:cBhvr>
                                        <p:cTn id="104" dur="400"/>
                                        <p:tgtEl>
                                          <p:spTgt spid="26"/>
                                        </p:tgtEl>
                                      </p:cBhvr>
                                    </p:animEffect>
                                  </p:childTnLst>
                                </p:cTn>
                              </p:par>
                              <p:par>
                                <p:cTn id="109" presetID="42" presetClass="entr" presetSubtype="0" fill="hold" grpId="0" nodeType="withEffect">
                                  <p:stCondLst>
                                    <p:cond delay="1440"/>
                                  </p:stCondLst>
                                  <p:childTnLst>
                                    <p:set>
                                      <p:cBhvr>
                                        <p:cTn id="106" dur="1" fill="hold">
                                          <p:stCondLst>
                                            <p:cond delay="0"/>
                                          </p:stCondLst>
                                        </p:cTn>
                                        <p:tgtEl>
                                          <p:spTgt spid="19"/>
                                        </p:tgtEl>
                                        <p:attrNameLst>
                                          <p:attrName>style.visibility</p:attrName>
                                        </p:attrNameLst>
                                      </p:cBhvr>
                                      <p:to>
                                        <p:strVal val="visible"/>
                                      </p:to>
                                    </p:set>
                                    <p:anim calcmode="lin" valueType="num">
                                      <p:cBhvr additive="base">
                                        <p:cTn id="107" dur="400" fill="hold"/>
                                        <p:tgtEl>
                                          <p:spTgt spid="19"/>
                                        </p:tgtEl>
                                        <p:attrNameLst>
                                          <p:attrName>ppt_y</p:attrName>
                                        </p:attrNameLst>
                                      </p:cBhvr>
                                      <p:tavLst>
                                        <p:tav tm="0">
                                          <p:val>
                                            <p:strVal val="#ppt_y+.06"/>
                                          </p:val>
                                        </p:tav>
                                        <p:tav tm="100000">
                                          <p:val>
                                            <p:strVal val="#ppt_y"/>
                                          </p:val>
                                        </p:tav>
                                      </p:tavLst>
                                    </p:anim>
                                    <p:animEffect transition="in" filter="fade">
                                      <p:cBhvr>
                                        <p:cTn id="108" dur="400"/>
                                        <p:tgtEl>
                                          <p:spTgt spid="19"/>
                                        </p:tgtEl>
                                      </p:cBhvr>
                                    </p:animEffect>
                                  </p:childTnLst>
                                </p:cTn>
                              </p:par>
                              <p:par>
                                <p:cTn id="113" presetID="42" presetClass="entr" presetSubtype="0" fill="hold" grpId="0" nodeType="withEffect">
                                  <p:stCondLst>
                                    <p:cond delay="1440"/>
                                  </p:stCondLst>
                                  <p:childTnLst>
                                    <p:set>
                                      <p:cBhvr>
                                        <p:cTn id="110" dur="1" fill="hold">
                                          <p:stCondLst>
                                            <p:cond delay="0"/>
                                          </p:stCondLst>
                                        </p:cTn>
                                        <p:tgtEl>
                                          <p:spTgt spid="20"/>
                                        </p:tgtEl>
                                        <p:attrNameLst>
                                          <p:attrName>style.visibility</p:attrName>
                                        </p:attrNameLst>
                                      </p:cBhvr>
                                      <p:to>
                                        <p:strVal val="visible"/>
                                      </p:to>
                                    </p:set>
                                    <p:anim calcmode="lin" valueType="num">
                                      <p:cBhvr additive="base">
                                        <p:cTn id="111" dur="400" fill="hold"/>
                                        <p:tgtEl>
                                          <p:spTgt spid="20"/>
                                        </p:tgtEl>
                                        <p:attrNameLst>
                                          <p:attrName>ppt_y</p:attrName>
                                        </p:attrNameLst>
                                      </p:cBhvr>
                                      <p:tavLst>
                                        <p:tav tm="0">
                                          <p:val>
                                            <p:strVal val="#ppt_y+.06"/>
                                          </p:val>
                                        </p:tav>
                                        <p:tav tm="100000">
                                          <p:val>
                                            <p:strVal val="#ppt_y"/>
                                          </p:val>
                                        </p:tav>
                                      </p:tavLst>
                                    </p:anim>
                                    <p:animEffect transition="in" filter="fade">
                                      <p:cBhvr>
                                        <p:cTn id="112" dur="400"/>
                                        <p:tgtEl>
                                          <p:spTgt spid="20"/>
                                        </p:tgtEl>
                                      </p:cBhvr>
                                    </p:animEffect>
                                  </p:childTnLst>
                                </p:cTn>
                              </p:par>
                              <p:par>
                                <p:cTn id="117" presetID="42" presetClass="entr" presetSubtype="0" fill="hold" grpId="0" nodeType="withEffect">
                                  <p:stCondLst>
                                    <p:cond delay="146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400" fill="hold"/>
                                        <p:tgtEl>
                                          <p:spTgt spid="33"/>
                                        </p:tgtEl>
                                        <p:attrNameLst>
                                          <p:attrName>ppt_y</p:attrName>
                                        </p:attrNameLst>
                                      </p:cBhvr>
                                      <p:tavLst>
                                        <p:tav tm="0">
                                          <p:val>
                                            <p:strVal val="#ppt_y+.06"/>
                                          </p:val>
                                        </p:tav>
                                        <p:tav tm="100000">
                                          <p:val>
                                            <p:strVal val="#ppt_y"/>
                                          </p:val>
                                        </p:tav>
                                      </p:tavLst>
                                    </p:anim>
                                    <p:animEffect transition="in" filter="fade">
                                      <p:cBhvr>
                                        <p:cTn id="116" dur="400"/>
                                        <p:tgtEl>
                                          <p:spTgt spid="33"/>
                                        </p:tgtEl>
                                      </p:cBhvr>
                                    </p:animEffect>
                                  </p:childTnLst>
                                </p:cTn>
                              </p:par>
                              <p:par>
                                <p:cTn id="121" presetID="42" presetClass="entr" presetSubtype="0" fill="hold" grpId="0" nodeType="withEffect">
                                  <p:stCondLst>
                                    <p:cond delay="146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400" fill="hold"/>
                                        <p:tgtEl>
                                          <p:spTgt spid="34"/>
                                        </p:tgtEl>
                                        <p:attrNameLst>
                                          <p:attrName>ppt_y</p:attrName>
                                        </p:attrNameLst>
                                      </p:cBhvr>
                                      <p:tavLst>
                                        <p:tav tm="0">
                                          <p:val>
                                            <p:strVal val="#ppt_y+.06"/>
                                          </p:val>
                                        </p:tav>
                                        <p:tav tm="100000">
                                          <p:val>
                                            <p:strVal val="#ppt_y"/>
                                          </p:val>
                                        </p:tav>
                                      </p:tavLst>
                                    </p:anim>
                                    <p:animEffect transition="in" filter="fade">
                                      <p:cBhvr>
                                        <p:cTn id="120" dur="400"/>
                                        <p:tgtEl>
                                          <p:spTgt spid="34"/>
                                        </p:tgtEl>
                                      </p:cBhvr>
                                    </p:animEffect>
                                  </p:childTnLst>
                                </p:cTn>
                              </p:par>
                              <p:par>
                                <p:cTn id="125" presetID="42" presetClass="entr" presetSubtype="0" fill="hold" grpId="0" nodeType="withEffect">
                                  <p:stCondLst>
                                    <p:cond delay="1550"/>
                                  </p:stCondLst>
                                  <p:childTnLst>
                                    <p:set>
                                      <p:cBhvr>
                                        <p:cTn id="122" dur="1" fill="hold">
                                          <p:stCondLst>
                                            <p:cond delay="0"/>
                                          </p:stCondLst>
                                        </p:cTn>
                                        <p:tgtEl>
                                          <p:spTgt spid="27"/>
                                        </p:tgtEl>
                                        <p:attrNameLst>
                                          <p:attrName>style.visibility</p:attrName>
                                        </p:attrNameLst>
                                      </p:cBhvr>
                                      <p:to>
                                        <p:strVal val="visible"/>
                                      </p:to>
                                    </p:set>
                                    <p:anim calcmode="lin" valueType="num">
                                      <p:cBhvr additive="base">
                                        <p:cTn id="123" dur="400" fill="hold"/>
                                        <p:tgtEl>
                                          <p:spTgt spid="27"/>
                                        </p:tgtEl>
                                        <p:attrNameLst>
                                          <p:attrName>ppt_y</p:attrName>
                                        </p:attrNameLst>
                                      </p:cBhvr>
                                      <p:tavLst>
                                        <p:tav tm="0">
                                          <p:val>
                                            <p:strVal val="#ppt_y+.06"/>
                                          </p:val>
                                        </p:tav>
                                        <p:tav tm="100000">
                                          <p:val>
                                            <p:strVal val="#ppt_y"/>
                                          </p:val>
                                        </p:tav>
                                      </p:tavLst>
                                    </p:anim>
                                    <p:animEffect transition="in" filter="fade">
                                      <p:cBhvr>
                                        <p:cTn id="124" dur="400"/>
                                        <p:tgtEl>
                                          <p:spTgt spid="27"/>
                                        </p:tgtEl>
                                      </p:cBhvr>
                                    </p:animEffect>
                                  </p:childTnLst>
                                </p:cTn>
                              </p:par>
                              <p:par>
                                <p:cTn id="129" presetID="42" presetClass="entr" presetSubtype="0" fill="hold" grpId="0" nodeType="withEffect">
                                  <p:stCondLst>
                                    <p:cond delay="155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400" fill="hold"/>
                                        <p:tgtEl>
                                          <p:spTgt spid="28"/>
                                        </p:tgtEl>
                                        <p:attrNameLst>
                                          <p:attrName>ppt_y</p:attrName>
                                        </p:attrNameLst>
                                      </p:cBhvr>
                                      <p:tavLst>
                                        <p:tav tm="0">
                                          <p:val>
                                            <p:strVal val="#ppt_y+.06"/>
                                          </p:val>
                                        </p:tav>
                                        <p:tav tm="100000">
                                          <p:val>
                                            <p:strVal val="#ppt_y"/>
                                          </p:val>
                                        </p:tav>
                                      </p:tavLst>
                                    </p:anim>
                                    <p:animEffect transition="in" filter="fade">
                                      <p:cBhvr>
                                        <p:cTn id="128" dur="400"/>
                                        <p:tgtEl>
                                          <p:spTgt spid="28"/>
                                        </p:tgtEl>
                                      </p:cBhvr>
                                    </p:animEffect>
                                  </p:childTnLst>
                                </p:cTn>
                              </p:par>
                              <p:par>
                                <p:cTn id="133" presetID="42" presetClass="entr" presetSubtype="0" fill="hold" grpId="0" nodeType="withEffect">
                                  <p:stCondLst>
                                    <p:cond delay="1620"/>
                                  </p:stCondLst>
                                  <p:childTnLst>
                                    <p:set>
                                      <p:cBhvr>
                                        <p:cTn id="130" dur="1" fill="hold">
                                          <p:stCondLst>
                                            <p:cond delay="0"/>
                                          </p:stCondLst>
                                        </p:cTn>
                                        <p:tgtEl>
                                          <p:spTgt spid="21"/>
                                        </p:tgtEl>
                                        <p:attrNameLst>
                                          <p:attrName>style.visibility</p:attrName>
                                        </p:attrNameLst>
                                      </p:cBhvr>
                                      <p:to>
                                        <p:strVal val="visible"/>
                                      </p:to>
                                    </p:set>
                                    <p:anim calcmode="lin" valueType="num">
                                      <p:cBhvr additive="base">
                                        <p:cTn id="131" dur="400" fill="hold"/>
                                        <p:tgtEl>
                                          <p:spTgt spid="21"/>
                                        </p:tgtEl>
                                        <p:attrNameLst>
                                          <p:attrName>ppt_y</p:attrName>
                                        </p:attrNameLst>
                                      </p:cBhvr>
                                      <p:tavLst>
                                        <p:tav tm="0">
                                          <p:val>
                                            <p:strVal val="#ppt_y+.06"/>
                                          </p:val>
                                        </p:tav>
                                        <p:tav tm="100000">
                                          <p:val>
                                            <p:strVal val="#ppt_y"/>
                                          </p:val>
                                        </p:tav>
                                      </p:tavLst>
                                    </p:anim>
                                    <p:animEffect transition="in" filter="fade">
                                      <p:cBhvr>
                                        <p:cTn id="132" dur="400"/>
                                        <p:tgtEl>
                                          <p:spTgt spid="21"/>
                                        </p:tgtEl>
                                      </p:cBhvr>
                                    </p:animEffect>
                                  </p:childTnLst>
                                </p:cTn>
                              </p:par>
                              <p:par>
                                <p:cTn id="137" presetID="42" presetClass="entr" presetSubtype="0" fill="hold" grpId="0" nodeType="withEffect">
                                  <p:stCondLst>
                                    <p:cond delay="1620"/>
                                  </p:stCondLst>
                                  <p:childTnLst>
                                    <p:set>
                                      <p:cBhvr>
                                        <p:cTn id="134" dur="1" fill="hold">
                                          <p:stCondLst>
                                            <p:cond delay="0"/>
                                          </p:stCondLst>
                                        </p:cTn>
                                        <p:tgtEl>
                                          <p:spTgt spid="22"/>
                                        </p:tgtEl>
                                        <p:attrNameLst>
                                          <p:attrName>style.visibility</p:attrName>
                                        </p:attrNameLst>
                                      </p:cBhvr>
                                      <p:to>
                                        <p:strVal val="visible"/>
                                      </p:to>
                                    </p:set>
                                    <p:anim calcmode="lin" valueType="num">
                                      <p:cBhvr additive="base">
                                        <p:cTn id="135" dur="400" fill="hold"/>
                                        <p:tgtEl>
                                          <p:spTgt spid="22"/>
                                        </p:tgtEl>
                                        <p:attrNameLst>
                                          <p:attrName>ppt_y</p:attrName>
                                        </p:attrNameLst>
                                      </p:cBhvr>
                                      <p:tavLst>
                                        <p:tav tm="0">
                                          <p:val>
                                            <p:strVal val="#ppt_y+.06"/>
                                          </p:val>
                                        </p:tav>
                                        <p:tav tm="100000">
                                          <p:val>
                                            <p:strVal val="#ppt_y"/>
                                          </p:val>
                                        </p:tav>
                                      </p:tavLst>
                                    </p:anim>
                                    <p:animEffect transition="in" filter="fade">
                                      <p:cBhvr>
                                        <p:cTn id="136" dur="400"/>
                                        <p:tgtEl>
                                          <p:spTgt spid="22"/>
                                        </p:tgtEl>
                                      </p:cBhvr>
                                    </p:animEffect>
                                  </p:childTnLst>
                                </p:cTn>
                              </p:par>
                              <p:par>
                                <p:cTn id="141" presetID="42" presetClass="entr" presetSubtype="0" fill="hold" grpId="0" nodeType="withEffect">
                                  <p:stCondLst>
                                    <p:cond delay="162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400" fill="hold"/>
                                        <p:tgtEl>
                                          <p:spTgt spid="35"/>
                                        </p:tgtEl>
                                        <p:attrNameLst>
                                          <p:attrName>ppt_y</p:attrName>
                                        </p:attrNameLst>
                                      </p:cBhvr>
                                      <p:tavLst>
                                        <p:tav tm="0">
                                          <p:val>
                                            <p:strVal val="#ppt_y+.06"/>
                                          </p:val>
                                        </p:tav>
                                        <p:tav tm="100000">
                                          <p:val>
                                            <p:strVal val="#ppt_y"/>
                                          </p:val>
                                        </p:tav>
                                      </p:tavLst>
                                    </p:anim>
                                    <p:animEffect transition="in" filter="fade">
                                      <p:cBhvr>
                                        <p:cTn id="140" dur="400"/>
                                        <p:tgtEl>
                                          <p:spTgt spid="35"/>
                                        </p:tgtEl>
                                      </p:cBhvr>
                                    </p:animEffect>
                                  </p:childTnLst>
                                </p:cTn>
                              </p:par>
                              <p:par>
                                <p:cTn id="145" presetID="42" presetClass="entr" presetSubtype="0" fill="hold" grpId="0" nodeType="withEffect">
                                  <p:stCondLst>
                                    <p:cond delay="162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400" fill="hold"/>
                                        <p:tgtEl>
                                          <p:spTgt spid="36"/>
                                        </p:tgtEl>
                                        <p:attrNameLst>
                                          <p:attrName>ppt_y</p:attrName>
                                        </p:attrNameLst>
                                      </p:cBhvr>
                                      <p:tavLst>
                                        <p:tav tm="0">
                                          <p:val>
                                            <p:strVal val="#ppt_y+.06"/>
                                          </p:val>
                                        </p:tav>
                                        <p:tav tm="100000">
                                          <p:val>
                                            <p:strVal val="#ppt_y"/>
                                          </p:val>
                                        </p:tav>
                                      </p:tavLst>
                                    </p:anim>
                                    <p:animEffect transition="in" filter="fade">
                                      <p:cBhvr>
                                        <p:cTn id="144" dur="400"/>
                                        <p:tgtEl>
                                          <p:spTgt spid="36"/>
                                        </p:tgtEl>
                                      </p:cBhvr>
                                    </p:animEffect>
                                  </p:childTnLst>
                                </p:cTn>
                              </p:par>
                              <p:par>
                                <p:cTn id="149" presetID="42" presetClass="entr" presetSubtype="0" fill="hold" grpId="0" nodeType="withEffect">
                                  <p:stCondLst>
                                    <p:cond delay="1750"/>
                                  </p:stCondLst>
                                  <p:childTnLst>
                                    <p:set>
                                      <p:cBhvr>
                                        <p:cTn id="146" dur="1" fill="hold">
                                          <p:stCondLst>
                                            <p:cond delay="0"/>
                                          </p:stCondLst>
                                        </p:cTn>
                                        <p:tgtEl>
                                          <p:spTgt spid="29"/>
                                        </p:tgtEl>
                                        <p:attrNameLst>
                                          <p:attrName>style.visibility</p:attrName>
                                        </p:attrNameLst>
                                      </p:cBhvr>
                                      <p:to>
                                        <p:strVal val="visible"/>
                                      </p:to>
                                    </p:set>
                                    <p:anim calcmode="lin" valueType="num">
                                      <p:cBhvr additive="base">
                                        <p:cTn id="147" dur="400" fill="hold"/>
                                        <p:tgtEl>
                                          <p:spTgt spid="29"/>
                                        </p:tgtEl>
                                        <p:attrNameLst>
                                          <p:attrName>ppt_y</p:attrName>
                                        </p:attrNameLst>
                                      </p:cBhvr>
                                      <p:tavLst>
                                        <p:tav tm="0">
                                          <p:val>
                                            <p:strVal val="#ppt_y+.06"/>
                                          </p:val>
                                        </p:tav>
                                        <p:tav tm="100000">
                                          <p:val>
                                            <p:strVal val="#ppt_y"/>
                                          </p:val>
                                        </p:tav>
                                      </p:tavLst>
                                    </p:anim>
                                    <p:animEffect transition="in" filter="fade">
                                      <p:cBhvr>
                                        <p:cTn id="148" dur="400"/>
                                        <p:tgtEl>
                                          <p:spTgt spid="29"/>
                                        </p:tgtEl>
                                      </p:cBhvr>
                                    </p:animEffect>
                                  </p:childTnLst>
                                </p:cTn>
                              </p:par>
                              <p:par>
                                <p:cTn id="153" presetID="42" presetClass="entr" presetSubtype="0" fill="hold" grpId="0" nodeType="withEffect">
                                  <p:stCondLst>
                                    <p:cond delay="1750"/>
                                  </p:stCondLst>
                                  <p:childTnLst>
                                    <p:set>
                                      <p:cBhvr>
                                        <p:cTn id="150" dur="1" fill="hold">
                                          <p:stCondLst>
                                            <p:cond delay="0"/>
                                          </p:stCondLst>
                                        </p:cTn>
                                        <p:tgtEl>
                                          <p:spTgt spid="30"/>
                                        </p:tgtEl>
                                        <p:attrNameLst>
                                          <p:attrName>style.visibility</p:attrName>
                                        </p:attrNameLst>
                                      </p:cBhvr>
                                      <p:to>
                                        <p:strVal val="visible"/>
                                      </p:to>
                                    </p:set>
                                    <p:anim calcmode="lin" valueType="num">
                                      <p:cBhvr additive="base">
                                        <p:cTn id="151" dur="400" fill="hold"/>
                                        <p:tgtEl>
                                          <p:spTgt spid="30"/>
                                        </p:tgtEl>
                                        <p:attrNameLst>
                                          <p:attrName>ppt_y</p:attrName>
                                        </p:attrNameLst>
                                      </p:cBhvr>
                                      <p:tavLst>
                                        <p:tav tm="0">
                                          <p:val>
                                            <p:strVal val="#ppt_y+.06"/>
                                          </p:val>
                                        </p:tav>
                                        <p:tav tm="100000">
                                          <p:val>
                                            <p:strVal val="#ppt_y"/>
                                          </p:val>
                                        </p:tav>
                                      </p:tavLst>
                                    </p:anim>
                                    <p:animEffect transition="in" filter="fade">
                                      <p:cBhvr>
                                        <p:cTn id="152" dur="400"/>
                                        <p:tgtEl>
                                          <p:spTgt spid="30"/>
                                        </p:tgtEl>
                                      </p:cBhvr>
                                    </p:animEffect>
                                  </p:childTnLst>
                                </p:cTn>
                              </p:par>
                              <p:par>
                                <p:cTn id="157" presetID="42" presetClass="entr" presetSubtype="0" fill="hold" grpId="0" nodeType="withEffect">
                                  <p:stCondLst>
                                    <p:cond delay="1780"/>
                                  </p:stCondLst>
                                  <p:childTnLst>
                                    <p:set>
                                      <p:cBhvr>
                                        <p:cTn id="154" dur="1" fill="hold">
                                          <p:stCondLst>
                                            <p:cond delay="0"/>
                                          </p:stCondLst>
                                        </p:cTn>
                                        <p:tgtEl>
                                          <p:spTgt spid="37"/>
                                        </p:tgtEl>
                                        <p:attrNameLst>
                                          <p:attrName>style.visibility</p:attrName>
                                        </p:attrNameLst>
                                      </p:cBhvr>
                                      <p:to>
                                        <p:strVal val="visible"/>
                                      </p:to>
                                    </p:set>
                                    <p:anim calcmode="lin" valueType="num">
                                      <p:cBhvr additive="base">
                                        <p:cTn id="155" dur="400" fill="hold"/>
                                        <p:tgtEl>
                                          <p:spTgt spid="37"/>
                                        </p:tgtEl>
                                        <p:attrNameLst>
                                          <p:attrName>ppt_y</p:attrName>
                                        </p:attrNameLst>
                                      </p:cBhvr>
                                      <p:tavLst>
                                        <p:tav tm="0">
                                          <p:val>
                                            <p:strVal val="#ppt_y+.06"/>
                                          </p:val>
                                        </p:tav>
                                        <p:tav tm="100000">
                                          <p:val>
                                            <p:strVal val="#ppt_y"/>
                                          </p:val>
                                        </p:tav>
                                      </p:tavLst>
                                    </p:anim>
                                    <p:animEffect transition="in" filter="fade">
                                      <p:cBhvr>
                                        <p:cTn id="156" dur="400"/>
                                        <p:tgtEl>
                                          <p:spTgt spid="37"/>
                                        </p:tgtEl>
                                      </p:cBhvr>
                                    </p:animEffect>
                                  </p:childTnLst>
                                </p:cTn>
                              </p:par>
                              <p:par>
                                <p:cTn id="161" presetID="42" presetClass="entr" presetSubtype="0" fill="hold" grpId="0" nodeType="withEffect">
                                  <p:stCondLst>
                                    <p:cond delay="1780"/>
                                  </p:stCondLst>
                                  <p:childTnLst>
                                    <p:set>
                                      <p:cBhvr>
                                        <p:cTn id="158" dur="1" fill="hold">
                                          <p:stCondLst>
                                            <p:cond delay="0"/>
                                          </p:stCondLst>
                                        </p:cTn>
                                        <p:tgtEl>
                                          <p:spTgt spid="38"/>
                                        </p:tgtEl>
                                        <p:attrNameLst>
                                          <p:attrName>style.visibility</p:attrName>
                                        </p:attrNameLst>
                                      </p:cBhvr>
                                      <p:to>
                                        <p:strVal val="visible"/>
                                      </p:to>
                                    </p:set>
                                    <p:anim calcmode="lin" valueType="num">
                                      <p:cBhvr additive="base">
                                        <p:cTn id="159" dur="400" fill="hold"/>
                                        <p:tgtEl>
                                          <p:spTgt spid="38"/>
                                        </p:tgtEl>
                                        <p:attrNameLst>
                                          <p:attrName>ppt_y</p:attrName>
                                        </p:attrNameLst>
                                      </p:cBhvr>
                                      <p:tavLst>
                                        <p:tav tm="0">
                                          <p:val>
                                            <p:strVal val="#ppt_y+.06"/>
                                          </p:val>
                                        </p:tav>
                                        <p:tav tm="100000">
                                          <p:val>
                                            <p:strVal val="#ppt_y"/>
                                          </p:val>
                                        </p:tav>
                                      </p:tavLst>
                                    </p:anim>
                                    <p:animEffect transition="in" filter="fade">
                                      <p:cBhvr>
                                        <p:cTn id="160" dur="400"/>
                                        <p:tgtEl>
                                          <p:spTgt spid="38"/>
                                        </p:tgtEl>
                                      </p:cBhvr>
                                    </p:animEffect>
                                  </p:childTnLst>
                                </p:cTn>
                              </p:par>
                              <p:par>
                                <p:cTn id="165" presetID="42" presetClass="entr" presetSubtype="0" fill="hold" grpId="0" nodeType="withEffect">
                                  <p:stCondLst>
                                    <p:cond delay="1940"/>
                                  </p:stCondLst>
                                  <p:childTnLst>
                                    <p:set>
                                      <p:cBhvr>
                                        <p:cTn id="162" dur="1" fill="hold">
                                          <p:stCondLst>
                                            <p:cond delay="0"/>
                                          </p:stCondLst>
                                        </p:cTn>
                                        <p:tgtEl>
                                          <p:spTgt spid="39"/>
                                        </p:tgtEl>
                                        <p:attrNameLst>
                                          <p:attrName>style.visibility</p:attrName>
                                        </p:attrNameLst>
                                      </p:cBhvr>
                                      <p:to>
                                        <p:strVal val="visible"/>
                                      </p:to>
                                    </p:set>
                                    <p:anim calcmode="lin" valueType="num">
                                      <p:cBhvr additive="base">
                                        <p:cTn id="163" dur="400" fill="hold"/>
                                        <p:tgtEl>
                                          <p:spTgt spid="39"/>
                                        </p:tgtEl>
                                        <p:attrNameLst>
                                          <p:attrName>ppt_y</p:attrName>
                                        </p:attrNameLst>
                                      </p:cBhvr>
                                      <p:tavLst>
                                        <p:tav tm="0">
                                          <p:val>
                                            <p:strVal val="#ppt_y+.06"/>
                                          </p:val>
                                        </p:tav>
                                        <p:tav tm="100000">
                                          <p:val>
                                            <p:strVal val="#ppt_y"/>
                                          </p:val>
                                        </p:tav>
                                      </p:tavLst>
                                    </p:anim>
                                    <p:animEffect transition="in" filter="fade">
                                      <p:cBhvr>
                                        <p:cTn id="164" dur="400"/>
                                        <p:tgtEl>
                                          <p:spTgt spid="39"/>
                                        </p:tgtEl>
                                      </p:cBhvr>
                                    </p:animEffect>
                                  </p:childTnLst>
                                </p:cTn>
                              </p:par>
                              <p:par>
                                <p:cTn id="169" presetID="42" presetClass="entr" presetSubtype="0" fill="hold" grpId="0" nodeType="withEffect">
                                  <p:stCondLst>
                                    <p:cond delay="19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400" fill="hold"/>
                                        <p:tgtEl>
                                          <p:spTgt spid="40"/>
                                        </p:tgtEl>
                                        <p:attrNameLst>
                                          <p:attrName>ppt_y</p:attrName>
                                        </p:attrNameLst>
                                      </p:cBhvr>
                                      <p:tavLst>
                                        <p:tav tm="0">
                                          <p:val>
                                            <p:strVal val="#ppt_y+.06"/>
                                          </p:val>
                                        </p:tav>
                                        <p:tav tm="100000">
                                          <p:val>
                                            <p:strVal val="#ppt_y"/>
                                          </p:val>
                                        </p:tav>
                                      </p:tavLst>
                                    </p:anim>
                                    <p:animEffect transition="in" filter="fade">
                                      <p:cBhvr>
                                        <p:cTn id="168" dur="400"/>
                                        <p:tgtEl>
                                          <p:spTgt spid="40"/>
                                        </p:tgtEl>
                                      </p:cBhvr>
                                    </p:animEffect>
                                  </p:childTnLst>
                                </p:cTn>
                              </p:par>
                              <p:par>
                                <p:cTn id="173" presetID="42" presetClass="entr" presetSubtype="0" fill="hold" grpId="0" nodeType="withEffect">
                                  <p:stCondLst>
                                    <p:cond delay="2100"/>
                                  </p:stCondLst>
                                  <p:childTnLst>
                                    <p:set>
                                      <p:cBhvr>
                                        <p:cTn id="170" dur="1" fill="hold">
                                          <p:stCondLst>
                                            <p:cond delay="0"/>
                                          </p:stCondLst>
                                        </p:cTn>
                                        <p:tgtEl>
                                          <p:spTgt spid="41"/>
                                        </p:tgtEl>
                                        <p:attrNameLst>
                                          <p:attrName>style.visibility</p:attrName>
                                        </p:attrNameLst>
                                      </p:cBhvr>
                                      <p:to>
                                        <p:strVal val="visible"/>
                                      </p:to>
                                    </p:set>
                                    <p:anim calcmode="lin" valueType="num">
                                      <p:cBhvr additive="base">
                                        <p:cTn id="171" dur="400" fill="hold"/>
                                        <p:tgtEl>
                                          <p:spTgt spid="41"/>
                                        </p:tgtEl>
                                        <p:attrNameLst>
                                          <p:attrName>ppt_y</p:attrName>
                                        </p:attrNameLst>
                                      </p:cBhvr>
                                      <p:tavLst>
                                        <p:tav tm="0">
                                          <p:val>
                                            <p:strVal val="#ppt_y+.06"/>
                                          </p:val>
                                        </p:tav>
                                        <p:tav tm="100000">
                                          <p:val>
                                            <p:strVal val="#ppt_y"/>
                                          </p:val>
                                        </p:tav>
                                      </p:tavLst>
                                    </p:anim>
                                    <p:animEffect transition="in" filter="fade">
                                      <p:cBhvr>
                                        <p:cTn id="172" dur="400"/>
                                        <p:tgtEl>
                                          <p:spTgt spid="41"/>
                                        </p:tgtEl>
                                      </p:cBhvr>
                                    </p:animEffect>
                                  </p:childTnLst>
                                </p:cTn>
                              </p:par>
                              <p:par>
                                <p:cTn id="177" presetID="42" presetClass="entr" presetSubtype="0" fill="hold" grpId="0" nodeType="withEffect">
                                  <p:stCondLst>
                                    <p:cond delay="2100"/>
                                  </p:stCondLst>
                                  <p:childTnLst>
                                    <p:set>
                                      <p:cBhvr>
                                        <p:cTn id="174" dur="1" fill="hold">
                                          <p:stCondLst>
                                            <p:cond delay="0"/>
                                          </p:stCondLst>
                                        </p:cTn>
                                        <p:tgtEl>
                                          <p:spTgt spid="42"/>
                                        </p:tgtEl>
                                        <p:attrNameLst>
                                          <p:attrName>style.visibility</p:attrName>
                                        </p:attrNameLst>
                                      </p:cBhvr>
                                      <p:to>
                                        <p:strVal val="visible"/>
                                      </p:to>
                                    </p:set>
                                    <p:anim calcmode="lin" valueType="num">
                                      <p:cBhvr additive="base">
                                        <p:cTn id="175" dur="400" fill="hold"/>
                                        <p:tgtEl>
                                          <p:spTgt spid="42"/>
                                        </p:tgtEl>
                                        <p:attrNameLst>
                                          <p:attrName>ppt_y</p:attrName>
                                        </p:attrNameLst>
                                      </p:cBhvr>
                                      <p:tavLst>
                                        <p:tav tm="0">
                                          <p:val>
                                            <p:strVal val="#ppt_y+.06"/>
                                          </p:val>
                                        </p:tav>
                                        <p:tav tm="100000">
                                          <p:val>
                                            <p:strVal val="#ppt_y"/>
                                          </p:val>
                                        </p:tav>
                                      </p:tavLst>
                                    </p:anim>
                                    <p:animEffect transition="in" filter="fade">
                                      <p:cBhvr>
                                        <p:cTn id="176" dur="400"/>
                                        <p:tgtEl>
                                          <p:spTgt spid="42"/>
                                        </p:tgtEl>
                                      </p:cBhvr>
                                    </p:animEffect>
                                  </p:childTnLst>
                                </p:cTn>
                              </p:par>
                              <p:par>
                                <p:cTn id="181" presetID="42" presetClass="entr" presetSubtype="0" fill="hold" grpId="0" nodeType="withEffect">
                                  <p:stCondLst>
                                    <p:cond delay="2500"/>
                                  </p:stCondLst>
                                  <p:childTnLst>
                                    <p:set>
                                      <p:cBhvr>
                                        <p:cTn id="178" dur="1" fill="hold">
                                          <p:stCondLst>
                                            <p:cond delay="0"/>
                                          </p:stCondLst>
                                        </p:cTn>
                                        <p:tgtEl>
                                          <p:spTgt spid="43"/>
                                        </p:tgtEl>
                                        <p:attrNameLst>
                                          <p:attrName>style.visibility</p:attrName>
                                        </p:attrNameLst>
                                      </p:cBhvr>
                                      <p:to>
                                        <p:strVal val="visible"/>
                                      </p:to>
                                    </p:set>
                                    <p:anim calcmode="lin" valueType="num">
                                      <p:cBhvr additive="base">
                                        <p:cTn id="179" dur="700" fill="hold"/>
                                        <p:tgtEl>
                                          <p:spTgt spid="43"/>
                                        </p:tgtEl>
                                        <p:attrNameLst>
                                          <p:attrName>ppt_y</p:attrName>
                                        </p:attrNameLst>
                                      </p:cBhvr>
                                      <p:tavLst>
                                        <p:tav tm="0">
                                          <p:val>
                                            <p:strVal val="#ppt_y+.06"/>
                                          </p:val>
                                        </p:tav>
                                        <p:tav tm="100000">
                                          <p:val>
                                            <p:strVal val="#ppt_y"/>
                                          </p:val>
                                        </p:tav>
                                      </p:tavLst>
                                    </p:anim>
                                    <p:animEffect transition="in" filter="fade">
                                      <p:cBhvr>
                                        <p:cTn id="180" dur="700"/>
                                        <p:tgtEl>
                                          <p:spTgt spid="43"/>
                                        </p:tgtEl>
                                      </p:cBhvr>
                                    </p:animEffect>
                                  </p:childTnLst>
                                </p:cTn>
                              </p:par>
                              <p:par>
                                <p:cTn id="184" presetID="10" presetClass="entr" presetSubtype="0" fill="hold" grpId="0" nodeType="withEffect">
                                  <p:stCondLst>
                                    <p:cond delay="2900"/>
                                  </p:stCondLst>
                                  <p:childTnLst>
                                    <p:set>
                                      <p:cBhvr>
                                        <p:cTn id="182" dur="1" fill="hold">
                                          <p:stCondLst>
                                            <p:cond delay="0"/>
                                          </p:stCondLst>
                                        </p:cTn>
                                        <p:tgtEl>
                                          <p:spTgt spid="44"/>
                                        </p:tgtEl>
                                        <p:attrNameLst>
                                          <p:attrName>style.visibility</p:attrName>
                                        </p:attrNameLst>
                                      </p:cBhvr>
                                      <p:to>
                                        <p:strVal val="visible"/>
                                      </p:to>
                                    </p:set>
                                    <p:animEffect transition="in" filter="fade">
                                      <p:cBhvr>
                                        <p:cTn id="183" dur="600"/>
                                        <p:tgtEl>
                                          <p:spTgt spid="44"/>
                                        </p:tgtEl>
                                      </p:cBhvr>
                                    </p:animEffect>
                                  </p:childTnLst>
                                </p:cTn>
                              </p:par>
                              <p:par>
                                <p:cTn id="187" presetID="10" presetClass="entr" presetSubtype="0" fill="hold" nodeType="withEffect">
                                  <p:stCondLst>
                                    <p:cond delay="2900"/>
                                  </p:stCondLst>
                                  <p:childTnLst>
                                    <p:set>
                                      <p:cBhvr>
                                        <p:cTn id="185" dur="1" fill="hold">
                                          <p:stCondLst>
                                            <p:cond delay="0"/>
                                          </p:stCondLst>
                                        </p:cTn>
                                        <p:tgtEl>
                                          <p:spTgt spid="45"/>
                                        </p:tgtEl>
                                        <p:attrNameLst>
                                          <p:attrName>style.visibility</p:attrName>
                                        </p:attrNameLst>
                                      </p:cBhvr>
                                      <p:to>
                                        <p:strVal val="visible"/>
                                      </p:to>
                                    </p:set>
                                    <p:animEffect transition="in" filter="fade">
                                      <p:cBhvr>
                                        <p:cTn id="186" dur="600"/>
                                        <p:tgtEl>
                                          <p:spTgt spid="45"/>
                                        </p:tgtEl>
                                      </p:cBhvr>
                                    </p:animEffect>
                                  </p:childTnLst>
                                </p:cTn>
                              </p:par>
                              <p:par>
                                <p:cTn id="190" presetID="10" presetClass="entr" presetSubtype="0" fill="hold" grpId="0" nodeType="withEffect">
                                  <p:stCondLst>
                                    <p:cond delay="2900"/>
                                  </p:stCondLst>
                                  <p:childTnLst>
                                    <p:set>
                                      <p:cBhvr>
                                        <p:cTn id="188" dur="1" fill="hold">
                                          <p:stCondLst>
                                            <p:cond delay="0"/>
                                          </p:stCondLst>
                                        </p:cTn>
                                        <p:tgtEl>
                                          <p:spTgt spid="48"/>
                                        </p:tgtEl>
                                        <p:attrNameLst>
                                          <p:attrName>style.visibility</p:attrName>
                                        </p:attrNameLst>
                                      </p:cBhvr>
                                      <p:to>
                                        <p:strVal val="visible"/>
                                      </p:to>
                                    </p:set>
                                    <p:animEffect transition="in" filter="fade">
                                      <p:cBhvr>
                                        <p:cTn id="189" dur="600"/>
                                        <p:tgtEl>
                                          <p:spTgt spid="48"/>
                                        </p:tgtEl>
                                      </p:cBhvr>
                                    </p:animEffect>
                                  </p:childTnLst>
                                </p:cTn>
                              </p:par>
                              <p:par>
                                <p:cTn id="193" presetID="10" presetClass="entr" presetSubtype="0" fill="hold" grpId="0" nodeType="withEffect">
                                  <p:stCondLst>
                                    <p:cond delay="2900"/>
                                  </p:stCondLst>
                                  <p:childTnLst>
                                    <p:set>
                                      <p:cBhvr>
                                        <p:cTn id="191" dur="1" fill="hold">
                                          <p:stCondLst>
                                            <p:cond delay="0"/>
                                          </p:stCondLst>
                                        </p:cTn>
                                        <p:tgtEl>
                                          <p:spTgt spid="49"/>
                                        </p:tgtEl>
                                        <p:attrNameLst>
                                          <p:attrName>style.visibility</p:attrName>
                                        </p:attrNameLst>
                                      </p:cBhvr>
                                      <p:to>
                                        <p:strVal val="visible"/>
                                      </p:to>
                                    </p:set>
                                    <p:animEffect transition="in" filter="fade">
                                      <p:cBhvr>
                                        <p:cTn id="192" dur="600"/>
                                        <p:tgtEl>
                                          <p:spTgt spid="49"/>
                                        </p:tgtEl>
                                      </p:cBhvr>
                                    </p:animEffect>
                                  </p:childTnLst>
                                </p:cTn>
                              </p:par>
                              <p:par>
                                <p:cTn id="196" presetID="22" presetClass="entr" presetSubtype="8" fill="hold" nodeType="withEffect">
                                  <p:stCondLst>
                                    <p:cond delay="3300"/>
                                  </p:stCondLst>
                                  <p:childTnLst>
                                    <p:set>
                                      <p:cBhvr>
                                        <p:cTn id="194" dur="1" fill="hold">
                                          <p:stCondLst>
                                            <p:cond delay="0"/>
                                          </p:stCondLst>
                                        </p:cTn>
                                        <p:tgtEl>
                                          <p:spTgt spid="46"/>
                                        </p:tgtEl>
                                        <p:attrNameLst>
                                          <p:attrName>style.visibility</p:attrName>
                                        </p:attrNameLst>
                                      </p:cBhvr>
                                      <p:to>
                                        <p:strVal val="visible"/>
                                      </p:to>
                                    </p:set>
                                    <p:animEffect transition="in" filter="wipe(left)">
                                      <p:cBhvr>
                                        <p:cTn id="195" dur="800"/>
                                        <p:tgtEl>
                                          <p:spTgt spid="46"/>
                                        </p:tgtEl>
                                      </p:cBhvr>
                                    </p:animEffect>
                                  </p:childTnLst>
                                </p:cTn>
                              </p:par>
                              <p:par>
                                <p:cTn id="199" presetID="22" presetClass="entr" presetSubtype="8" fill="hold" nodeType="withEffect">
                                  <p:stCondLst>
                                    <p:cond delay="3800"/>
                                  </p:stCondLst>
                                  <p:childTnLst>
                                    <p:set>
                                      <p:cBhvr>
                                        <p:cTn id="197" dur="1" fill="hold">
                                          <p:stCondLst>
                                            <p:cond delay="0"/>
                                          </p:stCondLst>
                                        </p:cTn>
                                        <p:tgtEl>
                                          <p:spTgt spid="47"/>
                                        </p:tgtEl>
                                        <p:attrNameLst>
                                          <p:attrName>style.visibility</p:attrName>
                                        </p:attrNameLst>
                                      </p:cBhvr>
                                      <p:to>
                                        <p:strVal val="visible"/>
                                      </p:to>
                                    </p:set>
                                    <p:animEffect transition="in" filter="wipe(left)">
                                      <p:cBhvr>
                                        <p:cTn id="198" dur="1100"/>
                                        <p:tgtEl>
                                          <p:spTgt spid="47"/>
                                        </p:tgtEl>
                                      </p:cBhvr>
                                    </p:animEffect>
                                  </p:childTnLst>
                                </p:cTn>
                              </p:par>
                              <p:par>
                                <p:cTn id="202" presetID="22" presetClass="entr" presetSubtype="8" fill="hold" grpId="0" nodeType="withEffect">
                                  <p:stCondLst>
                                    <p:cond delay="3800"/>
                                  </p:stCondLst>
                                  <p:childTnLst>
                                    <p:set>
                                      <p:cBhvr>
                                        <p:cTn id="200" dur="1" fill="hold">
                                          <p:stCondLst>
                                            <p:cond delay="0"/>
                                          </p:stCondLst>
                                        </p:cTn>
                                        <p:tgtEl>
                                          <p:spTgt spid="50"/>
                                        </p:tgtEl>
                                        <p:attrNameLst>
                                          <p:attrName>style.visibility</p:attrName>
                                        </p:attrNameLst>
                                      </p:cBhvr>
                                      <p:to>
                                        <p:strVal val="visible"/>
                                      </p:to>
                                    </p:set>
                                    <p:animEffect transition="in" filter="wipe(left)">
                                      <p:cBhvr>
                                        <p:cTn id="201" dur="1100"/>
                                        <p:tgtEl>
                                          <p:spTgt spid="50"/>
                                        </p:tgtEl>
                                      </p:cBhvr>
                                    </p:animEffect>
                                  </p:childTnLst>
                                </p:cTn>
                              </p:par>
                              <p:par>
                                <p:cTn id="205" presetID="22" presetClass="entr" presetSubtype="8" fill="hold" grpId="0" nodeType="withEffect">
                                  <p:stCondLst>
                                    <p:cond delay="3800"/>
                                  </p:stCondLst>
                                  <p:childTnLst>
                                    <p:set>
                                      <p:cBhvr>
                                        <p:cTn id="203" dur="1" fill="hold">
                                          <p:stCondLst>
                                            <p:cond delay="0"/>
                                          </p:stCondLst>
                                        </p:cTn>
                                        <p:tgtEl>
                                          <p:spTgt spid="51"/>
                                        </p:tgtEl>
                                        <p:attrNameLst>
                                          <p:attrName>style.visibility</p:attrName>
                                        </p:attrNameLst>
                                      </p:cBhvr>
                                      <p:to>
                                        <p:strVal val="visible"/>
                                      </p:to>
                                    </p:set>
                                    <p:animEffect transition="in" filter="wipe(left)">
                                      <p:cBhvr>
                                        <p:cTn id="204" dur="1100"/>
                                        <p:tgtEl>
                                          <p:spTgt spid="51"/>
                                        </p:tgtEl>
                                      </p:cBhvr>
                                    </p:animEffect>
                                  </p:childTnLst>
                                </p:cTn>
                              </p:par>
                              <p:par>
                                <p:cTn id="208" presetID="10" presetClass="entr" presetSubtype="0" fill="hold" grpId="0" nodeType="withEffect">
                                  <p:stCondLst>
                                    <p:cond delay="4600"/>
                                  </p:stCondLst>
                                  <p:childTnLst>
                                    <p:set>
                                      <p:cBhvr>
                                        <p:cTn id="206" dur="1" fill="hold">
                                          <p:stCondLst>
                                            <p:cond delay="0"/>
                                          </p:stCondLst>
                                        </p:cTn>
                                        <p:tgtEl>
                                          <p:spTgt spid="52"/>
                                        </p:tgtEl>
                                        <p:attrNameLst>
                                          <p:attrName>style.visibility</p:attrName>
                                        </p:attrNameLst>
                                      </p:cBhvr>
                                      <p:to>
                                        <p:strVal val="visible"/>
                                      </p:to>
                                    </p:set>
                                    <p:animEffect transition="in" filter="fade">
                                      <p:cBhvr>
                                        <p:cTn id="207" dur="6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6" grpId="0" animBg="1"/>
      <p:bldP spid="57" grpId="0" animBg="1"/>
      <p:bldP spid="58" grpId="0" animBg="1"/>
      <p:bldP spid="59" grpId="0" animBg="1"/>
      <p:bldP spid="60" grpId="0" animBg="1"/>
      <p:bldP spid="61" grpId="0" animBg="1"/>
      <p:bldP spid="7" grpId="0" animBg="1"/>
      <p:bldP spid="8" grpId="0" animBg="1"/>
      <p:bldP spid="9" grpId="0" animBg="1"/>
      <p:bldP spid="55" grpId="0" animBg="1"/>
      <p:bldP spid="10" grpId="0" animBg="1"/>
      <p:bldP spid="11" grpId="0" animBg="1"/>
      <p:bldP spid="12" grpId="0" animBg="1"/>
      <p:bldP spid="13" grpId="0" animBg="1"/>
      <p:bldP spid="14" grpId="0" animBg="1"/>
      <p:bldP spid="15" grpId="0" animBg="1"/>
      <p:bldP spid="16" grpId="0" animBg="1"/>
      <p:bldP spid="23" grpId="0" animBg="1"/>
      <p:bldP spid="24" grpId="0" animBg="1"/>
      <p:bldP spid="17" grpId="0" animBg="1"/>
      <p:bldP spid="18" grpId="0" animBg="1"/>
      <p:bldP spid="31" grpId="0" animBg="1"/>
      <p:bldP spid="32" grpId="0" animBg="1"/>
      <p:bldP spid="25" grpId="0" animBg="1"/>
      <p:bldP spid="26" grpId="0" animBg="1"/>
      <p:bldP spid="19" grpId="0" animBg="1"/>
      <p:bldP spid="20" grpId="0" animBg="1"/>
      <p:bldP spid="33" grpId="0" animBg="1"/>
      <p:bldP spid="34" grpId="0" animBg="1"/>
      <p:bldP spid="27" grpId="0" animBg="1"/>
      <p:bldP spid="28" grpId="0" animBg="1"/>
      <p:bldP spid="21" grpId="0" animBg="1"/>
      <p:bldP spid="22" grpId="0" animBg="1"/>
      <p:bldP spid="35" grpId="0" animBg="1"/>
      <p:bldP spid="36" grpId="0" animBg="1"/>
      <p:bldP spid="29" grpId="0" animBg="1"/>
      <p:bldP spid="30" grpId="0" animBg="1"/>
      <p:bldP spid="37" grpId="0" animBg="1"/>
      <p:bldP spid="38" grpId="0" animBg="1"/>
      <p:bldP spid="39" grpId="0" animBg="1"/>
      <p:bldP spid="40" grpId="0" animBg="1"/>
      <p:bldP spid="41" grpId="0" animBg="1"/>
      <p:bldP spid="42" grpId="0" animBg="1"/>
      <p:bldP spid="43" grpId="0" animBg="1"/>
      <p:bldP spid="44" grpId="0" animBg="1"/>
      <p:bldP spid="48" grpId="0" animBg="1"/>
      <p:bldP spid="49" grpId="0" animBg="1"/>
      <p:bldP spid="50" grpId="0" animBg="1"/>
      <p:bldP spid="51" grpId="0" animBg="1"/>
      <p:bldP spid="52" grpId="0" animBg="1"/>
    </p:bldLst>
  </p:timing>
</p:sld>
</file>

<file path=ppt/theme/theme1.xml><?xml version="1.0" encoding="utf-8"?>
<a:theme xmlns:a="http://schemas.openxmlformats.org/drawingml/2006/main" name="Vighanaway">
  <a:themeElements>
    <a:clrScheme name="Vighanaway">
      <a:dk1>
        <a:srgbClr val="0B1426"/>
      </a:dk1>
      <a:lt1>
        <a:srgbClr val="F7F5F0"/>
      </a:lt1>
      <a:dk2>
        <a:srgbClr val="1B2A44"/>
      </a:dk2>
      <a:lt2>
        <a:srgbClr val="E4DFD3"/>
      </a:lt2>
      <a:accent1>
        <a:srgbClr val="14B8A6"/>
      </a:accent1>
      <a:accent2>
        <a:srgbClr val="F59E0B"/>
      </a:accent2>
      <a:accent3>
        <a:srgbClr val="DC2626"/>
      </a:accent3>
      <a:accent4>
        <a:srgbClr val="0B7A70"/>
      </a:accent4>
      <a:accent5>
        <a:srgbClr val="5B6577"/>
      </a:accent5>
      <a:accent6>
        <a:srgbClr val="9AA6BA"/>
      </a:accent6>
      <a:hlink>
        <a:srgbClr val="14B8A6"/>
      </a:hlink>
      <a:folHlink>
        <a:srgbClr val="9AA6BA"/>
      </a:folHlink>
    </a:clrScheme>
    <a:fontScheme name="Vighanaway">
      <a:majorFont>
        <a:latin typeface="Segoe U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Vighanaway: When Roads Fail, Find a Way</dc:title>
  <dc:subject>PptxGenJS Presentation</dc:subject>
  <dc:creator>Vighanaway</dc:creator>
  <cp:lastModifiedBy>Vighanaway</cp:lastModifiedBy>
  <cp:revision>1</cp:revision>
  <dcterms:created xsi:type="dcterms:W3CDTF">2026-10-22T09:23:51Z</dcterms:created>
  <dcterms:modified xsi:type="dcterms:W3CDTF">2026-10-22T09:23:51Z</dcterms:modified>
</cp:coreProperties>
</file>