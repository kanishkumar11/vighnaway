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ision" id="{edfa2fa9-7af2-5378-8ed4-6ef14e1a16cf}">
          <p14:sldIdLst>
            <p14:sldId id="256"/>
          </p14:sldIdLst>
        </p14:section>
        <p14:section name="Problem" id="{19fc5622-eedb-1a16-2bae-0301d5edd914}">
          <p14:sldIdLst>
            <p14:sldId id="257"/>
          </p14:sldIdLst>
        </p14:section>
        <p14:section name="Solution" id="{31c3803b-0aff-f16e-1b7d-913533c93c83}">
          <p14:sldIdLst>
            <p14:sldId id="258"/>
          </p14:sldIdLst>
        </p14:section>
        <p14:section name="Innovation" id="{e07fe8af-e801-0f7a-4db9-c1aab6a20314}">
          <p14:sldIdLst>
            <p14:sldId id="259"/>
          </p14:sldIdLst>
        </p14:section>
        <p14:section name="Architecture" id="{2d00f687-379e-a949-26c6-624c09dab64c}">
          <p14:sldIdLst>
            <p14:sldId id="260"/>
          </p14:sldIdLst>
        </p14:section>
        <p14:section name="Demo and roadmap" id="{bb79eeee-18f6-7b5a-0c04-77bfc08869d5}">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Pause one second, then: In a flood, the fastest route is the one that drowns first. Every monsoon the Andheri Subway fills with water, and navigation apps keep sending cars into it because on paper it is still the fastest way across the railway. Show of hands: who has followed an app into a road it should have known about? It said continue straight for 400 metres; it did not mention they were underwater. In Mumbai people pray to Vighnaharta, the remover of obstacles, before a journey. We thought he could use help with the routing. Vighna means obstacle: Vighnaway, obstacle away. The roads you will see are real OpenStreetMap roads; the flood is simulated, and we label it everywhere.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information that a road is blocked exists: people next to it, a control room, a rain alert. It is scattered, unverified and invisible when you choose your route. Time-only routing takes the subway: 11 minutes, through the water. We take the flyover: about 4 minutes longer. And the point most apps miss: no report is not the same as clear. On a flood-prone road during a rain alert, silence is a risk, not good news.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steps, all deterministic. Candidate routes come from the real road graph. We weigh every incident by its status and age, and a flood-prone road with no recent report costs a penalty. Corroborated or verified impassable incidents are hard blocks. The time we show is real minutes; the ranking cost is separate and never shown as time. Every recommendation comes with one sentence of reason, its evidence, and High, Medium or Low confidence, never a percentage.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ideas. One unverified report is a penalty, not a block. Every change names its incident, status, source and age. We switch only when the gain beats max(2 minutes, 10%), so the route does not flicker. And decisions are checkable: the phone and the control room compute independently and agree, and every decision gets a receipt anyone can re-run. The timeline on the right is exactly what you are about to see live. Then switch to the live demo.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citizen app is an Expo Android app on Google Maps; the control room is a Next.js console; the API is NestJS on Postgres with PostGIS for snapping and corroboration, with socket.io and sequence resync. The key design choice: the server never sends routes. It sends evidence, and one pure TypeScript engine runs on the phone and in the console. No machine learning or LLM makes a route decision. That is why it works offline and why you can check every decision.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the live demo. Then the honest numbers: 20 seeded simulated scenarios on the real road graph. The usual route hit a confirmed block in 8 of 20; avoiding it cost a median of 0.3 extra minutes, 2.9 at worst; and in 5 of 20 we were slower for nothing, which we publish. Already built beyond the demo: step-free walking, a well-lit preference, hospital load spreading, offline QR relay, Hindi and Marathi. Next: live alerts and traffic, and a city pilot. Close: In a flood, the fastest route is the one that drowns first. Vighnaway takes the one with the evidence. Obstacle, away. Thank you.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LIGHT-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DARK-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6419088"/>
            <a:ext cx="237744" cy="237744"/>
          </a:xfrm>
          <a:prstGeom prst="rect">
            <a:avLst/>
          </a:prstGeom>
        </p:spPr>
      </p:pic>
      <p:sp>
        <p:nvSpPr>
          <p:cNvPr id="3" name="Text 0"/>
          <p:cNvSpPr/>
          <p:nvPr/>
        </p:nvSpPr>
        <p:spPr>
          <a:xfrm>
            <a:off x="969264" y="6419088"/>
            <a:ext cx="1828800" cy="237744"/>
          </a:xfrm>
          <a:prstGeom prst="rect">
            <a:avLst/>
          </a:prstGeom>
          <a:noFill/>
          <a:ln/>
        </p:spPr>
        <p:txBody>
          <a:bodyPr wrap="square" lIns="0" tIns="0" rIns="0" bIns="0" rtlCol="0" anchor="ctr"/>
          <a:lstStyle/>
          <a:p>
            <a:pPr indent="0" marL="0">
              <a:buNone/>
            </a:pPr>
            <a:r>
              <a:rPr lang="en-US" sz="1050" dirty="0">
                <a:solidFill>
                  <a:schemeClr val="tx1"/>
                </a:solidFill>
                <a:latin typeface="Segoe UI Semibold" pitchFamily="34" charset="0"/>
                <a:ea typeface="Segoe UI Semibold" pitchFamily="34" charset="-122"/>
                <a:cs typeface="Segoe UI Semibold" pitchFamily="34" charset="-120"/>
              </a:rPr>
              <a:t>Vighnaway</a:t>
            </a:r>
            <a:endParaRPr lang="en-US" sz="1050" dirty="0"/>
          </a:p>
        </p:txBody>
      </p:sp>
      <p:sp>
        <p:nvSpPr>
          <p:cNvPr id="4" name="Text 1"/>
          <p:cNvSpPr/>
          <p:nvPr>
            <p:ph idx="102" type="body" hasCustomPrompt="1"/>
          </p:nvPr>
        </p:nvSpPr>
        <p:spPr>
          <a:xfrm>
            <a:off x="640080" y="457200"/>
            <a:ext cx="8229600" cy="237744"/>
          </a:xfrm>
          <a:prstGeom prst="rect">
            <a:avLst/>
          </a:prstGeom>
          <a:noFill/>
          <a:ln/>
        </p:spPr>
        <p:txBody>
          <a:bodyPr wrap="square" rtlCol="0"/>
          <a:lstStyle>
            <a:lvl1pPr algn="l" indent="0" marL="0">
              <a:buNone/>
              <a:defRPr lang="en-US" sz="1000" spc="250" kern="0" dirty="0">
                <a:solidFill>
                  <a:schemeClr val="accent5"/>
                </a:solidFill>
                <a:latin typeface="Segoe UI Semibold" pitchFamily="34" charset="0"/>
                <a:ea typeface="Segoe UI Semibold" pitchFamily="34" charset="-122"/>
                <a:cs typeface="Segoe UI Semibold" pitchFamily="34" charset="-120"/>
              </a:defRPr>
            </a:lvl1pPr>
          </a:lstStyle>
          <a:p>
            <a:pPr algn="l" indent="0" marL="0">
              <a:buNone/>
            </a:pPr>
            <a:endParaRPr lang="en-US" sz="1000" dirty="0"/>
          </a:p>
        </p:txBody>
      </p:sp>
      <p:sp>
        <p:nvSpPr>
          <p:cNvPr id="5" name="Text 1"/>
          <p:cNvSpPr/>
          <p:nvPr>
            <p:ph idx="103" type="title" hasCustomPrompt="1"/>
          </p:nvPr>
        </p:nvSpPr>
        <p:spPr>
          <a:xfrm>
            <a:off x="640080" y="749808"/>
            <a:ext cx="10911535" cy="1051560"/>
          </a:xfrm>
          <a:prstGeom prst="rect">
            <a:avLst/>
          </a:prstGeom>
          <a:noFill/>
          <a:ln/>
        </p:spPr>
        <p:txBody>
          <a:bodyPr wrap="square" rtlCol="0"/>
          <a:lstStyle>
            <a:lvl1pPr algn="l" indent="0" marL="0">
              <a:buNone/>
              <a:defRPr lang="en-US" sz="3400" dirty="0">
                <a:solidFill>
                  <a:schemeClr val="tx1"/>
                </a:solidFill>
              </a:defRPr>
            </a:lvl1pPr>
          </a:lstStyle>
          <a:p>
            <a:pPr algn="l" indent="0" marL="0">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6419088"/>
            <a:ext cx="237744" cy="237744"/>
          </a:xfrm>
          <a:prstGeom prst="rect">
            <a:avLst/>
          </a:prstGeom>
        </p:spPr>
      </p:pic>
      <p:sp>
        <p:nvSpPr>
          <p:cNvPr id="3" name="Text 0"/>
          <p:cNvSpPr/>
          <p:nvPr/>
        </p:nvSpPr>
        <p:spPr>
          <a:xfrm>
            <a:off x="969264" y="6419088"/>
            <a:ext cx="1828800" cy="237744"/>
          </a:xfrm>
          <a:prstGeom prst="rect">
            <a:avLst/>
          </a:prstGeom>
          <a:noFill/>
          <a:ln/>
        </p:spPr>
        <p:txBody>
          <a:bodyPr wrap="square" lIns="0" tIns="0" rIns="0" bIns="0" rtlCol="0" anchor="ctr"/>
          <a:lstStyle/>
          <a:p>
            <a:pPr indent="0" marL="0">
              <a:buNone/>
            </a:pPr>
            <a:r>
              <a:rPr lang="en-US" sz="1050" dirty="0">
                <a:solidFill>
                  <a:schemeClr val="bg1"/>
                </a:solidFill>
                <a:latin typeface="Segoe UI Semibold" pitchFamily="34" charset="0"/>
                <a:ea typeface="Segoe UI Semibold" pitchFamily="34" charset="-122"/>
                <a:cs typeface="Segoe UI Semibold" pitchFamily="34" charset="-120"/>
              </a:rPr>
              <a:t>Vighnaway</a:t>
            </a:r>
            <a:endParaRPr lang="en-US" sz="1050" dirty="0"/>
          </a:p>
        </p:txBody>
      </p:sp>
      <p:sp>
        <p:nvSpPr>
          <p:cNvPr id="4" name="Text 1"/>
          <p:cNvSpPr/>
          <p:nvPr>
            <p:ph idx="102" type="body" hasCustomPrompt="1"/>
          </p:nvPr>
        </p:nvSpPr>
        <p:spPr>
          <a:xfrm>
            <a:off x="640080" y="457200"/>
            <a:ext cx="8229600" cy="237744"/>
          </a:xfrm>
          <a:prstGeom prst="rect">
            <a:avLst/>
          </a:prstGeom>
          <a:noFill/>
          <a:ln/>
        </p:spPr>
        <p:txBody>
          <a:bodyPr wrap="square" rtlCol="0"/>
          <a:lstStyle>
            <a:lvl1pPr algn="l" indent="0" marL="0">
              <a:buNone/>
              <a:defRPr lang="en-US" sz="1000" spc="250" kern="0" dirty="0">
                <a:solidFill>
                  <a:schemeClr val="accent6"/>
                </a:solidFill>
                <a:latin typeface="Segoe UI Semibold" pitchFamily="34" charset="0"/>
                <a:ea typeface="Segoe UI Semibold" pitchFamily="34" charset="-122"/>
                <a:cs typeface="Segoe UI Semibold" pitchFamily="34" charset="-120"/>
              </a:defRPr>
            </a:lvl1pPr>
          </a:lstStyle>
          <a:p>
            <a:pPr algn="l" indent="0" marL="0">
              <a:buNone/>
            </a:pPr>
            <a:endParaRPr lang="en-US" sz="1000" dirty="0"/>
          </a:p>
        </p:txBody>
      </p:sp>
      <p:sp>
        <p:nvSpPr>
          <p:cNvPr id="5" name="Text 1"/>
          <p:cNvSpPr/>
          <p:nvPr>
            <p:ph idx="103" type="title" hasCustomPrompt="1"/>
          </p:nvPr>
        </p:nvSpPr>
        <p:spPr>
          <a:xfrm>
            <a:off x="640080" y="749808"/>
            <a:ext cx="10911535" cy="1051560"/>
          </a:xfrm>
          <a:prstGeom prst="rect">
            <a:avLst/>
          </a:prstGeom>
          <a:noFill/>
          <a:ln/>
        </p:spPr>
        <p:txBody>
          <a:bodyPr wrap="square" rtlCol="0"/>
          <a:lstStyle>
            <a:lvl1pPr algn="l" indent="0" marL="0">
              <a:buNone/>
              <a:defRPr lang="en-US" sz="3400"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map_1" descr="3D map of a flood-prone rail corridor, built from OpenStreetMap data">    </p:cNvPr>
          <p:cNvPicPr>
            <a:picLocks noChangeAspect="1"/>
          </p:cNvPicPr>
          <p:nvPr/>
        </p:nvPicPr>
        <p:blipFill>
          <a:blip r:embed="rId1"/>
          <a:stretch>
            <a:fillRect/>
          </a:stretch>
        </p:blipFill>
        <p:spPr>
          <a:xfrm>
            <a:off x="0" y="0"/>
            <a:ext cx="12191695" cy="6858000"/>
          </a:xfrm>
          <a:prstGeom prst="rect">
            <a:avLst/>
          </a:prstGeom>
        </p:spPr>
      </p:pic>
      <p:pic>
        <p:nvPicPr>
          <p:cNvPr id="3" name="rA_2" descr="Route A">    </p:cNvPr>
          <p:cNvPicPr>
            <a:picLocks noChangeAspect="1"/>
          </p:cNvPicPr>
          <p:nvPr/>
        </p:nvPicPr>
        <p:blipFill>
          <a:blip r:embed="rId2"/>
          <a:stretch>
            <a:fillRect/>
          </a:stretch>
        </p:blipFill>
        <p:spPr>
          <a:xfrm>
            <a:off x="0" y="0"/>
            <a:ext cx="12191695" cy="6858000"/>
          </a:xfrm>
          <a:prstGeom prst="rect">
            <a:avLst/>
          </a:prstGeom>
        </p:spPr>
      </p:pic>
      <p:pic>
        <p:nvPicPr>
          <p:cNvPr id="4" name="rC_3" descr="Route C">    </p:cNvPr>
          <p:cNvPicPr>
            <a:picLocks noChangeAspect="1"/>
          </p:cNvPicPr>
          <p:nvPr/>
        </p:nvPicPr>
        <p:blipFill>
          <a:blip r:embed="rId3"/>
          <a:stretch>
            <a:fillRect/>
          </a:stretch>
        </p:blipFill>
        <p:spPr>
          <a:xfrm>
            <a:off x="0" y="0"/>
            <a:ext cx="12191695" cy="6858000"/>
          </a:xfrm>
          <a:prstGeom prst="rect">
            <a:avLst/>
          </a:prstGeom>
        </p:spPr>
      </p:pic>
      <p:pic>
        <p:nvPicPr>
          <p:cNvPr id="5" name="rB_4" descr="Route B">    </p:cNvPr>
          <p:cNvPicPr>
            <a:picLocks noChangeAspect="1"/>
          </p:cNvPicPr>
          <p:nvPr/>
        </p:nvPicPr>
        <p:blipFill>
          <a:blip r:embed="rId4"/>
          <a:stretch>
            <a:fillRect/>
          </a:stretch>
        </p:blipFill>
        <p:spPr>
          <a:xfrm>
            <a:off x="0" y="0"/>
            <a:ext cx="12191695" cy="6858000"/>
          </a:xfrm>
          <a:prstGeom prst="rect">
            <a:avLst/>
          </a:prstGeom>
        </p:spPr>
      </p:pic>
      <p:pic>
        <p:nvPicPr>
          <p:cNvPr id="6" name="brand_5" descr="Vighnaway logo">    </p:cNvPr>
          <p:cNvPicPr>
            <a:picLocks noChangeAspect="1"/>
          </p:cNvPicPr>
          <p:nvPr/>
        </p:nvPicPr>
        <p:blipFill>
          <a:blip r:embed="rId5"/>
          <a:stretch>
            <a:fillRect/>
          </a:stretch>
        </p:blipFill>
        <p:spPr>
          <a:xfrm>
            <a:off x="640080" y="548640"/>
            <a:ext cx="420624" cy="420624"/>
          </a:xfrm>
          <a:prstGeom prst="rect">
            <a:avLst/>
          </a:prstGeom>
        </p:spPr>
      </p:pic>
      <p:sp>
        <p:nvSpPr>
          <p:cNvPr id="7" name="brand_6"/>
          <p:cNvSpPr txBox="1"/>
          <p:nvPr/>
        </p:nvSpPr>
        <p:spPr>
          <a:xfrm>
            <a:off x="1207008" y="548640"/>
            <a:ext cx="3657600" cy="420624"/>
          </a:xfrm>
          <a:prstGeom prst="rect">
            <a:avLst/>
          </a:prstGeom>
          <a:noFill/>
          <a:ln/>
        </p:spPr>
        <p:txBody>
          <a:bodyPr wrap="square" lIns="0" tIns="0" rIns="0" bIns="0" rtlCol="0" anchor="ctr"/>
          <a:lstStyle/>
          <a:p>
            <a:pPr indent="0" marL="0">
              <a:buNone/>
            </a:pPr>
            <a:r>
              <a:rPr lang="en-US" sz="2400" dirty="0">
                <a:solidFill>
                  <a:schemeClr val="tx1"/>
                </a:solidFill>
                <a:latin typeface="Segoe UI Semibold" pitchFamily="34" charset="0"/>
                <a:ea typeface="Segoe UI Semibold" pitchFamily="34" charset="-122"/>
                <a:cs typeface="Segoe UI Semibold" pitchFamily="34" charset="-120"/>
              </a:rPr>
              <a:t>Vighnaway</a:t>
            </a:r>
            <a:endParaRPr lang="en-US" sz="2400" dirty="0"/>
          </a:p>
        </p:txBody>
      </p:sp>
      <p:sp>
        <p:nvSpPr>
          <p:cNvPr id="8" name="brand_7"/>
          <p:cNvSpPr txBox="1"/>
          <p:nvPr/>
        </p:nvSpPr>
        <p:spPr>
          <a:xfrm>
            <a:off x="8808415" y="548640"/>
            <a:ext cx="2743200" cy="420624"/>
          </a:xfrm>
          <a:prstGeom prst="rect">
            <a:avLst/>
          </a:prstGeom>
          <a:noFill/>
          <a:ln/>
        </p:spPr>
        <p:txBody>
          <a:bodyPr wrap="square" lIns="0" tIns="0" rIns="0" bIns="0" rtlCol="0" anchor="ctr"/>
          <a:lstStyle/>
          <a:p>
            <a:pPr algn="r" indent="0" marL="0">
              <a:buNone/>
            </a:pPr>
            <a:r>
              <a:rPr lang="en-US" sz="1000" spc="250" kern="0" dirty="0">
                <a:solidFill>
                  <a:schemeClr val="accent5"/>
                </a:solidFill>
                <a:latin typeface="Segoe UI Semibold" pitchFamily="34" charset="0"/>
                <a:ea typeface="Segoe UI Semibold" pitchFamily="34" charset="-122"/>
                <a:cs typeface="Segoe UI Semibold" pitchFamily="34" charset="-120"/>
              </a:rPr>
              <a:t>HACKATHON PROTOTYPE</a:t>
            </a:r>
            <a:endParaRPr lang="en-US" sz="1000" dirty="0"/>
          </a:p>
        </p:txBody>
      </p:sp>
      <p:sp>
        <p:nvSpPr>
          <p:cNvPr id="9" name="tag_8"/>
          <p:cNvSpPr txBox="1"/>
          <p:nvPr/>
        </p:nvSpPr>
        <p:spPr>
          <a:xfrm>
            <a:off x="640080" y="1645920"/>
            <a:ext cx="5486400" cy="2011680"/>
          </a:xfrm>
          <a:prstGeom prst="rect">
            <a:avLst/>
          </a:prstGeom>
          <a:noFill/>
          <a:ln/>
        </p:spPr>
        <p:txBody>
          <a:bodyPr wrap="square" lIns="0" tIns="0" rIns="0" bIns="0" rtlCol="0" anchor="t"/>
          <a:lstStyle/>
          <a:p>
            <a:pPr indent="0" marL="0">
              <a:lnSpc>
                <a:spcPct val="95000"/>
              </a:lnSpc>
              <a:buNone/>
            </a:pPr>
            <a:r>
              <a:rPr lang="en-US" sz="5200" dirty="0">
                <a:solidFill>
                  <a:schemeClr val="tx1"/>
                </a:solidFill>
                <a:latin typeface="Segoe UI Light" pitchFamily="34" charset="0"/>
                <a:ea typeface="Segoe UI Light" pitchFamily="34" charset="-122"/>
                <a:cs typeface="Segoe UI Light" pitchFamily="34" charset="-120"/>
              </a:rPr>
              <a:t>When Roads Fail,</a:t>
            </a:r>
            <a:endParaRPr lang="en-US" sz="5200" dirty="0"/>
          </a:p>
          <a:p>
            <a:pPr indent="0" marL="0">
              <a:lnSpc>
                <a:spcPct val="95000"/>
              </a:lnSpc>
              <a:buNone/>
            </a:pPr>
            <a:r>
              <a:rPr lang="en-US" sz="5200" dirty="0">
                <a:solidFill>
                  <a:srgbClr val="4D7C0F"/>
                </a:solidFill>
                <a:latin typeface="Segoe UI Semibold" pitchFamily="34" charset="0"/>
                <a:ea typeface="Segoe UI Semibold" pitchFamily="34" charset="-122"/>
                <a:cs typeface="Segoe UI Semibold" pitchFamily="34" charset="-120"/>
              </a:rPr>
              <a:t>Find a Way.</a:t>
            </a:r>
            <a:endParaRPr lang="en-US" sz="5200" dirty="0"/>
          </a:p>
        </p:txBody>
      </p:sp>
      <p:sp>
        <p:nvSpPr>
          <p:cNvPr id="10" name="desc_9"/>
          <p:cNvSpPr txBox="1"/>
          <p:nvPr/>
        </p:nvSpPr>
        <p:spPr>
          <a:xfrm>
            <a:off x="640080" y="3749040"/>
            <a:ext cx="4572000" cy="1645920"/>
          </a:xfrm>
          <a:prstGeom prst="rect">
            <a:avLst/>
          </a:prstGeom>
          <a:noFill/>
          <a:ln/>
        </p:spPr>
        <p:txBody>
          <a:bodyPr wrap="square" lIns="0" tIns="0" rIns="0" bIns="0" rtlCol="0" anchor="t"/>
          <a:lstStyle/>
          <a:p>
            <a:pPr indent="0" marL="0">
              <a:spcAft>
                <a:spcPts val="800"/>
              </a:spcAft>
              <a:buNone/>
            </a:pPr>
            <a:r>
              <a:rPr lang="en-US" sz="1500" dirty="0" i="1" b="1">
                <a:solidFill>
                  <a:srgbClr val="4D7C0F"/>
                </a:solidFill>
              </a:rPr>
              <a:t>“In a flood, the fastest route is the one that drowns first.”</a:t>
            </a:r>
            <a:endParaRPr lang="en-US" sz="1500" dirty="0"/>
          </a:p>
          <a:p>
            <a:pPr indent="0" marL="0">
              <a:buNone/>
            </a:pPr>
            <a:r>
              <a:rPr lang="en-US" sz="1500" dirty="0">
                <a:solidFill>
                  <a:schemeClr val="accent5"/>
                </a:solidFill>
              </a:rPr>
              <a:t>Vighnaway weighs the evidence on every road (floods, closures, congestion, report age and status) and recommends a viable route, with the reason.</a:t>
            </a:r>
            <a:endParaRPr lang="en-US" sz="1500" dirty="0"/>
          </a:p>
        </p:txBody>
      </p:sp>
      <p:sp>
        <p:nvSpPr>
          <p:cNvPr id="11" name="pinO_10"/>
          <p:cNvSpPr/>
          <p:nvPr/>
        </p:nvSpPr>
        <p:spPr>
          <a:xfrm>
            <a:off x="6362750" y="2704677"/>
            <a:ext cx="274320" cy="274320"/>
          </a:xfrm>
          <a:prstGeom prst="ellipse">
            <a:avLst/>
          </a:prstGeom>
          <a:solidFill>
            <a:srgbClr val="FFFFFF"/>
          </a:solidFill>
          <a:ln/>
        </p:spPr>
        <p:txBody>
          <a:bodyPr/>
          <a:p/>
        </p:txBody>
      </p:sp>
      <p:sp>
        <p:nvSpPr>
          <p:cNvPr id="12" name="pinO_11"/>
          <p:cNvSpPr/>
          <p:nvPr/>
        </p:nvSpPr>
        <p:spPr>
          <a:xfrm>
            <a:off x="6440474" y="2782401"/>
            <a:ext cx="118872" cy="118872"/>
          </a:xfrm>
          <a:prstGeom prst="ellipse">
            <a:avLst/>
          </a:prstGeom>
          <a:solidFill>
            <a:srgbClr val="26123F"/>
          </a:solidFill>
          <a:ln/>
        </p:spPr>
        <p:txBody>
          <a:bodyPr/>
          <a:p/>
        </p:txBody>
      </p:sp>
      <p:sp>
        <p:nvSpPr>
          <p:cNvPr id="13" name="pinH_12"/>
          <p:cNvSpPr/>
          <p:nvPr/>
        </p:nvSpPr>
        <p:spPr>
          <a:xfrm>
            <a:off x="11266868" y="3497732"/>
            <a:ext cx="485546" cy="485546"/>
          </a:xfrm>
          <a:prstGeom prst="ellipse">
            <a:avLst/>
          </a:prstGeom>
          <a:solidFill>
            <a:srgbClr val="FFFFFF"/>
          </a:solidFill>
          <a:ln/>
        </p:spPr>
        <p:txBody>
          <a:bodyPr/>
          <a:p/>
        </p:txBody>
      </p:sp>
      <p:sp>
        <p:nvSpPr>
          <p:cNvPr id="14" name="pinH_13"/>
          <p:cNvSpPr txBox="1"/>
          <p:nvPr/>
        </p:nvSpPr>
        <p:spPr>
          <a:xfrm>
            <a:off x="11330876" y="3561740"/>
            <a:ext cx="357530" cy="357530"/>
          </a:xfrm>
          <a:prstGeom prst="roundRect">
            <a:avLst>
              <a:gd name="adj" fmla="val 17903"/>
            </a:avLst>
          </a:prstGeom>
          <a:solidFill>
            <a:schemeClr val="accent1"/>
          </a:solidFill>
          <a:ln/>
        </p:spPr>
        <p:txBody>
          <a:bodyPr wrap="square" lIns="0" tIns="0" rIns="0" bIns="0" rtlCol="0" anchor="ctr"/>
          <a:lstStyle/>
          <a:p>
            <a:pPr algn="ctr" indent="0" marL="0">
              <a:buNone/>
            </a:pPr>
            <a:r>
              <a:rPr lang="en-US" sz="1380" dirty="0">
                <a:solidFill>
                  <a:srgbClr val="FFFFFF"/>
                </a:solidFill>
                <a:latin typeface="Segoe UI Semibold" pitchFamily="34" charset="0"/>
                <a:ea typeface="Segoe UI Semibold" pitchFamily="34" charset="-122"/>
                <a:cs typeface="Segoe UI Semibold" pitchFamily="34" charset="-120"/>
              </a:rPr>
              <a:t>H</a:t>
            </a:r>
            <a:endParaRPr lang="en-US" sz="1380" dirty="0"/>
          </a:p>
        </p:txBody>
      </p:sp>
      <p:sp>
        <p:nvSpPr>
          <p:cNvPr id="15" name="lblA_14"/>
          <p:cNvSpPr txBox="1"/>
          <p:nvPr/>
        </p:nvSpPr>
        <p:spPr>
          <a:xfrm>
            <a:off x="8634470" y="3093359"/>
            <a:ext cx="256032" cy="256032"/>
          </a:xfrm>
          <a:prstGeom prst="ellipse">
            <a:avLst/>
          </a:prstGeom>
          <a:solidFill>
            <a:schemeClr val="accent3"/>
          </a:solidFill>
          <a:ln w="19050">
            <a:solidFill>
              <a:srgbClr val="FFFFFF"/>
            </a:solid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a:t>
            </a:r>
            <a:endParaRPr lang="en-US" sz="1100" dirty="0"/>
          </a:p>
        </p:txBody>
      </p:sp>
      <p:sp>
        <p:nvSpPr>
          <p:cNvPr id="16" name="pinO_15"/>
          <p:cNvSpPr txBox="1"/>
          <p:nvPr/>
        </p:nvSpPr>
        <p:spPr>
          <a:xfrm>
            <a:off x="6042710" y="2421213"/>
            <a:ext cx="914400" cy="228600"/>
          </a:xfrm>
          <a:prstGeom prst="rect">
            <a:avLst/>
          </a:prstGeom>
          <a:noFill/>
          <a:ln/>
        </p:spPr>
        <p:txBody>
          <a:bodyPr wrap="square" lIns="0" tIns="0" rIns="0" bIns="0" rtlCol="0" anchor="t"/>
          <a:lstStyle/>
          <a:p>
            <a:pPr algn="ctr" indent="0" marL="0">
              <a:buNone/>
            </a:pPr>
            <a:r>
              <a:rPr lang="en-US" sz="1100" dirty="0">
                <a:solidFill>
                  <a:schemeClr val="tx1"/>
                </a:solidFill>
                <a:latin typeface="Segoe UI Semibold" pitchFamily="34" charset="0"/>
                <a:ea typeface="Segoe UI Semibold" pitchFamily="34" charset="-122"/>
                <a:cs typeface="Segoe UI Semibold" pitchFamily="34" charset="-120"/>
              </a:rPr>
              <a:t>Start</a:t>
            </a:r>
            <a:endParaRPr lang="en-US" sz="1100" dirty="0"/>
          </a:p>
        </p:txBody>
      </p:sp>
      <p:sp>
        <p:nvSpPr>
          <p:cNvPr id="17" name="pinH_16"/>
          <p:cNvSpPr txBox="1"/>
          <p:nvPr/>
        </p:nvSpPr>
        <p:spPr>
          <a:xfrm>
            <a:off x="10092321" y="3621633"/>
            <a:ext cx="1005840" cy="237744"/>
          </a:xfrm>
          <a:prstGeom prst="rect">
            <a:avLst/>
          </a:prstGeom>
          <a:noFill/>
          <a:ln/>
        </p:spPr>
        <p:txBody>
          <a:bodyPr wrap="square" lIns="0" tIns="0" rIns="0" bIns="0" rtlCol="0" anchor="ctr"/>
          <a:lstStyle/>
          <a:p>
            <a:pPr algn="r" indent="0" marL="0">
              <a:buNone/>
            </a:pPr>
            <a:r>
              <a:rPr lang="en-US" sz="1100" dirty="0">
                <a:solidFill>
                  <a:schemeClr val="tx1"/>
                </a:solidFill>
                <a:latin typeface="Segoe UI Semibold" pitchFamily="34" charset="0"/>
                <a:ea typeface="Segoe UI Semibold" pitchFamily="34" charset="-122"/>
                <a:cs typeface="Segoe UI Semibold" pitchFamily="34" charset="-120"/>
              </a:rPr>
              <a:t>Hospital</a:t>
            </a:r>
            <a:endParaRPr lang="en-US" sz="1100" dirty="0"/>
          </a:p>
        </p:txBody>
      </p:sp>
      <p:sp>
        <p:nvSpPr>
          <p:cNvPr id="18" name="lblA_17"/>
          <p:cNvSpPr/>
          <p:nvPr/>
        </p:nvSpPr>
        <p:spPr>
          <a:xfrm>
            <a:off x="7573766" y="1986935"/>
            <a:ext cx="2423160" cy="603504"/>
          </a:xfrm>
          <a:prstGeom prst="roundRect">
            <a:avLst>
              <a:gd name="adj" fmla="val 13636"/>
            </a:avLst>
          </a:prstGeom>
          <a:solidFill>
            <a:srgbClr val="FFFFFF">
              <a:alpha val="92000"/>
            </a:srgbClr>
          </a:solidFill>
          <a:ln w="12700">
            <a:solidFill>
              <a:srgbClr val="FFFFFF"/>
            </a:solidFill>
            <a:prstDash val="solid"/>
          </a:ln>
          <a:effectLst>
            <a:outerShdw sx="100000" sy="100000" kx="0" ky="0" algn="bl" rotWithShape="0" blurRad="279400" dist="88900" dir="5400000">
              <a:srgbClr val="26123F">
                <a:alpha val="20000"/>
              </a:srgbClr>
            </a:outerShdw>
          </a:effectLst>
        </p:spPr>
        <p:txBody>
          <a:bodyPr/>
          <a:p/>
        </p:txBody>
      </p:sp>
      <p:sp>
        <p:nvSpPr>
          <p:cNvPr id="19" name="lblA_18"/>
          <p:cNvSpPr/>
          <p:nvPr/>
        </p:nvSpPr>
        <p:spPr>
          <a:xfrm>
            <a:off x="7720070" y="2233823"/>
            <a:ext cx="109728" cy="109728"/>
          </a:xfrm>
          <a:prstGeom prst="ellipse">
            <a:avLst/>
          </a:prstGeom>
          <a:solidFill>
            <a:schemeClr val="accent3"/>
          </a:solidFill>
          <a:ln/>
        </p:spPr>
        <p:txBody>
          <a:bodyPr/>
          <a:p/>
        </p:txBody>
      </p:sp>
      <p:sp>
        <p:nvSpPr>
          <p:cNvPr id="20" name="lblA_19"/>
          <p:cNvSpPr txBox="1"/>
          <p:nvPr/>
        </p:nvSpPr>
        <p:spPr>
          <a:xfrm>
            <a:off x="7939526" y="2060087"/>
            <a:ext cx="1965960" cy="457200"/>
          </a:xfrm>
          <a:prstGeom prst="rect">
            <a:avLst/>
          </a:prstGeom>
          <a:noFill/>
          <a:ln/>
        </p:spPr>
        <p:txBody>
          <a:bodyPr wrap="square" lIns="0" tIns="0" rIns="0" bIns="0" rtlCol="0" anchor="ctr"/>
          <a:lstStyle/>
          <a:p>
            <a:pPr indent="0" marL="0">
              <a:buNone/>
            </a:pPr>
            <a:r>
              <a:rPr lang="en-US" sz="1250" dirty="0">
                <a:solidFill>
                  <a:schemeClr val="tx1"/>
                </a:solidFill>
                <a:latin typeface="Segoe UI Semibold" pitchFamily="34" charset="0"/>
                <a:ea typeface="Segoe UI Semibold" pitchFamily="34" charset="-122"/>
                <a:cs typeface="Segoe UI Semibold" pitchFamily="34" charset="-120"/>
              </a:rPr>
              <a:t>Flooded underpass</a:t>
            </a:r>
            <a:endParaRPr lang="en-US" sz="1300" dirty="0"/>
          </a:p>
          <a:p>
            <a:pPr indent="0" marL="0">
              <a:buNone/>
            </a:pPr>
            <a:r>
              <a:rPr lang="en-US" sz="1050" dirty="0">
                <a:solidFill>
                  <a:schemeClr val="accent5"/>
                </a:solidFill>
              </a:rPr>
              <a:t>Corroborated, 2 devices</a:t>
            </a:r>
            <a:endParaRPr lang="en-US" sz="1300" dirty="0"/>
          </a:p>
        </p:txBody>
      </p:sp>
      <p:sp>
        <p:nvSpPr>
          <p:cNvPr id="21" name="lblA_20"/>
          <p:cNvSpPr/>
          <p:nvPr/>
        </p:nvSpPr>
        <p:spPr>
          <a:xfrm>
            <a:off x="8762486" y="2590439"/>
            <a:ext cx="0" cy="493776"/>
          </a:xfrm>
          <a:prstGeom prst="line">
            <a:avLst/>
          </a:prstGeom>
          <a:noFill/>
          <a:ln w="12700">
            <a:solidFill>
              <a:srgbClr val="9A8F7A"/>
            </a:solidFill>
            <a:prstDash val="solid"/>
          </a:ln>
        </p:spPr>
        <p:txBody>
          <a:bodyPr/>
          <a:p/>
        </p:txBody>
      </p:sp>
      <p:sp>
        <p:nvSpPr>
          <p:cNvPr id="22" name="lblB_21"/>
          <p:cNvSpPr/>
          <p:nvPr/>
        </p:nvSpPr>
        <p:spPr>
          <a:xfrm>
            <a:off x="8124746" y="4689200"/>
            <a:ext cx="2377440" cy="603504"/>
          </a:xfrm>
          <a:prstGeom prst="roundRect">
            <a:avLst>
              <a:gd name="adj" fmla="val 13636"/>
            </a:avLst>
          </a:prstGeom>
          <a:solidFill>
            <a:srgbClr val="FFFFFF">
              <a:alpha val="92000"/>
            </a:srgbClr>
          </a:solidFill>
          <a:ln w="12700">
            <a:solidFill>
              <a:srgbClr val="FFFFFF"/>
            </a:solidFill>
            <a:prstDash val="solid"/>
          </a:ln>
          <a:effectLst>
            <a:outerShdw sx="100000" sy="100000" kx="0" ky="0" algn="bl" rotWithShape="0" blurRad="279400" dist="88900" dir="5400000">
              <a:srgbClr val="26123F">
                <a:alpha val="20000"/>
              </a:srgbClr>
            </a:outerShdw>
          </a:effectLst>
        </p:spPr>
        <p:txBody>
          <a:bodyPr/>
          <a:p/>
        </p:txBody>
      </p:sp>
      <p:sp>
        <p:nvSpPr>
          <p:cNvPr id="23" name="lblB_22"/>
          <p:cNvSpPr/>
          <p:nvPr/>
        </p:nvSpPr>
        <p:spPr>
          <a:xfrm>
            <a:off x="8271050" y="4936088"/>
            <a:ext cx="109728" cy="109728"/>
          </a:xfrm>
          <a:prstGeom prst="ellipse">
            <a:avLst/>
          </a:prstGeom>
          <a:solidFill>
            <a:schemeClr val="accent1"/>
          </a:solidFill>
          <a:ln/>
        </p:spPr>
        <p:txBody>
          <a:bodyPr/>
          <a:p/>
        </p:txBody>
      </p:sp>
      <p:sp>
        <p:nvSpPr>
          <p:cNvPr id="24" name="lblB_23"/>
          <p:cNvSpPr txBox="1"/>
          <p:nvPr/>
        </p:nvSpPr>
        <p:spPr>
          <a:xfrm>
            <a:off x="8490506" y="4762352"/>
            <a:ext cx="1920240" cy="457200"/>
          </a:xfrm>
          <a:prstGeom prst="rect">
            <a:avLst/>
          </a:prstGeom>
          <a:noFill/>
          <a:ln/>
        </p:spPr>
        <p:txBody>
          <a:bodyPr wrap="square" lIns="0" tIns="0" rIns="0" bIns="0" rtlCol="0" anchor="ctr"/>
          <a:lstStyle/>
          <a:p>
            <a:pPr indent="0" marL="0">
              <a:buNone/>
            </a:pPr>
            <a:r>
              <a:rPr lang="en-US" sz="1250" dirty="0">
                <a:solidFill>
                  <a:schemeClr val="tx1"/>
                </a:solidFill>
                <a:latin typeface="Segoe UI Semibold" pitchFamily="34" charset="0"/>
                <a:ea typeface="Segoe UI Semibold" pitchFamily="34" charset="-122"/>
                <a:cs typeface="Segoe UI Semibold" pitchFamily="34" charset="-120"/>
              </a:rPr>
              <a:t>Recommended: flyover</a:t>
            </a:r>
            <a:endParaRPr lang="en-US" sz="1300" dirty="0"/>
          </a:p>
          <a:p>
            <a:pPr indent="0" marL="0">
              <a:buNone/>
            </a:pPr>
            <a:r>
              <a:rPr lang="en-US" sz="1050" dirty="0">
                <a:solidFill>
                  <a:schemeClr val="accent5"/>
                </a:solidFill>
              </a:rPr>
              <a:t>+4 min, avoids the flood</a:t>
            </a:r>
            <a:endParaRPr lang="en-US" sz="1300" dirty="0"/>
          </a:p>
        </p:txBody>
      </p:sp>
      <p:sp>
        <p:nvSpPr>
          <p:cNvPr id="25" name="lblB_24"/>
          <p:cNvSpPr/>
          <p:nvPr/>
        </p:nvSpPr>
        <p:spPr>
          <a:xfrm>
            <a:off x="8307626" y="4259432"/>
            <a:ext cx="0" cy="429768"/>
          </a:xfrm>
          <a:prstGeom prst="line">
            <a:avLst/>
          </a:prstGeom>
          <a:noFill/>
          <a:ln w="12700">
            <a:solidFill>
              <a:srgbClr val="9A8F7A"/>
            </a:solidFill>
            <a:prstDash val="solid"/>
          </a:ln>
        </p:spPr>
        <p:txBody>
          <a:bodyPr/>
          <a:p/>
        </p:txBody>
      </p:sp>
      <p:sp>
        <p:nvSpPr>
          <p:cNvPr id="26" name="lblC_25"/>
          <p:cNvSpPr/>
          <p:nvPr/>
        </p:nvSpPr>
        <p:spPr>
          <a:xfrm>
            <a:off x="5484068" y="4522543"/>
            <a:ext cx="2194560" cy="603504"/>
          </a:xfrm>
          <a:prstGeom prst="roundRect">
            <a:avLst>
              <a:gd name="adj" fmla="val 13636"/>
            </a:avLst>
          </a:prstGeom>
          <a:solidFill>
            <a:srgbClr val="FFFFFF">
              <a:alpha val="92000"/>
            </a:srgbClr>
          </a:solidFill>
          <a:ln w="12700">
            <a:solidFill>
              <a:srgbClr val="FFFFFF"/>
            </a:solidFill>
            <a:prstDash val="solid"/>
          </a:ln>
          <a:effectLst>
            <a:outerShdw sx="100000" sy="100000" kx="0" ky="0" algn="bl" rotWithShape="0" blurRad="279400" dist="88900" dir="5400000">
              <a:srgbClr val="26123F">
                <a:alpha val="20000"/>
              </a:srgbClr>
            </a:outerShdw>
          </a:effectLst>
        </p:spPr>
        <p:txBody>
          <a:bodyPr/>
          <a:p/>
        </p:txBody>
      </p:sp>
      <p:sp>
        <p:nvSpPr>
          <p:cNvPr id="27" name="lblC_26"/>
          <p:cNvSpPr/>
          <p:nvPr/>
        </p:nvSpPr>
        <p:spPr>
          <a:xfrm>
            <a:off x="5630372" y="4769431"/>
            <a:ext cx="109728" cy="109728"/>
          </a:xfrm>
          <a:prstGeom prst="ellipse">
            <a:avLst/>
          </a:prstGeom>
          <a:solidFill>
            <a:schemeClr val="accent5"/>
          </a:solidFill>
          <a:ln/>
        </p:spPr>
        <p:txBody>
          <a:bodyPr/>
          <a:p/>
        </p:txBody>
      </p:sp>
      <p:sp>
        <p:nvSpPr>
          <p:cNvPr id="28" name="lblC_27"/>
          <p:cNvSpPr txBox="1"/>
          <p:nvPr/>
        </p:nvSpPr>
        <p:spPr>
          <a:xfrm>
            <a:off x="5849828" y="4595695"/>
            <a:ext cx="1737360" cy="457200"/>
          </a:xfrm>
          <a:prstGeom prst="rect">
            <a:avLst/>
          </a:prstGeom>
          <a:noFill/>
          <a:ln/>
        </p:spPr>
        <p:txBody>
          <a:bodyPr wrap="square" lIns="0" tIns="0" rIns="0" bIns="0" rtlCol="0" anchor="ctr"/>
          <a:lstStyle/>
          <a:p>
            <a:pPr indent="0" marL="0">
              <a:buNone/>
            </a:pPr>
            <a:r>
              <a:rPr lang="en-US" sz="1250" dirty="0">
                <a:solidFill>
                  <a:schemeClr val="tx1"/>
                </a:solidFill>
                <a:latin typeface="Segoe UI Semibold" pitchFamily="34" charset="0"/>
                <a:ea typeface="Segoe UI Semibold" pitchFamily="34" charset="-122"/>
                <a:cs typeface="Segoe UI Semibold" pitchFamily="34" charset="-120"/>
              </a:rPr>
              <a:t>Farther crossing</a:t>
            </a:r>
            <a:endParaRPr lang="en-US" sz="1300" dirty="0"/>
          </a:p>
          <a:p>
            <a:pPr indent="0" marL="0">
              <a:buNone/>
            </a:pPr>
            <a:r>
              <a:rPr lang="en-US" sz="1050" dirty="0">
                <a:solidFill>
                  <a:schemeClr val="accent5"/>
                </a:solidFill>
              </a:rPr>
              <a:t>Alternative, still viable</a:t>
            </a:r>
            <a:endParaRPr lang="en-US" sz="1300" dirty="0"/>
          </a:p>
        </p:txBody>
      </p:sp>
      <p:sp>
        <p:nvSpPr>
          <p:cNvPr id="29" name="lblC_28"/>
          <p:cNvSpPr/>
          <p:nvPr/>
        </p:nvSpPr>
        <p:spPr>
          <a:xfrm>
            <a:off x="7587188" y="5126047"/>
            <a:ext cx="0" cy="384048"/>
          </a:xfrm>
          <a:prstGeom prst="line">
            <a:avLst/>
          </a:prstGeom>
          <a:noFill/>
          <a:ln w="12700">
            <a:solidFill>
              <a:srgbClr val="9A8F7A"/>
            </a:solidFill>
            <a:prstDash val="solid"/>
          </a:ln>
        </p:spPr>
        <p:txBody>
          <a:bodyPr/>
          <a:p/>
        </p:txBody>
      </p:sp>
      <p:sp>
        <p:nvSpPr>
          <p:cNvPr id="30" name="f0_29"/>
          <p:cNvSpPr/>
          <p:nvPr/>
        </p:nvSpPr>
        <p:spPr>
          <a:xfrm>
            <a:off x="640080" y="5504688"/>
            <a:ext cx="1962851" cy="0"/>
          </a:xfrm>
          <a:prstGeom prst="line">
            <a:avLst/>
          </a:prstGeom>
          <a:noFill/>
          <a:ln w="12700">
            <a:solidFill>
              <a:srgbClr val="CFC8B8"/>
            </a:solidFill>
            <a:prstDash val="solid"/>
          </a:ln>
        </p:spPr>
        <p:txBody>
          <a:bodyPr/>
          <a:p/>
        </p:txBody>
      </p:sp>
      <p:sp>
        <p:nvSpPr>
          <p:cNvPr id="31" name="f0_30"/>
          <p:cNvSpPr txBox="1"/>
          <p:nvPr/>
        </p:nvSpPr>
        <p:spPr>
          <a:xfrm>
            <a:off x="640080" y="5596128"/>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01</a:t>
            </a:r>
            <a:endParaRPr lang="en-US" sz="1100" dirty="0"/>
          </a:p>
        </p:txBody>
      </p:sp>
      <p:sp>
        <p:nvSpPr>
          <p:cNvPr id="32" name="f0_31"/>
          <p:cNvSpPr txBox="1"/>
          <p:nvPr/>
        </p:nvSpPr>
        <p:spPr>
          <a:xfrm>
            <a:off x="640080" y="5806440"/>
            <a:ext cx="1962851" cy="548640"/>
          </a:xfrm>
          <a:prstGeom prst="rect">
            <a:avLst/>
          </a:prstGeom>
          <a:noFill/>
          <a:ln/>
        </p:spPr>
        <p:txBody>
          <a:bodyPr wrap="square" lIns="0" tIns="0" rIns="0" bIns="0" rtlCol="0" anchor="t"/>
          <a:lstStyle/>
          <a:p>
            <a:pPr indent="0" marL="0">
              <a:buNone/>
            </a:pPr>
            <a:r>
              <a:rPr lang="en-US" sz="1200" dirty="0">
                <a:solidFill>
                  <a:schemeClr val="tx1"/>
                </a:solidFill>
              </a:rPr>
              <a:t>Flood-aware route recommendations</a:t>
            </a:r>
            <a:endParaRPr lang="en-US" sz="1200" dirty="0"/>
          </a:p>
        </p:txBody>
      </p:sp>
      <p:sp>
        <p:nvSpPr>
          <p:cNvPr id="33" name="f1_32"/>
          <p:cNvSpPr/>
          <p:nvPr/>
        </p:nvSpPr>
        <p:spPr>
          <a:xfrm>
            <a:off x="2877251" y="5504688"/>
            <a:ext cx="1962851" cy="0"/>
          </a:xfrm>
          <a:prstGeom prst="line">
            <a:avLst/>
          </a:prstGeom>
          <a:noFill/>
          <a:ln w="12700">
            <a:solidFill>
              <a:srgbClr val="CFC8B8"/>
            </a:solidFill>
            <a:prstDash val="solid"/>
          </a:ln>
        </p:spPr>
        <p:txBody>
          <a:bodyPr/>
          <a:p/>
        </p:txBody>
      </p:sp>
      <p:sp>
        <p:nvSpPr>
          <p:cNvPr id="34" name="f1_33"/>
          <p:cNvSpPr txBox="1"/>
          <p:nvPr/>
        </p:nvSpPr>
        <p:spPr>
          <a:xfrm>
            <a:off x="2877251" y="5596128"/>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02</a:t>
            </a:r>
            <a:endParaRPr lang="en-US" sz="1100" dirty="0"/>
          </a:p>
        </p:txBody>
      </p:sp>
      <p:sp>
        <p:nvSpPr>
          <p:cNvPr id="35" name="f1_34"/>
          <p:cNvSpPr txBox="1"/>
          <p:nvPr/>
        </p:nvSpPr>
        <p:spPr>
          <a:xfrm>
            <a:off x="2877251" y="5806440"/>
            <a:ext cx="1962851" cy="548640"/>
          </a:xfrm>
          <a:prstGeom prst="rect">
            <a:avLst/>
          </a:prstGeom>
          <a:noFill/>
          <a:ln/>
        </p:spPr>
        <p:txBody>
          <a:bodyPr wrap="square" lIns="0" tIns="0" rIns="0" bIns="0" rtlCol="0" anchor="t"/>
          <a:lstStyle/>
          <a:p>
            <a:pPr indent="0" marL="0">
              <a:buNone/>
            </a:pPr>
            <a:r>
              <a:rPr lang="en-US" sz="1200" dirty="0">
                <a:solidFill>
                  <a:schemeClr val="tx1"/>
                </a:solidFill>
              </a:rPr>
              <a:t>No report is not the same as clear</a:t>
            </a:r>
            <a:endParaRPr lang="en-US" sz="1200" dirty="0"/>
          </a:p>
        </p:txBody>
      </p:sp>
      <p:sp>
        <p:nvSpPr>
          <p:cNvPr id="36" name="f2_35"/>
          <p:cNvSpPr/>
          <p:nvPr/>
        </p:nvSpPr>
        <p:spPr>
          <a:xfrm>
            <a:off x="5114422" y="5504688"/>
            <a:ext cx="1962851" cy="0"/>
          </a:xfrm>
          <a:prstGeom prst="line">
            <a:avLst/>
          </a:prstGeom>
          <a:noFill/>
          <a:ln w="12700">
            <a:solidFill>
              <a:srgbClr val="CFC8B8"/>
            </a:solidFill>
            <a:prstDash val="solid"/>
          </a:ln>
        </p:spPr>
        <p:txBody>
          <a:bodyPr/>
          <a:p/>
        </p:txBody>
      </p:sp>
      <p:sp>
        <p:nvSpPr>
          <p:cNvPr id="37" name="f2_36"/>
          <p:cNvSpPr txBox="1"/>
          <p:nvPr/>
        </p:nvSpPr>
        <p:spPr>
          <a:xfrm>
            <a:off x="5114422" y="5596128"/>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03</a:t>
            </a:r>
            <a:endParaRPr lang="en-US" sz="1100" dirty="0"/>
          </a:p>
        </p:txBody>
      </p:sp>
      <p:sp>
        <p:nvSpPr>
          <p:cNvPr id="38" name="f2_37"/>
          <p:cNvSpPr txBox="1"/>
          <p:nvPr/>
        </p:nvSpPr>
        <p:spPr>
          <a:xfrm>
            <a:off x="5114422" y="5806440"/>
            <a:ext cx="1962851" cy="548640"/>
          </a:xfrm>
          <a:prstGeom prst="rect">
            <a:avLst/>
          </a:prstGeom>
          <a:noFill/>
          <a:ln/>
        </p:spPr>
        <p:txBody>
          <a:bodyPr wrap="square" lIns="0" tIns="0" rIns="0" bIns="0" rtlCol="0" anchor="t"/>
          <a:lstStyle/>
          <a:p>
            <a:pPr indent="0" marL="0">
              <a:buNone/>
            </a:pPr>
            <a:r>
              <a:rPr lang="en-US" sz="1200" dirty="0">
                <a:solidFill>
                  <a:schemeClr val="tx1"/>
                </a:solidFill>
              </a:rPr>
              <a:t>Explainable route decisions</a:t>
            </a:r>
            <a:endParaRPr lang="en-US" sz="1200" dirty="0"/>
          </a:p>
        </p:txBody>
      </p:sp>
      <p:sp>
        <p:nvSpPr>
          <p:cNvPr id="39" name="f3_38"/>
          <p:cNvSpPr/>
          <p:nvPr/>
        </p:nvSpPr>
        <p:spPr>
          <a:xfrm>
            <a:off x="7351593" y="5504688"/>
            <a:ext cx="1962851" cy="0"/>
          </a:xfrm>
          <a:prstGeom prst="line">
            <a:avLst/>
          </a:prstGeom>
          <a:noFill/>
          <a:ln w="12700">
            <a:solidFill>
              <a:srgbClr val="CFC8B8"/>
            </a:solidFill>
            <a:prstDash val="solid"/>
          </a:ln>
        </p:spPr>
        <p:txBody>
          <a:bodyPr/>
          <a:p/>
        </p:txBody>
      </p:sp>
      <p:sp>
        <p:nvSpPr>
          <p:cNvPr id="40" name="f3_39"/>
          <p:cNvSpPr txBox="1"/>
          <p:nvPr/>
        </p:nvSpPr>
        <p:spPr>
          <a:xfrm>
            <a:off x="7351593" y="5596128"/>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04</a:t>
            </a:r>
            <a:endParaRPr lang="en-US" sz="1100" dirty="0"/>
          </a:p>
        </p:txBody>
      </p:sp>
      <p:sp>
        <p:nvSpPr>
          <p:cNvPr id="41" name="f3_40"/>
          <p:cNvSpPr txBox="1"/>
          <p:nvPr/>
        </p:nvSpPr>
        <p:spPr>
          <a:xfrm>
            <a:off x="7351593" y="5806440"/>
            <a:ext cx="1962851" cy="548640"/>
          </a:xfrm>
          <a:prstGeom prst="rect">
            <a:avLst/>
          </a:prstGeom>
          <a:noFill/>
          <a:ln/>
        </p:spPr>
        <p:txBody>
          <a:bodyPr wrap="square" lIns="0" tIns="0" rIns="0" bIns="0" rtlCol="0" anchor="t"/>
          <a:lstStyle/>
          <a:p>
            <a:pPr indent="0" marL="0">
              <a:buNone/>
            </a:pPr>
            <a:r>
              <a:rPr lang="en-US" sz="1200" dirty="0">
                <a:solidFill>
                  <a:schemeClr val="tx1"/>
                </a:solidFill>
              </a:rPr>
              <a:t>Dynamic rerouting as conditions change</a:t>
            </a:r>
            <a:endParaRPr lang="en-US" sz="1200" dirty="0"/>
          </a:p>
        </p:txBody>
      </p:sp>
      <p:sp>
        <p:nvSpPr>
          <p:cNvPr id="42" name="f4_41"/>
          <p:cNvSpPr/>
          <p:nvPr/>
        </p:nvSpPr>
        <p:spPr>
          <a:xfrm>
            <a:off x="9588764" y="5504688"/>
            <a:ext cx="1962851" cy="0"/>
          </a:xfrm>
          <a:prstGeom prst="line">
            <a:avLst/>
          </a:prstGeom>
          <a:noFill/>
          <a:ln w="12700">
            <a:solidFill>
              <a:srgbClr val="CFC8B8"/>
            </a:solidFill>
            <a:prstDash val="solid"/>
          </a:ln>
        </p:spPr>
        <p:txBody>
          <a:bodyPr/>
          <a:p/>
        </p:txBody>
      </p:sp>
      <p:sp>
        <p:nvSpPr>
          <p:cNvPr id="43" name="f4_42"/>
          <p:cNvSpPr txBox="1"/>
          <p:nvPr/>
        </p:nvSpPr>
        <p:spPr>
          <a:xfrm>
            <a:off x="9588764" y="5596128"/>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05</a:t>
            </a:r>
            <a:endParaRPr lang="en-US" sz="1100" dirty="0"/>
          </a:p>
        </p:txBody>
      </p:sp>
      <p:sp>
        <p:nvSpPr>
          <p:cNvPr id="44" name="f4_43"/>
          <p:cNvSpPr txBox="1"/>
          <p:nvPr/>
        </p:nvSpPr>
        <p:spPr>
          <a:xfrm>
            <a:off x="9588764" y="5806440"/>
            <a:ext cx="1962851" cy="548640"/>
          </a:xfrm>
          <a:prstGeom prst="rect">
            <a:avLst/>
          </a:prstGeom>
          <a:noFill/>
          <a:ln/>
        </p:spPr>
        <p:txBody>
          <a:bodyPr wrap="square" lIns="0" tIns="0" rIns="0" bIns="0" rtlCol="0" anchor="t"/>
          <a:lstStyle/>
          <a:p>
            <a:pPr indent="0" marL="0">
              <a:buNone/>
            </a:pPr>
            <a:r>
              <a:rPr lang="en-US" sz="1200" dirty="0">
                <a:solidFill>
                  <a:schemeClr val="tx1"/>
                </a:solidFill>
              </a:rPr>
              <a:t>Alternatives when a destination becomes unreachable</a:t>
            </a:r>
            <a:endParaRPr lang="en-US" sz="1200" dirty="0"/>
          </a:p>
        </p:txBody>
      </p:sp>
      <p:sp>
        <p:nvSpPr>
          <p:cNvPr id="45" name="jn_44"/>
          <p:cNvSpPr/>
          <p:nvPr/>
        </p:nvSpPr>
        <p:spPr>
          <a:xfrm>
            <a:off x="4343400" y="6537960"/>
            <a:ext cx="3520440" cy="0"/>
          </a:xfrm>
          <a:prstGeom prst="line">
            <a:avLst/>
          </a:prstGeom>
          <a:noFill/>
          <a:ln w="12700">
            <a:solidFill>
              <a:srgbClr val="D2CBBB"/>
            </a:solidFill>
            <a:prstDash val="solid"/>
          </a:ln>
        </p:spPr>
        <p:txBody>
          <a:bodyPr/>
          <a:p/>
        </p:txBody>
      </p:sp>
      <p:sp>
        <p:nvSpPr>
          <p:cNvPr id="46" name="jn_45"/>
          <p:cNvSpPr/>
          <p:nvPr/>
        </p:nvSpPr>
        <p:spPr>
          <a:xfrm>
            <a:off x="4306824" y="6501384"/>
            <a:ext cx="73152" cy="73152"/>
          </a:xfrm>
          <a:prstGeom prst="ellipse">
            <a:avLst/>
          </a:prstGeom>
          <a:solidFill>
            <a:srgbClr val="B8B1A0"/>
          </a:solidFill>
          <a:ln/>
        </p:spPr>
        <p:txBody>
          <a:bodyPr/>
          <a:p/>
        </p:txBody>
      </p:sp>
      <p:sp>
        <p:nvSpPr>
          <p:cNvPr id="47" name="jn_46"/>
          <p:cNvSpPr/>
          <p:nvPr/>
        </p:nvSpPr>
        <p:spPr>
          <a:xfrm>
            <a:off x="5010912" y="6501384"/>
            <a:ext cx="73152" cy="73152"/>
          </a:xfrm>
          <a:prstGeom prst="ellipse">
            <a:avLst/>
          </a:prstGeom>
          <a:solidFill>
            <a:srgbClr val="B8B1A0"/>
          </a:solidFill>
          <a:ln/>
        </p:spPr>
        <p:txBody>
          <a:bodyPr/>
          <a:p/>
        </p:txBody>
      </p:sp>
      <p:sp>
        <p:nvSpPr>
          <p:cNvPr id="48" name="jn_47"/>
          <p:cNvSpPr/>
          <p:nvPr/>
        </p:nvSpPr>
        <p:spPr>
          <a:xfrm>
            <a:off x="5715000" y="6501384"/>
            <a:ext cx="73152" cy="73152"/>
          </a:xfrm>
          <a:prstGeom prst="ellipse">
            <a:avLst/>
          </a:prstGeom>
          <a:solidFill>
            <a:srgbClr val="B8B1A0"/>
          </a:solidFill>
          <a:ln/>
        </p:spPr>
        <p:txBody>
          <a:bodyPr/>
          <a:p/>
        </p:txBody>
      </p:sp>
      <p:sp>
        <p:nvSpPr>
          <p:cNvPr id="49" name="jn_48"/>
          <p:cNvSpPr/>
          <p:nvPr/>
        </p:nvSpPr>
        <p:spPr>
          <a:xfrm>
            <a:off x="6419088" y="6501384"/>
            <a:ext cx="73152" cy="73152"/>
          </a:xfrm>
          <a:prstGeom prst="ellipse">
            <a:avLst/>
          </a:prstGeom>
          <a:solidFill>
            <a:srgbClr val="B8B1A0"/>
          </a:solidFill>
          <a:ln/>
        </p:spPr>
        <p:txBody>
          <a:bodyPr/>
          <a:p/>
        </p:txBody>
      </p:sp>
      <p:sp>
        <p:nvSpPr>
          <p:cNvPr id="50" name="jn_49"/>
          <p:cNvSpPr/>
          <p:nvPr/>
        </p:nvSpPr>
        <p:spPr>
          <a:xfrm>
            <a:off x="7123176" y="6501384"/>
            <a:ext cx="73152" cy="73152"/>
          </a:xfrm>
          <a:prstGeom prst="ellipse">
            <a:avLst/>
          </a:prstGeom>
          <a:solidFill>
            <a:srgbClr val="B8B1A0"/>
          </a:solidFill>
          <a:ln/>
        </p:spPr>
        <p:txBody>
          <a:bodyPr/>
          <a:p/>
        </p:txBody>
      </p:sp>
      <p:sp>
        <p:nvSpPr>
          <p:cNvPr id="51" name="jn_50"/>
          <p:cNvSpPr/>
          <p:nvPr/>
        </p:nvSpPr>
        <p:spPr>
          <a:xfrm>
            <a:off x="7827264" y="6501384"/>
            <a:ext cx="73152" cy="73152"/>
          </a:xfrm>
          <a:prstGeom prst="ellipse">
            <a:avLst/>
          </a:prstGeom>
          <a:solidFill>
            <a:srgbClr val="B8B1A0"/>
          </a:solidFill>
          <a:ln/>
        </p:spPr>
        <p:txBody>
          <a:bodyPr/>
          <a:p/>
        </p:txBody>
      </p:sp>
      <p:sp>
        <p:nvSpPr>
          <p:cNvPr id="52" name="jdot_51"/>
          <p:cNvSpPr/>
          <p:nvPr/>
        </p:nvSpPr>
        <p:spPr>
          <a:xfrm>
            <a:off x="4256532" y="6451092"/>
            <a:ext cx="173736" cy="173736"/>
          </a:xfrm>
          <a:prstGeom prst="ellipse">
            <a:avLst/>
          </a:prstGeom>
          <a:solidFill>
            <a:schemeClr val="accent1"/>
          </a:solidFill>
          <a:ln w="28575">
            <a:solidFill>
              <a:srgbClr val="F6F1E9"/>
            </a:solidFill>
            <a:prstDash val="solid"/>
          </a:ln>
        </p:spPr>
        <p:txBody>
          <a:bodyPr/>
          <a:p/>
        </p:txBody>
      </p:sp>
      <p:sp>
        <p:nvSpPr>
          <p:cNvPr id="53" name="Text 46"/>
          <p:cNvSpPr txBox="1"/>
          <p:nvPr/>
        </p:nvSpPr>
        <p:spPr>
          <a:xfrm>
            <a:off x="10454335" y="6419088"/>
            <a:ext cx="1097280" cy="237744"/>
          </a:xfrm>
          <a:prstGeom prst="rect">
            <a:avLst/>
          </a:prstGeom>
          <a:noFill/>
          <a:ln/>
        </p:spPr>
        <p:txBody>
          <a:bodyPr wrap="square" lIns="0" tIns="0" rIns="0" bIns="0" rtlCol="0" anchor="ctr"/>
          <a:lstStyle/>
          <a:p>
            <a:pPr algn="r" indent="0" marL="0">
              <a:buNone/>
            </a:pPr>
            <a:r>
              <a:rPr lang="en-US" sz="1000" dirty="0">
                <a:solidFill>
                  <a:schemeClr val="accent5"/>
                </a:solidFill>
              </a:rPr>
              <a:t>01 / 06</a:t>
            </a:r>
            <a:endParaRPr lang="en-US" sz="1000" dirty="0"/>
          </a:p>
        </p:txBody>
      </p:sp>
      <p:sp>
        <p:nvSpPr>
          <p:cNvPr id="54" name="meaning"/>
          <p:cNvSpPr txBox="1"/>
          <p:nvPr/>
        </p:nvSpPr>
        <p:spPr>
          <a:xfrm>
            <a:off x="1207008" y="969264"/>
            <a:ext cx="3657600" cy="237744"/>
          </a:xfrm>
          <a:prstGeom prst="rect">
            <a:avLst/>
          </a:prstGeom>
          <a:noFill/>
          <a:ln/>
        </p:spPr>
        <p:txBody>
          <a:bodyPr wrap="square" lIns="0" tIns="0" rIns="0" bIns="0" rtlCol="0" anchor="ctr"/>
          <a:lstStyle/>
          <a:p>
            <a:pPr algn="l" indent="0" marL="0">
              <a:buNone/>
            </a:pPr>
            <a:r>
              <a:rPr lang="en-US" sz="1050" dirty="0">
                <a:solidFill>
                  <a:srgbClr val="4A3F66"/>
                </a:solidFill>
              </a:rPr>
              <a:t>vighna (विघ्न) = obstacle. Vighnaway: obstacle, away.</a:t>
            </a:r>
            <a:endParaRPr lang="en-US" sz="1000" dirty="0"/>
          </a:p>
        </p:txBody>
      </p:sp>
      <p:sp>
        <p:nvSpPr>
          <p:cNvPr id="55" name="attrib"/>
          <p:cNvSpPr txBox="1"/>
          <p:nvPr/>
        </p:nvSpPr>
        <p:spPr>
          <a:xfrm>
            <a:off x="640080" y="6419088"/>
            <a:ext cx="4206240" cy="237744"/>
          </a:xfrm>
          <a:prstGeom prst="rect">
            <a:avLst/>
          </a:prstGeom>
          <a:noFill/>
          <a:ln/>
        </p:spPr>
        <p:txBody>
          <a:bodyPr wrap="square" lIns="0" tIns="0" rIns="0" bIns="0" rtlCol="0" anchor="ctr"/>
          <a:lstStyle/>
          <a:p>
            <a:pPr algn="l" indent="0" marL="0">
              <a:buNone/>
            </a:pPr>
            <a:r>
              <a:rPr lang="en-US" sz="900" dirty="0">
                <a:solidFill>
                  <a:srgbClr val="4A3F66"/>
                </a:solidFill>
              </a:rPr>
              <a:t>Simulated conditions on real roads · © OpenStreetMap contributors</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tgtEl>
                                          <p:spTgt spid="6"/>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45"/>
                                        </p:tgtEl>
                                        <p:attrNameLst>
                                          <p:attrName>style.visibility</p:attrName>
                                        </p:attrNameLst>
                                      </p:cBhvr>
                                      <p:to>
                                        <p:strVal val="visible"/>
                                      </p:to>
                                    </p:set>
                                    <p:animEffect transition="in" filter="fade">
                                      <p:cBhvr>
                                        <p:cTn id="9" dur="500"/>
                                        <p:tgtEl>
                                          <p:spTgt spid="45"/>
                                        </p:tgtEl>
                                      </p:cBhvr>
                                    </p:animEffect>
                                  </p:childTnLst>
                                </p:cTn>
                              </p:par>
                              <p:par>
                                <p:cTn id="13" presetID="10" presetClass="entr" presetSubtype="0" fill="hold" grpId="0" nodeType="withEffect">
                                  <p:stCondLst>
                                    <p:cond delay="20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500"/>
                                        <p:tgtEl>
                                          <p:spTgt spid="46"/>
                                        </p:tgtEl>
                                      </p:cBhvr>
                                    </p:animEffect>
                                  </p:childTnLst>
                                </p:cTn>
                              </p:par>
                              <p:par>
                                <p:cTn id="16" presetID="10" presetClass="entr" presetSubtype="0" fill="hold" grpId="0" nodeType="withEffect">
                                  <p:stCondLst>
                                    <p:cond delay="200"/>
                                  </p:stCondLst>
                                  <p:childTnLst>
                                    <p:set>
                                      <p:cBhvr>
                                        <p:cTn id="14" dur="1" fill="hold">
                                          <p:stCondLst>
                                            <p:cond delay="0"/>
                                          </p:stCondLst>
                                        </p:cTn>
                                        <p:tgtEl>
                                          <p:spTgt spid="47"/>
                                        </p:tgtEl>
                                        <p:attrNameLst>
                                          <p:attrName>style.visibility</p:attrName>
                                        </p:attrNameLst>
                                      </p:cBhvr>
                                      <p:to>
                                        <p:strVal val="visible"/>
                                      </p:to>
                                    </p:set>
                                    <p:animEffect transition="in" filter="fade">
                                      <p:cBhvr>
                                        <p:cTn id="15" dur="500"/>
                                        <p:tgtEl>
                                          <p:spTgt spid="47"/>
                                        </p:tgtEl>
                                      </p:cBhvr>
                                    </p:animEffect>
                                  </p:childTnLst>
                                </p:cTn>
                              </p:par>
                              <p:par>
                                <p:cTn id="19" presetID="10" presetClass="entr" presetSubtype="0" fill="hold" grpId="0" nodeType="withEffect">
                                  <p:stCondLst>
                                    <p:cond delay="200"/>
                                  </p:stCondLst>
                                  <p:childTnLst>
                                    <p:set>
                                      <p:cBhvr>
                                        <p:cTn id="17" dur="1" fill="hold">
                                          <p:stCondLst>
                                            <p:cond delay="0"/>
                                          </p:stCondLst>
                                        </p:cTn>
                                        <p:tgtEl>
                                          <p:spTgt spid="48"/>
                                        </p:tgtEl>
                                        <p:attrNameLst>
                                          <p:attrName>style.visibility</p:attrName>
                                        </p:attrNameLst>
                                      </p:cBhvr>
                                      <p:to>
                                        <p:strVal val="visible"/>
                                      </p:to>
                                    </p:set>
                                    <p:animEffect transition="in" filter="fade">
                                      <p:cBhvr>
                                        <p:cTn id="18" dur="500"/>
                                        <p:tgtEl>
                                          <p:spTgt spid="48"/>
                                        </p:tgtEl>
                                      </p:cBhvr>
                                    </p:animEffect>
                                  </p:childTnLst>
                                </p:cTn>
                              </p:par>
                              <p:par>
                                <p:cTn id="22" presetID="10" presetClass="entr" presetSubtype="0" fill="hold" grpId="0" nodeType="withEffect">
                                  <p:stCondLst>
                                    <p:cond delay="200"/>
                                  </p:stCondLst>
                                  <p:childTnLst>
                                    <p:set>
                                      <p:cBhvr>
                                        <p:cTn id="20" dur="1" fill="hold">
                                          <p:stCondLst>
                                            <p:cond delay="0"/>
                                          </p:stCondLst>
                                        </p:cTn>
                                        <p:tgtEl>
                                          <p:spTgt spid="49"/>
                                        </p:tgtEl>
                                        <p:attrNameLst>
                                          <p:attrName>style.visibility</p:attrName>
                                        </p:attrNameLst>
                                      </p:cBhvr>
                                      <p:to>
                                        <p:strVal val="visible"/>
                                      </p:to>
                                    </p:set>
                                    <p:animEffect transition="in" filter="fade">
                                      <p:cBhvr>
                                        <p:cTn id="21" dur="500"/>
                                        <p:tgtEl>
                                          <p:spTgt spid="49"/>
                                        </p:tgtEl>
                                      </p:cBhvr>
                                    </p:animEffect>
                                  </p:childTnLst>
                                </p:cTn>
                              </p:par>
                              <p:par>
                                <p:cTn id="25" presetID="10" presetClass="entr" presetSubtype="0" fill="hold" grpId="0" nodeType="withEffect">
                                  <p:stCondLst>
                                    <p:cond delay="200"/>
                                  </p:stCondLst>
                                  <p:childTnLst>
                                    <p:set>
                                      <p:cBhvr>
                                        <p:cTn id="23" dur="1" fill="hold">
                                          <p:stCondLst>
                                            <p:cond delay="0"/>
                                          </p:stCondLst>
                                        </p:cTn>
                                        <p:tgtEl>
                                          <p:spTgt spid="50"/>
                                        </p:tgtEl>
                                        <p:attrNameLst>
                                          <p:attrName>style.visibility</p:attrName>
                                        </p:attrNameLst>
                                      </p:cBhvr>
                                      <p:to>
                                        <p:strVal val="visible"/>
                                      </p:to>
                                    </p:set>
                                    <p:animEffect transition="in" filter="fade">
                                      <p:cBhvr>
                                        <p:cTn id="24" dur="500"/>
                                        <p:tgtEl>
                                          <p:spTgt spid="50"/>
                                        </p:tgtEl>
                                      </p:cBhvr>
                                    </p:animEffect>
                                  </p:childTnLst>
                                </p:cTn>
                              </p:par>
                              <p:par>
                                <p:cTn id="28" presetID="10" presetClass="entr" presetSubtype="0" fill="hold" grpId="0" nodeType="withEffect">
                                  <p:stCondLst>
                                    <p:cond delay="20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500"/>
                                        <p:tgtEl>
                                          <p:spTgt spid="51"/>
                                        </p:tgtEl>
                                      </p:cBhvr>
                                    </p:animEffect>
                                  </p:childTnLst>
                                </p:cTn>
                              </p:par>
                              <p:par>
                                <p:cTn id="31" presetID="10" presetClass="entr" presetSubtype="0" fill="hold" grpId="0" nodeType="withEffect">
                                  <p:stCondLst>
                                    <p:cond delay="23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par>
                                <p:cTn id="34" presetID="10" presetClass="entr" presetSubtype="0" fill="hold" grpId="0" nodeType="withEffect">
                                  <p:stCondLst>
                                    <p:cond delay="31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8" presetID="42" presetClass="entr" presetSubtype="0" fill="hold" grpId="0" nodeType="withEffect">
                                  <p:stCondLst>
                                    <p:cond delay="45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700" fill="hold"/>
                                        <p:tgtEl>
                                          <p:spTgt spid="9"/>
                                        </p:tgtEl>
                                        <p:attrNameLst>
                                          <p:attrName>ppt_y</p:attrName>
                                        </p:attrNameLst>
                                      </p:cBhvr>
                                      <p:tavLst>
                                        <p:tav tm="0">
                                          <p:val>
                                            <p:strVal val="#ppt_y+.06"/>
                                          </p:val>
                                        </p:tav>
                                        <p:tav tm="100000">
                                          <p:val>
                                            <p:strVal val="#ppt_y"/>
                                          </p:val>
                                        </p:tav>
                                      </p:tavLst>
                                    </p:anim>
                                    <p:animEffect transition="in" filter="fade">
                                      <p:cBhvr>
                                        <p:cTn id="37" dur="700"/>
                                        <p:tgtEl>
                                          <p:spTgt spid="9"/>
                                        </p:tgtEl>
                                      </p:cBhvr>
                                    </p:animEffect>
                                  </p:childTnLst>
                                </p:cTn>
                              </p:par>
                              <p:par>
                                <p:cTn id="42" presetID="42" presetClass="entr" presetSubtype="0" fill="hold" grpId="0" nodeType="withEffect">
                                  <p:stCondLst>
                                    <p:cond delay="80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600" fill="hold"/>
                                        <p:tgtEl>
                                          <p:spTgt spid="10"/>
                                        </p:tgtEl>
                                        <p:attrNameLst>
                                          <p:attrName>ppt_y</p:attrName>
                                        </p:attrNameLst>
                                      </p:cBhvr>
                                      <p:tavLst>
                                        <p:tav tm="0">
                                          <p:val>
                                            <p:strVal val="#ppt_y+.06"/>
                                          </p:val>
                                        </p:tav>
                                        <p:tav tm="100000">
                                          <p:val>
                                            <p:strVal val="#ppt_y"/>
                                          </p:val>
                                        </p:tav>
                                      </p:tavLst>
                                    </p:anim>
                                    <p:animEffect transition="in" filter="fade">
                                      <p:cBhvr>
                                        <p:cTn id="41" dur="600"/>
                                        <p:tgtEl>
                                          <p:spTgt spid="10"/>
                                        </p:tgtEl>
                                      </p:cBhvr>
                                    </p:animEffect>
                                  </p:childTnLst>
                                </p:cTn>
                              </p:par>
                              <p:par>
                                <p:cTn id="45" presetID="10" presetClass="entr" presetSubtype="0" fill="hold" grpId="0" nodeType="withEffect">
                                  <p:stCondLst>
                                    <p:cond delay="90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400"/>
                                        <p:tgtEl>
                                          <p:spTgt spid="11"/>
                                        </p:tgtEl>
                                      </p:cBhvr>
                                    </p:animEffect>
                                  </p:childTnLst>
                                </p:cTn>
                              </p:par>
                              <p:par>
                                <p:cTn id="48" presetID="10" presetClass="entr" presetSubtype="0" fill="hold" grpId="0" nodeType="withEffect">
                                  <p:stCondLst>
                                    <p:cond delay="9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00"/>
                                        <p:tgtEl>
                                          <p:spTgt spid="12"/>
                                        </p:tgtEl>
                                      </p:cBhvr>
                                    </p:animEffect>
                                  </p:childTnLst>
                                </p:cTn>
                              </p:par>
                              <p:par>
                                <p:cTn id="51" presetID="10" presetClass="entr" presetSubtype="0" fill="hold" grpId="0" nodeType="withEffect">
                                  <p:stCondLst>
                                    <p:cond delay="90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400"/>
                                        <p:tgtEl>
                                          <p:spTgt spid="16"/>
                                        </p:tgtEl>
                                      </p:cBhvr>
                                    </p:animEffect>
                                  </p:childTnLst>
                                </p:cTn>
                              </p:par>
                              <p:par>
                                <p:cTn id="54" presetID="22" presetClass="entr" presetSubtype="8" fill="hold" nodeType="withEffect">
                                  <p:stCondLst>
                                    <p:cond delay="1200"/>
                                  </p:stCondLst>
                                  <p:childTnLst>
                                    <p:set>
                                      <p:cBhvr>
                                        <p:cTn id="52" dur="1" fill="hold">
                                          <p:stCondLst>
                                            <p:cond delay="0"/>
                                          </p:stCondLst>
                                        </p:cTn>
                                        <p:tgtEl>
                                          <p:spTgt spid="3"/>
                                        </p:tgtEl>
                                        <p:attrNameLst>
                                          <p:attrName>style.visibility</p:attrName>
                                        </p:attrNameLst>
                                      </p:cBhvr>
                                      <p:to>
                                        <p:strVal val="visible"/>
                                      </p:to>
                                    </p:set>
                                    <p:animEffect transition="in" filter="wipe(left)">
                                      <p:cBhvr>
                                        <p:cTn id="53" dur="1000"/>
                                        <p:tgtEl>
                                          <p:spTgt spid="3"/>
                                        </p:tgtEl>
                                      </p:cBhvr>
                                    </p:animEffect>
                                  </p:childTnLst>
                                </p:cTn>
                              </p:par>
                              <p:par>
                                <p:cTn id="57" presetID="22" presetClass="entr" presetSubtype="8" fill="hold" nodeType="withEffect">
                                  <p:stCondLst>
                                    <p:cond delay="1700"/>
                                  </p:stCondLst>
                                  <p:childTnLst>
                                    <p:set>
                                      <p:cBhvr>
                                        <p:cTn id="55" dur="1" fill="hold">
                                          <p:stCondLst>
                                            <p:cond delay="0"/>
                                          </p:stCondLst>
                                        </p:cTn>
                                        <p:tgtEl>
                                          <p:spTgt spid="4"/>
                                        </p:tgtEl>
                                        <p:attrNameLst>
                                          <p:attrName>style.visibility</p:attrName>
                                        </p:attrNameLst>
                                      </p:cBhvr>
                                      <p:to>
                                        <p:strVal val="visible"/>
                                      </p:to>
                                    </p:set>
                                    <p:animEffect transition="in" filter="wipe(left)">
                                      <p:cBhvr>
                                        <p:cTn id="56" dur="1000"/>
                                        <p:tgtEl>
                                          <p:spTgt spid="4"/>
                                        </p:tgtEl>
                                      </p:cBhvr>
                                    </p:animEffect>
                                  </p:childTnLst>
                                </p:cTn>
                              </p:par>
                              <p:par>
                                <p:cTn id="60" presetID="22" presetClass="entr" presetSubtype="8" fill="hold" nodeType="withEffect">
                                  <p:stCondLst>
                                    <p:cond delay="2300"/>
                                  </p:stCondLst>
                                  <p:childTnLst>
                                    <p:set>
                                      <p:cBhvr>
                                        <p:cTn id="58" dur="1" fill="hold">
                                          <p:stCondLst>
                                            <p:cond delay="0"/>
                                          </p:stCondLst>
                                        </p:cTn>
                                        <p:tgtEl>
                                          <p:spTgt spid="5"/>
                                        </p:tgtEl>
                                        <p:attrNameLst>
                                          <p:attrName>style.visibility</p:attrName>
                                        </p:attrNameLst>
                                      </p:cBhvr>
                                      <p:to>
                                        <p:strVal val="visible"/>
                                      </p:to>
                                    </p:set>
                                    <p:animEffect transition="in" filter="wipe(left)">
                                      <p:cBhvr>
                                        <p:cTn id="59" dur="1300"/>
                                        <p:tgtEl>
                                          <p:spTgt spid="5"/>
                                        </p:tgtEl>
                                      </p:cBhvr>
                                    </p:animEffect>
                                  </p:childTnLst>
                                </p:cTn>
                              </p:par>
                              <p:par>
                                <p:cTn id="64" presetID="42" presetClass="entr" presetSubtype="0" fill="hold" grpId="0" nodeType="withEffect">
                                  <p:stCondLst>
                                    <p:cond delay="230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500" fill="hold"/>
                                        <p:tgtEl>
                                          <p:spTgt spid="15"/>
                                        </p:tgtEl>
                                        <p:attrNameLst>
                                          <p:attrName>ppt_y</p:attrName>
                                        </p:attrNameLst>
                                      </p:cBhvr>
                                      <p:tavLst>
                                        <p:tav tm="0">
                                          <p:val>
                                            <p:strVal val="#ppt_y+.06"/>
                                          </p:val>
                                        </p:tav>
                                        <p:tav tm="100000">
                                          <p:val>
                                            <p:strVal val="#ppt_y"/>
                                          </p:val>
                                        </p:tav>
                                      </p:tavLst>
                                    </p:anim>
                                    <p:animEffect transition="in" filter="fade">
                                      <p:cBhvr>
                                        <p:cTn id="63" dur="500"/>
                                        <p:tgtEl>
                                          <p:spTgt spid="15"/>
                                        </p:tgtEl>
                                      </p:cBhvr>
                                    </p:animEffect>
                                  </p:childTnLst>
                                </p:cTn>
                              </p:par>
                              <p:par>
                                <p:cTn id="68" presetID="42" presetClass="entr" presetSubtype="0" fill="hold" grpId="0" nodeType="withEffect">
                                  <p:stCondLst>
                                    <p:cond delay="2300"/>
                                  </p:stCondLst>
                                  <p:childTnLst>
                                    <p:set>
                                      <p:cBhvr>
                                        <p:cTn id="65" dur="1" fill="hold">
                                          <p:stCondLst>
                                            <p:cond delay="0"/>
                                          </p:stCondLst>
                                        </p:cTn>
                                        <p:tgtEl>
                                          <p:spTgt spid="18"/>
                                        </p:tgtEl>
                                        <p:attrNameLst>
                                          <p:attrName>style.visibility</p:attrName>
                                        </p:attrNameLst>
                                      </p:cBhvr>
                                      <p:to>
                                        <p:strVal val="visible"/>
                                      </p:to>
                                    </p:set>
                                    <p:anim calcmode="lin" valueType="num">
                                      <p:cBhvr additive="base">
                                        <p:cTn id="66" dur="500" fill="hold"/>
                                        <p:tgtEl>
                                          <p:spTgt spid="18"/>
                                        </p:tgtEl>
                                        <p:attrNameLst>
                                          <p:attrName>ppt_y</p:attrName>
                                        </p:attrNameLst>
                                      </p:cBhvr>
                                      <p:tavLst>
                                        <p:tav tm="0">
                                          <p:val>
                                            <p:strVal val="#ppt_y+.06"/>
                                          </p:val>
                                        </p:tav>
                                        <p:tav tm="100000">
                                          <p:val>
                                            <p:strVal val="#ppt_y"/>
                                          </p:val>
                                        </p:tav>
                                      </p:tavLst>
                                    </p:anim>
                                    <p:animEffect transition="in" filter="fade">
                                      <p:cBhvr>
                                        <p:cTn id="67" dur="500"/>
                                        <p:tgtEl>
                                          <p:spTgt spid="18"/>
                                        </p:tgtEl>
                                      </p:cBhvr>
                                    </p:animEffect>
                                  </p:childTnLst>
                                </p:cTn>
                              </p:par>
                              <p:par>
                                <p:cTn id="72" presetID="42" presetClass="entr" presetSubtype="0" fill="hold" grpId="0" nodeType="withEffect">
                                  <p:stCondLst>
                                    <p:cond delay="2300"/>
                                  </p:stCondLst>
                                  <p:childTnLst>
                                    <p:set>
                                      <p:cBhvr>
                                        <p:cTn id="69" dur="1" fill="hold">
                                          <p:stCondLst>
                                            <p:cond delay="0"/>
                                          </p:stCondLst>
                                        </p:cTn>
                                        <p:tgtEl>
                                          <p:spTgt spid="19"/>
                                        </p:tgtEl>
                                        <p:attrNameLst>
                                          <p:attrName>style.visibility</p:attrName>
                                        </p:attrNameLst>
                                      </p:cBhvr>
                                      <p:to>
                                        <p:strVal val="visible"/>
                                      </p:to>
                                    </p:set>
                                    <p:anim calcmode="lin" valueType="num">
                                      <p:cBhvr additive="base">
                                        <p:cTn id="70" dur="500" fill="hold"/>
                                        <p:tgtEl>
                                          <p:spTgt spid="19"/>
                                        </p:tgtEl>
                                        <p:attrNameLst>
                                          <p:attrName>ppt_y</p:attrName>
                                        </p:attrNameLst>
                                      </p:cBhvr>
                                      <p:tavLst>
                                        <p:tav tm="0">
                                          <p:val>
                                            <p:strVal val="#ppt_y+.06"/>
                                          </p:val>
                                        </p:tav>
                                        <p:tav tm="100000">
                                          <p:val>
                                            <p:strVal val="#ppt_y"/>
                                          </p:val>
                                        </p:tav>
                                      </p:tavLst>
                                    </p:anim>
                                    <p:animEffect transition="in" filter="fade">
                                      <p:cBhvr>
                                        <p:cTn id="71" dur="500"/>
                                        <p:tgtEl>
                                          <p:spTgt spid="19"/>
                                        </p:tgtEl>
                                      </p:cBhvr>
                                    </p:animEffect>
                                  </p:childTnLst>
                                </p:cTn>
                              </p:par>
                              <p:par>
                                <p:cTn id="76" presetID="42" presetClass="entr" presetSubtype="0" fill="hold" grpId="0" nodeType="withEffect">
                                  <p:stCondLst>
                                    <p:cond delay="2300"/>
                                  </p:stCondLst>
                                  <p:childTnLst>
                                    <p:set>
                                      <p:cBhvr>
                                        <p:cTn id="73" dur="1" fill="hold">
                                          <p:stCondLst>
                                            <p:cond delay="0"/>
                                          </p:stCondLst>
                                        </p:cTn>
                                        <p:tgtEl>
                                          <p:spTgt spid="20"/>
                                        </p:tgtEl>
                                        <p:attrNameLst>
                                          <p:attrName>style.visibility</p:attrName>
                                        </p:attrNameLst>
                                      </p:cBhvr>
                                      <p:to>
                                        <p:strVal val="visible"/>
                                      </p:to>
                                    </p:set>
                                    <p:anim calcmode="lin" valueType="num">
                                      <p:cBhvr additive="base">
                                        <p:cTn id="74" dur="500" fill="hold"/>
                                        <p:tgtEl>
                                          <p:spTgt spid="20"/>
                                        </p:tgtEl>
                                        <p:attrNameLst>
                                          <p:attrName>ppt_y</p:attrName>
                                        </p:attrNameLst>
                                      </p:cBhvr>
                                      <p:tavLst>
                                        <p:tav tm="0">
                                          <p:val>
                                            <p:strVal val="#ppt_y+.06"/>
                                          </p:val>
                                        </p:tav>
                                        <p:tav tm="100000">
                                          <p:val>
                                            <p:strVal val="#ppt_y"/>
                                          </p:val>
                                        </p:tav>
                                      </p:tavLst>
                                    </p:anim>
                                    <p:animEffect transition="in" filter="fade">
                                      <p:cBhvr>
                                        <p:cTn id="75" dur="500"/>
                                        <p:tgtEl>
                                          <p:spTgt spid="20"/>
                                        </p:tgtEl>
                                      </p:cBhvr>
                                    </p:animEffect>
                                  </p:childTnLst>
                                </p:cTn>
                              </p:par>
                              <p:par>
                                <p:cTn id="80" presetID="42" presetClass="entr" presetSubtype="0" fill="hold" grpId="0" nodeType="withEffect">
                                  <p:stCondLst>
                                    <p:cond delay="2300"/>
                                  </p:stCondLst>
                                  <p:childTnLst>
                                    <p:set>
                                      <p:cBhvr>
                                        <p:cTn id="77" dur="1" fill="hold">
                                          <p:stCondLst>
                                            <p:cond delay="0"/>
                                          </p:stCondLst>
                                        </p:cTn>
                                        <p:tgtEl>
                                          <p:spTgt spid="21"/>
                                        </p:tgtEl>
                                        <p:attrNameLst>
                                          <p:attrName>style.visibility</p:attrName>
                                        </p:attrNameLst>
                                      </p:cBhvr>
                                      <p:to>
                                        <p:strVal val="visible"/>
                                      </p:to>
                                    </p:set>
                                    <p:anim calcmode="lin" valueType="num">
                                      <p:cBhvr additive="base">
                                        <p:cTn id="78" dur="500" fill="hold"/>
                                        <p:tgtEl>
                                          <p:spTgt spid="21"/>
                                        </p:tgtEl>
                                        <p:attrNameLst>
                                          <p:attrName>ppt_y</p:attrName>
                                        </p:attrNameLst>
                                      </p:cBhvr>
                                      <p:tavLst>
                                        <p:tav tm="0">
                                          <p:val>
                                            <p:strVal val="#ppt_y+.06"/>
                                          </p:val>
                                        </p:tav>
                                        <p:tav tm="100000">
                                          <p:val>
                                            <p:strVal val="#ppt_y"/>
                                          </p:val>
                                        </p:tav>
                                      </p:tavLst>
                                    </p:anim>
                                    <p:animEffect transition="in" filter="fade">
                                      <p:cBhvr>
                                        <p:cTn id="79" dur="500"/>
                                        <p:tgtEl>
                                          <p:spTgt spid="21"/>
                                        </p:tgtEl>
                                      </p:cBhvr>
                                    </p:animEffect>
                                  </p:childTnLst>
                                </p:cTn>
                              </p:par>
                              <p:par>
                                <p:cTn id="84" presetID="42" presetClass="entr" presetSubtype="0" fill="hold" grpId="0" nodeType="withEffect">
                                  <p:stCondLst>
                                    <p:cond delay="2800"/>
                                  </p:stCondLst>
                                  <p:childTnLst>
                                    <p:set>
                                      <p:cBhvr>
                                        <p:cTn id="81" dur="1" fill="hold">
                                          <p:stCondLst>
                                            <p:cond delay="0"/>
                                          </p:stCondLst>
                                        </p:cTn>
                                        <p:tgtEl>
                                          <p:spTgt spid="26"/>
                                        </p:tgtEl>
                                        <p:attrNameLst>
                                          <p:attrName>style.visibility</p:attrName>
                                        </p:attrNameLst>
                                      </p:cBhvr>
                                      <p:to>
                                        <p:strVal val="visible"/>
                                      </p:to>
                                    </p:set>
                                    <p:anim calcmode="lin" valueType="num">
                                      <p:cBhvr additive="base">
                                        <p:cTn id="82" dur="500" fill="hold"/>
                                        <p:tgtEl>
                                          <p:spTgt spid="26"/>
                                        </p:tgtEl>
                                        <p:attrNameLst>
                                          <p:attrName>ppt_y</p:attrName>
                                        </p:attrNameLst>
                                      </p:cBhvr>
                                      <p:tavLst>
                                        <p:tav tm="0">
                                          <p:val>
                                            <p:strVal val="#ppt_y+.06"/>
                                          </p:val>
                                        </p:tav>
                                        <p:tav tm="100000">
                                          <p:val>
                                            <p:strVal val="#ppt_y"/>
                                          </p:val>
                                        </p:tav>
                                      </p:tavLst>
                                    </p:anim>
                                    <p:animEffect transition="in" filter="fade">
                                      <p:cBhvr>
                                        <p:cTn id="83" dur="500"/>
                                        <p:tgtEl>
                                          <p:spTgt spid="26"/>
                                        </p:tgtEl>
                                      </p:cBhvr>
                                    </p:animEffect>
                                  </p:childTnLst>
                                </p:cTn>
                              </p:par>
                              <p:par>
                                <p:cTn id="88" presetID="42" presetClass="entr" presetSubtype="0" fill="hold" grpId="0" nodeType="withEffect">
                                  <p:stCondLst>
                                    <p:cond delay="280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ppt_y</p:attrName>
                                        </p:attrNameLst>
                                      </p:cBhvr>
                                      <p:tavLst>
                                        <p:tav tm="0">
                                          <p:val>
                                            <p:strVal val="#ppt_y+.06"/>
                                          </p:val>
                                        </p:tav>
                                        <p:tav tm="100000">
                                          <p:val>
                                            <p:strVal val="#ppt_y"/>
                                          </p:val>
                                        </p:tav>
                                      </p:tavLst>
                                    </p:anim>
                                    <p:animEffect transition="in" filter="fade">
                                      <p:cBhvr>
                                        <p:cTn id="87" dur="500"/>
                                        <p:tgtEl>
                                          <p:spTgt spid="27"/>
                                        </p:tgtEl>
                                      </p:cBhvr>
                                    </p:animEffect>
                                  </p:childTnLst>
                                </p:cTn>
                              </p:par>
                              <p:par>
                                <p:cTn id="92" presetID="42" presetClass="entr" presetSubtype="0" fill="hold" grpId="0" nodeType="withEffect">
                                  <p:stCondLst>
                                    <p:cond delay="2800"/>
                                  </p:stCondLst>
                                  <p:childTnLst>
                                    <p:set>
                                      <p:cBhvr>
                                        <p:cTn id="89" dur="1" fill="hold">
                                          <p:stCondLst>
                                            <p:cond delay="0"/>
                                          </p:stCondLst>
                                        </p:cTn>
                                        <p:tgtEl>
                                          <p:spTgt spid="28"/>
                                        </p:tgtEl>
                                        <p:attrNameLst>
                                          <p:attrName>style.visibility</p:attrName>
                                        </p:attrNameLst>
                                      </p:cBhvr>
                                      <p:to>
                                        <p:strVal val="visible"/>
                                      </p:to>
                                    </p:set>
                                    <p:anim calcmode="lin" valueType="num">
                                      <p:cBhvr additive="base">
                                        <p:cTn id="90" dur="500" fill="hold"/>
                                        <p:tgtEl>
                                          <p:spTgt spid="28"/>
                                        </p:tgtEl>
                                        <p:attrNameLst>
                                          <p:attrName>ppt_y</p:attrName>
                                        </p:attrNameLst>
                                      </p:cBhvr>
                                      <p:tavLst>
                                        <p:tav tm="0">
                                          <p:val>
                                            <p:strVal val="#ppt_y+.06"/>
                                          </p:val>
                                        </p:tav>
                                        <p:tav tm="100000">
                                          <p:val>
                                            <p:strVal val="#ppt_y"/>
                                          </p:val>
                                        </p:tav>
                                      </p:tavLst>
                                    </p:anim>
                                    <p:animEffect transition="in" filter="fade">
                                      <p:cBhvr>
                                        <p:cTn id="91" dur="500"/>
                                        <p:tgtEl>
                                          <p:spTgt spid="28"/>
                                        </p:tgtEl>
                                      </p:cBhvr>
                                    </p:animEffect>
                                  </p:childTnLst>
                                </p:cTn>
                              </p:par>
                              <p:par>
                                <p:cTn id="96" presetID="42" presetClass="entr" presetSubtype="0" fill="hold" grpId="0" nodeType="withEffect">
                                  <p:stCondLst>
                                    <p:cond delay="2800"/>
                                  </p:stCondLst>
                                  <p:childTnLst>
                                    <p:set>
                                      <p:cBhvr>
                                        <p:cTn id="93" dur="1" fill="hold">
                                          <p:stCondLst>
                                            <p:cond delay="0"/>
                                          </p:stCondLst>
                                        </p:cTn>
                                        <p:tgtEl>
                                          <p:spTgt spid="29"/>
                                        </p:tgtEl>
                                        <p:attrNameLst>
                                          <p:attrName>style.visibility</p:attrName>
                                        </p:attrNameLst>
                                      </p:cBhvr>
                                      <p:to>
                                        <p:strVal val="visible"/>
                                      </p:to>
                                    </p:set>
                                    <p:anim calcmode="lin" valueType="num">
                                      <p:cBhvr additive="base">
                                        <p:cTn id="94" dur="500" fill="hold"/>
                                        <p:tgtEl>
                                          <p:spTgt spid="29"/>
                                        </p:tgtEl>
                                        <p:attrNameLst>
                                          <p:attrName>ppt_y</p:attrName>
                                        </p:attrNameLst>
                                      </p:cBhvr>
                                      <p:tavLst>
                                        <p:tav tm="0">
                                          <p:val>
                                            <p:strVal val="#ppt_y+.06"/>
                                          </p:val>
                                        </p:tav>
                                        <p:tav tm="100000">
                                          <p:val>
                                            <p:strVal val="#ppt_y"/>
                                          </p:val>
                                        </p:tav>
                                      </p:tavLst>
                                    </p:anim>
                                    <p:animEffect transition="in" filter="fade">
                                      <p:cBhvr>
                                        <p:cTn id="95" dur="500"/>
                                        <p:tgtEl>
                                          <p:spTgt spid="29"/>
                                        </p:tgtEl>
                                      </p:cBhvr>
                                    </p:animEffect>
                                  </p:childTnLst>
                                </p:cTn>
                              </p:par>
                              <p:par>
                                <p:cTn id="100" presetID="42" presetClass="entr" presetSubtype="0" fill="hold" grpId="0" nodeType="withEffect">
                                  <p:stCondLst>
                                    <p:cond delay="3100"/>
                                  </p:stCondLst>
                                  <p:childTnLst>
                                    <p:set>
                                      <p:cBhvr>
                                        <p:cTn id="97" dur="1" fill="hold">
                                          <p:stCondLst>
                                            <p:cond delay="0"/>
                                          </p:stCondLst>
                                        </p:cTn>
                                        <p:tgtEl>
                                          <p:spTgt spid="30"/>
                                        </p:tgtEl>
                                        <p:attrNameLst>
                                          <p:attrName>style.visibility</p:attrName>
                                        </p:attrNameLst>
                                      </p:cBhvr>
                                      <p:to>
                                        <p:strVal val="visible"/>
                                      </p:to>
                                    </p:set>
                                    <p:anim calcmode="lin" valueType="num">
                                      <p:cBhvr additive="base">
                                        <p:cTn id="98" dur="450" fill="hold"/>
                                        <p:tgtEl>
                                          <p:spTgt spid="30"/>
                                        </p:tgtEl>
                                        <p:attrNameLst>
                                          <p:attrName>ppt_y</p:attrName>
                                        </p:attrNameLst>
                                      </p:cBhvr>
                                      <p:tavLst>
                                        <p:tav tm="0">
                                          <p:val>
                                            <p:strVal val="#ppt_y+.06"/>
                                          </p:val>
                                        </p:tav>
                                        <p:tav tm="100000">
                                          <p:val>
                                            <p:strVal val="#ppt_y"/>
                                          </p:val>
                                        </p:tav>
                                      </p:tavLst>
                                    </p:anim>
                                    <p:animEffect transition="in" filter="fade">
                                      <p:cBhvr>
                                        <p:cTn id="99" dur="450"/>
                                        <p:tgtEl>
                                          <p:spTgt spid="30"/>
                                        </p:tgtEl>
                                      </p:cBhvr>
                                    </p:animEffect>
                                  </p:childTnLst>
                                </p:cTn>
                              </p:par>
                              <p:par>
                                <p:cTn id="104" presetID="42" presetClass="entr" presetSubtype="0" fill="hold" grpId="0" nodeType="withEffect">
                                  <p:stCondLst>
                                    <p:cond delay="3100"/>
                                  </p:stCondLst>
                                  <p:childTnLst>
                                    <p:set>
                                      <p:cBhvr>
                                        <p:cTn id="101" dur="1" fill="hold">
                                          <p:stCondLst>
                                            <p:cond delay="0"/>
                                          </p:stCondLst>
                                        </p:cTn>
                                        <p:tgtEl>
                                          <p:spTgt spid="31"/>
                                        </p:tgtEl>
                                        <p:attrNameLst>
                                          <p:attrName>style.visibility</p:attrName>
                                        </p:attrNameLst>
                                      </p:cBhvr>
                                      <p:to>
                                        <p:strVal val="visible"/>
                                      </p:to>
                                    </p:set>
                                    <p:anim calcmode="lin" valueType="num">
                                      <p:cBhvr additive="base">
                                        <p:cTn id="102" dur="450" fill="hold"/>
                                        <p:tgtEl>
                                          <p:spTgt spid="31"/>
                                        </p:tgtEl>
                                        <p:attrNameLst>
                                          <p:attrName>ppt_y</p:attrName>
                                        </p:attrNameLst>
                                      </p:cBhvr>
                                      <p:tavLst>
                                        <p:tav tm="0">
                                          <p:val>
                                            <p:strVal val="#ppt_y+.06"/>
                                          </p:val>
                                        </p:tav>
                                        <p:tav tm="100000">
                                          <p:val>
                                            <p:strVal val="#ppt_y"/>
                                          </p:val>
                                        </p:tav>
                                      </p:tavLst>
                                    </p:anim>
                                    <p:animEffect transition="in" filter="fade">
                                      <p:cBhvr>
                                        <p:cTn id="103" dur="450"/>
                                        <p:tgtEl>
                                          <p:spTgt spid="31"/>
                                        </p:tgtEl>
                                      </p:cBhvr>
                                    </p:animEffect>
                                  </p:childTnLst>
                                </p:cTn>
                              </p:par>
                              <p:par>
                                <p:cTn id="108" presetID="42" presetClass="entr" presetSubtype="0" fill="hold" grpId="0" nodeType="withEffect">
                                  <p:stCondLst>
                                    <p:cond delay="3100"/>
                                  </p:stCondLst>
                                  <p:childTnLst>
                                    <p:set>
                                      <p:cBhvr>
                                        <p:cTn id="105" dur="1" fill="hold">
                                          <p:stCondLst>
                                            <p:cond delay="0"/>
                                          </p:stCondLst>
                                        </p:cTn>
                                        <p:tgtEl>
                                          <p:spTgt spid="32"/>
                                        </p:tgtEl>
                                        <p:attrNameLst>
                                          <p:attrName>style.visibility</p:attrName>
                                        </p:attrNameLst>
                                      </p:cBhvr>
                                      <p:to>
                                        <p:strVal val="visible"/>
                                      </p:to>
                                    </p:set>
                                    <p:anim calcmode="lin" valueType="num">
                                      <p:cBhvr additive="base">
                                        <p:cTn id="106" dur="450" fill="hold"/>
                                        <p:tgtEl>
                                          <p:spTgt spid="32"/>
                                        </p:tgtEl>
                                        <p:attrNameLst>
                                          <p:attrName>ppt_y</p:attrName>
                                        </p:attrNameLst>
                                      </p:cBhvr>
                                      <p:tavLst>
                                        <p:tav tm="0">
                                          <p:val>
                                            <p:strVal val="#ppt_y+.06"/>
                                          </p:val>
                                        </p:tav>
                                        <p:tav tm="100000">
                                          <p:val>
                                            <p:strVal val="#ppt_y"/>
                                          </p:val>
                                        </p:tav>
                                      </p:tavLst>
                                    </p:anim>
                                    <p:animEffect transition="in" filter="fade">
                                      <p:cBhvr>
                                        <p:cTn id="107" dur="450"/>
                                        <p:tgtEl>
                                          <p:spTgt spid="32"/>
                                        </p:tgtEl>
                                      </p:cBhvr>
                                    </p:animEffect>
                                  </p:childTnLst>
                                </p:cTn>
                              </p:par>
                              <p:par>
                                <p:cTn id="112" presetID="42" presetClass="entr" presetSubtype="0" fill="hold" grpId="0" nodeType="withEffect">
                                  <p:stCondLst>
                                    <p:cond delay="3230"/>
                                  </p:stCondLst>
                                  <p:childTnLst>
                                    <p:set>
                                      <p:cBhvr>
                                        <p:cTn id="109" dur="1" fill="hold">
                                          <p:stCondLst>
                                            <p:cond delay="0"/>
                                          </p:stCondLst>
                                        </p:cTn>
                                        <p:tgtEl>
                                          <p:spTgt spid="33"/>
                                        </p:tgtEl>
                                        <p:attrNameLst>
                                          <p:attrName>style.visibility</p:attrName>
                                        </p:attrNameLst>
                                      </p:cBhvr>
                                      <p:to>
                                        <p:strVal val="visible"/>
                                      </p:to>
                                    </p:set>
                                    <p:anim calcmode="lin" valueType="num">
                                      <p:cBhvr additive="base">
                                        <p:cTn id="110" dur="450" fill="hold"/>
                                        <p:tgtEl>
                                          <p:spTgt spid="33"/>
                                        </p:tgtEl>
                                        <p:attrNameLst>
                                          <p:attrName>ppt_y</p:attrName>
                                        </p:attrNameLst>
                                      </p:cBhvr>
                                      <p:tavLst>
                                        <p:tav tm="0">
                                          <p:val>
                                            <p:strVal val="#ppt_y+.06"/>
                                          </p:val>
                                        </p:tav>
                                        <p:tav tm="100000">
                                          <p:val>
                                            <p:strVal val="#ppt_y"/>
                                          </p:val>
                                        </p:tav>
                                      </p:tavLst>
                                    </p:anim>
                                    <p:animEffect transition="in" filter="fade">
                                      <p:cBhvr>
                                        <p:cTn id="111" dur="450"/>
                                        <p:tgtEl>
                                          <p:spTgt spid="33"/>
                                        </p:tgtEl>
                                      </p:cBhvr>
                                    </p:animEffect>
                                  </p:childTnLst>
                                </p:cTn>
                              </p:par>
                              <p:par>
                                <p:cTn id="116" presetID="42" presetClass="entr" presetSubtype="0" fill="hold" grpId="0" nodeType="withEffect">
                                  <p:stCondLst>
                                    <p:cond delay="3230"/>
                                  </p:stCondLst>
                                  <p:childTnLst>
                                    <p:set>
                                      <p:cBhvr>
                                        <p:cTn id="113" dur="1" fill="hold">
                                          <p:stCondLst>
                                            <p:cond delay="0"/>
                                          </p:stCondLst>
                                        </p:cTn>
                                        <p:tgtEl>
                                          <p:spTgt spid="34"/>
                                        </p:tgtEl>
                                        <p:attrNameLst>
                                          <p:attrName>style.visibility</p:attrName>
                                        </p:attrNameLst>
                                      </p:cBhvr>
                                      <p:to>
                                        <p:strVal val="visible"/>
                                      </p:to>
                                    </p:set>
                                    <p:anim calcmode="lin" valueType="num">
                                      <p:cBhvr additive="base">
                                        <p:cTn id="114" dur="450" fill="hold"/>
                                        <p:tgtEl>
                                          <p:spTgt spid="34"/>
                                        </p:tgtEl>
                                        <p:attrNameLst>
                                          <p:attrName>ppt_y</p:attrName>
                                        </p:attrNameLst>
                                      </p:cBhvr>
                                      <p:tavLst>
                                        <p:tav tm="0">
                                          <p:val>
                                            <p:strVal val="#ppt_y+.06"/>
                                          </p:val>
                                        </p:tav>
                                        <p:tav tm="100000">
                                          <p:val>
                                            <p:strVal val="#ppt_y"/>
                                          </p:val>
                                        </p:tav>
                                      </p:tavLst>
                                    </p:anim>
                                    <p:animEffect transition="in" filter="fade">
                                      <p:cBhvr>
                                        <p:cTn id="115" dur="450"/>
                                        <p:tgtEl>
                                          <p:spTgt spid="34"/>
                                        </p:tgtEl>
                                      </p:cBhvr>
                                    </p:animEffect>
                                  </p:childTnLst>
                                </p:cTn>
                              </p:par>
                              <p:par>
                                <p:cTn id="120" presetID="42" presetClass="entr" presetSubtype="0" fill="hold" grpId="0" nodeType="withEffect">
                                  <p:stCondLst>
                                    <p:cond delay="3230"/>
                                  </p:stCondLst>
                                  <p:childTnLst>
                                    <p:set>
                                      <p:cBhvr>
                                        <p:cTn id="117" dur="1" fill="hold">
                                          <p:stCondLst>
                                            <p:cond delay="0"/>
                                          </p:stCondLst>
                                        </p:cTn>
                                        <p:tgtEl>
                                          <p:spTgt spid="35"/>
                                        </p:tgtEl>
                                        <p:attrNameLst>
                                          <p:attrName>style.visibility</p:attrName>
                                        </p:attrNameLst>
                                      </p:cBhvr>
                                      <p:to>
                                        <p:strVal val="visible"/>
                                      </p:to>
                                    </p:set>
                                    <p:anim calcmode="lin" valueType="num">
                                      <p:cBhvr additive="base">
                                        <p:cTn id="118" dur="450" fill="hold"/>
                                        <p:tgtEl>
                                          <p:spTgt spid="35"/>
                                        </p:tgtEl>
                                        <p:attrNameLst>
                                          <p:attrName>ppt_y</p:attrName>
                                        </p:attrNameLst>
                                      </p:cBhvr>
                                      <p:tavLst>
                                        <p:tav tm="0">
                                          <p:val>
                                            <p:strVal val="#ppt_y+.06"/>
                                          </p:val>
                                        </p:tav>
                                        <p:tav tm="100000">
                                          <p:val>
                                            <p:strVal val="#ppt_y"/>
                                          </p:val>
                                        </p:tav>
                                      </p:tavLst>
                                    </p:anim>
                                    <p:animEffect transition="in" filter="fade">
                                      <p:cBhvr>
                                        <p:cTn id="119" dur="450"/>
                                        <p:tgtEl>
                                          <p:spTgt spid="35"/>
                                        </p:tgtEl>
                                      </p:cBhvr>
                                    </p:animEffect>
                                  </p:childTnLst>
                                </p:cTn>
                              </p:par>
                              <p:par>
                                <p:cTn id="124" presetID="42" presetClass="entr" presetSubtype="0" fill="hold" grpId="0" nodeType="withEffect">
                                  <p:stCondLst>
                                    <p:cond delay="3360"/>
                                  </p:stCondLst>
                                  <p:childTnLst>
                                    <p:set>
                                      <p:cBhvr>
                                        <p:cTn id="121" dur="1" fill="hold">
                                          <p:stCondLst>
                                            <p:cond delay="0"/>
                                          </p:stCondLst>
                                        </p:cTn>
                                        <p:tgtEl>
                                          <p:spTgt spid="36"/>
                                        </p:tgtEl>
                                        <p:attrNameLst>
                                          <p:attrName>style.visibility</p:attrName>
                                        </p:attrNameLst>
                                      </p:cBhvr>
                                      <p:to>
                                        <p:strVal val="visible"/>
                                      </p:to>
                                    </p:set>
                                    <p:anim calcmode="lin" valueType="num">
                                      <p:cBhvr additive="base">
                                        <p:cTn id="122" dur="450" fill="hold"/>
                                        <p:tgtEl>
                                          <p:spTgt spid="36"/>
                                        </p:tgtEl>
                                        <p:attrNameLst>
                                          <p:attrName>ppt_y</p:attrName>
                                        </p:attrNameLst>
                                      </p:cBhvr>
                                      <p:tavLst>
                                        <p:tav tm="0">
                                          <p:val>
                                            <p:strVal val="#ppt_y+.06"/>
                                          </p:val>
                                        </p:tav>
                                        <p:tav tm="100000">
                                          <p:val>
                                            <p:strVal val="#ppt_y"/>
                                          </p:val>
                                        </p:tav>
                                      </p:tavLst>
                                    </p:anim>
                                    <p:animEffect transition="in" filter="fade">
                                      <p:cBhvr>
                                        <p:cTn id="123" dur="450"/>
                                        <p:tgtEl>
                                          <p:spTgt spid="36"/>
                                        </p:tgtEl>
                                      </p:cBhvr>
                                    </p:animEffect>
                                  </p:childTnLst>
                                </p:cTn>
                              </p:par>
                              <p:par>
                                <p:cTn id="128" presetID="42" presetClass="entr" presetSubtype="0" fill="hold" grpId="0" nodeType="withEffect">
                                  <p:stCondLst>
                                    <p:cond delay="3360"/>
                                  </p:stCondLst>
                                  <p:childTnLst>
                                    <p:set>
                                      <p:cBhvr>
                                        <p:cTn id="125" dur="1" fill="hold">
                                          <p:stCondLst>
                                            <p:cond delay="0"/>
                                          </p:stCondLst>
                                        </p:cTn>
                                        <p:tgtEl>
                                          <p:spTgt spid="37"/>
                                        </p:tgtEl>
                                        <p:attrNameLst>
                                          <p:attrName>style.visibility</p:attrName>
                                        </p:attrNameLst>
                                      </p:cBhvr>
                                      <p:to>
                                        <p:strVal val="visible"/>
                                      </p:to>
                                    </p:set>
                                    <p:anim calcmode="lin" valueType="num">
                                      <p:cBhvr additive="base">
                                        <p:cTn id="126" dur="450" fill="hold"/>
                                        <p:tgtEl>
                                          <p:spTgt spid="37"/>
                                        </p:tgtEl>
                                        <p:attrNameLst>
                                          <p:attrName>ppt_y</p:attrName>
                                        </p:attrNameLst>
                                      </p:cBhvr>
                                      <p:tavLst>
                                        <p:tav tm="0">
                                          <p:val>
                                            <p:strVal val="#ppt_y+.06"/>
                                          </p:val>
                                        </p:tav>
                                        <p:tav tm="100000">
                                          <p:val>
                                            <p:strVal val="#ppt_y"/>
                                          </p:val>
                                        </p:tav>
                                      </p:tavLst>
                                    </p:anim>
                                    <p:animEffect transition="in" filter="fade">
                                      <p:cBhvr>
                                        <p:cTn id="127" dur="450"/>
                                        <p:tgtEl>
                                          <p:spTgt spid="37"/>
                                        </p:tgtEl>
                                      </p:cBhvr>
                                    </p:animEffect>
                                  </p:childTnLst>
                                </p:cTn>
                              </p:par>
                              <p:par>
                                <p:cTn id="132" presetID="42" presetClass="entr" presetSubtype="0" fill="hold" grpId="0" nodeType="withEffect">
                                  <p:stCondLst>
                                    <p:cond delay="3360"/>
                                  </p:stCondLst>
                                  <p:childTnLst>
                                    <p:set>
                                      <p:cBhvr>
                                        <p:cTn id="129" dur="1" fill="hold">
                                          <p:stCondLst>
                                            <p:cond delay="0"/>
                                          </p:stCondLst>
                                        </p:cTn>
                                        <p:tgtEl>
                                          <p:spTgt spid="38"/>
                                        </p:tgtEl>
                                        <p:attrNameLst>
                                          <p:attrName>style.visibility</p:attrName>
                                        </p:attrNameLst>
                                      </p:cBhvr>
                                      <p:to>
                                        <p:strVal val="visible"/>
                                      </p:to>
                                    </p:set>
                                    <p:anim calcmode="lin" valueType="num">
                                      <p:cBhvr additive="base">
                                        <p:cTn id="130" dur="450" fill="hold"/>
                                        <p:tgtEl>
                                          <p:spTgt spid="38"/>
                                        </p:tgtEl>
                                        <p:attrNameLst>
                                          <p:attrName>ppt_y</p:attrName>
                                        </p:attrNameLst>
                                      </p:cBhvr>
                                      <p:tavLst>
                                        <p:tav tm="0">
                                          <p:val>
                                            <p:strVal val="#ppt_y+.06"/>
                                          </p:val>
                                        </p:tav>
                                        <p:tav tm="100000">
                                          <p:val>
                                            <p:strVal val="#ppt_y"/>
                                          </p:val>
                                        </p:tav>
                                      </p:tavLst>
                                    </p:anim>
                                    <p:animEffect transition="in" filter="fade">
                                      <p:cBhvr>
                                        <p:cTn id="131" dur="450"/>
                                        <p:tgtEl>
                                          <p:spTgt spid="38"/>
                                        </p:tgtEl>
                                      </p:cBhvr>
                                    </p:animEffect>
                                  </p:childTnLst>
                                </p:cTn>
                              </p:par>
                              <p:par>
                                <p:cTn id="136" presetID="42" presetClass="entr" presetSubtype="0" fill="hold" grpId="0" nodeType="withEffect">
                                  <p:stCondLst>
                                    <p:cond delay="3490"/>
                                  </p:stCondLst>
                                  <p:childTnLst>
                                    <p:set>
                                      <p:cBhvr>
                                        <p:cTn id="133" dur="1" fill="hold">
                                          <p:stCondLst>
                                            <p:cond delay="0"/>
                                          </p:stCondLst>
                                        </p:cTn>
                                        <p:tgtEl>
                                          <p:spTgt spid="39"/>
                                        </p:tgtEl>
                                        <p:attrNameLst>
                                          <p:attrName>style.visibility</p:attrName>
                                        </p:attrNameLst>
                                      </p:cBhvr>
                                      <p:to>
                                        <p:strVal val="visible"/>
                                      </p:to>
                                    </p:set>
                                    <p:anim calcmode="lin" valueType="num">
                                      <p:cBhvr additive="base">
                                        <p:cTn id="134" dur="450" fill="hold"/>
                                        <p:tgtEl>
                                          <p:spTgt spid="39"/>
                                        </p:tgtEl>
                                        <p:attrNameLst>
                                          <p:attrName>ppt_y</p:attrName>
                                        </p:attrNameLst>
                                      </p:cBhvr>
                                      <p:tavLst>
                                        <p:tav tm="0">
                                          <p:val>
                                            <p:strVal val="#ppt_y+.06"/>
                                          </p:val>
                                        </p:tav>
                                        <p:tav tm="100000">
                                          <p:val>
                                            <p:strVal val="#ppt_y"/>
                                          </p:val>
                                        </p:tav>
                                      </p:tavLst>
                                    </p:anim>
                                    <p:animEffect transition="in" filter="fade">
                                      <p:cBhvr>
                                        <p:cTn id="135" dur="450"/>
                                        <p:tgtEl>
                                          <p:spTgt spid="39"/>
                                        </p:tgtEl>
                                      </p:cBhvr>
                                    </p:animEffect>
                                  </p:childTnLst>
                                </p:cTn>
                              </p:par>
                              <p:par>
                                <p:cTn id="140" presetID="42" presetClass="entr" presetSubtype="0" fill="hold" grpId="0" nodeType="withEffect">
                                  <p:stCondLst>
                                    <p:cond delay="3490"/>
                                  </p:stCondLst>
                                  <p:childTnLst>
                                    <p:set>
                                      <p:cBhvr>
                                        <p:cTn id="137" dur="1" fill="hold">
                                          <p:stCondLst>
                                            <p:cond delay="0"/>
                                          </p:stCondLst>
                                        </p:cTn>
                                        <p:tgtEl>
                                          <p:spTgt spid="40"/>
                                        </p:tgtEl>
                                        <p:attrNameLst>
                                          <p:attrName>style.visibility</p:attrName>
                                        </p:attrNameLst>
                                      </p:cBhvr>
                                      <p:to>
                                        <p:strVal val="visible"/>
                                      </p:to>
                                    </p:set>
                                    <p:anim calcmode="lin" valueType="num">
                                      <p:cBhvr additive="base">
                                        <p:cTn id="138" dur="450" fill="hold"/>
                                        <p:tgtEl>
                                          <p:spTgt spid="40"/>
                                        </p:tgtEl>
                                        <p:attrNameLst>
                                          <p:attrName>ppt_y</p:attrName>
                                        </p:attrNameLst>
                                      </p:cBhvr>
                                      <p:tavLst>
                                        <p:tav tm="0">
                                          <p:val>
                                            <p:strVal val="#ppt_y+.06"/>
                                          </p:val>
                                        </p:tav>
                                        <p:tav tm="100000">
                                          <p:val>
                                            <p:strVal val="#ppt_y"/>
                                          </p:val>
                                        </p:tav>
                                      </p:tavLst>
                                    </p:anim>
                                    <p:animEffect transition="in" filter="fade">
                                      <p:cBhvr>
                                        <p:cTn id="139" dur="450"/>
                                        <p:tgtEl>
                                          <p:spTgt spid="40"/>
                                        </p:tgtEl>
                                      </p:cBhvr>
                                    </p:animEffect>
                                  </p:childTnLst>
                                </p:cTn>
                              </p:par>
                              <p:par>
                                <p:cTn id="144" presetID="42" presetClass="entr" presetSubtype="0" fill="hold" grpId="0" nodeType="withEffect">
                                  <p:stCondLst>
                                    <p:cond delay="3490"/>
                                  </p:stCondLst>
                                  <p:childTnLst>
                                    <p:set>
                                      <p:cBhvr>
                                        <p:cTn id="141" dur="1" fill="hold">
                                          <p:stCondLst>
                                            <p:cond delay="0"/>
                                          </p:stCondLst>
                                        </p:cTn>
                                        <p:tgtEl>
                                          <p:spTgt spid="41"/>
                                        </p:tgtEl>
                                        <p:attrNameLst>
                                          <p:attrName>style.visibility</p:attrName>
                                        </p:attrNameLst>
                                      </p:cBhvr>
                                      <p:to>
                                        <p:strVal val="visible"/>
                                      </p:to>
                                    </p:set>
                                    <p:anim calcmode="lin" valueType="num">
                                      <p:cBhvr additive="base">
                                        <p:cTn id="142" dur="450" fill="hold"/>
                                        <p:tgtEl>
                                          <p:spTgt spid="41"/>
                                        </p:tgtEl>
                                        <p:attrNameLst>
                                          <p:attrName>ppt_y</p:attrName>
                                        </p:attrNameLst>
                                      </p:cBhvr>
                                      <p:tavLst>
                                        <p:tav tm="0">
                                          <p:val>
                                            <p:strVal val="#ppt_y+.06"/>
                                          </p:val>
                                        </p:tav>
                                        <p:tav tm="100000">
                                          <p:val>
                                            <p:strVal val="#ppt_y"/>
                                          </p:val>
                                        </p:tav>
                                      </p:tavLst>
                                    </p:anim>
                                    <p:animEffect transition="in" filter="fade">
                                      <p:cBhvr>
                                        <p:cTn id="143" dur="450"/>
                                        <p:tgtEl>
                                          <p:spTgt spid="41"/>
                                        </p:tgtEl>
                                      </p:cBhvr>
                                    </p:animEffect>
                                  </p:childTnLst>
                                </p:cTn>
                              </p:par>
                              <p:par>
                                <p:cTn id="148" presetID="42" presetClass="entr" presetSubtype="0" fill="hold" grpId="0" nodeType="withEffect">
                                  <p:stCondLst>
                                    <p:cond delay="3500"/>
                                  </p:stCondLst>
                                  <p:childTnLst>
                                    <p:set>
                                      <p:cBhvr>
                                        <p:cTn id="145" dur="1" fill="hold">
                                          <p:stCondLst>
                                            <p:cond delay="0"/>
                                          </p:stCondLst>
                                        </p:cTn>
                                        <p:tgtEl>
                                          <p:spTgt spid="22"/>
                                        </p:tgtEl>
                                        <p:attrNameLst>
                                          <p:attrName>style.visibility</p:attrName>
                                        </p:attrNameLst>
                                      </p:cBhvr>
                                      <p:to>
                                        <p:strVal val="visible"/>
                                      </p:to>
                                    </p:set>
                                    <p:anim calcmode="lin" valueType="num">
                                      <p:cBhvr additive="base">
                                        <p:cTn id="146" dur="500" fill="hold"/>
                                        <p:tgtEl>
                                          <p:spTgt spid="22"/>
                                        </p:tgtEl>
                                        <p:attrNameLst>
                                          <p:attrName>ppt_y</p:attrName>
                                        </p:attrNameLst>
                                      </p:cBhvr>
                                      <p:tavLst>
                                        <p:tav tm="0">
                                          <p:val>
                                            <p:strVal val="#ppt_y+.06"/>
                                          </p:val>
                                        </p:tav>
                                        <p:tav tm="100000">
                                          <p:val>
                                            <p:strVal val="#ppt_y"/>
                                          </p:val>
                                        </p:tav>
                                      </p:tavLst>
                                    </p:anim>
                                    <p:animEffect transition="in" filter="fade">
                                      <p:cBhvr>
                                        <p:cTn id="147" dur="500"/>
                                        <p:tgtEl>
                                          <p:spTgt spid="22"/>
                                        </p:tgtEl>
                                      </p:cBhvr>
                                    </p:animEffect>
                                  </p:childTnLst>
                                </p:cTn>
                              </p:par>
                              <p:par>
                                <p:cTn id="152" presetID="42" presetClass="entr" presetSubtype="0" fill="hold" grpId="0" nodeType="withEffect">
                                  <p:stCondLst>
                                    <p:cond delay="3500"/>
                                  </p:stCondLst>
                                  <p:childTnLst>
                                    <p:set>
                                      <p:cBhvr>
                                        <p:cTn id="149" dur="1" fill="hold">
                                          <p:stCondLst>
                                            <p:cond delay="0"/>
                                          </p:stCondLst>
                                        </p:cTn>
                                        <p:tgtEl>
                                          <p:spTgt spid="23"/>
                                        </p:tgtEl>
                                        <p:attrNameLst>
                                          <p:attrName>style.visibility</p:attrName>
                                        </p:attrNameLst>
                                      </p:cBhvr>
                                      <p:to>
                                        <p:strVal val="visible"/>
                                      </p:to>
                                    </p:set>
                                    <p:anim calcmode="lin" valueType="num">
                                      <p:cBhvr additive="base">
                                        <p:cTn id="150" dur="500" fill="hold"/>
                                        <p:tgtEl>
                                          <p:spTgt spid="23"/>
                                        </p:tgtEl>
                                        <p:attrNameLst>
                                          <p:attrName>ppt_y</p:attrName>
                                        </p:attrNameLst>
                                      </p:cBhvr>
                                      <p:tavLst>
                                        <p:tav tm="0">
                                          <p:val>
                                            <p:strVal val="#ppt_y+.06"/>
                                          </p:val>
                                        </p:tav>
                                        <p:tav tm="100000">
                                          <p:val>
                                            <p:strVal val="#ppt_y"/>
                                          </p:val>
                                        </p:tav>
                                      </p:tavLst>
                                    </p:anim>
                                    <p:animEffect transition="in" filter="fade">
                                      <p:cBhvr>
                                        <p:cTn id="151" dur="500"/>
                                        <p:tgtEl>
                                          <p:spTgt spid="23"/>
                                        </p:tgtEl>
                                      </p:cBhvr>
                                    </p:animEffect>
                                  </p:childTnLst>
                                </p:cTn>
                              </p:par>
                              <p:par>
                                <p:cTn id="156" presetID="42" presetClass="entr" presetSubtype="0" fill="hold" grpId="0" nodeType="withEffect">
                                  <p:stCondLst>
                                    <p:cond delay="3500"/>
                                  </p:stCondLst>
                                  <p:childTnLst>
                                    <p:set>
                                      <p:cBhvr>
                                        <p:cTn id="153" dur="1" fill="hold">
                                          <p:stCondLst>
                                            <p:cond delay="0"/>
                                          </p:stCondLst>
                                        </p:cTn>
                                        <p:tgtEl>
                                          <p:spTgt spid="24"/>
                                        </p:tgtEl>
                                        <p:attrNameLst>
                                          <p:attrName>style.visibility</p:attrName>
                                        </p:attrNameLst>
                                      </p:cBhvr>
                                      <p:to>
                                        <p:strVal val="visible"/>
                                      </p:to>
                                    </p:set>
                                    <p:anim calcmode="lin" valueType="num">
                                      <p:cBhvr additive="base">
                                        <p:cTn id="154" dur="500" fill="hold"/>
                                        <p:tgtEl>
                                          <p:spTgt spid="24"/>
                                        </p:tgtEl>
                                        <p:attrNameLst>
                                          <p:attrName>ppt_y</p:attrName>
                                        </p:attrNameLst>
                                      </p:cBhvr>
                                      <p:tavLst>
                                        <p:tav tm="0">
                                          <p:val>
                                            <p:strVal val="#ppt_y+.06"/>
                                          </p:val>
                                        </p:tav>
                                        <p:tav tm="100000">
                                          <p:val>
                                            <p:strVal val="#ppt_y"/>
                                          </p:val>
                                        </p:tav>
                                      </p:tavLst>
                                    </p:anim>
                                    <p:animEffect transition="in" filter="fade">
                                      <p:cBhvr>
                                        <p:cTn id="155" dur="500"/>
                                        <p:tgtEl>
                                          <p:spTgt spid="24"/>
                                        </p:tgtEl>
                                      </p:cBhvr>
                                    </p:animEffect>
                                  </p:childTnLst>
                                </p:cTn>
                              </p:par>
                              <p:par>
                                <p:cTn id="160" presetID="42" presetClass="entr" presetSubtype="0" fill="hold" grpId="0" nodeType="withEffect">
                                  <p:stCondLst>
                                    <p:cond delay="3500"/>
                                  </p:stCondLst>
                                  <p:childTnLst>
                                    <p:set>
                                      <p:cBhvr>
                                        <p:cTn id="157" dur="1" fill="hold">
                                          <p:stCondLst>
                                            <p:cond delay="0"/>
                                          </p:stCondLst>
                                        </p:cTn>
                                        <p:tgtEl>
                                          <p:spTgt spid="25"/>
                                        </p:tgtEl>
                                        <p:attrNameLst>
                                          <p:attrName>style.visibility</p:attrName>
                                        </p:attrNameLst>
                                      </p:cBhvr>
                                      <p:to>
                                        <p:strVal val="visible"/>
                                      </p:to>
                                    </p:set>
                                    <p:anim calcmode="lin" valueType="num">
                                      <p:cBhvr additive="base">
                                        <p:cTn id="158" dur="500" fill="hold"/>
                                        <p:tgtEl>
                                          <p:spTgt spid="25"/>
                                        </p:tgtEl>
                                        <p:attrNameLst>
                                          <p:attrName>ppt_y</p:attrName>
                                        </p:attrNameLst>
                                      </p:cBhvr>
                                      <p:tavLst>
                                        <p:tav tm="0">
                                          <p:val>
                                            <p:strVal val="#ppt_y+.06"/>
                                          </p:val>
                                        </p:tav>
                                        <p:tav tm="100000">
                                          <p:val>
                                            <p:strVal val="#ppt_y"/>
                                          </p:val>
                                        </p:tav>
                                      </p:tavLst>
                                    </p:anim>
                                    <p:animEffect transition="in" filter="fade">
                                      <p:cBhvr>
                                        <p:cTn id="159" dur="500"/>
                                        <p:tgtEl>
                                          <p:spTgt spid="25"/>
                                        </p:tgtEl>
                                      </p:cBhvr>
                                    </p:animEffect>
                                  </p:childTnLst>
                                </p:cTn>
                              </p:par>
                              <p:par>
                                <p:cTn id="163" presetID="10" presetClass="entr" presetSubtype="0" fill="hold" grpId="0" nodeType="withEffect">
                                  <p:stCondLst>
                                    <p:cond delay="3500"/>
                                  </p:stCondLst>
                                  <p:childTnLst>
                                    <p:set>
                                      <p:cBhvr>
                                        <p:cTn id="161" dur="1" fill="hold">
                                          <p:stCondLst>
                                            <p:cond delay="0"/>
                                          </p:stCondLst>
                                        </p:cTn>
                                        <p:tgtEl>
                                          <p:spTgt spid="13"/>
                                        </p:tgtEl>
                                        <p:attrNameLst>
                                          <p:attrName>style.visibility</p:attrName>
                                        </p:attrNameLst>
                                      </p:cBhvr>
                                      <p:to>
                                        <p:strVal val="visible"/>
                                      </p:to>
                                    </p:set>
                                    <p:animEffect transition="in" filter="fade">
                                      <p:cBhvr>
                                        <p:cTn id="162" dur="500"/>
                                        <p:tgtEl>
                                          <p:spTgt spid="13"/>
                                        </p:tgtEl>
                                      </p:cBhvr>
                                    </p:animEffect>
                                  </p:childTnLst>
                                </p:cTn>
                              </p:par>
                              <p:par>
                                <p:cTn id="166" presetID="10" presetClass="entr" presetSubtype="0" fill="hold" grpId="0" nodeType="withEffect">
                                  <p:stCondLst>
                                    <p:cond delay="3500"/>
                                  </p:stCondLst>
                                  <p:childTnLst>
                                    <p:set>
                                      <p:cBhvr>
                                        <p:cTn id="164" dur="1" fill="hold">
                                          <p:stCondLst>
                                            <p:cond delay="0"/>
                                          </p:stCondLst>
                                        </p:cTn>
                                        <p:tgtEl>
                                          <p:spTgt spid="14"/>
                                        </p:tgtEl>
                                        <p:attrNameLst>
                                          <p:attrName>style.visibility</p:attrName>
                                        </p:attrNameLst>
                                      </p:cBhvr>
                                      <p:to>
                                        <p:strVal val="visible"/>
                                      </p:to>
                                    </p:set>
                                    <p:animEffect transition="in" filter="fade">
                                      <p:cBhvr>
                                        <p:cTn id="165" dur="500"/>
                                        <p:tgtEl>
                                          <p:spTgt spid="14"/>
                                        </p:tgtEl>
                                      </p:cBhvr>
                                    </p:animEffect>
                                  </p:childTnLst>
                                </p:cTn>
                              </p:par>
                              <p:par>
                                <p:cTn id="169" presetID="10" presetClass="entr" presetSubtype="0" fill="hold" grpId="0" nodeType="withEffect">
                                  <p:stCondLst>
                                    <p:cond delay="3500"/>
                                  </p:stCondLst>
                                  <p:childTnLst>
                                    <p:set>
                                      <p:cBhvr>
                                        <p:cTn id="167" dur="1" fill="hold">
                                          <p:stCondLst>
                                            <p:cond delay="0"/>
                                          </p:stCondLst>
                                        </p:cTn>
                                        <p:tgtEl>
                                          <p:spTgt spid="17"/>
                                        </p:tgtEl>
                                        <p:attrNameLst>
                                          <p:attrName>style.visibility</p:attrName>
                                        </p:attrNameLst>
                                      </p:cBhvr>
                                      <p:to>
                                        <p:strVal val="visible"/>
                                      </p:to>
                                    </p:set>
                                    <p:animEffect transition="in" filter="fade">
                                      <p:cBhvr>
                                        <p:cTn id="168" dur="500"/>
                                        <p:tgtEl>
                                          <p:spTgt spid="17"/>
                                        </p:tgtEl>
                                      </p:cBhvr>
                                    </p:animEffect>
                                  </p:childTnLst>
                                </p:cTn>
                              </p:par>
                              <p:par>
                                <p:cTn id="173" presetID="42" presetClass="entr" presetSubtype="0" fill="hold" grpId="0" nodeType="withEffect">
                                  <p:stCondLst>
                                    <p:cond delay="3620"/>
                                  </p:stCondLst>
                                  <p:childTnLst>
                                    <p:set>
                                      <p:cBhvr>
                                        <p:cTn id="170" dur="1" fill="hold">
                                          <p:stCondLst>
                                            <p:cond delay="0"/>
                                          </p:stCondLst>
                                        </p:cTn>
                                        <p:tgtEl>
                                          <p:spTgt spid="42"/>
                                        </p:tgtEl>
                                        <p:attrNameLst>
                                          <p:attrName>style.visibility</p:attrName>
                                        </p:attrNameLst>
                                      </p:cBhvr>
                                      <p:to>
                                        <p:strVal val="visible"/>
                                      </p:to>
                                    </p:set>
                                    <p:anim calcmode="lin" valueType="num">
                                      <p:cBhvr additive="base">
                                        <p:cTn id="171" dur="450" fill="hold"/>
                                        <p:tgtEl>
                                          <p:spTgt spid="42"/>
                                        </p:tgtEl>
                                        <p:attrNameLst>
                                          <p:attrName>ppt_y</p:attrName>
                                        </p:attrNameLst>
                                      </p:cBhvr>
                                      <p:tavLst>
                                        <p:tav tm="0">
                                          <p:val>
                                            <p:strVal val="#ppt_y+.06"/>
                                          </p:val>
                                        </p:tav>
                                        <p:tav tm="100000">
                                          <p:val>
                                            <p:strVal val="#ppt_y"/>
                                          </p:val>
                                        </p:tav>
                                      </p:tavLst>
                                    </p:anim>
                                    <p:animEffect transition="in" filter="fade">
                                      <p:cBhvr>
                                        <p:cTn id="172" dur="450"/>
                                        <p:tgtEl>
                                          <p:spTgt spid="42"/>
                                        </p:tgtEl>
                                      </p:cBhvr>
                                    </p:animEffect>
                                  </p:childTnLst>
                                </p:cTn>
                              </p:par>
                              <p:par>
                                <p:cTn id="177" presetID="42" presetClass="entr" presetSubtype="0" fill="hold" grpId="0" nodeType="withEffect">
                                  <p:stCondLst>
                                    <p:cond delay="3620"/>
                                  </p:stCondLst>
                                  <p:childTnLst>
                                    <p:set>
                                      <p:cBhvr>
                                        <p:cTn id="174" dur="1" fill="hold">
                                          <p:stCondLst>
                                            <p:cond delay="0"/>
                                          </p:stCondLst>
                                        </p:cTn>
                                        <p:tgtEl>
                                          <p:spTgt spid="43"/>
                                        </p:tgtEl>
                                        <p:attrNameLst>
                                          <p:attrName>style.visibility</p:attrName>
                                        </p:attrNameLst>
                                      </p:cBhvr>
                                      <p:to>
                                        <p:strVal val="visible"/>
                                      </p:to>
                                    </p:set>
                                    <p:anim calcmode="lin" valueType="num">
                                      <p:cBhvr additive="base">
                                        <p:cTn id="175" dur="450" fill="hold"/>
                                        <p:tgtEl>
                                          <p:spTgt spid="43"/>
                                        </p:tgtEl>
                                        <p:attrNameLst>
                                          <p:attrName>ppt_y</p:attrName>
                                        </p:attrNameLst>
                                      </p:cBhvr>
                                      <p:tavLst>
                                        <p:tav tm="0">
                                          <p:val>
                                            <p:strVal val="#ppt_y+.06"/>
                                          </p:val>
                                        </p:tav>
                                        <p:tav tm="100000">
                                          <p:val>
                                            <p:strVal val="#ppt_y"/>
                                          </p:val>
                                        </p:tav>
                                      </p:tavLst>
                                    </p:anim>
                                    <p:animEffect transition="in" filter="fade">
                                      <p:cBhvr>
                                        <p:cTn id="176" dur="450"/>
                                        <p:tgtEl>
                                          <p:spTgt spid="43"/>
                                        </p:tgtEl>
                                      </p:cBhvr>
                                    </p:animEffect>
                                  </p:childTnLst>
                                </p:cTn>
                              </p:par>
                              <p:par>
                                <p:cTn id="181" presetID="42" presetClass="entr" presetSubtype="0" fill="hold" grpId="0" nodeType="withEffect">
                                  <p:stCondLst>
                                    <p:cond delay="3620"/>
                                  </p:stCondLst>
                                  <p:childTnLst>
                                    <p:set>
                                      <p:cBhvr>
                                        <p:cTn id="178" dur="1" fill="hold">
                                          <p:stCondLst>
                                            <p:cond delay="0"/>
                                          </p:stCondLst>
                                        </p:cTn>
                                        <p:tgtEl>
                                          <p:spTgt spid="44"/>
                                        </p:tgtEl>
                                        <p:attrNameLst>
                                          <p:attrName>style.visibility</p:attrName>
                                        </p:attrNameLst>
                                      </p:cBhvr>
                                      <p:to>
                                        <p:strVal val="visible"/>
                                      </p:to>
                                    </p:set>
                                    <p:anim calcmode="lin" valueType="num">
                                      <p:cBhvr additive="base">
                                        <p:cTn id="179" dur="450" fill="hold"/>
                                        <p:tgtEl>
                                          <p:spTgt spid="44"/>
                                        </p:tgtEl>
                                        <p:attrNameLst>
                                          <p:attrName>ppt_y</p:attrName>
                                        </p:attrNameLst>
                                      </p:cBhvr>
                                      <p:tavLst>
                                        <p:tav tm="0">
                                          <p:val>
                                            <p:strVal val="#ppt_y+.06"/>
                                          </p:val>
                                        </p:tav>
                                        <p:tav tm="100000">
                                          <p:val>
                                            <p:strVal val="#ppt_y"/>
                                          </p:val>
                                        </p:tav>
                                      </p:tavLst>
                                    </p:anim>
                                    <p:animEffect transition="in" filter="fade">
                                      <p:cBhvr>
                                        <p:cTn id="180" dur="45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48" grpId="0" animBg="1"/>
      <p:bldP spid="49" grpId="0" animBg="1"/>
      <p:bldP spid="50" grpId="0" animBg="1"/>
      <p:bldP spid="51" grpId="0" animBg="1"/>
      <p:bldP spid="7" grpId="0" animBg="1"/>
      <p:bldP spid="8" grpId="0" animBg="1"/>
      <p:bldP spid="9" grpId="0" animBg="1"/>
      <p:bldP spid="10" grpId="0" animBg="1"/>
      <p:bldP spid="11" grpId="0" animBg="1"/>
      <p:bldP spid="12" grpId="0" animBg="1"/>
      <p:bldP spid="16" grpId="0" animBg="1"/>
      <p:bldP spid="15" grpId="0" animBg="1"/>
      <p:bldP spid="18" grpId="0" animBg="1"/>
      <p:bldP spid="19" grpId="0" animBg="1"/>
      <p:bldP spid="20" grpId="0" animBg="1"/>
      <p:bldP spid="21"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22" grpId="0" animBg="1"/>
      <p:bldP spid="23" grpId="0" animBg="1"/>
      <p:bldP spid="24" grpId="0" animBg="1"/>
      <p:bldP spid="25" grpId="0" animBg="1"/>
      <p:bldP spid="13" grpId="0" animBg="1"/>
      <p:bldP spid="14" grpId="0" animBg="1"/>
      <p:bldP spid="17" grpId="0" animBg="1"/>
      <p:bldP spid="42" grpId="0" animBg="1"/>
      <p:bldP spid="43" grpId="0" animBg="1"/>
      <p:bldP spid="4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640080" y="457200"/>
            <a:ext cx="8229600" cy="237744"/>
          </a:xfrm>
          <a:prstGeom prst="rect">
            <a:avLst/>
          </a:prstGeom>
          <a:noFill/>
          <a:ln/>
        </p:spPr>
        <p:txBody>
          <a:bodyPr wrap="square" lIns="0" tIns="0" rIns="0" bIns="0" rtlCol="0" anchor="t"/>
          <a:lstStyle/>
          <a:p>
            <a:pPr algn="l" indent="0" marL="0">
              <a:buNone/>
            </a:pPr>
            <a:r>
              <a:rPr lang="en-US" sz="1000" spc="250" kern="0" dirty="0">
                <a:solidFill>
                  <a:schemeClr val="accent5"/>
                </a:solidFill>
                <a:latin typeface="Segoe UI Semibold" pitchFamily="34" charset="0"/>
                <a:ea typeface="Segoe UI Semibold" pitchFamily="34" charset="-122"/>
                <a:cs typeface="Segoe UI Semibold" pitchFamily="34" charset="-120"/>
              </a:rPr>
              <a:t>02  —  THE PROBLEM</a:t>
            </a:r>
            <a:endParaRPr lang="en-US" sz="1000" dirty="0"/>
          </a:p>
        </p:txBody>
      </p:sp>
      <p:sp>
        <p:nvSpPr>
          <p:cNvPr id="3" name="Text 1"/>
          <p:cNvSpPr/>
          <p:nvPr>
            <p:ph idx="103" type="title" hasCustomPrompt="1"/>
          </p:nvPr>
        </p:nvSpPr>
        <p:spPr>
          <a:xfrm>
            <a:off x="640080" y="749808"/>
            <a:ext cx="10911535" cy="1051560"/>
          </a:xfrm>
          <a:prstGeom prst="rect">
            <a:avLst/>
          </a:prstGeom>
          <a:noFill/>
          <a:ln/>
        </p:spPr>
        <p:txBody>
          <a:bodyPr wrap="square" lIns="0" tIns="0" rIns="0" bIns="0" rtlCol="0" anchor="t"/>
          <a:lstStyle/>
          <a:p>
            <a:pPr algn="l" indent="0" marL="0">
              <a:buNone/>
            </a:pPr>
            <a:r>
              <a:rPr lang="en-US" sz="3400" dirty="0">
                <a:solidFill>
                  <a:schemeClr val="tx1"/>
                </a:solidFill>
              </a:rPr>
              <a:t>In an Emergency, the Shortest Path</a:t>
            </a:r>
            <a:endParaRPr lang="en-US" sz="3400" dirty="0"/>
          </a:p>
          <a:p>
            <a:pPr algn="l" indent="0" marL="0">
              <a:buNone/>
            </a:pPr>
            <a:r>
              <a:rPr lang="en-US" sz="3400" dirty="0">
                <a:solidFill>
                  <a:schemeClr val="tx1"/>
                </a:solidFill>
              </a:rPr>
              <a:t>Is Not Always the Right Path</a:t>
            </a:r>
            <a:endParaRPr lang="en-US" sz="3400" dirty="0"/>
          </a:p>
        </p:txBody>
      </p:sp>
      <p:sp>
        <p:nvSpPr>
          <p:cNvPr id="4" name="mapL_1"/>
          <p:cNvSpPr/>
          <p:nvPr/>
        </p:nvSpPr>
        <p:spPr>
          <a:xfrm>
            <a:off x="640080" y="2331720"/>
            <a:ext cx="5394960" cy="2468880"/>
          </a:xfrm>
          <a:prstGeom prst="roundRect">
            <a:avLst>
              <a:gd name="adj" fmla="val 3704"/>
            </a:avLst>
          </a:prstGeom>
          <a:solidFill>
            <a:srgbClr val="FFFFFF"/>
          </a:solidFill>
          <a:ln/>
          <a:effectLst>
            <a:outerShdw sx="100000" sy="100000" kx="0" ky="0" algn="bl" rotWithShape="0" blurRad="254000" dist="76200" dir="5400000">
              <a:srgbClr val="26123F">
                <a:alpha val="18000"/>
              </a:srgbClr>
            </a:outerShdw>
          </a:effectLst>
        </p:spPr>
        <p:txBody>
          <a:bodyPr/>
          <a:p/>
        </p:txBody>
      </p:sp>
      <p:sp>
        <p:nvSpPr>
          <p:cNvPr id="5" name="mapR_2"/>
          <p:cNvSpPr/>
          <p:nvPr/>
        </p:nvSpPr>
        <p:spPr>
          <a:xfrm>
            <a:off x="6156655" y="2331720"/>
            <a:ext cx="5394960" cy="2468880"/>
          </a:xfrm>
          <a:prstGeom prst="roundRect">
            <a:avLst>
              <a:gd name="adj" fmla="val 3704"/>
            </a:avLst>
          </a:prstGeom>
          <a:solidFill>
            <a:srgbClr val="FFFFFF"/>
          </a:solidFill>
          <a:ln/>
          <a:effectLst>
            <a:outerShdw sx="100000" sy="100000" kx="0" ky="0" algn="bl" rotWithShape="0" blurRad="254000" dist="76200" dir="5400000">
              <a:srgbClr val="26123F">
                <a:alpha val="18000"/>
              </a:srgbClr>
            </a:outerShdw>
          </a:effectLst>
        </p:spPr>
        <p:txBody>
          <a:bodyPr/>
          <a:p/>
        </p:txBody>
      </p:sp>
      <p:pic>
        <p:nvPicPr>
          <p:cNvPr id="6" name="mapL_3" descr="3D map of a flood-prone rail corridor, built from OpenStreetMap data">    </p:cNvPr>
          <p:cNvPicPr>
            <a:picLocks noChangeAspect="1"/>
          </p:cNvPicPr>
          <p:nvPr/>
        </p:nvPicPr>
        <p:blipFill>
          <a:blip r:embed="rId1"/>
          <a:stretch>
            <a:fillRect/>
          </a:stretch>
        </p:blipFill>
        <p:spPr>
          <a:xfrm>
            <a:off x="640080" y="2331720"/>
            <a:ext cx="5394960" cy="2468880"/>
          </a:xfrm>
          <a:prstGeom prst="rect">
            <a:avLst/>
          </a:prstGeom>
        </p:spPr>
      </p:pic>
      <p:pic>
        <p:nvPicPr>
          <p:cNvPr id="7" name="rL_4" descr="Route A">    </p:cNvPr>
          <p:cNvPicPr>
            <a:picLocks noChangeAspect="1"/>
          </p:cNvPicPr>
          <p:nvPr/>
        </p:nvPicPr>
        <p:blipFill>
          <a:blip r:embed="rId2"/>
          <a:stretch>
            <a:fillRect/>
          </a:stretch>
        </p:blipFill>
        <p:spPr>
          <a:xfrm>
            <a:off x="640080" y="2331720"/>
            <a:ext cx="5394960" cy="2468880"/>
          </a:xfrm>
          <a:prstGeom prst="rect">
            <a:avLst/>
          </a:prstGeom>
        </p:spPr>
      </p:pic>
      <p:pic>
        <p:nvPicPr>
          <p:cNvPr id="8" name="mapR_5" descr="3D map of a flood-prone rail corridor, built from OpenStreetMap data">    </p:cNvPr>
          <p:cNvPicPr>
            <a:picLocks noChangeAspect="1"/>
          </p:cNvPicPr>
          <p:nvPr/>
        </p:nvPicPr>
        <p:blipFill>
          <a:blip r:embed="rId3"/>
          <a:stretch>
            <a:fillRect/>
          </a:stretch>
        </p:blipFill>
        <p:spPr>
          <a:xfrm>
            <a:off x="6156655" y="2331720"/>
            <a:ext cx="5394960" cy="2468880"/>
          </a:xfrm>
          <a:prstGeom prst="rect">
            <a:avLst/>
          </a:prstGeom>
        </p:spPr>
      </p:pic>
      <p:pic>
        <p:nvPicPr>
          <p:cNvPr id="9" name="rRa_6" descr="Route A">    </p:cNvPr>
          <p:cNvPicPr>
            <a:picLocks noChangeAspect="1"/>
          </p:cNvPicPr>
          <p:nvPr/>
        </p:nvPicPr>
        <p:blipFill>
          <a:blip r:embed="rId4"/>
          <a:stretch>
            <a:fillRect/>
          </a:stretch>
        </p:blipFill>
        <p:spPr>
          <a:xfrm>
            <a:off x="6156655" y="2331720"/>
            <a:ext cx="5394960" cy="2468880"/>
          </a:xfrm>
          <a:prstGeom prst="rect">
            <a:avLst/>
          </a:prstGeom>
        </p:spPr>
      </p:pic>
      <p:pic>
        <p:nvPicPr>
          <p:cNvPr id="10" name="rRb_7" descr="Route B">    </p:cNvPr>
          <p:cNvPicPr>
            <a:picLocks noChangeAspect="1"/>
          </p:cNvPicPr>
          <p:nvPr/>
        </p:nvPicPr>
        <p:blipFill>
          <a:blip r:embed="rId5"/>
          <a:stretch>
            <a:fillRect/>
          </a:stretch>
        </p:blipFill>
        <p:spPr>
          <a:xfrm>
            <a:off x="6156655" y="2331720"/>
            <a:ext cx="5394960" cy="2468880"/>
          </a:xfrm>
          <a:prstGeom prst="rect">
            <a:avLst/>
          </a:prstGeom>
        </p:spPr>
      </p:pic>
      <p:sp>
        <p:nvSpPr>
          <p:cNvPr id="11" name="pinL_8"/>
          <p:cNvSpPr/>
          <p:nvPr/>
        </p:nvSpPr>
        <p:spPr>
          <a:xfrm>
            <a:off x="1544753" y="2850245"/>
            <a:ext cx="274320" cy="274320"/>
          </a:xfrm>
          <a:prstGeom prst="ellipse">
            <a:avLst/>
          </a:prstGeom>
          <a:solidFill>
            <a:srgbClr val="FFFFFF"/>
          </a:solidFill>
          <a:ln/>
        </p:spPr>
        <p:txBody>
          <a:bodyPr/>
          <a:p/>
        </p:txBody>
      </p:sp>
      <p:sp>
        <p:nvSpPr>
          <p:cNvPr id="12" name="pinL_9"/>
          <p:cNvSpPr/>
          <p:nvPr/>
        </p:nvSpPr>
        <p:spPr>
          <a:xfrm>
            <a:off x="1622477" y="2927969"/>
            <a:ext cx="118872" cy="118872"/>
          </a:xfrm>
          <a:prstGeom prst="ellipse">
            <a:avLst/>
          </a:prstGeom>
          <a:solidFill>
            <a:srgbClr val="26123F"/>
          </a:solidFill>
          <a:ln/>
        </p:spPr>
        <p:txBody>
          <a:bodyPr/>
          <a:p/>
        </p:txBody>
      </p:sp>
      <p:sp>
        <p:nvSpPr>
          <p:cNvPr id="13" name="pinL_10"/>
          <p:cNvSpPr/>
          <p:nvPr/>
        </p:nvSpPr>
        <p:spPr>
          <a:xfrm>
            <a:off x="5169394" y="3459352"/>
            <a:ext cx="392278" cy="392278"/>
          </a:xfrm>
          <a:prstGeom prst="ellipse">
            <a:avLst/>
          </a:prstGeom>
          <a:solidFill>
            <a:srgbClr val="FFFFFF"/>
          </a:solidFill>
          <a:ln/>
        </p:spPr>
        <p:txBody>
          <a:bodyPr/>
          <a:p/>
        </p:txBody>
      </p:sp>
      <p:sp>
        <p:nvSpPr>
          <p:cNvPr id="14" name="pinL_11"/>
          <p:cNvSpPr txBox="1"/>
          <p:nvPr/>
        </p:nvSpPr>
        <p:spPr>
          <a:xfrm>
            <a:off x="5233402" y="3523360"/>
            <a:ext cx="264262" cy="264262"/>
          </a:xfrm>
          <a:prstGeom prst="roundRect">
            <a:avLst>
              <a:gd name="adj" fmla="val 24221"/>
            </a:avLst>
          </a:prstGeom>
          <a:solidFill>
            <a:schemeClr val="accent1"/>
          </a:solidFill>
          <a:ln/>
        </p:spPr>
        <p:txBody>
          <a:bodyPr wrap="square" lIns="0" tIns="0" rIns="0" bIns="0" rtlCol="0" anchor="ctr"/>
          <a:lstStyle/>
          <a:p>
            <a:pPr algn="ctr" indent="0" marL="0">
              <a:buNone/>
            </a:pPr>
            <a:r>
              <a:rPr lang="en-US" sz="1020" dirty="0">
                <a:solidFill>
                  <a:srgbClr val="FFFFFF"/>
                </a:solidFill>
                <a:latin typeface="Segoe UI Semibold" pitchFamily="34" charset="0"/>
                <a:ea typeface="Segoe UI Semibold" pitchFamily="34" charset="-122"/>
                <a:cs typeface="Segoe UI Semibold" pitchFamily="34" charset="-120"/>
              </a:rPr>
              <a:t>H</a:t>
            </a:r>
            <a:endParaRPr lang="en-US" sz="1020" dirty="0"/>
          </a:p>
        </p:txBody>
      </p:sp>
      <p:sp>
        <p:nvSpPr>
          <p:cNvPr id="15" name="flL_12"/>
          <p:cNvSpPr txBox="1"/>
          <p:nvPr/>
        </p:nvSpPr>
        <p:spPr>
          <a:xfrm>
            <a:off x="3188003" y="3141582"/>
            <a:ext cx="237744" cy="237744"/>
          </a:xfrm>
          <a:prstGeom prst="ellipse">
            <a:avLst/>
          </a:prstGeom>
          <a:solidFill>
            <a:schemeClr val="accent3"/>
          </a:solidFill>
          <a:ln w="19050">
            <a:solidFill>
              <a:srgbClr val="FFFFFF"/>
            </a:solid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a:t>
            </a:r>
            <a:endParaRPr lang="en-US" sz="1100" dirty="0"/>
          </a:p>
        </p:txBody>
      </p:sp>
      <p:sp>
        <p:nvSpPr>
          <p:cNvPr id="16" name="pinR_13"/>
          <p:cNvSpPr/>
          <p:nvPr/>
        </p:nvSpPr>
        <p:spPr>
          <a:xfrm>
            <a:off x="7061329" y="2850245"/>
            <a:ext cx="274320" cy="274320"/>
          </a:xfrm>
          <a:prstGeom prst="ellipse">
            <a:avLst/>
          </a:prstGeom>
          <a:solidFill>
            <a:srgbClr val="FFFFFF"/>
          </a:solidFill>
          <a:ln/>
        </p:spPr>
        <p:txBody>
          <a:bodyPr/>
          <a:p/>
        </p:txBody>
      </p:sp>
      <p:sp>
        <p:nvSpPr>
          <p:cNvPr id="17" name="pinR_14"/>
          <p:cNvSpPr/>
          <p:nvPr/>
        </p:nvSpPr>
        <p:spPr>
          <a:xfrm>
            <a:off x="7139053" y="2927969"/>
            <a:ext cx="118872" cy="118872"/>
          </a:xfrm>
          <a:prstGeom prst="ellipse">
            <a:avLst/>
          </a:prstGeom>
          <a:solidFill>
            <a:srgbClr val="26123F"/>
          </a:solidFill>
          <a:ln/>
        </p:spPr>
        <p:txBody>
          <a:bodyPr/>
          <a:p/>
        </p:txBody>
      </p:sp>
      <p:sp>
        <p:nvSpPr>
          <p:cNvPr id="18" name="pinR_15"/>
          <p:cNvSpPr/>
          <p:nvPr/>
        </p:nvSpPr>
        <p:spPr>
          <a:xfrm>
            <a:off x="10685969" y="3459352"/>
            <a:ext cx="392278" cy="392278"/>
          </a:xfrm>
          <a:prstGeom prst="ellipse">
            <a:avLst/>
          </a:prstGeom>
          <a:solidFill>
            <a:srgbClr val="FFFFFF"/>
          </a:solidFill>
          <a:ln/>
        </p:spPr>
        <p:txBody>
          <a:bodyPr/>
          <a:p/>
        </p:txBody>
      </p:sp>
      <p:sp>
        <p:nvSpPr>
          <p:cNvPr id="19" name="pinR_16"/>
          <p:cNvSpPr txBox="1"/>
          <p:nvPr/>
        </p:nvSpPr>
        <p:spPr>
          <a:xfrm>
            <a:off x="10749977" y="3523360"/>
            <a:ext cx="264262" cy="264262"/>
          </a:xfrm>
          <a:prstGeom prst="roundRect">
            <a:avLst>
              <a:gd name="adj" fmla="val 24221"/>
            </a:avLst>
          </a:prstGeom>
          <a:solidFill>
            <a:schemeClr val="accent1"/>
          </a:solidFill>
          <a:ln/>
        </p:spPr>
        <p:txBody>
          <a:bodyPr wrap="square" lIns="0" tIns="0" rIns="0" bIns="0" rtlCol="0" anchor="ctr"/>
          <a:lstStyle/>
          <a:p>
            <a:pPr algn="ctr" indent="0" marL="0">
              <a:buNone/>
            </a:pPr>
            <a:r>
              <a:rPr lang="en-US" sz="1020" dirty="0">
                <a:solidFill>
                  <a:srgbClr val="FFFFFF"/>
                </a:solidFill>
                <a:latin typeface="Segoe UI Semibold" pitchFamily="34" charset="0"/>
                <a:ea typeface="Segoe UI Semibold" pitchFamily="34" charset="-122"/>
                <a:cs typeface="Segoe UI Semibold" pitchFamily="34" charset="-120"/>
              </a:rPr>
              <a:t>H</a:t>
            </a:r>
            <a:endParaRPr lang="en-US" sz="1020" dirty="0"/>
          </a:p>
        </p:txBody>
      </p:sp>
      <p:sp>
        <p:nvSpPr>
          <p:cNvPr id="20" name="flR_17"/>
          <p:cNvSpPr txBox="1"/>
          <p:nvPr/>
        </p:nvSpPr>
        <p:spPr>
          <a:xfrm>
            <a:off x="8704578" y="3141582"/>
            <a:ext cx="237744" cy="237744"/>
          </a:xfrm>
          <a:prstGeom prst="ellipse">
            <a:avLst/>
          </a:prstGeom>
          <a:solidFill>
            <a:schemeClr val="accent3"/>
          </a:solidFill>
          <a:ln w="19050">
            <a:solidFill>
              <a:srgbClr val="FFFFFF"/>
            </a:solid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a:t>
            </a:r>
            <a:endParaRPr lang="en-US" sz="1100" dirty="0"/>
          </a:p>
        </p:txBody>
      </p:sp>
      <p:sp>
        <p:nvSpPr>
          <p:cNvPr id="21" name="capL_18"/>
          <p:cNvSpPr txBox="1"/>
          <p:nvPr/>
        </p:nvSpPr>
        <p:spPr>
          <a:xfrm>
            <a:off x="640080" y="1965960"/>
            <a:ext cx="3200400" cy="274320"/>
          </a:xfrm>
          <a:prstGeom prst="rect">
            <a:avLst/>
          </a:prstGeom>
          <a:noFill/>
          <a:ln/>
        </p:spPr>
        <p:txBody>
          <a:bodyPr wrap="square" lIns="0" tIns="0" rIns="0" bIns="0" rtlCol="0" anchor="ct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Time-only routing</a:t>
            </a:r>
            <a:pPr indent="0" marL="0">
              <a:buNone/>
            </a:pPr>
            <a:r>
              <a:rPr lang="en-US" sz="1150" dirty="0">
                <a:solidFill>
                  <a:schemeClr val="accent5"/>
                </a:solidFill>
              </a:rPr>
              <a:t>   no hazard check</a:t>
            </a:r>
            <a:endParaRPr lang="en-US" sz="1300" dirty="0"/>
          </a:p>
        </p:txBody>
      </p:sp>
      <p:sp>
        <p:nvSpPr>
          <p:cNvPr id="22" name="capL_19"/>
          <p:cNvSpPr txBox="1"/>
          <p:nvPr/>
        </p:nvSpPr>
        <p:spPr>
          <a:xfrm>
            <a:off x="3566160" y="1965960"/>
            <a:ext cx="2468880" cy="274320"/>
          </a:xfrm>
          <a:prstGeom prst="rect">
            <a:avLst/>
          </a:prstGeom>
          <a:noFill/>
          <a:ln/>
        </p:spPr>
        <p:txBody>
          <a:bodyPr wrap="square" lIns="0" tIns="0" rIns="0" bIns="0" rtlCol="0" anchor="ctr"/>
          <a:lstStyle/>
          <a:p>
            <a:pPr algn="r" indent="0" marL="0">
              <a:buNone/>
            </a:pPr>
            <a:r>
              <a:rPr lang="en-US" sz="1250" dirty="0">
                <a:solidFill>
                  <a:schemeClr val="accent3"/>
                </a:solidFill>
                <a:latin typeface="Segoe UI Semibold" pitchFamily="34" charset="0"/>
                <a:ea typeface="Segoe UI Semibold" pitchFamily="34" charset="-122"/>
                <a:cs typeface="Segoe UI Semibold" pitchFamily="34" charset="-120"/>
              </a:rPr>
              <a:t>11 min, through the flood</a:t>
            </a:r>
            <a:endParaRPr lang="en-US" sz="1250" dirty="0"/>
          </a:p>
        </p:txBody>
      </p:sp>
      <p:sp>
        <p:nvSpPr>
          <p:cNvPr id="23" name="capR_20"/>
          <p:cNvSpPr txBox="1"/>
          <p:nvPr/>
        </p:nvSpPr>
        <p:spPr>
          <a:xfrm>
            <a:off x="6156655" y="1965960"/>
            <a:ext cx="3200400" cy="274320"/>
          </a:xfrm>
          <a:prstGeom prst="rect">
            <a:avLst/>
          </a:prstGeom>
          <a:noFill/>
          <a:ln/>
        </p:spPr>
        <p:txBody>
          <a:bodyPr wrap="square" lIns="0" tIns="0" rIns="0" bIns="0" rtlCol="0" anchor="ctr"/>
          <a:lstStyle/>
          <a:p>
            <a:pPr indent="0" marL="0">
              <a:buNone/>
            </a:pPr>
            <a:r>
              <a:rPr lang="en-US" sz="1400" dirty="0">
                <a:solidFill>
                  <a:schemeClr val="accent4"/>
                </a:solidFill>
                <a:latin typeface="Segoe UI Semibold" pitchFamily="34" charset="0"/>
                <a:ea typeface="Segoe UI Semibold" pitchFamily="34" charset="-122"/>
                <a:cs typeface="Segoe UI Semibold" pitchFamily="34" charset="-120"/>
              </a:rPr>
              <a:t>Vighnaway</a:t>
            </a:r>
            <a:pPr indent="0" marL="0">
              <a:buNone/>
            </a:pPr>
            <a:r>
              <a:rPr lang="en-US" sz="1150" dirty="0">
                <a:solidFill>
                  <a:schemeClr val="accent5"/>
                </a:solidFill>
              </a:rPr>
              <a:t>   viability and evidence first</a:t>
            </a:r>
            <a:endParaRPr lang="en-US" sz="1300" dirty="0"/>
          </a:p>
        </p:txBody>
      </p:sp>
      <p:sp>
        <p:nvSpPr>
          <p:cNvPr id="24" name="capR_21"/>
          <p:cNvSpPr txBox="1"/>
          <p:nvPr/>
        </p:nvSpPr>
        <p:spPr>
          <a:xfrm>
            <a:off x="9082735" y="1965960"/>
            <a:ext cx="2468880" cy="274320"/>
          </a:xfrm>
          <a:prstGeom prst="rect">
            <a:avLst/>
          </a:prstGeom>
          <a:noFill/>
          <a:ln/>
        </p:spPr>
        <p:txBody>
          <a:bodyPr wrap="square" lIns="0" tIns="0" rIns="0" bIns="0" rtlCol="0" anchor="ctr"/>
          <a:lstStyle/>
          <a:p>
            <a:pPr algn="r" indent="0" marL="0">
              <a:buNone/>
            </a:pPr>
            <a:r>
              <a:rPr lang="en-US" sz="1250" dirty="0">
                <a:solidFill>
                  <a:schemeClr val="accent4"/>
                </a:solidFill>
                <a:latin typeface="Segoe UI Semibold" pitchFamily="34" charset="0"/>
                <a:ea typeface="Segoe UI Semibold" pitchFamily="34" charset="-122"/>
                <a:cs typeface="Segoe UI Semibold" pitchFamily="34" charset="-120"/>
              </a:rPr>
              <a:t>15 min, via flyover</a:t>
            </a:r>
            <a:endParaRPr lang="en-US" sz="1250" dirty="0"/>
          </a:p>
        </p:txBody>
      </p:sp>
      <p:sp>
        <p:nvSpPr>
          <p:cNvPr id="25" name="msg_22"/>
          <p:cNvSpPr txBox="1"/>
          <p:nvPr/>
        </p:nvSpPr>
        <p:spPr>
          <a:xfrm>
            <a:off x="640080" y="4919472"/>
            <a:ext cx="10881360" cy="411480"/>
          </a:xfrm>
          <a:prstGeom prst="rect">
            <a:avLst/>
          </a:prstGeom>
          <a:noFill/>
          <a:ln/>
        </p:spPr>
        <p:txBody>
          <a:bodyPr wrap="square" lIns="0" tIns="0" rIns="0" bIns="0" rtlCol="0" anchor="ctr"/>
          <a:lstStyle/>
          <a:p>
            <a:pPr indent="0" marL="0">
              <a:buNone/>
            </a:pPr>
            <a:r>
              <a:rPr lang="en-US" sz="1900" dirty="0">
                <a:solidFill>
                  <a:schemeClr val="tx1"/>
                </a:solidFill>
                <a:latin typeface="Segoe UI Light" pitchFamily="34" charset="0"/>
                <a:ea typeface="Segoe UI Light" pitchFamily="34" charset="-122"/>
                <a:cs typeface="Segoe UI Light" pitchFamily="34" charset="-120"/>
              </a:rPr>
              <a:t>Navigation must weigh </a:t>
            </a:r>
            <a:pPr indent="0" marL="0">
              <a:buNone/>
            </a:pPr>
            <a:r>
              <a:rPr lang="en-US" sz="1900" dirty="0">
                <a:solidFill>
                  <a:schemeClr val="accent4"/>
                </a:solidFill>
                <a:latin typeface="Segoe UI Semibold" pitchFamily="34" charset="0"/>
                <a:ea typeface="Segoe UI Semibold" pitchFamily="34" charset="-122"/>
                <a:cs typeface="Segoe UI Semibold" pitchFamily="34" charset="-120"/>
              </a:rPr>
              <a:t>route viability, evidence quality and changing conditions</a:t>
            </a:r>
            <a:pPr indent="0" marL="0">
              <a:buNone/>
            </a:pPr>
            <a:r>
              <a:rPr lang="en-US" sz="1900" dirty="0">
                <a:solidFill>
                  <a:schemeClr val="tx1"/>
                </a:solidFill>
                <a:latin typeface="Segoe UI Light" pitchFamily="34" charset="0"/>
                <a:ea typeface="Segoe UI Light" pitchFamily="34" charset="-122"/>
                <a:cs typeface="Segoe UI Light" pitchFamily="34" charset="-120"/>
              </a:rPr>
              <a:t>, not travel time alone.</a:t>
            </a:r>
            <a:endParaRPr lang="en-US" sz="1900" dirty="0"/>
          </a:p>
        </p:txBody>
      </p:sp>
      <p:sp>
        <p:nvSpPr>
          <p:cNvPr id="26" name="p0_23"/>
          <p:cNvSpPr/>
          <p:nvPr/>
        </p:nvSpPr>
        <p:spPr>
          <a:xfrm>
            <a:off x="640080" y="5486400"/>
            <a:ext cx="1999427" cy="0"/>
          </a:xfrm>
          <a:prstGeom prst="line">
            <a:avLst/>
          </a:prstGeom>
          <a:noFill/>
          <a:ln w="12700">
            <a:solidFill>
              <a:srgbClr val="D6D0C2"/>
            </a:solidFill>
            <a:prstDash val="solid"/>
          </a:ln>
        </p:spPr>
        <p:txBody>
          <a:bodyPr/>
          <a:p/>
        </p:txBody>
      </p:sp>
      <p:sp>
        <p:nvSpPr>
          <p:cNvPr id="27" name="p0_24"/>
          <p:cNvSpPr txBox="1"/>
          <p:nvPr/>
        </p:nvSpPr>
        <p:spPr>
          <a:xfrm>
            <a:off x="640080" y="5577840"/>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01</a:t>
            </a:r>
            <a:endParaRPr lang="en-US" sz="1100" dirty="0"/>
          </a:p>
        </p:txBody>
      </p:sp>
      <p:sp>
        <p:nvSpPr>
          <p:cNvPr id="28" name="p0_25"/>
          <p:cNvSpPr txBox="1"/>
          <p:nvPr/>
        </p:nvSpPr>
        <p:spPr>
          <a:xfrm>
            <a:off x="640080" y="5788152"/>
            <a:ext cx="1999427" cy="457200"/>
          </a:xfrm>
          <a:prstGeom prst="rect">
            <a:avLst/>
          </a:prstGeom>
          <a:noFill/>
          <a:ln/>
        </p:spPr>
        <p:txBody>
          <a:bodyPr wrap="square" lIns="0" tIns="0" rIns="0" bIns="0" rtlCol="0" anchor="t"/>
          <a:lstStyle/>
          <a:p>
            <a:pPr indent="0" marL="0">
              <a:buNone/>
            </a:pPr>
            <a:r>
              <a:rPr lang="en-US" sz="1250" dirty="0">
                <a:solidFill>
                  <a:schemeClr val="tx1"/>
                </a:solidFill>
              </a:rPr>
              <a:t>Underpasses can become flooded</a:t>
            </a:r>
            <a:endParaRPr lang="en-US" sz="1250" dirty="0"/>
          </a:p>
        </p:txBody>
      </p:sp>
      <p:sp>
        <p:nvSpPr>
          <p:cNvPr id="29" name="p1_26"/>
          <p:cNvSpPr/>
          <p:nvPr/>
        </p:nvSpPr>
        <p:spPr>
          <a:xfrm>
            <a:off x="2868107" y="5486400"/>
            <a:ext cx="1999427" cy="0"/>
          </a:xfrm>
          <a:prstGeom prst="line">
            <a:avLst/>
          </a:prstGeom>
          <a:noFill/>
          <a:ln w="12700">
            <a:solidFill>
              <a:srgbClr val="D6D0C2"/>
            </a:solidFill>
            <a:prstDash val="solid"/>
          </a:ln>
        </p:spPr>
        <p:txBody>
          <a:bodyPr/>
          <a:p/>
        </p:txBody>
      </p:sp>
      <p:sp>
        <p:nvSpPr>
          <p:cNvPr id="30" name="p1_27"/>
          <p:cNvSpPr txBox="1"/>
          <p:nvPr/>
        </p:nvSpPr>
        <p:spPr>
          <a:xfrm>
            <a:off x="2868107" y="5577840"/>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02</a:t>
            </a:r>
            <a:endParaRPr lang="en-US" sz="1100" dirty="0"/>
          </a:p>
        </p:txBody>
      </p:sp>
      <p:sp>
        <p:nvSpPr>
          <p:cNvPr id="31" name="p1_28"/>
          <p:cNvSpPr txBox="1"/>
          <p:nvPr/>
        </p:nvSpPr>
        <p:spPr>
          <a:xfrm>
            <a:off x="2868107" y="5788152"/>
            <a:ext cx="1999427" cy="457200"/>
          </a:xfrm>
          <a:prstGeom prst="rect">
            <a:avLst/>
          </a:prstGeom>
          <a:noFill/>
          <a:ln/>
        </p:spPr>
        <p:txBody>
          <a:bodyPr wrap="square" lIns="0" tIns="0" rIns="0" bIns="0" rtlCol="0" anchor="t"/>
          <a:lstStyle/>
          <a:p>
            <a:pPr indent="0" marL="0">
              <a:buNone/>
            </a:pPr>
            <a:r>
              <a:rPr lang="en-US" sz="1250" dirty="0">
                <a:solidFill>
                  <a:schemeClr val="tx1"/>
                </a:solidFill>
              </a:rPr>
              <a:t>Road closures can make routes unusable</a:t>
            </a:r>
            <a:endParaRPr lang="en-US" sz="1250" dirty="0"/>
          </a:p>
        </p:txBody>
      </p:sp>
      <p:sp>
        <p:nvSpPr>
          <p:cNvPr id="32" name="p2_29"/>
          <p:cNvSpPr/>
          <p:nvPr/>
        </p:nvSpPr>
        <p:spPr>
          <a:xfrm>
            <a:off x="5096134" y="5486400"/>
            <a:ext cx="1999427" cy="0"/>
          </a:xfrm>
          <a:prstGeom prst="line">
            <a:avLst/>
          </a:prstGeom>
          <a:noFill/>
          <a:ln w="12700">
            <a:solidFill>
              <a:srgbClr val="D6D0C2"/>
            </a:solidFill>
            <a:prstDash val="solid"/>
          </a:ln>
        </p:spPr>
        <p:txBody>
          <a:bodyPr/>
          <a:p/>
        </p:txBody>
      </p:sp>
      <p:sp>
        <p:nvSpPr>
          <p:cNvPr id="33" name="p2_30"/>
          <p:cNvSpPr txBox="1"/>
          <p:nvPr/>
        </p:nvSpPr>
        <p:spPr>
          <a:xfrm>
            <a:off x="5096134" y="5577840"/>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03</a:t>
            </a:r>
            <a:endParaRPr lang="en-US" sz="1100" dirty="0"/>
          </a:p>
        </p:txBody>
      </p:sp>
      <p:sp>
        <p:nvSpPr>
          <p:cNvPr id="34" name="p2_31"/>
          <p:cNvSpPr txBox="1"/>
          <p:nvPr/>
        </p:nvSpPr>
        <p:spPr>
          <a:xfrm>
            <a:off x="5096134" y="5788152"/>
            <a:ext cx="1999427" cy="457200"/>
          </a:xfrm>
          <a:prstGeom prst="rect">
            <a:avLst/>
          </a:prstGeom>
          <a:noFill/>
          <a:ln/>
        </p:spPr>
        <p:txBody>
          <a:bodyPr wrap="square" lIns="0" tIns="0" rIns="0" bIns="0" rtlCol="0" anchor="t"/>
          <a:lstStyle/>
          <a:p>
            <a:pPr indent="0" marL="0">
              <a:buNone/>
            </a:pPr>
            <a:r>
              <a:rPr lang="en-US" sz="1250" dirty="0">
                <a:solidFill>
                  <a:schemeClr val="tx1"/>
                </a:solidFill>
              </a:rPr>
              <a:t>Unverified reports create uncertainty</a:t>
            </a:r>
            <a:endParaRPr lang="en-US" sz="1250" dirty="0"/>
          </a:p>
        </p:txBody>
      </p:sp>
      <p:sp>
        <p:nvSpPr>
          <p:cNvPr id="35" name="p3_32"/>
          <p:cNvSpPr/>
          <p:nvPr/>
        </p:nvSpPr>
        <p:spPr>
          <a:xfrm>
            <a:off x="7324161" y="5486400"/>
            <a:ext cx="1999427" cy="0"/>
          </a:xfrm>
          <a:prstGeom prst="line">
            <a:avLst/>
          </a:prstGeom>
          <a:noFill/>
          <a:ln w="12700">
            <a:solidFill>
              <a:srgbClr val="D6D0C2"/>
            </a:solidFill>
            <a:prstDash val="solid"/>
          </a:ln>
        </p:spPr>
        <p:txBody>
          <a:bodyPr/>
          <a:p/>
        </p:txBody>
      </p:sp>
      <p:sp>
        <p:nvSpPr>
          <p:cNvPr id="36" name="p3_33"/>
          <p:cNvSpPr txBox="1"/>
          <p:nvPr/>
        </p:nvSpPr>
        <p:spPr>
          <a:xfrm>
            <a:off x="7324161" y="5577840"/>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04</a:t>
            </a:r>
            <a:endParaRPr lang="en-US" sz="1100" dirty="0"/>
          </a:p>
        </p:txBody>
      </p:sp>
      <p:sp>
        <p:nvSpPr>
          <p:cNvPr id="37" name="p3_34"/>
          <p:cNvSpPr txBox="1"/>
          <p:nvPr/>
        </p:nvSpPr>
        <p:spPr>
          <a:xfrm>
            <a:off x="7324161" y="5788152"/>
            <a:ext cx="1999427" cy="457200"/>
          </a:xfrm>
          <a:prstGeom prst="rect">
            <a:avLst/>
          </a:prstGeom>
          <a:noFill/>
          <a:ln/>
        </p:spPr>
        <p:txBody>
          <a:bodyPr wrap="square" lIns="0" tIns="0" rIns="0" bIns="0" rtlCol="0" anchor="t"/>
          <a:lstStyle/>
          <a:p>
            <a:pPr indent="0" marL="0">
              <a:buNone/>
            </a:pPr>
            <a:r>
              <a:rPr lang="en-US" sz="1250" dirty="0">
                <a:solidFill>
                  <a:schemeClr val="tx1"/>
                </a:solidFill>
              </a:rPr>
              <a:t>No report is treated as all clear</a:t>
            </a:r>
            <a:endParaRPr lang="en-US" sz="1250" dirty="0"/>
          </a:p>
        </p:txBody>
      </p:sp>
      <p:sp>
        <p:nvSpPr>
          <p:cNvPr id="38" name="p4_35"/>
          <p:cNvSpPr/>
          <p:nvPr/>
        </p:nvSpPr>
        <p:spPr>
          <a:xfrm>
            <a:off x="9552188" y="5486400"/>
            <a:ext cx="1999427" cy="0"/>
          </a:xfrm>
          <a:prstGeom prst="line">
            <a:avLst/>
          </a:prstGeom>
          <a:noFill/>
          <a:ln w="12700">
            <a:solidFill>
              <a:srgbClr val="D6D0C2"/>
            </a:solidFill>
            <a:prstDash val="solid"/>
          </a:ln>
        </p:spPr>
        <p:txBody>
          <a:bodyPr/>
          <a:p/>
        </p:txBody>
      </p:sp>
      <p:sp>
        <p:nvSpPr>
          <p:cNvPr id="39" name="p4_36"/>
          <p:cNvSpPr txBox="1"/>
          <p:nvPr/>
        </p:nvSpPr>
        <p:spPr>
          <a:xfrm>
            <a:off x="9552188" y="5577840"/>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05</a:t>
            </a:r>
            <a:endParaRPr lang="en-US" sz="1100" dirty="0"/>
          </a:p>
        </p:txBody>
      </p:sp>
      <p:sp>
        <p:nvSpPr>
          <p:cNvPr id="40" name="p4_37"/>
          <p:cNvSpPr txBox="1"/>
          <p:nvPr/>
        </p:nvSpPr>
        <p:spPr>
          <a:xfrm>
            <a:off x="9552188" y="5788152"/>
            <a:ext cx="1999427" cy="457200"/>
          </a:xfrm>
          <a:prstGeom prst="rect">
            <a:avLst/>
          </a:prstGeom>
          <a:noFill/>
          <a:ln/>
        </p:spPr>
        <p:txBody>
          <a:bodyPr wrap="square" lIns="0" tIns="0" rIns="0" bIns="0" rtlCol="0" anchor="t"/>
          <a:lstStyle/>
          <a:p>
            <a:pPr indent="0" marL="0">
              <a:buNone/>
            </a:pPr>
            <a:r>
              <a:rPr lang="en-US" sz="1250" dirty="0">
                <a:solidFill>
                  <a:schemeClr val="tx1"/>
                </a:solidFill>
              </a:rPr>
              <a:t>Little explanation of why a route should change</a:t>
            </a:r>
            <a:endParaRPr lang="en-US" sz="1250" dirty="0"/>
          </a:p>
        </p:txBody>
      </p:sp>
      <p:sp>
        <p:nvSpPr>
          <p:cNvPr id="41" name="jn_38"/>
          <p:cNvSpPr/>
          <p:nvPr/>
        </p:nvSpPr>
        <p:spPr>
          <a:xfrm>
            <a:off x="4343400" y="6537960"/>
            <a:ext cx="3520440" cy="0"/>
          </a:xfrm>
          <a:prstGeom prst="line">
            <a:avLst/>
          </a:prstGeom>
          <a:noFill/>
          <a:ln w="12700">
            <a:solidFill>
              <a:srgbClr val="D2CBBB"/>
            </a:solidFill>
            <a:prstDash val="solid"/>
          </a:ln>
        </p:spPr>
        <p:txBody>
          <a:bodyPr/>
          <a:p/>
        </p:txBody>
      </p:sp>
      <p:sp>
        <p:nvSpPr>
          <p:cNvPr id="42" name="jseg_39"/>
          <p:cNvSpPr/>
          <p:nvPr/>
        </p:nvSpPr>
        <p:spPr>
          <a:xfrm>
            <a:off x="4343400" y="6537960"/>
            <a:ext cx="704088" cy="0"/>
          </a:xfrm>
          <a:prstGeom prst="line">
            <a:avLst/>
          </a:prstGeom>
          <a:noFill/>
          <a:ln w="19050">
            <a:solidFill>
              <a:srgbClr val="4D7C0F"/>
            </a:solidFill>
            <a:prstDash val="solid"/>
          </a:ln>
        </p:spPr>
        <p:txBody>
          <a:bodyPr/>
          <a:p/>
        </p:txBody>
      </p:sp>
      <p:sp>
        <p:nvSpPr>
          <p:cNvPr id="43" name="jn_40"/>
          <p:cNvSpPr/>
          <p:nvPr/>
        </p:nvSpPr>
        <p:spPr>
          <a:xfrm>
            <a:off x="4306824" y="6501384"/>
            <a:ext cx="73152" cy="73152"/>
          </a:xfrm>
          <a:prstGeom prst="ellipse">
            <a:avLst/>
          </a:prstGeom>
          <a:solidFill>
            <a:schemeClr val="accent1"/>
          </a:solidFill>
          <a:ln/>
        </p:spPr>
        <p:txBody>
          <a:bodyPr/>
          <a:p/>
        </p:txBody>
      </p:sp>
      <p:sp>
        <p:nvSpPr>
          <p:cNvPr id="44" name="jn_41"/>
          <p:cNvSpPr/>
          <p:nvPr/>
        </p:nvSpPr>
        <p:spPr>
          <a:xfrm>
            <a:off x="5010912" y="6501384"/>
            <a:ext cx="73152" cy="73152"/>
          </a:xfrm>
          <a:prstGeom prst="ellipse">
            <a:avLst/>
          </a:prstGeom>
          <a:solidFill>
            <a:srgbClr val="B8B1A0"/>
          </a:solidFill>
          <a:ln/>
        </p:spPr>
        <p:txBody>
          <a:bodyPr/>
          <a:p/>
        </p:txBody>
      </p:sp>
      <p:sp>
        <p:nvSpPr>
          <p:cNvPr id="45" name="jn_42"/>
          <p:cNvSpPr/>
          <p:nvPr/>
        </p:nvSpPr>
        <p:spPr>
          <a:xfrm>
            <a:off x="5715000" y="6501384"/>
            <a:ext cx="73152" cy="73152"/>
          </a:xfrm>
          <a:prstGeom prst="ellipse">
            <a:avLst/>
          </a:prstGeom>
          <a:solidFill>
            <a:srgbClr val="B8B1A0"/>
          </a:solidFill>
          <a:ln/>
        </p:spPr>
        <p:txBody>
          <a:bodyPr/>
          <a:p/>
        </p:txBody>
      </p:sp>
      <p:sp>
        <p:nvSpPr>
          <p:cNvPr id="46" name="jn_43"/>
          <p:cNvSpPr/>
          <p:nvPr/>
        </p:nvSpPr>
        <p:spPr>
          <a:xfrm>
            <a:off x="6419088" y="6501384"/>
            <a:ext cx="73152" cy="73152"/>
          </a:xfrm>
          <a:prstGeom prst="ellipse">
            <a:avLst/>
          </a:prstGeom>
          <a:solidFill>
            <a:srgbClr val="B8B1A0"/>
          </a:solidFill>
          <a:ln/>
        </p:spPr>
        <p:txBody>
          <a:bodyPr/>
          <a:p/>
        </p:txBody>
      </p:sp>
      <p:sp>
        <p:nvSpPr>
          <p:cNvPr id="47" name="jn_44"/>
          <p:cNvSpPr/>
          <p:nvPr/>
        </p:nvSpPr>
        <p:spPr>
          <a:xfrm>
            <a:off x="7123176" y="6501384"/>
            <a:ext cx="73152" cy="73152"/>
          </a:xfrm>
          <a:prstGeom prst="ellipse">
            <a:avLst/>
          </a:prstGeom>
          <a:solidFill>
            <a:srgbClr val="B8B1A0"/>
          </a:solidFill>
          <a:ln/>
        </p:spPr>
        <p:txBody>
          <a:bodyPr/>
          <a:p/>
        </p:txBody>
      </p:sp>
      <p:sp>
        <p:nvSpPr>
          <p:cNvPr id="48" name="jn_45"/>
          <p:cNvSpPr/>
          <p:nvPr/>
        </p:nvSpPr>
        <p:spPr>
          <a:xfrm>
            <a:off x="7827264" y="6501384"/>
            <a:ext cx="73152" cy="73152"/>
          </a:xfrm>
          <a:prstGeom prst="ellipse">
            <a:avLst/>
          </a:prstGeom>
          <a:solidFill>
            <a:srgbClr val="B8B1A0"/>
          </a:solidFill>
          <a:ln/>
        </p:spPr>
        <p:txBody>
          <a:bodyPr/>
          <a:p/>
        </p:txBody>
      </p:sp>
      <p:sp>
        <p:nvSpPr>
          <p:cNvPr id="49" name="jdot_46"/>
          <p:cNvSpPr/>
          <p:nvPr/>
        </p:nvSpPr>
        <p:spPr>
          <a:xfrm>
            <a:off x="4960620" y="6451092"/>
            <a:ext cx="173736" cy="173736"/>
          </a:xfrm>
          <a:prstGeom prst="ellipse">
            <a:avLst/>
          </a:prstGeom>
          <a:solidFill>
            <a:schemeClr val="accent1"/>
          </a:solidFill>
          <a:ln w="28575">
            <a:solidFill>
              <a:srgbClr val="F6F1E9"/>
            </a:solidFill>
            <a:prstDash val="solid"/>
          </a:ln>
        </p:spPr>
        <p:txBody>
          <a:bodyPr/>
          <a:p/>
        </p:txBody>
      </p:sp>
      <p:sp>
        <p:nvSpPr>
          <p:cNvPr id="50" name="Text 43"/>
          <p:cNvSpPr txBox="1"/>
          <p:nvPr/>
        </p:nvSpPr>
        <p:spPr>
          <a:xfrm>
            <a:off x="10454335" y="6419088"/>
            <a:ext cx="1097280" cy="237744"/>
          </a:xfrm>
          <a:prstGeom prst="rect">
            <a:avLst/>
          </a:prstGeom>
          <a:noFill/>
          <a:ln/>
        </p:spPr>
        <p:txBody>
          <a:bodyPr wrap="square" lIns="0" tIns="0" rIns="0" bIns="0" rtlCol="0" anchor="ctr"/>
          <a:lstStyle/>
          <a:p>
            <a:pPr algn="r" indent="0" marL="0">
              <a:buNone/>
            </a:pPr>
            <a:r>
              <a:rPr lang="en-US" sz="1000" dirty="0">
                <a:solidFill>
                  <a:schemeClr val="accent5"/>
                </a:solidFill>
              </a:rPr>
              <a:t>02 / 06</a:t>
            </a:r>
            <a:endParaRPr lang="en-US" sz="1000" dirty="0"/>
          </a:p>
        </p:txBody>
      </p:sp>
      <p:sp>
        <p:nvSpPr>
          <p:cNvPr id="51" name="attrib"/>
          <p:cNvSpPr txBox="1"/>
          <p:nvPr/>
        </p:nvSpPr>
        <p:spPr>
          <a:xfrm>
            <a:off x="7434072" y="4553712"/>
            <a:ext cx="4023360" cy="219456"/>
          </a:xfrm>
          <a:prstGeom prst="rect">
            <a:avLst/>
          </a:prstGeom>
          <a:noFill/>
          <a:ln/>
        </p:spPr>
        <p:txBody>
          <a:bodyPr wrap="square" lIns="0" tIns="0" rIns="0" bIns="0" rtlCol="0" anchor="ctr"/>
          <a:lstStyle/>
          <a:p>
            <a:pPr algn="r" indent="0" marL="0">
              <a:buNone/>
            </a:pPr>
            <a:r>
              <a:rPr lang="en-US" sz="850" dirty="0">
                <a:solidFill>
                  <a:srgbClr val="4A3F66"/>
                </a:solidFill>
              </a:rPr>
              <a:t>Simulated scenario · © OpenStreetMap contributors</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15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00"/>
                                        <p:tgtEl>
                                          <p:spTgt spid="21"/>
                                        </p:tgtEl>
                                      </p:cBhvr>
                                    </p:animEffect>
                                  </p:childTnLst>
                                </p:cTn>
                              </p:par>
                              <p:par>
                                <p:cTn id="10" presetID="10" presetClass="entr" presetSubtype="0" fill="hold" grpId="0" nodeType="withEffect">
                                  <p:stCondLst>
                                    <p:cond delay="15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500"/>
                                        <p:tgtEl>
                                          <p:spTgt spid="22"/>
                                        </p:tgtEl>
                                      </p:cBhvr>
                                    </p:animEffect>
                                  </p:childTnLst>
                                </p:cTn>
                              </p:par>
                              <p:par>
                                <p:cTn id="13" presetID="10" presetClass="entr" presetSubtype="0" fill="hold" grpId="0" nodeType="withEffect">
                                  <p:stCondLst>
                                    <p:cond delay="15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00"/>
                                        <p:tgtEl>
                                          <p:spTgt spid="4"/>
                                        </p:tgtEl>
                                      </p:cBhvr>
                                    </p:animEffect>
                                  </p:childTnLst>
                                </p:cTn>
                              </p:par>
                              <p:par>
                                <p:cTn id="16" presetID="10" presetClass="entr" presetSubtype="0" fill="hold" nodeType="withEffect">
                                  <p:stCondLst>
                                    <p:cond delay="1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9" presetID="10" presetClass="entr" presetSubtype="0" fill="hold" grpId="0" nodeType="withEffect">
                                  <p:stCondLst>
                                    <p:cond delay="200"/>
                                  </p:stCondLst>
                                  <p:childTnLst>
                                    <p:set>
                                      <p:cBhvr>
                                        <p:cTn id="17" dur="1" fill="hold">
                                          <p:stCondLst>
                                            <p:cond delay="0"/>
                                          </p:stCondLst>
                                        </p:cTn>
                                        <p:tgtEl>
                                          <p:spTgt spid="41"/>
                                        </p:tgtEl>
                                        <p:attrNameLst>
                                          <p:attrName>style.visibility</p:attrName>
                                        </p:attrNameLst>
                                      </p:cBhvr>
                                      <p:to>
                                        <p:strVal val="visible"/>
                                      </p:to>
                                    </p:set>
                                    <p:animEffect transition="in" filter="fade">
                                      <p:cBhvr>
                                        <p:cTn id="18" dur="500"/>
                                        <p:tgtEl>
                                          <p:spTgt spid="41"/>
                                        </p:tgtEl>
                                      </p:cBhvr>
                                    </p:animEffect>
                                  </p:childTnLst>
                                </p:cTn>
                              </p:par>
                              <p:par>
                                <p:cTn id="22" presetID="10" presetClass="entr" presetSubtype="0" fill="hold" grpId="0" nodeType="withEffect">
                                  <p:stCondLst>
                                    <p:cond delay="200"/>
                                  </p:stCondLst>
                                  <p:childTnLst>
                                    <p:set>
                                      <p:cBhvr>
                                        <p:cTn id="20" dur="1" fill="hold">
                                          <p:stCondLst>
                                            <p:cond delay="0"/>
                                          </p:stCondLst>
                                        </p:cTn>
                                        <p:tgtEl>
                                          <p:spTgt spid="43"/>
                                        </p:tgtEl>
                                        <p:attrNameLst>
                                          <p:attrName>style.visibility</p:attrName>
                                        </p:attrNameLst>
                                      </p:cBhvr>
                                      <p:to>
                                        <p:strVal val="visible"/>
                                      </p:to>
                                    </p:set>
                                    <p:animEffect transition="in" filter="fade">
                                      <p:cBhvr>
                                        <p:cTn id="21" dur="500"/>
                                        <p:tgtEl>
                                          <p:spTgt spid="43"/>
                                        </p:tgtEl>
                                      </p:cBhvr>
                                    </p:animEffect>
                                  </p:childTnLst>
                                </p:cTn>
                              </p:par>
                              <p:par>
                                <p:cTn id="25" presetID="10" presetClass="entr" presetSubtype="0" fill="hold" grpId="0" nodeType="withEffect">
                                  <p:stCondLst>
                                    <p:cond delay="200"/>
                                  </p:stCondLst>
                                  <p:childTnLst>
                                    <p:set>
                                      <p:cBhvr>
                                        <p:cTn id="23" dur="1" fill="hold">
                                          <p:stCondLst>
                                            <p:cond delay="0"/>
                                          </p:stCondLst>
                                        </p:cTn>
                                        <p:tgtEl>
                                          <p:spTgt spid="44"/>
                                        </p:tgtEl>
                                        <p:attrNameLst>
                                          <p:attrName>style.visibility</p:attrName>
                                        </p:attrNameLst>
                                      </p:cBhvr>
                                      <p:to>
                                        <p:strVal val="visible"/>
                                      </p:to>
                                    </p:set>
                                    <p:animEffect transition="in" filter="fade">
                                      <p:cBhvr>
                                        <p:cTn id="24" dur="500"/>
                                        <p:tgtEl>
                                          <p:spTgt spid="44"/>
                                        </p:tgtEl>
                                      </p:cBhvr>
                                    </p:animEffect>
                                  </p:childTnLst>
                                </p:cTn>
                              </p:par>
                              <p:par>
                                <p:cTn id="28" presetID="10" presetClass="entr" presetSubtype="0" fill="hold" grpId="0" nodeType="withEffect">
                                  <p:stCondLst>
                                    <p:cond delay="200"/>
                                  </p:stCondLst>
                                  <p:childTnLst>
                                    <p:set>
                                      <p:cBhvr>
                                        <p:cTn id="26" dur="1" fill="hold">
                                          <p:stCondLst>
                                            <p:cond delay="0"/>
                                          </p:stCondLst>
                                        </p:cTn>
                                        <p:tgtEl>
                                          <p:spTgt spid="45"/>
                                        </p:tgtEl>
                                        <p:attrNameLst>
                                          <p:attrName>style.visibility</p:attrName>
                                        </p:attrNameLst>
                                      </p:cBhvr>
                                      <p:to>
                                        <p:strVal val="visible"/>
                                      </p:to>
                                    </p:set>
                                    <p:animEffect transition="in" filter="fade">
                                      <p:cBhvr>
                                        <p:cTn id="27" dur="500"/>
                                        <p:tgtEl>
                                          <p:spTgt spid="45"/>
                                        </p:tgtEl>
                                      </p:cBhvr>
                                    </p:animEffect>
                                  </p:childTnLst>
                                </p:cTn>
                              </p:par>
                              <p:par>
                                <p:cTn id="31" presetID="10" presetClass="entr" presetSubtype="0" fill="hold" grpId="0" nodeType="withEffect">
                                  <p:stCondLst>
                                    <p:cond delay="200"/>
                                  </p:stCondLst>
                                  <p:childTnLst>
                                    <p:set>
                                      <p:cBhvr>
                                        <p:cTn id="29" dur="1" fill="hold">
                                          <p:stCondLst>
                                            <p:cond delay="0"/>
                                          </p:stCondLst>
                                        </p:cTn>
                                        <p:tgtEl>
                                          <p:spTgt spid="46"/>
                                        </p:tgtEl>
                                        <p:attrNameLst>
                                          <p:attrName>style.visibility</p:attrName>
                                        </p:attrNameLst>
                                      </p:cBhvr>
                                      <p:to>
                                        <p:strVal val="visible"/>
                                      </p:to>
                                    </p:set>
                                    <p:animEffect transition="in" filter="fade">
                                      <p:cBhvr>
                                        <p:cTn id="30" dur="500"/>
                                        <p:tgtEl>
                                          <p:spTgt spid="46"/>
                                        </p:tgtEl>
                                      </p:cBhvr>
                                    </p:animEffect>
                                  </p:childTnLst>
                                </p:cTn>
                              </p:par>
                              <p:par>
                                <p:cTn id="34" presetID="10" presetClass="entr" presetSubtype="0" fill="hold" grpId="0" nodeType="withEffect">
                                  <p:stCondLst>
                                    <p:cond delay="200"/>
                                  </p:stCondLst>
                                  <p:childTnLst>
                                    <p:set>
                                      <p:cBhvr>
                                        <p:cTn id="32" dur="1" fill="hold">
                                          <p:stCondLst>
                                            <p:cond delay="0"/>
                                          </p:stCondLst>
                                        </p:cTn>
                                        <p:tgtEl>
                                          <p:spTgt spid="47"/>
                                        </p:tgtEl>
                                        <p:attrNameLst>
                                          <p:attrName>style.visibility</p:attrName>
                                        </p:attrNameLst>
                                      </p:cBhvr>
                                      <p:to>
                                        <p:strVal val="visible"/>
                                      </p:to>
                                    </p:set>
                                    <p:animEffect transition="in" filter="fade">
                                      <p:cBhvr>
                                        <p:cTn id="33" dur="500"/>
                                        <p:tgtEl>
                                          <p:spTgt spid="47"/>
                                        </p:tgtEl>
                                      </p:cBhvr>
                                    </p:animEffect>
                                  </p:childTnLst>
                                </p:cTn>
                              </p:par>
                              <p:par>
                                <p:cTn id="37" presetID="10" presetClass="entr" presetSubtype="0" fill="hold" grpId="0" nodeType="withEffect">
                                  <p:stCondLst>
                                    <p:cond delay="200"/>
                                  </p:stCondLst>
                                  <p:childTnLst>
                                    <p:set>
                                      <p:cBhvr>
                                        <p:cTn id="35" dur="1" fill="hold">
                                          <p:stCondLst>
                                            <p:cond delay="0"/>
                                          </p:stCondLst>
                                        </p:cTn>
                                        <p:tgtEl>
                                          <p:spTgt spid="48"/>
                                        </p:tgtEl>
                                        <p:attrNameLst>
                                          <p:attrName>style.visibility</p:attrName>
                                        </p:attrNameLst>
                                      </p:cBhvr>
                                      <p:to>
                                        <p:strVal val="visible"/>
                                      </p:to>
                                    </p:set>
                                    <p:animEffect transition="in" filter="fade">
                                      <p:cBhvr>
                                        <p:cTn id="36" dur="500"/>
                                        <p:tgtEl>
                                          <p:spTgt spid="48"/>
                                        </p:tgtEl>
                                      </p:cBhvr>
                                    </p:animEffect>
                                  </p:childTnLst>
                                </p:cTn>
                              </p:par>
                              <p:par>
                                <p:cTn id="40" presetID="10" presetClass="entr" presetSubtype="0" fill="hold" grpId="0" nodeType="withEffect">
                                  <p:stCondLst>
                                    <p:cond delay="30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par>
                                <p:cTn id="43" presetID="10" presetClass="entr" presetSubtype="0" fill="hold" grpId="0" nodeType="withEffect">
                                  <p:stCondLst>
                                    <p:cond delay="30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par>
                                <p:cTn id="46" presetID="10" presetClass="entr" presetSubtype="0" fill="hold" grpId="0" nodeType="withEffect">
                                  <p:stCondLst>
                                    <p:cond delay="300"/>
                                  </p:stCondLst>
                                  <p:childTnLst>
                                    <p:set>
                                      <p:cBhvr>
                                        <p:cTn id="44" dur="1" fill="hold">
                                          <p:stCondLst>
                                            <p:cond delay="0"/>
                                          </p:stCondLst>
                                        </p:cTn>
                                        <p:tgtEl>
                                          <p:spTgt spid="5"/>
                                        </p:tgtEl>
                                        <p:attrNameLst>
                                          <p:attrName>style.visibility</p:attrName>
                                        </p:attrNameLst>
                                      </p:cBhvr>
                                      <p:to>
                                        <p:strVal val="visible"/>
                                      </p:to>
                                    </p:set>
                                    <p:animEffect transition="in" filter="fade">
                                      <p:cBhvr>
                                        <p:cTn id="45" dur="600"/>
                                        <p:tgtEl>
                                          <p:spTgt spid="5"/>
                                        </p:tgtEl>
                                      </p:cBhvr>
                                    </p:animEffect>
                                  </p:childTnLst>
                                </p:cTn>
                              </p:par>
                              <p:par>
                                <p:cTn id="49" presetID="10" presetClass="entr" presetSubtype="0" fill="hold" nodeType="withEffect">
                                  <p:stCondLst>
                                    <p:cond delay="300"/>
                                  </p:stCondLst>
                                  <p:childTnLst>
                                    <p:set>
                                      <p:cBhvr>
                                        <p:cTn id="47" dur="1" fill="hold">
                                          <p:stCondLst>
                                            <p:cond delay="0"/>
                                          </p:stCondLst>
                                        </p:cTn>
                                        <p:tgtEl>
                                          <p:spTgt spid="8"/>
                                        </p:tgtEl>
                                        <p:attrNameLst>
                                          <p:attrName>style.visibility</p:attrName>
                                        </p:attrNameLst>
                                      </p:cBhvr>
                                      <p:to>
                                        <p:strVal val="visible"/>
                                      </p:to>
                                    </p:set>
                                    <p:animEffect transition="in" filter="fade">
                                      <p:cBhvr>
                                        <p:cTn id="48" dur="600"/>
                                        <p:tgtEl>
                                          <p:spTgt spid="8"/>
                                        </p:tgtEl>
                                      </p:cBhvr>
                                    </p:animEffect>
                                  </p:childTnLst>
                                </p:cTn>
                              </p:par>
                              <p:par>
                                <p:cTn id="51" presetID="0" presetClass="path" presetSubtype="0" accel="50000" decel="50000" fill="hold" nodeType="withEffect">
                                  <p:stCondLst>
                                    <p:cond delay="500"/>
                                  </p:stCondLst>
                                  <p:childTnLst>
                                    <p:animMotion origin="layout" path="M -0.0578 0 L 0 0 E" pathEditMode="relative" rAng="0" ptsTypes="AA">
                                      <p:cBhvr>
                                        <p:cTn id="50" dur="1100" fill="hold"/>
                                        <p:tgtEl>
                                          <p:spTgt spid="49"/>
                                        </p:tgtEl>
                                        <p:attrNameLst>
                                          <p:attrName>ppt_x</p:attrName>
                                          <p:attrName>ppt_y</p:attrName>
                                        </p:attrNameLst>
                                      </p:cBhvr>
                                    </p:animMotion>
                                  </p:childTnLst>
                                </p:cTn>
                              </p:par>
                              <p:par>
                                <p:cTn id="54" presetID="22" presetClass="entr" presetSubtype="8" fill="hold" grpId="0" nodeType="withEffect">
                                  <p:stCondLst>
                                    <p:cond delay="500"/>
                                  </p:stCondLst>
                                  <p:childTnLst>
                                    <p:set>
                                      <p:cBhvr>
                                        <p:cTn id="52" dur="1" fill="hold">
                                          <p:stCondLst>
                                            <p:cond delay="0"/>
                                          </p:stCondLst>
                                        </p:cTn>
                                        <p:tgtEl>
                                          <p:spTgt spid="42"/>
                                        </p:tgtEl>
                                        <p:attrNameLst>
                                          <p:attrName>style.visibility</p:attrName>
                                        </p:attrNameLst>
                                      </p:cBhvr>
                                      <p:to>
                                        <p:strVal val="visible"/>
                                      </p:to>
                                    </p:set>
                                    <p:animEffect transition="in" filter="wipe(left)">
                                      <p:cBhvr>
                                        <p:cTn id="53" dur="1100"/>
                                        <p:tgtEl>
                                          <p:spTgt spid="42"/>
                                        </p:tgtEl>
                                      </p:cBhvr>
                                    </p:animEffect>
                                  </p:childTnLst>
                                </p:cTn>
                              </p:par>
                              <p:par>
                                <p:cTn id="57" presetID="10" presetClass="entr" presetSubtype="0" fill="hold" grpId="0" nodeType="withEffect">
                                  <p:stCondLst>
                                    <p:cond delay="70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400"/>
                                        <p:tgtEl>
                                          <p:spTgt spid="11"/>
                                        </p:tgtEl>
                                      </p:cBhvr>
                                    </p:animEffect>
                                  </p:childTnLst>
                                </p:cTn>
                              </p:par>
                              <p:par>
                                <p:cTn id="60" presetID="10" presetClass="entr" presetSubtype="0" fill="hold" grpId="0" nodeType="withEffect">
                                  <p:stCondLst>
                                    <p:cond delay="70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400"/>
                                        <p:tgtEl>
                                          <p:spTgt spid="12"/>
                                        </p:tgtEl>
                                      </p:cBhvr>
                                    </p:animEffect>
                                  </p:childTnLst>
                                </p:cTn>
                              </p:par>
                              <p:par>
                                <p:cTn id="63" presetID="10" presetClass="entr" presetSubtype="0" fill="hold" grpId="0" nodeType="withEffect">
                                  <p:stCondLst>
                                    <p:cond delay="70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400"/>
                                        <p:tgtEl>
                                          <p:spTgt spid="13"/>
                                        </p:tgtEl>
                                      </p:cBhvr>
                                    </p:animEffect>
                                  </p:childTnLst>
                                </p:cTn>
                              </p:par>
                              <p:par>
                                <p:cTn id="66" presetID="10" presetClass="entr" presetSubtype="0" fill="hold" grpId="0" nodeType="withEffect">
                                  <p:stCondLst>
                                    <p:cond delay="70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400"/>
                                        <p:tgtEl>
                                          <p:spTgt spid="14"/>
                                        </p:tgtEl>
                                      </p:cBhvr>
                                    </p:animEffect>
                                  </p:childTnLst>
                                </p:cTn>
                              </p:par>
                              <p:par>
                                <p:cTn id="69" presetID="10" presetClass="entr" presetSubtype="0" fill="hold" grpId="0" nodeType="withEffect">
                                  <p:stCondLst>
                                    <p:cond delay="80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400"/>
                                        <p:tgtEl>
                                          <p:spTgt spid="16"/>
                                        </p:tgtEl>
                                      </p:cBhvr>
                                    </p:animEffect>
                                  </p:childTnLst>
                                </p:cTn>
                              </p:par>
                              <p:par>
                                <p:cTn id="72" presetID="10" presetClass="entr" presetSubtype="0" fill="hold" grpId="0" nodeType="withEffect">
                                  <p:stCondLst>
                                    <p:cond delay="80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400"/>
                                        <p:tgtEl>
                                          <p:spTgt spid="17"/>
                                        </p:tgtEl>
                                      </p:cBhvr>
                                    </p:animEffect>
                                  </p:childTnLst>
                                </p:cTn>
                              </p:par>
                              <p:par>
                                <p:cTn id="75" presetID="10" presetClass="entr" presetSubtype="0" fill="hold" grpId="0" nodeType="withEffect">
                                  <p:stCondLst>
                                    <p:cond delay="80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400"/>
                                        <p:tgtEl>
                                          <p:spTgt spid="18"/>
                                        </p:tgtEl>
                                      </p:cBhvr>
                                    </p:animEffect>
                                  </p:childTnLst>
                                </p:cTn>
                              </p:par>
                              <p:par>
                                <p:cTn id="78" presetID="10" presetClass="entr" presetSubtype="0" fill="hold" grpId="0" nodeType="withEffect">
                                  <p:stCondLst>
                                    <p:cond delay="80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400"/>
                                        <p:tgtEl>
                                          <p:spTgt spid="19"/>
                                        </p:tgtEl>
                                      </p:cBhvr>
                                    </p:animEffect>
                                  </p:childTnLst>
                                </p:cTn>
                              </p:par>
                              <p:par>
                                <p:cTn id="81" presetID="22" presetClass="entr" presetSubtype="8" fill="hold" nodeType="withEffect">
                                  <p:stCondLst>
                                    <p:cond delay="1000"/>
                                  </p:stCondLst>
                                  <p:childTnLst>
                                    <p:set>
                                      <p:cBhvr>
                                        <p:cTn id="79" dur="1" fill="hold">
                                          <p:stCondLst>
                                            <p:cond delay="0"/>
                                          </p:stCondLst>
                                        </p:cTn>
                                        <p:tgtEl>
                                          <p:spTgt spid="7"/>
                                        </p:tgtEl>
                                        <p:attrNameLst>
                                          <p:attrName>style.visibility</p:attrName>
                                        </p:attrNameLst>
                                      </p:cBhvr>
                                      <p:to>
                                        <p:strVal val="visible"/>
                                      </p:to>
                                    </p:set>
                                    <p:animEffect transition="in" filter="wipe(left)">
                                      <p:cBhvr>
                                        <p:cTn id="80" dur="900"/>
                                        <p:tgtEl>
                                          <p:spTgt spid="7"/>
                                        </p:tgtEl>
                                      </p:cBhvr>
                                    </p:animEffect>
                                  </p:childTnLst>
                                </p:cTn>
                              </p:par>
                              <p:par>
                                <p:cTn id="84" presetID="22" presetClass="entr" presetSubtype="8" fill="hold" nodeType="withEffect">
                                  <p:stCondLst>
                                    <p:cond delay="1500"/>
                                  </p:stCondLst>
                                  <p:childTnLst>
                                    <p:set>
                                      <p:cBhvr>
                                        <p:cTn id="82" dur="1" fill="hold">
                                          <p:stCondLst>
                                            <p:cond delay="0"/>
                                          </p:stCondLst>
                                        </p:cTn>
                                        <p:tgtEl>
                                          <p:spTgt spid="9"/>
                                        </p:tgtEl>
                                        <p:attrNameLst>
                                          <p:attrName>style.visibility</p:attrName>
                                        </p:attrNameLst>
                                      </p:cBhvr>
                                      <p:to>
                                        <p:strVal val="visible"/>
                                      </p:to>
                                    </p:set>
                                    <p:animEffect transition="in" filter="wipe(left)">
                                      <p:cBhvr>
                                        <p:cTn id="83" dur="900"/>
                                        <p:tgtEl>
                                          <p:spTgt spid="9"/>
                                        </p:tgtEl>
                                      </p:cBhvr>
                                    </p:animEffect>
                                  </p:childTnLst>
                                </p:cTn>
                              </p:par>
                              <p:par>
                                <p:cTn id="87" presetID="10" presetClass="entr" presetSubtype="0" fill="hold" grpId="0" nodeType="withEffect">
                                  <p:stCondLst>
                                    <p:cond delay="1800"/>
                                  </p:stCondLst>
                                  <p:childTnLst>
                                    <p:set>
                                      <p:cBhvr>
                                        <p:cTn id="85" dur="1" fill="hold">
                                          <p:stCondLst>
                                            <p:cond delay="0"/>
                                          </p:stCondLst>
                                        </p:cTn>
                                        <p:tgtEl>
                                          <p:spTgt spid="15"/>
                                        </p:tgtEl>
                                        <p:attrNameLst>
                                          <p:attrName>style.visibility</p:attrName>
                                        </p:attrNameLst>
                                      </p:cBhvr>
                                      <p:to>
                                        <p:strVal val="visible"/>
                                      </p:to>
                                    </p:set>
                                    <p:animEffect transition="in" filter="fade">
                                      <p:cBhvr>
                                        <p:cTn id="86" dur="350"/>
                                        <p:tgtEl>
                                          <p:spTgt spid="15"/>
                                        </p:tgtEl>
                                      </p:cBhvr>
                                    </p:animEffect>
                                  </p:childTnLst>
                                </p:cTn>
                              </p:par>
                              <p:par>
                                <p:cTn id="90" presetID="22" presetClass="entr" presetSubtype="8" fill="hold" nodeType="withEffect">
                                  <p:stCondLst>
                                    <p:cond delay="2100"/>
                                  </p:stCondLst>
                                  <p:childTnLst>
                                    <p:set>
                                      <p:cBhvr>
                                        <p:cTn id="88" dur="1" fill="hold">
                                          <p:stCondLst>
                                            <p:cond delay="0"/>
                                          </p:stCondLst>
                                        </p:cTn>
                                        <p:tgtEl>
                                          <p:spTgt spid="10"/>
                                        </p:tgtEl>
                                        <p:attrNameLst>
                                          <p:attrName>style.visibility</p:attrName>
                                        </p:attrNameLst>
                                      </p:cBhvr>
                                      <p:to>
                                        <p:strVal val="visible"/>
                                      </p:to>
                                    </p:set>
                                    <p:animEffect transition="in" filter="wipe(left)">
                                      <p:cBhvr>
                                        <p:cTn id="89" dur="1200"/>
                                        <p:tgtEl>
                                          <p:spTgt spid="10"/>
                                        </p:tgtEl>
                                      </p:cBhvr>
                                    </p:animEffect>
                                  </p:childTnLst>
                                </p:cTn>
                              </p:par>
                              <p:par>
                                <p:cTn id="93" presetID="10" presetClass="entr" presetSubtype="0" fill="hold" grpId="0" nodeType="withEffect">
                                  <p:stCondLst>
                                    <p:cond delay="2400"/>
                                  </p:stCondLst>
                                  <p:childTnLst>
                                    <p:set>
                                      <p:cBhvr>
                                        <p:cTn id="91" dur="1" fill="hold">
                                          <p:stCondLst>
                                            <p:cond delay="0"/>
                                          </p:stCondLst>
                                        </p:cTn>
                                        <p:tgtEl>
                                          <p:spTgt spid="20"/>
                                        </p:tgtEl>
                                        <p:attrNameLst>
                                          <p:attrName>style.visibility</p:attrName>
                                        </p:attrNameLst>
                                      </p:cBhvr>
                                      <p:to>
                                        <p:strVal val="visible"/>
                                      </p:to>
                                    </p:set>
                                    <p:animEffect transition="in" filter="fade">
                                      <p:cBhvr>
                                        <p:cTn id="92" dur="350"/>
                                        <p:tgtEl>
                                          <p:spTgt spid="20"/>
                                        </p:tgtEl>
                                      </p:cBhvr>
                                    </p:animEffect>
                                  </p:childTnLst>
                                </p:cTn>
                              </p:par>
                              <p:par>
                                <p:cTn id="97" presetID="42" presetClass="entr" presetSubtype="0" fill="hold" grpId="0" nodeType="withEffect">
                                  <p:stCondLst>
                                    <p:cond delay="330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500" fill="hold"/>
                                        <p:tgtEl>
                                          <p:spTgt spid="25"/>
                                        </p:tgtEl>
                                        <p:attrNameLst>
                                          <p:attrName>ppt_y</p:attrName>
                                        </p:attrNameLst>
                                      </p:cBhvr>
                                      <p:tavLst>
                                        <p:tav tm="0">
                                          <p:val>
                                            <p:strVal val="#ppt_y+.06"/>
                                          </p:val>
                                        </p:tav>
                                        <p:tav tm="100000">
                                          <p:val>
                                            <p:strVal val="#ppt_y"/>
                                          </p:val>
                                        </p:tav>
                                      </p:tavLst>
                                    </p:anim>
                                    <p:animEffect transition="in" filter="fade">
                                      <p:cBhvr>
                                        <p:cTn id="96" dur="500"/>
                                        <p:tgtEl>
                                          <p:spTgt spid="25"/>
                                        </p:tgtEl>
                                      </p:cBhvr>
                                    </p:animEffect>
                                  </p:childTnLst>
                                </p:cTn>
                              </p:par>
                              <p:par>
                                <p:cTn id="101" presetID="42" presetClass="entr" presetSubtype="0" fill="hold" grpId="0" nodeType="withEffect">
                                  <p:stCondLst>
                                    <p:cond delay="3600"/>
                                  </p:stCondLst>
                                  <p:childTnLst>
                                    <p:set>
                                      <p:cBhvr>
                                        <p:cTn id="98" dur="1" fill="hold">
                                          <p:stCondLst>
                                            <p:cond delay="0"/>
                                          </p:stCondLst>
                                        </p:cTn>
                                        <p:tgtEl>
                                          <p:spTgt spid="26"/>
                                        </p:tgtEl>
                                        <p:attrNameLst>
                                          <p:attrName>style.visibility</p:attrName>
                                        </p:attrNameLst>
                                      </p:cBhvr>
                                      <p:to>
                                        <p:strVal val="visible"/>
                                      </p:to>
                                    </p:set>
                                    <p:anim calcmode="lin" valueType="num">
                                      <p:cBhvr additive="base">
                                        <p:cTn id="99" dur="400" fill="hold"/>
                                        <p:tgtEl>
                                          <p:spTgt spid="26"/>
                                        </p:tgtEl>
                                        <p:attrNameLst>
                                          <p:attrName>ppt_y</p:attrName>
                                        </p:attrNameLst>
                                      </p:cBhvr>
                                      <p:tavLst>
                                        <p:tav tm="0">
                                          <p:val>
                                            <p:strVal val="#ppt_y+.06"/>
                                          </p:val>
                                        </p:tav>
                                        <p:tav tm="100000">
                                          <p:val>
                                            <p:strVal val="#ppt_y"/>
                                          </p:val>
                                        </p:tav>
                                      </p:tavLst>
                                    </p:anim>
                                    <p:animEffect transition="in" filter="fade">
                                      <p:cBhvr>
                                        <p:cTn id="100" dur="400"/>
                                        <p:tgtEl>
                                          <p:spTgt spid="26"/>
                                        </p:tgtEl>
                                      </p:cBhvr>
                                    </p:animEffect>
                                  </p:childTnLst>
                                </p:cTn>
                              </p:par>
                              <p:par>
                                <p:cTn id="105" presetID="42" presetClass="entr" presetSubtype="0" fill="hold" grpId="0" nodeType="withEffect">
                                  <p:stCondLst>
                                    <p:cond delay="3600"/>
                                  </p:stCondLst>
                                  <p:childTnLst>
                                    <p:set>
                                      <p:cBhvr>
                                        <p:cTn id="102" dur="1" fill="hold">
                                          <p:stCondLst>
                                            <p:cond delay="0"/>
                                          </p:stCondLst>
                                        </p:cTn>
                                        <p:tgtEl>
                                          <p:spTgt spid="27"/>
                                        </p:tgtEl>
                                        <p:attrNameLst>
                                          <p:attrName>style.visibility</p:attrName>
                                        </p:attrNameLst>
                                      </p:cBhvr>
                                      <p:to>
                                        <p:strVal val="visible"/>
                                      </p:to>
                                    </p:set>
                                    <p:anim calcmode="lin" valueType="num">
                                      <p:cBhvr additive="base">
                                        <p:cTn id="103" dur="400" fill="hold"/>
                                        <p:tgtEl>
                                          <p:spTgt spid="27"/>
                                        </p:tgtEl>
                                        <p:attrNameLst>
                                          <p:attrName>ppt_y</p:attrName>
                                        </p:attrNameLst>
                                      </p:cBhvr>
                                      <p:tavLst>
                                        <p:tav tm="0">
                                          <p:val>
                                            <p:strVal val="#ppt_y+.06"/>
                                          </p:val>
                                        </p:tav>
                                        <p:tav tm="100000">
                                          <p:val>
                                            <p:strVal val="#ppt_y"/>
                                          </p:val>
                                        </p:tav>
                                      </p:tavLst>
                                    </p:anim>
                                    <p:animEffect transition="in" filter="fade">
                                      <p:cBhvr>
                                        <p:cTn id="104" dur="400"/>
                                        <p:tgtEl>
                                          <p:spTgt spid="27"/>
                                        </p:tgtEl>
                                      </p:cBhvr>
                                    </p:animEffect>
                                  </p:childTnLst>
                                </p:cTn>
                              </p:par>
                              <p:par>
                                <p:cTn id="109" presetID="42" presetClass="entr" presetSubtype="0" fill="hold" grpId="0" nodeType="withEffect">
                                  <p:stCondLst>
                                    <p:cond delay="360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400" fill="hold"/>
                                        <p:tgtEl>
                                          <p:spTgt spid="28"/>
                                        </p:tgtEl>
                                        <p:attrNameLst>
                                          <p:attrName>ppt_y</p:attrName>
                                        </p:attrNameLst>
                                      </p:cBhvr>
                                      <p:tavLst>
                                        <p:tav tm="0">
                                          <p:val>
                                            <p:strVal val="#ppt_y+.06"/>
                                          </p:val>
                                        </p:tav>
                                        <p:tav tm="100000">
                                          <p:val>
                                            <p:strVal val="#ppt_y"/>
                                          </p:val>
                                        </p:tav>
                                      </p:tavLst>
                                    </p:anim>
                                    <p:animEffect transition="in" filter="fade">
                                      <p:cBhvr>
                                        <p:cTn id="108" dur="400"/>
                                        <p:tgtEl>
                                          <p:spTgt spid="28"/>
                                        </p:tgtEl>
                                      </p:cBhvr>
                                    </p:animEffect>
                                  </p:childTnLst>
                                </p:cTn>
                              </p:par>
                              <p:par>
                                <p:cTn id="113" presetID="42" presetClass="entr" presetSubtype="0" fill="hold" grpId="0" nodeType="withEffect">
                                  <p:stCondLst>
                                    <p:cond delay="3710"/>
                                  </p:stCondLst>
                                  <p:childTnLst>
                                    <p:set>
                                      <p:cBhvr>
                                        <p:cTn id="110" dur="1" fill="hold">
                                          <p:stCondLst>
                                            <p:cond delay="0"/>
                                          </p:stCondLst>
                                        </p:cTn>
                                        <p:tgtEl>
                                          <p:spTgt spid="29"/>
                                        </p:tgtEl>
                                        <p:attrNameLst>
                                          <p:attrName>style.visibility</p:attrName>
                                        </p:attrNameLst>
                                      </p:cBhvr>
                                      <p:to>
                                        <p:strVal val="visible"/>
                                      </p:to>
                                    </p:set>
                                    <p:anim calcmode="lin" valueType="num">
                                      <p:cBhvr additive="base">
                                        <p:cTn id="111" dur="400" fill="hold"/>
                                        <p:tgtEl>
                                          <p:spTgt spid="29"/>
                                        </p:tgtEl>
                                        <p:attrNameLst>
                                          <p:attrName>ppt_y</p:attrName>
                                        </p:attrNameLst>
                                      </p:cBhvr>
                                      <p:tavLst>
                                        <p:tav tm="0">
                                          <p:val>
                                            <p:strVal val="#ppt_y+.06"/>
                                          </p:val>
                                        </p:tav>
                                        <p:tav tm="100000">
                                          <p:val>
                                            <p:strVal val="#ppt_y"/>
                                          </p:val>
                                        </p:tav>
                                      </p:tavLst>
                                    </p:anim>
                                    <p:animEffect transition="in" filter="fade">
                                      <p:cBhvr>
                                        <p:cTn id="112" dur="400"/>
                                        <p:tgtEl>
                                          <p:spTgt spid="29"/>
                                        </p:tgtEl>
                                      </p:cBhvr>
                                    </p:animEffect>
                                  </p:childTnLst>
                                </p:cTn>
                              </p:par>
                              <p:par>
                                <p:cTn id="117" presetID="42" presetClass="entr" presetSubtype="0" fill="hold" grpId="0" nodeType="withEffect">
                                  <p:stCondLst>
                                    <p:cond delay="3710"/>
                                  </p:stCondLst>
                                  <p:childTnLst>
                                    <p:set>
                                      <p:cBhvr>
                                        <p:cTn id="114" dur="1" fill="hold">
                                          <p:stCondLst>
                                            <p:cond delay="0"/>
                                          </p:stCondLst>
                                        </p:cTn>
                                        <p:tgtEl>
                                          <p:spTgt spid="30"/>
                                        </p:tgtEl>
                                        <p:attrNameLst>
                                          <p:attrName>style.visibility</p:attrName>
                                        </p:attrNameLst>
                                      </p:cBhvr>
                                      <p:to>
                                        <p:strVal val="visible"/>
                                      </p:to>
                                    </p:set>
                                    <p:anim calcmode="lin" valueType="num">
                                      <p:cBhvr additive="base">
                                        <p:cTn id="115" dur="400" fill="hold"/>
                                        <p:tgtEl>
                                          <p:spTgt spid="30"/>
                                        </p:tgtEl>
                                        <p:attrNameLst>
                                          <p:attrName>ppt_y</p:attrName>
                                        </p:attrNameLst>
                                      </p:cBhvr>
                                      <p:tavLst>
                                        <p:tav tm="0">
                                          <p:val>
                                            <p:strVal val="#ppt_y+.06"/>
                                          </p:val>
                                        </p:tav>
                                        <p:tav tm="100000">
                                          <p:val>
                                            <p:strVal val="#ppt_y"/>
                                          </p:val>
                                        </p:tav>
                                      </p:tavLst>
                                    </p:anim>
                                    <p:animEffect transition="in" filter="fade">
                                      <p:cBhvr>
                                        <p:cTn id="116" dur="400"/>
                                        <p:tgtEl>
                                          <p:spTgt spid="30"/>
                                        </p:tgtEl>
                                      </p:cBhvr>
                                    </p:animEffect>
                                  </p:childTnLst>
                                </p:cTn>
                              </p:par>
                              <p:par>
                                <p:cTn id="121" presetID="42" presetClass="entr" presetSubtype="0" fill="hold" grpId="0" nodeType="withEffect">
                                  <p:stCondLst>
                                    <p:cond delay="3710"/>
                                  </p:stCondLst>
                                  <p:childTnLst>
                                    <p:set>
                                      <p:cBhvr>
                                        <p:cTn id="118" dur="1" fill="hold">
                                          <p:stCondLst>
                                            <p:cond delay="0"/>
                                          </p:stCondLst>
                                        </p:cTn>
                                        <p:tgtEl>
                                          <p:spTgt spid="31"/>
                                        </p:tgtEl>
                                        <p:attrNameLst>
                                          <p:attrName>style.visibility</p:attrName>
                                        </p:attrNameLst>
                                      </p:cBhvr>
                                      <p:to>
                                        <p:strVal val="visible"/>
                                      </p:to>
                                    </p:set>
                                    <p:anim calcmode="lin" valueType="num">
                                      <p:cBhvr additive="base">
                                        <p:cTn id="119" dur="400" fill="hold"/>
                                        <p:tgtEl>
                                          <p:spTgt spid="31"/>
                                        </p:tgtEl>
                                        <p:attrNameLst>
                                          <p:attrName>ppt_y</p:attrName>
                                        </p:attrNameLst>
                                      </p:cBhvr>
                                      <p:tavLst>
                                        <p:tav tm="0">
                                          <p:val>
                                            <p:strVal val="#ppt_y+.06"/>
                                          </p:val>
                                        </p:tav>
                                        <p:tav tm="100000">
                                          <p:val>
                                            <p:strVal val="#ppt_y"/>
                                          </p:val>
                                        </p:tav>
                                      </p:tavLst>
                                    </p:anim>
                                    <p:animEffect transition="in" filter="fade">
                                      <p:cBhvr>
                                        <p:cTn id="120" dur="400"/>
                                        <p:tgtEl>
                                          <p:spTgt spid="31"/>
                                        </p:tgtEl>
                                      </p:cBhvr>
                                    </p:animEffect>
                                  </p:childTnLst>
                                </p:cTn>
                              </p:par>
                              <p:par>
                                <p:cTn id="125" presetID="42" presetClass="entr" presetSubtype="0" fill="hold" grpId="0" nodeType="withEffect">
                                  <p:stCondLst>
                                    <p:cond delay="3820"/>
                                  </p:stCondLst>
                                  <p:childTnLst>
                                    <p:set>
                                      <p:cBhvr>
                                        <p:cTn id="122" dur="1" fill="hold">
                                          <p:stCondLst>
                                            <p:cond delay="0"/>
                                          </p:stCondLst>
                                        </p:cTn>
                                        <p:tgtEl>
                                          <p:spTgt spid="32"/>
                                        </p:tgtEl>
                                        <p:attrNameLst>
                                          <p:attrName>style.visibility</p:attrName>
                                        </p:attrNameLst>
                                      </p:cBhvr>
                                      <p:to>
                                        <p:strVal val="visible"/>
                                      </p:to>
                                    </p:set>
                                    <p:anim calcmode="lin" valueType="num">
                                      <p:cBhvr additive="base">
                                        <p:cTn id="123" dur="400" fill="hold"/>
                                        <p:tgtEl>
                                          <p:spTgt spid="32"/>
                                        </p:tgtEl>
                                        <p:attrNameLst>
                                          <p:attrName>ppt_y</p:attrName>
                                        </p:attrNameLst>
                                      </p:cBhvr>
                                      <p:tavLst>
                                        <p:tav tm="0">
                                          <p:val>
                                            <p:strVal val="#ppt_y+.06"/>
                                          </p:val>
                                        </p:tav>
                                        <p:tav tm="100000">
                                          <p:val>
                                            <p:strVal val="#ppt_y"/>
                                          </p:val>
                                        </p:tav>
                                      </p:tavLst>
                                    </p:anim>
                                    <p:animEffect transition="in" filter="fade">
                                      <p:cBhvr>
                                        <p:cTn id="124" dur="400"/>
                                        <p:tgtEl>
                                          <p:spTgt spid="32"/>
                                        </p:tgtEl>
                                      </p:cBhvr>
                                    </p:animEffect>
                                  </p:childTnLst>
                                </p:cTn>
                              </p:par>
                              <p:par>
                                <p:cTn id="129" presetID="42" presetClass="entr" presetSubtype="0" fill="hold" grpId="0" nodeType="withEffect">
                                  <p:stCondLst>
                                    <p:cond delay="3820"/>
                                  </p:stCondLst>
                                  <p:childTnLst>
                                    <p:set>
                                      <p:cBhvr>
                                        <p:cTn id="126" dur="1" fill="hold">
                                          <p:stCondLst>
                                            <p:cond delay="0"/>
                                          </p:stCondLst>
                                        </p:cTn>
                                        <p:tgtEl>
                                          <p:spTgt spid="33"/>
                                        </p:tgtEl>
                                        <p:attrNameLst>
                                          <p:attrName>style.visibility</p:attrName>
                                        </p:attrNameLst>
                                      </p:cBhvr>
                                      <p:to>
                                        <p:strVal val="visible"/>
                                      </p:to>
                                    </p:set>
                                    <p:anim calcmode="lin" valueType="num">
                                      <p:cBhvr additive="base">
                                        <p:cTn id="127" dur="400" fill="hold"/>
                                        <p:tgtEl>
                                          <p:spTgt spid="33"/>
                                        </p:tgtEl>
                                        <p:attrNameLst>
                                          <p:attrName>ppt_y</p:attrName>
                                        </p:attrNameLst>
                                      </p:cBhvr>
                                      <p:tavLst>
                                        <p:tav tm="0">
                                          <p:val>
                                            <p:strVal val="#ppt_y+.06"/>
                                          </p:val>
                                        </p:tav>
                                        <p:tav tm="100000">
                                          <p:val>
                                            <p:strVal val="#ppt_y"/>
                                          </p:val>
                                        </p:tav>
                                      </p:tavLst>
                                    </p:anim>
                                    <p:animEffect transition="in" filter="fade">
                                      <p:cBhvr>
                                        <p:cTn id="128" dur="400"/>
                                        <p:tgtEl>
                                          <p:spTgt spid="33"/>
                                        </p:tgtEl>
                                      </p:cBhvr>
                                    </p:animEffect>
                                  </p:childTnLst>
                                </p:cTn>
                              </p:par>
                              <p:par>
                                <p:cTn id="133" presetID="42" presetClass="entr" presetSubtype="0" fill="hold" grpId="0" nodeType="withEffect">
                                  <p:stCondLst>
                                    <p:cond delay="3820"/>
                                  </p:stCondLst>
                                  <p:childTnLst>
                                    <p:set>
                                      <p:cBhvr>
                                        <p:cTn id="130" dur="1" fill="hold">
                                          <p:stCondLst>
                                            <p:cond delay="0"/>
                                          </p:stCondLst>
                                        </p:cTn>
                                        <p:tgtEl>
                                          <p:spTgt spid="34"/>
                                        </p:tgtEl>
                                        <p:attrNameLst>
                                          <p:attrName>style.visibility</p:attrName>
                                        </p:attrNameLst>
                                      </p:cBhvr>
                                      <p:to>
                                        <p:strVal val="visible"/>
                                      </p:to>
                                    </p:set>
                                    <p:anim calcmode="lin" valueType="num">
                                      <p:cBhvr additive="base">
                                        <p:cTn id="131" dur="400" fill="hold"/>
                                        <p:tgtEl>
                                          <p:spTgt spid="34"/>
                                        </p:tgtEl>
                                        <p:attrNameLst>
                                          <p:attrName>ppt_y</p:attrName>
                                        </p:attrNameLst>
                                      </p:cBhvr>
                                      <p:tavLst>
                                        <p:tav tm="0">
                                          <p:val>
                                            <p:strVal val="#ppt_y+.06"/>
                                          </p:val>
                                        </p:tav>
                                        <p:tav tm="100000">
                                          <p:val>
                                            <p:strVal val="#ppt_y"/>
                                          </p:val>
                                        </p:tav>
                                      </p:tavLst>
                                    </p:anim>
                                    <p:animEffect transition="in" filter="fade">
                                      <p:cBhvr>
                                        <p:cTn id="132" dur="400"/>
                                        <p:tgtEl>
                                          <p:spTgt spid="34"/>
                                        </p:tgtEl>
                                      </p:cBhvr>
                                    </p:animEffect>
                                  </p:childTnLst>
                                </p:cTn>
                              </p:par>
                              <p:par>
                                <p:cTn id="137" presetID="42" presetClass="entr" presetSubtype="0" fill="hold" grpId="0" nodeType="withEffect">
                                  <p:stCondLst>
                                    <p:cond delay="3930"/>
                                  </p:stCondLst>
                                  <p:childTnLst>
                                    <p:set>
                                      <p:cBhvr>
                                        <p:cTn id="134" dur="1" fill="hold">
                                          <p:stCondLst>
                                            <p:cond delay="0"/>
                                          </p:stCondLst>
                                        </p:cTn>
                                        <p:tgtEl>
                                          <p:spTgt spid="35"/>
                                        </p:tgtEl>
                                        <p:attrNameLst>
                                          <p:attrName>style.visibility</p:attrName>
                                        </p:attrNameLst>
                                      </p:cBhvr>
                                      <p:to>
                                        <p:strVal val="visible"/>
                                      </p:to>
                                    </p:set>
                                    <p:anim calcmode="lin" valueType="num">
                                      <p:cBhvr additive="base">
                                        <p:cTn id="135" dur="400" fill="hold"/>
                                        <p:tgtEl>
                                          <p:spTgt spid="35"/>
                                        </p:tgtEl>
                                        <p:attrNameLst>
                                          <p:attrName>ppt_y</p:attrName>
                                        </p:attrNameLst>
                                      </p:cBhvr>
                                      <p:tavLst>
                                        <p:tav tm="0">
                                          <p:val>
                                            <p:strVal val="#ppt_y+.06"/>
                                          </p:val>
                                        </p:tav>
                                        <p:tav tm="100000">
                                          <p:val>
                                            <p:strVal val="#ppt_y"/>
                                          </p:val>
                                        </p:tav>
                                      </p:tavLst>
                                    </p:anim>
                                    <p:animEffect transition="in" filter="fade">
                                      <p:cBhvr>
                                        <p:cTn id="136" dur="400"/>
                                        <p:tgtEl>
                                          <p:spTgt spid="35"/>
                                        </p:tgtEl>
                                      </p:cBhvr>
                                    </p:animEffect>
                                  </p:childTnLst>
                                </p:cTn>
                              </p:par>
                              <p:par>
                                <p:cTn id="141" presetID="42" presetClass="entr" presetSubtype="0" fill="hold" grpId="0" nodeType="withEffect">
                                  <p:stCondLst>
                                    <p:cond delay="3930"/>
                                  </p:stCondLst>
                                  <p:childTnLst>
                                    <p:set>
                                      <p:cBhvr>
                                        <p:cTn id="138" dur="1" fill="hold">
                                          <p:stCondLst>
                                            <p:cond delay="0"/>
                                          </p:stCondLst>
                                        </p:cTn>
                                        <p:tgtEl>
                                          <p:spTgt spid="36"/>
                                        </p:tgtEl>
                                        <p:attrNameLst>
                                          <p:attrName>style.visibility</p:attrName>
                                        </p:attrNameLst>
                                      </p:cBhvr>
                                      <p:to>
                                        <p:strVal val="visible"/>
                                      </p:to>
                                    </p:set>
                                    <p:anim calcmode="lin" valueType="num">
                                      <p:cBhvr additive="base">
                                        <p:cTn id="139" dur="400" fill="hold"/>
                                        <p:tgtEl>
                                          <p:spTgt spid="36"/>
                                        </p:tgtEl>
                                        <p:attrNameLst>
                                          <p:attrName>ppt_y</p:attrName>
                                        </p:attrNameLst>
                                      </p:cBhvr>
                                      <p:tavLst>
                                        <p:tav tm="0">
                                          <p:val>
                                            <p:strVal val="#ppt_y+.06"/>
                                          </p:val>
                                        </p:tav>
                                        <p:tav tm="100000">
                                          <p:val>
                                            <p:strVal val="#ppt_y"/>
                                          </p:val>
                                        </p:tav>
                                      </p:tavLst>
                                    </p:anim>
                                    <p:animEffect transition="in" filter="fade">
                                      <p:cBhvr>
                                        <p:cTn id="140" dur="400"/>
                                        <p:tgtEl>
                                          <p:spTgt spid="36"/>
                                        </p:tgtEl>
                                      </p:cBhvr>
                                    </p:animEffect>
                                  </p:childTnLst>
                                </p:cTn>
                              </p:par>
                              <p:par>
                                <p:cTn id="145" presetID="42" presetClass="entr" presetSubtype="0" fill="hold" grpId="0" nodeType="withEffect">
                                  <p:stCondLst>
                                    <p:cond delay="3930"/>
                                  </p:stCondLst>
                                  <p:childTnLst>
                                    <p:set>
                                      <p:cBhvr>
                                        <p:cTn id="142" dur="1" fill="hold">
                                          <p:stCondLst>
                                            <p:cond delay="0"/>
                                          </p:stCondLst>
                                        </p:cTn>
                                        <p:tgtEl>
                                          <p:spTgt spid="37"/>
                                        </p:tgtEl>
                                        <p:attrNameLst>
                                          <p:attrName>style.visibility</p:attrName>
                                        </p:attrNameLst>
                                      </p:cBhvr>
                                      <p:to>
                                        <p:strVal val="visible"/>
                                      </p:to>
                                    </p:set>
                                    <p:anim calcmode="lin" valueType="num">
                                      <p:cBhvr additive="base">
                                        <p:cTn id="143" dur="400" fill="hold"/>
                                        <p:tgtEl>
                                          <p:spTgt spid="37"/>
                                        </p:tgtEl>
                                        <p:attrNameLst>
                                          <p:attrName>ppt_y</p:attrName>
                                        </p:attrNameLst>
                                      </p:cBhvr>
                                      <p:tavLst>
                                        <p:tav tm="0">
                                          <p:val>
                                            <p:strVal val="#ppt_y+.06"/>
                                          </p:val>
                                        </p:tav>
                                        <p:tav tm="100000">
                                          <p:val>
                                            <p:strVal val="#ppt_y"/>
                                          </p:val>
                                        </p:tav>
                                      </p:tavLst>
                                    </p:anim>
                                    <p:animEffect transition="in" filter="fade">
                                      <p:cBhvr>
                                        <p:cTn id="144" dur="400"/>
                                        <p:tgtEl>
                                          <p:spTgt spid="37"/>
                                        </p:tgtEl>
                                      </p:cBhvr>
                                    </p:animEffect>
                                  </p:childTnLst>
                                </p:cTn>
                              </p:par>
                              <p:par>
                                <p:cTn id="149" presetID="42" presetClass="entr" presetSubtype="0" fill="hold" grpId="0" nodeType="withEffect">
                                  <p:stCondLst>
                                    <p:cond delay="4040"/>
                                  </p:stCondLst>
                                  <p:childTnLst>
                                    <p:set>
                                      <p:cBhvr>
                                        <p:cTn id="146" dur="1" fill="hold">
                                          <p:stCondLst>
                                            <p:cond delay="0"/>
                                          </p:stCondLst>
                                        </p:cTn>
                                        <p:tgtEl>
                                          <p:spTgt spid="38"/>
                                        </p:tgtEl>
                                        <p:attrNameLst>
                                          <p:attrName>style.visibility</p:attrName>
                                        </p:attrNameLst>
                                      </p:cBhvr>
                                      <p:to>
                                        <p:strVal val="visible"/>
                                      </p:to>
                                    </p:set>
                                    <p:anim calcmode="lin" valueType="num">
                                      <p:cBhvr additive="base">
                                        <p:cTn id="147" dur="400" fill="hold"/>
                                        <p:tgtEl>
                                          <p:spTgt spid="38"/>
                                        </p:tgtEl>
                                        <p:attrNameLst>
                                          <p:attrName>ppt_y</p:attrName>
                                        </p:attrNameLst>
                                      </p:cBhvr>
                                      <p:tavLst>
                                        <p:tav tm="0">
                                          <p:val>
                                            <p:strVal val="#ppt_y+.06"/>
                                          </p:val>
                                        </p:tav>
                                        <p:tav tm="100000">
                                          <p:val>
                                            <p:strVal val="#ppt_y"/>
                                          </p:val>
                                        </p:tav>
                                      </p:tavLst>
                                    </p:anim>
                                    <p:animEffect transition="in" filter="fade">
                                      <p:cBhvr>
                                        <p:cTn id="148" dur="400"/>
                                        <p:tgtEl>
                                          <p:spTgt spid="38"/>
                                        </p:tgtEl>
                                      </p:cBhvr>
                                    </p:animEffect>
                                  </p:childTnLst>
                                </p:cTn>
                              </p:par>
                              <p:par>
                                <p:cTn id="153" presetID="42" presetClass="entr" presetSubtype="0" fill="hold" grpId="0" nodeType="withEffect">
                                  <p:stCondLst>
                                    <p:cond delay="4040"/>
                                  </p:stCondLst>
                                  <p:childTnLst>
                                    <p:set>
                                      <p:cBhvr>
                                        <p:cTn id="150" dur="1" fill="hold">
                                          <p:stCondLst>
                                            <p:cond delay="0"/>
                                          </p:stCondLst>
                                        </p:cTn>
                                        <p:tgtEl>
                                          <p:spTgt spid="39"/>
                                        </p:tgtEl>
                                        <p:attrNameLst>
                                          <p:attrName>style.visibility</p:attrName>
                                        </p:attrNameLst>
                                      </p:cBhvr>
                                      <p:to>
                                        <p:strVal val="visible"/>
                                      </p:to>
                                    </p:set>
                                    <p:anim calcmode="lin" valueType="num">
                                      <p:cBhvr additive="base">
                                        <p:cTn id="151" dur="400" fill="hold"/>
                                        <p:tgtEl>
                                          <p:spTgt spid="39"/>
                                        </p:tgtEl>
                                        <p:attrNameLst>
                                          <p:attrName>ppt_y</p:attrName>
                                        </p:attrNameLst>
                                      </p:cBhvr>
                                      <p:tavLst>
                                        <p:tav tm="0">
                                          <p:val>
                                            <p:strVal val="#ppt_y+.06"/>
                                          </p:val>
                                        </p:tav>
                                        <p:tav tm="100000">
                                          <p:val>
                                            <p:strVal val="#ppt_y"/>
                                          </p:val>
                                        </p:tav>
                                      </p:tavLst>
                                    </p:anim>
                                    <p:animEffect transition="in" filter="fade">
                                      <p:cBhvr>
                                        <p:cTn id="152" dur="400"/>
                                        <p:tgtEl>
                                          <p:spTgt spid="39"/>
                                        </p:tgtEl>
                                      </p:cBhvr>
                                    </p:animEffect>
                                  </p:childTnLst>
                                </p:cTn>
                              </p:par>
                              <p:par>
                                <p:cTn id="157" presetID="42" presetClass="entr" presetSubtype="0" fill="hold" grpId="0" nodeType="withEffect">
                                  <p:stCondLst>
                                    <p:cond delay="4040"/>
                                  </p:stCondLst>
                                  <p:childTnLst>
                                    <p:set>
                                      <p:cBhvr>
                                        <p:cTn id="154" dur="1" fill="hold">
                                          <p:stCondLst>
                                            <p:cond delay="0"/>
                                          </p:stCondLst>
                                        </p:cTn>
                                        <p:tgtEl>
                                          <p:spTgt spid="40"/>
                                        </p:tgtEl>
                                        <p:attrNameLst>
                                          <p:attrName>style.visibility</p:attrName>
                                        </p:attrNameLst>
                                      </p:cBhvr>
                                      <p:to>
                                        <p:strVal val="visible"/>
                                      </p:to>
                                    </p:set>
                                    <p:anim calcmode="lin" valueType="num">
                                      <p:cBhvr additive="base">
                                        <p:cTn id="155" dur="400" fill="hold"/>
                                        <p:tgtEl>
                                          <p:spTgt spid="40"/>
                                        </p:tgtEl>
                                        <p:attrNameLst>
                                          <p:attrName>ppt_y</p:attrName>
                                        </p:attrNameLst>
                                      </p:cBhvr>
                                      <p:tavLst>
                                        <p:tav tm="0">
                                          <p:val>
                                            <p:strVal val="#ppt_y+.06"/>
                                          </p:val>
                                        </p:tav>
                                        <p:tav tm="100000">
                                          <p:val>
                                            <p:strVal val="#ppt_y"/>
                                          </p:val>
                                        </p:tav>
                                      </p:tavLst>
                                    </p:anim>
                                    <p:animEffect transition="in" filter="fade">
                                      <p:cBhvr>
                                        <p:cTn id="156"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4" grpId="0" animBg="1"/>
      <p:bldP spid="41" grpId="0" animBg="1"/>
      <p:bldP spid="43" grpId="0" animBg="1"/>
      <p:bldP spid="44" grpId="0" animBg="1"/>
      <p:bldP spid="45" grpId="0" animBg="1"/>
      <p:bldP spid="46" grpId="0" animBg="1"/>
      <p:bldP spid="47" grpId="0" animBg="1"/>
      <p:bldP spid="48" grpId="0" animBg="1"/>
      <p:bldP spid="23" grpId="0" animBg="1"/>
      <p:bldP spid="24" grpId="0" animBg="1"/>
      <p:bldP spid="5" grpId="0" animBg="1"/>
      <p:bldP spid="42" grpId="0" animBg="1"/>
      <p:bldP spid="11" grpId="0" animBg="1"/>
      <p:bldP spid="12" grpId="0" animBg="1"/>
      <p:bldP spid="13" grpId="0" animBg="1"/>
      <p:bldP spid="14" grpId="0" animBg="1"/>
      <p:bldP spid="16" grpId="0" animBg="1"/>
      <p:bldP spid="17" grpId="0" animBg="1"/>
      <p:bldP spid="18" grpId="0" animBg="1"/>
      <p:bldP spid="19" grpId="0" animBg="1"/>
      <p:bldP spid="15" grpId="0" animBg="1"/>
      <p:bldP spid="20"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640080" y="457200"/>
            <a:ext cx="8229600" cy="237744"/>
          </a:xfrm>
          <a:prstGeom prst="rect">
            <a:avLst/>
          </a:prstGeom>
          <a:noFill/>
          <a:ln/>
        </p:spPr>
        <p:txBody>
          <a:bodyPr wrap="square" lIns="0" tIns="0" rIns="0" bIns="0" rtlCol="0" anchor="t"/>
          <a:lstStyle/>
          <a:p>
            <a:pPr algn="l" indent="0" marL="0">
              <a:buNone/>
            </a:pPr>
            <a:r>
              <a:rPr lang="en-US" sz="1000" spc="250" kern="0" dirty="0">
                <a:solidFill>
                  <a:schemeClr val="accent5"/>
                </a:solidFill>
                <a:latin typeface="Segoe UI Semibold" pitchFamily="34" charset="0"/>
                <a:ea typeface="Segoe UI Semibold" pitchFamily="34" charset="-122"/>
                <a:cs typeface="Segoe UI Semibold" pitchFamily="34" charset="-120"/>
              </a:rPr>
              <a:t>03  —  THE SOLUTION</a:t>
            </a:r>
            <a:endParaRPr lang="en-US" sz="1000" dirty="0"/>
          </a:p>
        </p:txBody>
      </p:sp>
      <p:sp>
        <p:nvSpPr>
          <p:cNvPr id="3" name="Text 1"/>
          <p:cNvSpPr/>
          <p:nvPr>
            <p:ph idx="103" type="title" hasCustomPrompt="1"/>
          </p:nvPr>
        </p:nvSpPr>
        <p:spPr>
          <a:xfrm>
            <a:off x="640080" y="749808"/>
            <a:ext cx="10911535" cy="1051560"/>
          </a:xfrm>
          <a:prstGeom prst="rect">
            <a:avLst/>
          </a:prstGeom>
          <a:noFill/>
          <a:ln/>
        </p:spPr>
        <p:txBody>
          <a:bodyPr wrap="square" lIns="0" tIns="0" rIns="0" bIns="0" rtlCol="0" anchor="t"/>
          <a:lstStyle/>
          <a:p>
            <a:pPr algn="l" indent="0" marL="0">
              <a:buNone/>
            </a:pPr>
            <a:r>
              <a:rPr lang="en-US" sz="3400" dirty="0">
                <a:solidFill>
                  <a:schemeClr val="tx1"/>
                </a:solidFill>
              </a:rPr>
              <a:t>From Route Finding to Evidence-Based Route Intelligence</a:t>
            </a:r>
            <a:endParaRPr lang="en-US" sz="3400" dirty="0"/>
          </a:p>
        </p:txBody>
      </p:sp>
      <p:sp>
        <p:nvSpPr>
          <p:cNvPr id="4" name="st0_1"/>
          <p:cNvSpPr/>
          <p:nvPr/>
        </p:nvSpPr>
        <p:spPr>
          <a:xfrm>
            <a:off x="640080" y="2103120"/>
            <a:ext cx="6126480" cy="0"/>
          </a:xfrm>
          <a:prstGeom prst="line">
            <a:avLst/>
          </a:prstGeom>
          <a:noFill/>
          <a:ln w="12700">
            <a:solidFill>
              <a:srgbClr val="D6D0C2"/>
            </a:solidFill>
            <a:prstDash val="solid"/>
          </a:ln>
        </p:spPr>
        <p:txBody>
          <a:bodyPr/>
          <a:p/>
        </p:txBody>
      </p:sp>
      <p:sp>
        <p:nvSpPr>
          <p:cNvPr id="5" name="st0_2"/>
          <p:cNvSpPr txBox="1"/>
          <p:nvPr/>
        </p:nvSpPr>
        <p:spPr>
          <a:xfrm>
            <a:off x="640080" y="2176272"/>
            <a:ext cx="457200" cy="438912"/>
          </a:xfrm>
          <a:prstGeom prst="rect">
            <a:avLst/>
          </a:prstGeom>
          <a:noFill/>
          <a:ln/>
        </p:spPr>
        <p:txBody>
          <a:bodyPr wrap="square" lIns="0" tIns="0" rIns="0" bIns="0" rtlCol="0" anchor="ctr"/>
          <a:lstStyle/>
          <a:p>
            <a:pPr indent="0" marL="0">
              <a:buNone/>
            </a:pPr>
            <a:r>
              <a:rPr lang="en-US" sz="2400" dirty="0">
                <a:solidFill>
                  <a:schemeClr val="accent4"/>
                </a:solidFill>
                <a:latin typeface="Segoe UI Light" pitchFamily="34" charset="0"/>
                <a:ea typeface="Segoe UI Light" pitchFamily="34" charset="-122"/>
                <a:cs typeface="Segoe UI Light" pitchFamily="34" charset="-120"/>
              </a:rPr>
              <a:t>1</a:t>
            </a:r>
            <a:endParaRPr lang="en-US" sz="2400" dirty="0"/>
          </a:p>
        </p:txBody>
      </p:sp>
      <p:sp>
        <p:nvSpPr>
          <p:cNvPr id="6" name="st0_3"/>
          <p:cNvSpPr txBox="1"/>
          <p:nvPr/>
        </p:nvSpPr>
        <p:spPr>
          <a:xfrm>
            <a:off x="1188720" y="2157984"/>
            <a:ext cx="5486400" cy="475488"/>
          </a:xfrm>
          <a:prstGeom prst="rect">
            <a:avLst/>
          </a:prstGeom>
          <a:noFill/>
          <a:ln/>
        </p:spPr>
        <p:txBody>
          <a:bodyPr wrap="square" lIns="0" tIns="0" rIns="0" bIns="0" rtlCol="0" anchor="ctr"/>
          <a:lstStyle/>
          <a:p>
            <a:pPr indent="0" marL="0">
              <a:buNone/>
            </a:pPr>
            <a:r>
              <a:rPr lang="en-US" sz="1350" dirty="0">
                <a:solidFill>
                  <a:schemeClr val="tx1"/>
                </a:solidFill>
              </a:rPr>
              <a:t>Select an origin and destination</a:t>
            </a:r>
            <a:endParaRPr lang="en-US" sz="1350" dirty="0"/>
          </a:p>
        </p:txBody>
      </p:sp>
      <p:sp>
        <p:nvSpPr>
          <p:cNvPr id="7" name="st1_4"/>
          <p:cNvSpPr/>
          <p:nvPr/>
        </p:nvSpPr>
        <p:spPr>
          <a:xfrm>
            <a:off x="640080" y="2688336"/>
            <a:ext cx="6126480" cy="0"/>
          </a:xfrm>
          <a:prstGeom prst="line">
            <a:avLst/>
          </a:prstGeom>
          <a:noFill/>
          <a:ln w="12700">
            <a:solidFill>
              <a:srgbClr val="D6D0C2"/>
            </a:solidFill>
            <a:prstDash val="solid"/>
          </a:ln>
        </p:spPr>
        <p:txBody>
          <a:bodyPr/>
          <a:p/>
        </p:txBody>
      </p:sp>
      <p:sp>
        <p:nvSpPr>
          <p:cNvPr id="8" name="st1_5"/>
          <p:cNvSpPr txBox="1"/>
          <p:nvPr/>
        </p:nvSpPr>
        <p:spPr>
          <a:xfrm>
            <a:off x="640080" y="2761488"/>
            <a:ext cx="457200" cy="438912"/>
          </a:xfrm>
          <a:prstGeom prst="rect">
            <a:avLst/>
          </a:prstGeom>
          <a:noFill/>
          <a:ln/>
        </p:spPr>
        <p:txBody>
          <a:bodyPr wrap="square" lIns="0" tIns="0" rIns="0" bIns="0" rtlCol="0" anchor="ctr"/>
          <a:lstStyle/>
          <a:p>
            <a:pPr indent="0" marL="0">
              <a:buNone/>
            </a:pPr>
            <a:r>
              <a:rPr lang="en-US" sz="2400" dirty="0">
                <a:solidFill>
                  <a:schemeClr val="accent4"/>
                </a:solidFill>
                <a:latin typeface="Segoe UI Light" pitchFamily="34" charset="0"/>
                <a:ea typeface="Segoe UI Light" pitchFamily="34" charset="-122"/>
                <a:cs typeface="Segoe UI Light" pitchFamily="34" charset="-120"/>
              </a:rPr>
              <a:t>2</a:t>
            </a:r>
            <a:endParaRPr lang="en-US" sz="2400" dirty="0"/>
          </a:p>
        </p:txBody>
      </p:sp>
      <p:sp>
        <p:nvSpPr>
          <p:cNvPr id="9" name="st1_6"/>
          <p:cNvSpPr txBox="1"/>
          <p:nvPr/>
        </p:nvSpPr>
        <p:spPr>
          <a:xfrm>
            <a:off x="1188720" y="2743200"/>
            <a:ext cx="5486400" cy="475488"/>
          </a:xfrm>
          <a:prstGeom prst="rect">
            <a:avLst/>
          </a:prstGeom>
          <a:noFill/>
          <a:ln/>
        </p:spPr>
        <p:txBody>
          <a:bodyPr wrap="square" lIns="0" tIns="0" rIns="0" bIns="0" rtlCol="0" anchor="ctr"/>
          <a:lstStyle/>
          <a:p>
            <a:pPr indent="0" marL="0">
              <a:buNone/>
            </a:pPr>
            <a:r>
              <a:rPr lang="en-US" sz="1350" dirty="0">
                <a:solidFill>
                  <a:schemeClr val="tx1"/>
                </a:solidFill>
              </a:rPr>
              <a:t>Generate multiple candidate routes from real OpenStreetMap road-network data</a:t>
            </a:r>
            <a:endParaRPr lang="en-US" sz="1350" dirty="0"/>
          </a:p>
        </p:txBody>
      </p:sp>
      <p:sp>
        <p:nvSpPr>
          <p:cNvPr id="10" name="st2_7"/>
          <p:cNvSpPr/>
          <p:nvPr/>
        </p:nvSpPr>
        <p:spPr>
          <a:xfrm>
            <a:off x="640080" y="3273552"/>
            <a:ext cx="6126480" cy="0"/>
          </a:xfrm>
          <a:prstGeom prst="line">
            <a:avLst/>
          </a:prstGeom>
          <a:noFill/>
          <a:ln w="12700">
            <a:solidFill>
              <a:srgbClr val="D6D0C2"/>
            </a:solidFill>
            <a:prstDash val="solid"/>
          </a:ln>
        </p:spPr>
        <p:txBody>
          <a:bodyPr/>
          <a:p/>
        </p:txBody>
      </p:sp>
      <p:sp>
        <p:nvSpPr>
          <p:cNvPr id="11" name="st2_8"/>
          <p:cNvSpPr txBox="1"/>
          <p:nvPr/>
        </p:nvSpPr>
        <p:spPr>
          <a:xfrm>
            <a:off x="640080" y="3346704"/>
            <a:ext cx="457200" cy="438912"/>
          </a:xfrm>
          <a:prstGeom prst="rect">
            <a:avLst/>
          </a:prstGeom>
          <a:noFill/>
          <a:ln/>
        </p:spPr>
        <p:txBody>
          <a:bodyPr wrap="square" lIns="0" tIns="0" rIns="0" bIns="0" rtlCol="0" anchor="ctr"/>
          <a:lstStyle/>
          <a:p>
            <a:pPr indent="0" marL="0">
              <a:buNone/>
            </a:pPr>
            <a:r>
              <a:rPr lang="en-US" sz="2400" dirty="0">
                <a:solidFill>
                  <a:schemeClr val="accent4"/>
                </a:solidFill>
                <a:latin typeface="Segoe UI Light" pitchFamily="34" charset="0"/>
                <a:ea typeface="Segoe UI Light" pitchFamily="34" charset="-122"/>
                <a:cs typeface="Segoe UI Light" pitchFamily="34" charset="-120"/>
              </a:rPr>
              <a:t>3</a:t>
            </a:r>
            <a:endParaRPr lang="en-US" sz="2400" dirty="0"/>
          </a:p>
        </p:txBody>
      </p:sp>
      <p:sp>
        <p:nvSpPr>
          <p:cNvPr id="12" name="st2_9"/>
          <p:cNvSpPr txBox="1"/>
          <p:nvPr/>
        </p:nvSpPr>
        <p:spPr>
          <a:xfrm>
            <a:off x="1188720" y="3328416"/>
            <a:ext cx="5486400" cy="475488"/>
          </a:xfrm>
          <a:prstGeom prst="rect">
            <a:avLst/>
          </a:prstGeom>
          <a:noFill/>
          <a:ln/>
        </p:spPr>
        <p:txBody>
          <a:bodyPr wrap="square" lIns="0" tIns="0" rIns="0" bIns="0" rtlCol="0" anchor="ctr"/>
          <a:lstStyle/>
          <a:p>
            <a:pPr indent="0" marL="0">
              <a:buNone/>
            </a:pPr>
            <a:r>
              <a:rPr lang="en-US" sz="1350" dirty="0">
                <a:solidFill>
                  <a:schemeClr val="tx1"/>
                </a:solidFill>
              </a:rPr>
              <a:t>Weigh hazards, congestion, report age, verification status, and silence on flood-prone roads</a:t>
            </a:r>
            <a:endParaRPr lang="en-US" sz="1350" dirty="0"/>
          </a:p>
        </p:txBody>
      </p:sp>
      <p:sp>
        <p:nvSpPr>
          <p:cNvPr id="13" name="st3_10"/>
          <p:cNvSpPr/>
          <p:nvPr/>
        </p:nvSpPr>
        <p:spPr>
          <a:xfrm>
            <a:off x="640080" y="3858768"/>
            <a:ext cx="6126480" cy="0"/>
          </a:xfrm>
          <a:prstGeom prst="line">
            <a:avLst/>
          </a:prstGeom>
          <a:noFill/>
          <a:ln w="12700">
            <a:solidFill>
              <a:srgbClr val="D6D0C2"/>
            </a:solidFill>
            <a:prstDash val="solid"/>
          </a:ln>
        </p:spPr>
        <p:txBody>
          <a:bodyPr/>
          <a:p/>
        </p:txBody>
      </p:sp>
      <p:sp>
        <p:nvSpPr>
          <p:cNvPr id="14" name="st3_11"/>
          <p:cNvSpPr txBox="1"/>
          <p:nvPr/>
        </p:nvSpPr>
        <p:spPr>
          <a:xfrm>
            <a:off x="640080" y="3931920"/>
            <a:ext cx="457200" cy="438912"/>
          </a:xfrm>
          <a:prstGeom prst="rect">
            <a:avLst/>
          </a:prstGeom>
          <a:noFill/>
          <a:ln/>
        </p:spPr>
        <p:txBody>
          <a:bodyPr wrap="square" lIns="0" tIns="0" rIns="0" bIns="0" rtlCol="0" anchor="ctr"/>
          <a:lstStyle/>
          <a:p>
            <a:pPr indent="0" marL="0">
              <a:buNone/>
            </a:pPr>
            <a:r>
              <a:rPr lang="en-US" sz="2400" dirty="0">
                <a:solidFill>
                  <a:schemeClr val="accent3"/>
                </a:solidFill>
                <a:latin typeface="Segoe UI Light" pitchFamily="34" charset="0"/>
                <a:ea typeface="Segoe UI Light" pitchFamily="34" charset="-122"/>
                <a:cs typeface="Segoe UI Light" pitchFamily="34" charset="-120"/>
              </a:rPr>
              <a:t>4</a:t>
            </a:r>
            <a:endParaRPr lang="en-US" sz="2400" dirty="0"/>
          </a:p>
        </p:txBody>
      </p:sp>
      <p:sp>
        <p:nvSpPr>
          <p:cNvPr id="15" name="st3_12"/>
          <p:cNvSpPr txBox="1"/>
          <p:nvPr/>
        </p:nvSpPr>
        <p:spPr>
          <a:xfrm>
            <a:off x="1188720" y="3913632"/>
            <a:ext cx="5486400" cy="475488"/>
          </a:xfrm>
          <a:prstGeom prst="rect">
            <a:avLst/>
          </a:prstGeom>
          <a:noFill/>
          <a:ln/>
        </p:spPr>
        <p:txBody>
          <a:bodyPr wrap="square" lIns="0" tIns="0" rIns="0" bIns="0" rtlCol="0" anchor="ctr"/>
          <a:lstStyle/>
          <a:p>
            <a:pPr indent="0" marL="0">
              <a:buNone/>
            </a:pPr>
            <a:r>
              <a:rPr lang="en-US" sz="1350" dirty="0">
                <a:solidFill>
                  <a:schemeClr val="tx1"/>
                </a:solidFill>
              </a:rPr>
              <a:t>Reject routes blocked by verified or corroborated impassable incidents</a:t>
            </a:r>
            <a:endParaRPr lang="en-US" sz="1350" dirty="0"/>
          </a:p>
        </p:txBody>
      </p:sp>
      <p:sp>
        <p:nvSpPr>
          <p:cNvPr id="16" name="st4_13"/>
          <p:cNvSpPr/>
          <p:nvPr/>
        </p:nvSpPr>
        <p:spPr>
          <a:xfrm>
            <a:off x="640080" y="4443984"/>
            <a:ext cx="6126480" cy="0"/>
          </a:xfrm>
          <a:prstGeom prst="line">
            <a:avLst/>
          </a:prstGeom>
          <a:noFill/>
          <a:ln w="12700">
            <a:solidFill>
              <a:srgbClr val="D6D0C2"/>
            </a:solidFill>
            <a:prstDash val="solid"/>
          </a:ln>
        </p:spPr>
        <p:txBody>
          <a:bodyPr/>
          <a:p/>
        </p:txBody>
      </p:sp>
      <p:sp>
        <p:nvSpPr>
          <p:cNvPr id="17" name="st4_14"/>
          <p:cNvSpPr txBox="1"/>
          <p:nvPr/>
        </p:nvSpPr>
        <p:spPr>
          <a:xfrm>
            <a:off x="640080" y="4517136"/>
            <a:ext cx="457200" cy="438912"/>
          </a:xfrm>
          <a:prstGeom prst="rect">
            <a:avLst/>
          </a:prstGeom>
          <a:noFill/>
          <a:ln/>
        </p:spPr>
        <p:txBody>
          <a:bodyPr wrap="square" lIns="0" tIns="0" rIns="0" bIns="0" rtlCol="0" anchor="ctr"/>
          <a:lstStyle/>
          <a:p>
            <a:pPr indent="0" marL="0">
              <a:buNone/>
            </a:pPr>
            <a:r>
              <a:rPr lang="en-US" sz="2400" dirty="0">
                <a:solidFill>
                  <a:schemeClr val="accent4"/>
                </a:solidFill>
                <a:latin typeface="Segoe UI Light" pitchFamily="34" charset="0"/>
                <a:ea typeface="Segoe UI Light" pitchFamily="34" charset="-122"/>
                <a:cs typeface="Segoe UI Light" pitchFamily="34" charset="-120"/>
              </a:rPr>
              <a:t>5</a:t>
            </a:r>
            <a:endParaRPr lang="en-US" sz="2400" dirty="0"/>
          </a:p>
        </p:txBody>
      </p:sp>
      <p:sp>
        <p:nvSpPr>
          <p:cNvPr id="18" name="st4_15"/>
          <p:cNvSpPr txBox="1"/>
          <p:nvPr/>
        </p:nvSpPr>
        <p:spPr>
          <a:xfrm>
            <a:off x="1188720" y="4498848"/>
            <a:ext cx="5486400" cy="475488"/>
          </a:xfrm>
          <a:prstGeom prst="rect">
            <a:avLst/>
          </a:prstGeom>
          <a:noFill/>
          <a:ln/>
        </p:spPr>
        <p:txBody>
          <a:bodyPr wrap="square" lIns="0" tIns="0" rIns="0" bIns="0" rtlCol="0" anchor="ctr"/>
          <a:lstStyle/>
          <a:p>
            <a:pPr indent="0" marL="0">
              <a:buNone/>
            </a:pPr>
            <a:r>
              <a:rPr lang="en-US" sz="1350" dirty="0">
                <a:solidFill>
                  <a:schemeClr val="tx1"/>
                </a:solidFill>
              </a:rPr>
              <a:t>Rank viable alternatives and explain the recommendation</a:t>
            </a:r>
            <a:endParaRPr lang="en-US" sz="1350" dirty="0"/>
          </a:p>
        </p:txBody>
      </p:sp>
      <p:sp>
        <p:nvSpPr>
          <p:cNvPr id="19" name="st5_16"/>
          <p:cNvSpPr/>
          <p:nvPr/>
        </p:nvSpPr>
        <p:spPr>
          <a:xfrm>
            <a:off x="640080" y="5029200"/>
            <a:ext cx="6126480" cy="0"/>
          </a:xfrm>
          <a:prstGeom prst="line">
            <a:avLst/>
          </a:prstGeom>
          <a:noFill/>
          <a:ln w="12700">
            <a:solidFill>
              <a:srgbClr val="D6D0C2"/>
            </a:solidFill>
            <a:prstDash val="solid"/>
          </a:ln>
        </p:spPr>
        <p:txBody>
          <a:bodyPr/>
          <a:p/>
        </p:txBody>
      </p:sp>
      <p:sp>
        <p:nvSpPr>
          <p:cNvPr id="20" name="st5_17"/>
          <p:cNvSpPr txBox="1"/>
          <p:nvPr/>
        </p:nvSpPr>
        <p:spPr>
          <a:xfrm>
            <a:off x="640080" y="5102352"/>
            <a:ext cx="457200" cy="438912"/>
          </a:xfrm>
          <a:prstGeom prst="rect">
            <a:avLst/>
          </a:prstGeom>
          <a:noFill/>
          <a:ln/>
        </p:spPr>
        <p:txBody>
          <a:bodyPr wrap="square" lIns="0" tIns="0" rIns="0" bIns="0" rtlCol="0" anchor="ctr"/>
          <a:lstStyle/>
          <a:p>
            <a:pPr indent="0" marL="0">
              <a:buNone/>
            </a:pPr>
            <a:r>
              <a:rPr lang="en-US" sz="2400" dirty="0">
                <a:solidFill>
                  <a:schemeClr val="accent4"/>
                </a:solidFill>
                <a:latin typeface="Segoe UI Light" pitchFamily="34" charset="0"/>
                <a:ea typeface="Segoe UI Light" pitchFamily="34" charset="-122"/>
                <a:cs typeface="Segoe UI Light" pitchFamily="34" charset="-120"/>
              </a:rPr>
              <a:t>6</a:t>
            </a:r>
            <a:endParaRPr lang="en-US" sz="2400" dirty="0"/>
          </a:p>
        </p:txBody>
      </p:sp>
      <p:sp>
        <p:nvSpPr>
          <p:cNvPr id="21" name="st5_18"/>
          <p:cNvSpPr txBox="1"/>
          <p:nvPr/>
        </p:nvSpPr>
        <p:spPr>
          <a:xfrm>
            <a:off x="1188720" y="5084064"/>
            <a:ext cx="5486400" cy="475488"/>
          </a:xfrm>
          <a:prstGeom prst="rect">
            <a:avLst/>
          </a:prstGeom>
          <a:noFill/>
          <a:ln/>
        </p:spPr>
        <p:txBody>
          <a:bodyPr wrap="square" lIns="0" tIns="0" rIns="0" bIns="0" rtlCol="0" anchor="ctr"/>
          <a:lstStyle/>
          <a:p>
            <a:pPr indent="0" marL="0">
              <a:buNone/>
            </a:pPr>
            <a:r>
              <a:rPr lang="en-US" sz="1350" dirty="0">
                <a:solidFill>
                  <a:schemeClr val="tx1"/>
                </a:solidFill>
              </a:rPr>
              <a:t>Recalculate when new evidence changes the situation</a:t>
            </a:r>
            <a:endParaRPr lang="en-US" sz="1350" dirty="0"/>
          </a:p>
        </p:txBody>
      </p:sp>
      <p:sp>
        <p:nvSpPr>
          <p:cNvPr id="22" name="st5_19"/>
          <p:cNvSpPr/>
          <p:nvPr/>
        </p:nvSpPr>
        <p:spPr>
          <a:xfrm>
            <a:off x="640080" y="5614416"/>
            <a:ext cx="6126480" cy="0"/>
          </a:xfrm>
          <a:prstGeom prst="line">
            <a:avLst/>
          </a:prstGeom>
          <a:noFill/>
          <a:ln w="12700">
            <a:solidFill>
              <a:srgbClr val="D6D0C2"/>
            </a:solidFill>
            <a:prstDash val="solid"/>
          </a:ln>
        </p:spPr>
        <p:txBody>
          <a:bodyPr/>
          <a:p/>
        </p:txBody>
      </p:sp>
      <p:sp>
        <p:nvSpPr>
          <p:cNvPr id="23" name="note_20"/>
          <p:cNvSpPr txBox="1"/>
          <p:nvPr/>
        </p:nvSpPr>
        <p:spPr>
          <a:xfrm>
            <a:off x="640080" y="5760720"/>
            <a:ext cx="6126480" cy="502920"/>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Estimated travel time</a:t>
            </a:r>
            <a:pPr indent="0" marL="0">
              <a:buNone/>
            </a:pPr>
            <a:r>
              <a:rPr lang="en-US" sz="1100" dirty="0">
                <a:solidFill>
                  <a:schemeClr val="accent5"/>
                </a:solidFill>
              </a:rPr>
              <a:t> is congestion-adjusted minutes. </a:t>
            </a:r>
            <a:pPr indent="0" marL="0">
              <a:buNone/>
            </a:pPr>
            <a:r>
              <a:rPr lang="en-US" sz="1100" dirty="0">
                <a:solidFill>
                  <a:srgbClr val="B45309"/>
                </a:solidFill>
                <a:latin typeface="Segoe UI Semibold" pitchFamily="34" charset="0"/>
                <a:ea typeface="Segoe UI Semibold" pitchFamily="34" charset="-122"/>
                <a:cs typeface="Segoe UI Semibold" pitchFamily="34" charset="-120"/>
              </a:rPr>
              <a:t>Emergency-cost score</a:t>
            </a:r>
            <a:pPr indent="0" marL="0">
              <a:buNone/>
            </a:pPr>
            <a:r>
              <a:rPr lang="en-US" sz="1100" dirty="0">
                <a:solidFill>
                  <a:schemeClr val="accent5"/>
                </a:solidFill>
              </a:rPr>
              <a:t> is separate: it adds hazard, report-age and missing-data penalties and is used only to rank routes.</a:t>
            </a:r>
            <a:endParaRPr lang="en-US" sz="1100" dirty="0"/>
          </a:p>
        </p:txBody>
      </p:sp>
      <p:sp>
        <p:nvSpPr>
          <p:cNvPr id="24" name="ph_21"/>
          <p:cNvSpPr/>
          <p:nvPr/>
        </p:nvSpPr>
        <p:spPr>
          <a:xfrm>
            <a:off x="7726680" y="1371600"/>
            <a:ext cx="3429000" cy="4937760"/>
          </a:xfrm>
          <a:prstGeom prst="roundRect">
            <a:avLst>
              <a:gd name="adj" fmla="val 11200"/>
            </a:avLst>
          </a:prstGeom>
          <a:solidFill>
            <a:schemeClr val="tx1"/>
          </a:solidFill>
          <a:ln/>
          <a:effectLst>
            <a:outerShdw sx="100000" sy="100000" kx="0" ky="0" algn="bl" rotWithShape="0" blurRad="381000" dist="152400" dir="5400000">
              <a:srgbClr val="26123F">
                <a:alpha val="28000"/>
              </a:srgbClr>
            </a:outerShdw>
          </a:effectLst>
        </p:spPr>
        <p:txBody>
          <a:bodyPr/>
          <a:p/>
        </p:txBody>
      </p:sp>
      <p:sp>
        <p:nvSpPr>
          <p:cNvPr id="25" name="ph_22"/>
          <p:cNvSpPr/>
          <p:nvPr/>
        </p:nvSpPr>
        <p:spPr>
          <a:xfrm>
            <a:off x="7818120" y="1463040"/>
            <a:ext cx="3246120" cy="4754880"/>
          </a:xfrm>
          <a:prstGeom prst="roundRect">
            <a:avLst>
              <a:gd name="adj" fmla="val 9296"/>
            </a:avLst>
          </a:prstGeom>
          <a:solidFill>
            <a:srgbClr val="F6F1E9"/>
          </a:solidFill>
          <a:ln/>
        </p:spPr>
        <p:txBody>
          <a:bodyPr/>
          <a:p/>
        </p:txBody>
      </p:sp>
      <p:pic>
        <p:nvPicPr>
          <p:cNvPr id="26" name="pm_23" descr="3D map of a flood-prone rail corridor, built from OpenStreetMap data">    </p:cNvPr>
          <p:cNvPicPr>
            <a:picLocks noChangeAspect="1"/>
          </p:cNvPicPr>
          <p:nvPr/>
        </p:nvPicPr>
        <p:blipFill>
          <a:blip r:embed="rId1"/>
          <a:stretch>
            <a:fillRect/>
          </a:stretch>
        </p:blipFill>
        <p:spPr>
          <a:xfrm>
            <a:off x="7818120" y="1463040"/>
            <a:ext cx="3246120" cy="2514600"/>
          </a:xfrm>
          <a:prstGeom prst="rect">
            <a:avLst/>
          </a:prstGeom>
        </p:spPr>
      </p:pic>
      <p:pic>
        <p:nvPicPr>
          <p:cNvPr id="27" name="pm_24" descr="Route A">    </p:cNvPr>
          <p:cNvPicPr>
            <a:picLocks noChangeAspect="1"/>
          </p:cNvPicPr>
          <p:nvPr/>
        </p:nvPicPr>
        <p:blipFill>
          <a:blip r:embed="rId2"/>
          <a:stretch>
            <a:fillRect/>
          </a:stretch>
        </p:blipFill>
        <p:spPr>
          <a:xfrm>
            <a:off x="7818120" y="1463040"/>
            <a:ext cx="3246120" cy="2514600"/>
          </a:xfrm>
          <a:prstGeom prst="rect">
            <a:avLst/>
          </a:prstGeom>
        </p:spPr>
      </p:pic>
      <p:pic>
        <p:nvPicPr>
          <p:cNvPr id="28" name="pm_25" descr="Route C">    </p:cNvPr>
          <p:cNvPicPr>
            <a:picLocks noChangeAspect="1"/>
          </p:cNvPicPr>
          <p:nvPr/>
        </p:nvPicPr>
        <p:blipFill>
          <a:blip r:embed="rId3"/>
          <a:stretch>
            <a:fillRect/>
          </a:stretch>
        </p:blipFill>
        <p:spPr>
          <a:xfrm>
            <a:off x="7818120" y="1463040"/>
            <a:ext cx="3246120" cy="2514600"/>
          </a:xfrm>
          <a:prstGeom prst="rect">
            <a:avLst/>
          </a:prstGeom>
        </p:spPr>
      </p:pic>
      <p:pic>
        <p:nvPicPr>
          <p:cNvPr id="29" name="pm_26" descr="Route B">    </p:cNvPr>
          <p:cNvPicPr>
            <a:picLocks noChangeAspect="1"/>
          </p:cNvPicPr>
          <p:nvPr/>
        </p:nvPicPr>
        <p:blipFill>
          <a:blip r:embed="rId4"/>
          <a:stretch>
            <a:fillRect/>
          </a:stretch>
        </p:blipFill>
        <p:spPr>
          <a:xfrm>
            <a:off x="7818120" y="1463040"/>
            <a:ext cx="3246120" cy="2514600"/>
          </a:xfrm>
          <a:prstGeom prst="rect">
            <a:avLst/>
          </a:prstGeom>
        </p:spPr>
      </p:pic>
      <p:sp>
        <p:nvSpPr>
          <p:cNvPr id="30" name="pm_27"/>
          <p:cNvSpPr txBox="1"/>
          <p:nvPr/>
        </p:nvSpPr>
        <p:spPr>
          <a:xfrm>
            <a:off x="9416472" y="1801921"/>
            <a:ext cx="237744" cy="237744"/>
          </a:xfrm>
          <a:prstGeom prst="ellipse">
            <a:avLst/>
          </a:prstGeom>
          <a:solidFill>
            <a:schemeClr val="accent3"/>
          </a:solidFill>
          <a:ln w="19050">
            <a:solidFill>
              <a:srgbClr val="FFFFFF"/>
            </a:solid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a:t>
            </a:r>
            <a:endParaRPr lang="en-US" sz="1100" dirty="0"/>
          </a:p>
        </p:txBody>
      </p:sp>
      <p:sp>
        <p:nvSpPr>
          <p:cNvPr id="31" name="sheet_28"/>
          <p:cNvSpPr/>
          <p:nvPr/>
        </p:nvSpPr>
        <p:spPr>
          <a:xfrm>
            <a:off x="7818120" y="3703320"/>
            <a:ext cx="3246120" cy="2514600"/>
          </a:xfrm>
          <a:prstGeom prst="roundRect">
            <a:avLst>
              <a:gd name="adj" fmla="val 10909"/>
            </a:avLst>
          </a:prstGeom>
          <a:solidFill>
            <a:srgbClr val="FFFFFF"/>
          </a:solidFill>
          <a:ln/>
        </p:spPr>
        <p:txBody>
          <a:bodyPr/>
          <a:p/>
        </p:txBody>
      </p:sp>
      <p:sp>
        <p:nvSpPr>
          <p:cNvPr id="32" name="ph_29"/>
          <p:cNvSpPr/>
          <p:nvPr/>
        </p:nvSpPr>
        <p:spPr>
          <a:xfrm>
            <a:off x="8983980" y="1527048"/>
            <a:ext cx="914400" cy="182880"/>
          </a:xfrm>
          <a:prstGeom prst="roundRect">
            <a:avLst>
              <a:gd name="adj" fmla="val 50000"/>
            </a:avLst>
          </a:prstGeom>
          <a:solidFill>
            <a:schemeClr val="tx1"/>
          </a:solidFill>
          <a:ln/>
        </p:spPr>
        <p:txBody>
          <a:bodyPr/>
          <a:p/>
        </p:txBody>
      </p:sp>
      <p:sp>
        <p:nvSpPr>
          <p:cNvPr id="33" name="sheet_30"/>
          <p:cNvSpPr/>
          <p:nvPr/>
        </p:nvSpPr>
        <p:spPr>
          <a:xfrm>
            <a:off x="9240012" y="3794760"/>
            <a:ext cx="402336" cy="45720"/>
          </a:xfrm>
          <a:prstGeom prst="roundRect">
            <a:avLst>
              <a:gd name="adj" fmla="val 50000"/>
            </a:avLst>
          </a:prstGeom>
          <a:solidFill>
            <a:srgbClr val="D6D0C2"/>
          </a:solidFill>
          <a:ln/>
        </p:spPr>
        <p:txBody>
          <a:bodyPr/>
          <a:p/>
        </p:txBody>
      </p:sp>
      <p:sp>
        <p:nvSpPr>
          <p:cNvPr id="34" name="sheet_31"/>
          <p:cNvSpPr txBox="1"/>
          <p:nvPr/>
        </p:nvSpPr>
        <p:spPr>
          <a:xfrm>
            <a:off x="8046720" y="3922776"/>
            <a:ext cx="278892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Recommended route</a:t>
            </a:r>
            <a:endParaRPr lang="en-US" sz="1100" dirty="0"/>
          </a:p>
        </p:txBody>
      </p:sp>
      <p:sp>
        <p:nvSpPr>
          <p:cNvPr id="35" name="sheet_32"/>
          <p:cNvSpPr txBox="1"/>
          <p:nvPr/>
        </p:nvSpPr>
        <p:spPr>
          <a:xfrm>
            <a:off x="8046720" y="4123944"/>
            <a:ext cx="1645920" cy="384048"/>
          </a:xfrm>
          <a:prstGeom prst="rect">
            <a:avLst/>
          </a:prstGeom>
          <a:noFill/>
          <a:ln/>
        </p:spPr>
        <p:txBody>
          <a:bodyPr wrap="square" lIns="0" tIns="0" rIns="0" bIns="0" rtlCol="0" anchor="ctr"/>
          <a:lstStyle/>
          <a:p>
            <a:pPr indent="0" marL="0">
              <a:buNone/>
            </a:pPr>
            <a:r>
              <a:rPr lang="en-US" sz="2400" dirty="0">
                <a:solidFill>
                  <a:schemeClr val="tx1"/>
                </a:solidFill>
                <a:latin typeface="Segoe UI Semibold" pitchFamily="34" charset="0"/>
                <a:ea typeface="Segoe UI Semibold" pitchFamily="34" charset="-122"/>
                <a:cs typeface="Segoe UI Semibold" pitchFamily="34" charset="-120"/>
              </a:rPr>
              <a:t>Flyover</a:t>
            </a:r>
            <a:endParaRPr lang="en-US" sz="2400" dirty="0"/>
          </a:p>
        </p:txBody>
      </p:sp>
      <p:sp>
        <p:nvSpPr>
          <p:cNvPr id="36" name="sheet_33"/>
          <p:cNvSpPr txBox="1"/>
          <p:nvPr/>
        </p:nvSpPr>
        <p:spPr>
          <a:xfrm>
            <a:off x="9464040" y="4123944"/>
            <a:ext cx="1371600" cy="384048"/>
          </a:xfrm>
          <a:prstGeom prst="rect">
            <a:avLst/>
          </a:prstGeom>
          <a:noFill/>
          <a:ln/>
        </p:spPr>
        <p:txBody>
          <a:bodyPr wrap="square" lIns="0" tIns="0" rIns="0" bIns="0" rtlCol="0" anchor="ctr"/>
          <a:lstStyle/>
          <a:p>
            <a:pPr algn="r" indent="0" marL="0">
              <a:buNone/>
            </a:pPr>
            <a:r>
              <a:rPr lang="en-US" sz="2400" dirty="0">
                <a:solidFill>
                  <a:schemeClr val="accent4"/>
                </a:solidFill>
                <a:latin typeface="Segoe UI Semibold" pitchFamily="34" charset="0"/>
                <a:ea typeface="Segoe UI Semibold" pitchFamily="34" charset="-122"/>
                <a:cs typeface="Segoe UI Semibold" pitchFamily="34" charset="-120"/>
              </a:rPr>
              <a:t>15 min</a:t>
            </a:r>
            <a:endParaRPr lang="en-US" sz="2400" dirty="0"/>
          </a:p>
        </p:txBody>
      </p:sp>
      <p:sp>
        <p:nvSpPr>
          <p:cNvPr id="37" name="sheet_34"/>
          <p:cNvSpPr txBox="1"/>
          <p:nvPr/>
        </p:nvSpPr>
        <p:spPr>
          <a:xfrm>
            <a:off x="8046720" y="4526280"/>
            <a:ext cx="2788920" cy="219456"/>
          </a:xfrm>
          <a:prstGeom prst="rect">
            <a:avLst/>
          </a:prstGeom>
          <a:noFill/>
          <a:ln/>
        </p:spPr>
        <p:txBody>
          <a:bodyPr wrap="square" lIns="0" tIns="0" rIns="0" bIns="0" rtlCol="0" anchor="t"/>
          <a:lstStyle/>
          <a:p>
            <a:pPr indent="0" marL="0">
              <a:buNone/>
            </a:pPr>
            <a:r>
              <a:rPr lang="en-US" sz="1150" dirty="0">
                <a:solidFill>
                  <a:srgbClr val="B45309"/>
                </a:solidFill>
              </a:rPr>
              <a:t>+4 min vs the usual route</a:t>
            </a:r>
            <a:endParaRPr lang="en-US" sz="1150" dirty="0"/>
          </a:p>
        </p:txBody>
      </p:sp>
      <p:sp>
        <p:nvSpPr>
          <p:cNvPr id="38" name="sheet_35"/>
          <p:cNvSpPr/>
          <p:nvPr/>
        </p:nvSpPr>
        <p:spPr>
          <a:xfrm>
            <a:off x="8046720" y="4855464"/>
            <a:ext cx="2788920" cy="0"/>
          </a:xfrm>
          <a:prstGeom prst="line">
            <a:avLst/>
          </a:prstGeom>
          <a:noFill/>
          <a:ln w="9525">
            <a:solidFill>
              <a:srgbClr val="D6D0C2"/>
            </a:solidFill>
            <a:prstDash val="solid"/>
          </a:ln>
        </p:spPr>
        <p:txBody>
          <a:bodyPr/>
          <a:p/>
        </p:txBody>
      </p:sp>
      <p:sp>
        <p:nvSpPr>
          <p:cNvPr id="39" name="sheet_36"/>
          <p:cNvSpPr txBox="1"/>
          <p:nvPr/>
        </p:nvSpPr>
        <p:spPr>
          <a:xfrm>
            <a:off x="8046720" y="4901184"/>
            <a:ext cx="1280160" cy="201168"/>
          </a:xfrm>
          <a:prstGeom prst="rect">
            <a:avLst/>
          </a:prstGeom>
          <a:noFill/>
          <a:ln/>
        </p:spPr>
        <p:txBody>
          <a:bodyPr wrap="square" lIns="0" tIns="0" rIns="0" bIns="0" rtlCol="0" anchor="ctr"/>
          <a:lstStyle/>
          <a:p>
            <a:pPr indent="0" marL="0">
              <a:buNone/>
            </a:pPr>
            <a:r>
              <a:rPr lang="en-US" sz="1100" dirty="0">
                <a:solidFill>
                  <a:schemeClr val="accent5"/>
                </a:solidFill>
              </a:rPr>
              <a:t>Avoids</a:t>
            </a:r>
            <a:endParaRPr lang="en-US" sz="1100" dirty="0"/>
          </a:p>
        </p:txBody>
      </p:sp>
      <p:sp>
        <p:nvSpPr>
          <p:cNvPr id="40" name="sheet_37"/>
          <p:cNvSpPr txBox="1"/>
          <p:nvPr/>
        </p:nvSpPr>
        <p:spPr>
          <a:xfrm>
            <a:off x="9052560" y="4901184"/>
            <a:ext cx="1783080" cy="201168"/>
          </a:xfrm>
          <a:prstGeom prst="rect">
            <a:avLst/>
          </a:prstGeom>
          <a:noFill/>
          <a:ln/>
        </p:spPr>
        <p:txBody>
          <a:bodyPr wrap="square" lIns="0" tIns="0" rIns="0" bIns="0" rtlCol="0" anchor="ctr"/>
          <a:lstStyle/>
          <a:p>
            <a:pPr algn="r" indent="0" marL="0">
              <a:buNone/>
            </a:pPr>
            <a:r>
              <a:rPr lang="en-US" sz="1150" dirty="0">
                <a:solidFill>
                  <a:schemeClr val="tx1"/>
                </a:solidFill>
                <a:latin typeface="Segoe UI Semibold" pitchFamily="34" charset="0"/>
                <a:ea typeface="Segoe UI Semibold" pitchFamily="34" charset="-122"/>
                <a:cs typeface="Segoe UI Semibold" pitchFamily="34" charset="-120"/>
              </a:rPr>
              <a:t>Andheri Subway flood</a:t>
            </a:r>
            <a:endParaRPr lang="en-US" sz="1150" dirty="0"/>
          </a:p>
        </p:txBody>
      </p:sp>
      <p:sp>
        <p:nvSpPr>
          <p:cNvPr id="41" name="sheet_38"/>
          <p:cNvSpPr/>
          <p:nvPr/>
        </p:nvSpPr>
        <p:spPr>
          <a:xfrm>
            <a:off x="8046720" y="5138928"/>
            <a:ext cx="2788920" cy="0"/>
          </a:xfrm>
          <a:prstGeom prst="line">
            <a:avLst/>
          </a:prstGeom>
          <a:noFill/>
          <a:ln w="9525">
            <a:solidFill>
              <a:srgbClr val="D6D0C2"/>
            </a:solidFill>
            <a:prstDash val="solid"/>
          </a:ln>
        </p:spPr>
        <p:txBody>
          <a:bodyPr/>
          <a:p/>
        </p:txBody>
      </p:sp>
      <p:sp>
        <p:nvSpPr>
          <p:cNvPr id="42" name="sheet_39"/>
          <p:cNvSpPr txBox="1"/>
          <p:nvPr/>
        </p:nvSpPr>
        <p:spPr>
          <a:xfrm>
            <a:off x="8046720" y="5184648"/>
            <a:ext cx="1280160" cy="201168"/>
          </a:xfrm>
          <a:prstGeom prst="rect">
            <a:avLst/>
          </a:prstGeom>
          <a:noFill/>
          <a:ln/>
        </p:spPr>
        <p:txBody>
          <a:bodyPr wrap="square" lIns="0" tIns="0" rIns="0" bIns="0" rtlCol="0" anchor="ctr"/>
          <a:lstStyle/>
          <a:p>
            <a:pPr indent="0" marL="0">
              <a:buNone/>
            </a:pPr>
            <a:r>
              <a:rPr lang="en-US" sz="1100" dirty="0">
                <a:solidFill>
                  <a:schemeClr val="accent5"/>
                </a:solidFill>
              </a:rPr>
              <a:t>Evidence</a:t>
            </a:r>
            <a:endParaRPr lang="en-US" sz="1100" dirty="0"/>
          </a:p>
        </p:txBody>
      </p:sp>
      <p:sp>
        <p:nvSpPr>
          <p:cNvPr id="43" name="sheet_40"/>
          <p:cNvSpPr txBox="1"/>
          <p:nvPr/>
        </p:nvSpPr>
        <p:spPr>
          <a:xfrm>
            <a:off x="9052560" y="5184648"/>
            <a:ext cx="1783080" cy="201168"/>
          </a:xfrm>
          <a:prstGeom prst="rect">
            <a:avLst/>
          </a:prstGeom>
          <a:noFill/>
          <a:ln/>
        </p:spPr>
        <p:txBody>
          <a:bodyPr wrap="square" lIns="0" tIns="0" rIns="0" bIns="0" rtlCol="0" anchor="ctr"/>
          <a:lstStyle/>
          <a:p>
            <a:pPr algn="r" indent="0" marL="0">
              <a:buNone/>
            </a:pPr>
            <a:r>
              <a:rPr lang="en-US" sz="1150" dirty="0">
                <a:solidFill>
                  <a:schemeClr val="tx1"/>
                </a:solidFill>
                <a:latin typeface="Segoe UI Semibold" pitchFamily="34" charset="0"/>
                <a:ea typeface="Segoe UI Semibold" pitchFamily="34" charset="-122"/>
                <a:cs typeface="Segoe UI Semibold" pitchFamily="34" charset="-120"/>
              </a:rPr>
              <a:t>Corroborated reports</a:t>
            </a:r>
            <a:endParaRPr lang="en-US" sz="1150" dirty="0"/>
          </a:p>
        </p:txBody>
      </p:sp>
      <p:sp>
        <p:nvSpPr>
          <p:cNvPr id="44" name="sheet_41"/>
          <p:cNvSpPr/>
          <p:nvPr/>
        </p:nvSpPr>
        <p:spPr>
          <a:xfrm>
            <a:off x="8046720" y="5422392"/>
            <a:ext cx="2788920" cy="0"/>
          </a:xfrm>
          <a:prstGeom prst="line">
            <a:avLst/>
          </a:prstGeom>
          <a:noFill/>
          <a:ln w="9525">
            <a:solidFill>
              <a:srgbClr val="D6D0C2"/>
            </a:solidFill>
            <a:prstDash val="solid"/>
          </a:ln>
        </p:spPr>
        <p:txBody>
          <a:bodyPr/>
          <a:p/>
        </p:txBody>
      </p:sp>
      <p:sp>
        <p:nvSpPr>
          <p:cNvPr id="45" name="sheet_42"/>
          <p:cNvSpPr txBox="1"/>
          <p:nvPr/>
        </p:nvSpPr>
        <p:spPr>
          <a:xfrm>
            <a:off x="8046720" y="5468112"/>
            <a:ext cx="1280160" cy="201168"/>
          </a:xfrm>
          <a:prstGeom prst="rect">
            <a:avLst/>
          </a:prstGeom>
          <a:noFill/>
          <a:ln/>
        </p:spPr>
        <p:txBody>
          <a:bodyPr wrap="square" lIns="0" tIns="0" rIns="0" bIns="0" rtlCol="0" anchor="ctr"/>
          <a:lstStyle/>
          <a:p>
            <a:pPr indent="0" marL="0">
              <a:buNone/>
            </a:pPr>
            <a:r>
              <a:rPr lang="en-US" sz="1100" dirty="0">
                <a:solidFill>
                  <a:schemeClr val="accent5"/>
                </a:solidFill>
              </a:rPr>
              <a:t>Confidence</a:t>
            </a:r>
            <a:endParaRPr lang="en-US" sz="1100" dirty="0"/>
          </a:p>
        </p:txBody>
      </p:sp>
      <p:sp>
        <p:nvSpPr>
          <p:cNvPr id="46" name="sheet_43"/>
          <p:cNvSpPr txBox="1"/>
          <p:nvPr/>
        </p:nvSpPr>
        <p:spPr>
          <a:xfrm>
            <a:off x="9052560" y="5468112"/>
            <a:ext cx="1783080" cy="201168"/>
          </a:xfrm>
          <a:prstGeom prst="rect">
            <a:avLst/>
          </a:prstGeom>
          <a:noFill/>
          <a:ln/>
        </p:spPr>
        <p:txBody>
          <a:bodyPr wrap="square" lIns="0" tIns="0" rIns="0" bIns="0" rtlCol="0" anchor="ctr"/>
          <a:lstStyle/>
          <a:p>
            <a:pPr algn="r" indent="0" marL="0">
              <a:buNone/>
            </a:pPr>
            <a:r>
              <a:rPr lang="en-US" sz="1150" dirty="0">
                <a:solidFill>
                  <a:schemeClr val="tx1"/>
                </a:solidFill>
                <a:latin typeface="Segoe UI Semibold" pitchFamily="34" charset="0"/>
                <a:ea typeface="Segoe UI Semibold" pitchFamily="34" charset="-122"/>
                <a:cs typeface="Segoe UI Semibold" pitchFamily="34" charset="-120"/>
              </a:rPr>
              <a:t>Medium</a:t>
            </a:r>
            <a:endParaRPr lang="en-US" sz="1150" dirty="0"/>
          </a:p>
        </p:txBody>
      </p:sp>
      <p:sp>
        <p:nvSpPr>
          <p:cNvPr id="47" name="sheet_44"/>
          <p:cNvSpPr txBox="1"/>
          <p:nvPr/>
        </p:nvSpPr>
        <p:spPr>
          <a:xfrm>
            <a:off x="8046720" y="5788152"/>
            <a:ext cx="2788920" cy="182880"/>
          </a:xfrm>
          <a:prstGeom prst="rect">
            <a:avLst/>
          </a:prstGeom>
          <a:noFill/>
          <a:ln/>
        </p:spPr>
        <p:txBody>
          <a:bodyPr wrap="square" lIns="0" tIns="0" rIns="0" bIns="0" rtlCol="0" anchor="t"/>
          <a:lstStyle/>
          <a:p>
            <a:pPr algn="ctr" indent="0" marL="0">
              <a:buNone/>
            </a:pPr>
            <a:r>
              <a:rPr lang="en-US" sz="1000" i="1" dirty="0">
                <a:solidFill>
                  <a:schemeClr val="accent5"/>
                </a:solidFill>
              </a:rPr>
              <a:t>Simulated · © OpenStreetMap contributors</a:t>
            </a:r>
            <a:endParaRPr lang="en-US" sz="1000" dirty="0"/>
          </a:p>
        </p:txBody>
      </p:sp>
      <p:sp>
        <p:nvSpPr>
          <p:cNvPr id="48" name="jn_45"/>
          <p:cNvSpPr/>
          <p:nvPr/>
        </p:nvSpPr>
        <p:spPr>
          <a:xfrm>
            <a:off x="4343400" y="6537960"/>
            <a:ext cx="3520440" cy="0"/>
          </a:xfrm>
          <a:prstGeom prst="line">
            <a:avLst/>
          </a:prstGeom>
          <a:noFill/>
          <a:ln w="12700">
            <a:solidFill>
              <a:srgbClr val="D2CBBB"/>
            </a:solidFill>
            <a:prstDash val="solid"/>
          </a:ln>
        </p:spPr>
        <p:txBody>
          <a:bodyPr/>
          <a:p/>
        </p:txBody>
      </p:sp>
      <p:sp>
        <p:nvSpPr>
          <p:cNvPr id="49" name="jn_46"/>
          <p:cNvSpPr/>
          <p:nvPr/>
        </p:nvSpPr>
        <p:spPr>
          <a:xfrm>
            <a:off x="4343400" y="6537960"/>
            <a:ext cx="704088" cy="0"/>
          </a:xfrm>
          <a:prstGeom prst="line">
            <a:avLst/>
          </a:prstGeom>
          <a:noFill/>
          <a:ln w="19050">
            <a:solidFill>
              <a:srgbClr val="4D7C0F"/>
            </a:solidFill>
            <a:prstDash val="solid"/>
          </a:ln>
        </p:spPr>
        <p:txBody>
          <a:bodyPr/>
          <a:p/>
        </p:txBody>
      </p:sp>
      <p:sp>
        <p:nvSpPr>
          <p:cNvPr id="50" name="jseg_47"/>
          <p:cNvSpPr/>
          <p:nvPr/>
        </p:nvSpPr>
        <p:spPr>
          <a:xfrm>
            <a:off x="5047488" y="6537960"/>
            <a:ext cx="704088" cy="0"/>
          </a:xfrm>
          <a:prstGeom prst="line">
            <a:avLst/>
          </a:prstGeom>
          <a:noFill/>
          <a:ln w="19050">
            <a:solidFill>
              <a:srgbClr val="4D7C0F"/>
            </a:solidFill>
            <a:prstDash val="solid"/>
          </a:ln>
        </p:spPr>
        <p:txBody>
          <a:bodyPr/>
          <a:p/>
        </p:txBody>
      </p:sp>
      <p:sp>
        <p:nvSpPr>
          <p:cNvPr id="51" name="jn_48"/>
          <p:cNvSpPr/>
          <p:nvPr/>
        </p:nvSpPr>
        <p:spPr>
          <a:xfrm>
            <a:off x="4306824" y="6501384"/>
            <a:ext cx="73152" cy="73152"/>
          </a:xfrm>
          <a:prstGeom prst="ellipse">
            <a:avLst/>
          </a:prstGeom>
          <a:solidFill>
            <a:schemeClr val="accent1"/>
          </a:solidFill>
          <a:ln/>
        </p:spPr>
        <p:txBody>
          <a:bodyPr/>
          <a:p/>
        </p:txBody>
      </p:sp>
      <p:sp>
        <p:nvSpPr>
          <p:cNvPr id="52" name="jn_49"/>
          <p:cNvSpPr/>
          <p:nvPr/>
        </p:nvSpPr>
        <p:spPr>
          <a:xfrm>
            <a:off x="5010912" y="6501384"/>
            <a:ext cx="73152" cy="73152"/>
          </a:xfrm>
          <a:prstGeom prst="ellipse">
            <a:avLst/>
          </a:prstGeom>
          <a:solidFill>
            <a:schemeClr val="accent1"/>
          </a:solidFill>
          <a:ln/>
        </p:spPr>
        <p:txBody>
          <a:bodyPr/>
          <a:p/>
        </p:txBody>
      </p:sp>
      <p:sp>
        <p:nvSpPr>
          <p:cNvPr id="53" name="jn_50"/>
          <p:cNvSpPr/>
          <p:nvPr/>
        </p:nvSpPr>
        <p:spPr>
          <a:xfrm>
            <a:off x="5715000" y="6501384"/>
            <a:ext cx="73152" cy="73152"/>
          </a:xfrm>
          <a:prstGeom prst="ellipse">
            <a:avLst/>
          </a:prstGeom>
          <a:solidFill>
            <a:srgbClr val="B8B1A0"/>
          </a:solidFill>
          <a:ln/>
        </p:spPr>
        <p:txBody>
          <a:bodyPr/>
          <a:p/>
        </p:txBody>
      </p:sp>
      <p:sp>
        <p:nvSpPr>
          <p:cNvPr id="54" name="jn_51"/>
          <p:cNvSpPr/>
          <p:nvPr/>
        </p:nvSpPr>
        <p:spPr>
          <a:xfrm>
            <a:off x="6419088" y="6501384"/>
            <a:ext cx="73152" cy="73152"/>
          </a:xfrm>
          <a:prstGeom prst="ellipse">
            <a:avLst/>
          </a:prstGeom>
          <a:solidFill>
            <a:srgbClr val="B8B1A0"/>
          </a:solidFill>
          <a:ln/>
        </p:spPr>
        <p:txBody>
          <a:bodyPr/>
          <a:p/>
        </p:txBody>
      </p:sp>
      <p:sp>
        <p:nvSpPr>
          <p:cNvPr id="55" name="jn_52"/>
          <p:cNvSpPr/>
          <p:nvPr/>
        </p:nvSpPr>
        <p:spPr>
          <a:xfrm>
            <a:off x="7123176" y="6501384"/>
            <a:ext cx="73152" cy="73152"/>
          </a:xfrm>
          <a:prstGeom prst="ellipse">
            <a:avLst/>
          </a:prstGeom>
          <a:solidFill>
            <a:srgbClr val="B8B1A0"/>
          </a:solidFill>
          <a:ln/>
        </p:spPr>
        <p:txBody>
          <a:bodyPr/>
          <a:p/>
        </p:txBody>
      </p:sp>
      <p:sp>
        <p:nvSpPr>
          <p:cNvPr id="56" name="jn_53"/>
          <p:cNvSpPr/>
          <p:nvPr/>
        </p:nvSpPr>
        <p:spPr>
          <a:xfrm>
            <a:off x="7827264" y="6501384"/>
            <a:ext cx="73152" cy="73152"/>
          </a:xfrm>
          <a:prstGeom prst="ellipse">
            <a:avLst/>
          </a:prstGeom>
          <a:solidFill>
            <a:srgbClr val="B8B1A0"/>
          </a:solidFill>
          <a:ln/>
        </p:spPr>
        <p:txBody>
          <a:bodyPr/>
          <a:p/>
        </p:txBody>
      </p:sp>
      <p:sp>
        <p:nvSpPr>
          <p:cNvPr id="57" name="jdot_54"/>
          <p:cNvSpPr/>
          <p:nvPr/>
        </p:nvSpPr>
        <p:spPr>
          <a:xfrm>
            <a:off x="5664708" y="6451092"/>
            <a:ext cx="173736" cy="173736"/>
          </a:xfrm>
          <a:prstGeom prst="ellipse">
            <a:avLst/>
          </a:prstGeom>
          <a:solidFill>
            <a:schemeClr val="accent1"/>
          </a:solidFill>
          <a:ln w="28575">
            <a:solidFill>
              <a:srgbClr val="F6F1E9"/>
            </a:solidFill>
            <a:prstDash val="solid"/>
          </a:ln>
        </p:spPr>
        <p:txBody>
          <a:bodyPr/>
          <a:p/>
        </p:txBody>
      </p:sp>
      <p:sp>
        <p:nvSpPr>
          <p:cNvPr id="58" name="Text 52"/>
          <p:cNvSpPr txBox="1"/>
          <p:nvPr/>
        </p:nvSpPr>
        <p:spPr>
          <a:xfrm>
            <a:off x="10454335" y="6419088"/>
            <a:ext cx="1097280" cy="237744"/>
          </a:xfrm>
          <a:prstGeom prst="rect">
            <a:avLst/>
          </a:prstGeom>
          <a:noFill/>
          <a:ln/>
        </p:spPr>
        <p:txBody>
          <a:bodyPr wrap="square" lIns="0" tIns="0" rIns="0" bIns="0" rtlCol="0" anchor="ctr"/>
          <a:lstStyle/>
          <a:p>
            <a:pPr algn="r" indent="0" marL="0">
              <a:buNone/>
            </a:pPr>
            <a:r>
              <a:rPr lang="en-US" sz="1000" dirty="0">
                <a:solidFill>
                  <a:schemeClr val="accent5"/>
                </a:solidFill>
              </a:rPr>
              <a:t>03 / 06</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200">
        <p14:pan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200"/>
                                  </p:stCondLst>
                                  <p:childTnLst>
                                    <p:set>
                                      <p:cBhvr>
                                        <p:cTn id="5" dur="1" fill="hold">
                                          <p:stCondLst>
                                            <p:cond delay="0"/>
                                          </p:stCondLst>
                                        </p:cTn>
                                        <p:tgtEl>
                                          <p:spTgt spid="48"/>
                                        </p:tgtEl>
                                        <p:attrNameLst>
                                          <p:attrName>style.visibility</p:attrName>
                                        </p:attrNameLst>
                                      </p:cBhvr>
                                      <p:to>
                                        <p:strVal val="visible"/>
                                      </p:to>
                                    </p:set>
                                    <p:animEffect transition="in" filter="fade">
                                      <p:cBhvr>
                                        <p:cTn id="6" dur="500"/>
                                        <p:tgtEl>
                                          <p:spTgt spid="48"/>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49"/>
                                        </p:tgtEl>
                                        <p:attrNameLst>
                                          <p:attrName>style.visibility</p:attrName>
                                        </p:attrNameLst>
                                      </p:cBhvr>
                                      <p:to>
                                        <p:strVal val="visible"/>
                                      </p:to>
                                    </p:set>
                                    <p:animEffect transition="in" filter="fade">
                                      <p:cBhvr>
                                        <p:cTn id="9" dur="500"/>
                                        <p:tgtEl>
                                          <p:spTgt spid="49"/>
                                        </p:tgtEl>
                                      </p:cBhvr>
                                    </p:animEffect>
                                  </p:childTnLst>
                                </p:cTn>
                              </p:par>
                              <p:par>
                                <p:cTn id="13" presetID="10" presetClass="entr" presetSubtype="0" fill="hold" grpId="0" nodeType="withEffect">
                                  <p:stCondLst>
                                    <p:cond delay="200"/>
                                  </p:stCondLst>
                                  <p:childTnLst>
                                    <p:set>
                                      <p:cBhvr>
                                        <p:cTn id="11" dur="1" fill="hold">
                                          <p:stCondLst>
                                            <p:cond delay="0"/>
                                          </p:stCondLst>
                                        </p:cTn>
                                        <p:tgtEl>
                                          <p:spTgt spid="51"/>
                                        </p:tgtEl>
                                        <p:attrNameLst>
                                          <p:attrName>style.visibility</p:attrName>
                                        </p:attrNameLst>
                                      </p:cBhvr>
                                      <p:to>
                                        <p:strVal val="visible"/>
                                      </p:to>
                                    </p:set>
                                    <p:animEffect transition="in" filter="fade">
                                      <p:cBhvr>
                                        <p:cTn id="12" dur="500"/>
                                        <p:tgtEl>
                                          <p:spTgt spid="51"/>
                                        </p:tgtEl>
                                      </p:cBhvr>
                                    </p:animEffect>
                                  </p:childTnLst>
                                </p:cTn>
                              </p:par>
                              <p:par>
                                <p:cTn id="16" presetID="10" presetClass="entr" presetSubtype="0" fill="hold" grpId="0" nodeType="withEffect">
                                  <p:stCondLst>
                                    <p:cond delay="20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500"/>
                                        <p:tgtEl>
                                          <p:spTgt spid="52"/>
                                        </p:tgtEl>
                                      </p:cBhvr>
                                    </p:animEffect>
                                  </p:childTnLst>
                                </p:cTn>
                              </p:par>
                              <p:par>
                                <p:cTn id="19" presetID="10" presetClass="entr" presetSubtype="0" fill="hold" grpId="0" nodeType="withEffect">
                                  <p:stCondLst>
                                    <p:cond delay="200"/>
                                  </p:stCondLst>
                                  <p:childTnLst>
                                    <p:set>
                                      <p:cBhvr>
                                        <p:cTn id="17" dur="1" fill="hold">
                                          <p:stCondLst>
                                            <p:cond delay="0"/>
                                          </p:stCondLst>
                                        </p:cTn>
                                        <p:tgtEl>
                                          <p:spTgt spid="53"/>
                                        </p:tgtEl>
                                        <p:attrNameLst>
                                          <p:attrName>style.visibility</p:attrName>
                                        </p:attrNameLst>
                                      </p:cBhvr>
                                      <p:to>
                                        <p:strVal val="visible"/>
                                      </p:to>
                                    </p:set>
                                    <p:animEffect transition="in" filter="fade">
                                      <p:cBhvr>
                                        <p:cTn id="18" dur="500"/>
                                        <p:tgtEl>
                                          <p:spTgt spid="53"/>
                                        </p:tgtEl>
                                      </p:cBhvr>
                                    </p:animEffect>
                                  </p:childTnLst>
                                </p:cTn>
                              </p:par>
                              <p:par>
                                <p:cTn id="22" presetID="10" presetClass="entr" presetSubtype="0" fill="hold" grpId="0" nodeType="withEffect">
                                  <p:stCondLst>
                                    <p:cond delay="200"/>
                                  </p:stCondLst>
                                  <p:childTnLst>
                                    <p:set>
                                      <p:cBhvr>
                                        <p:cTn id="20" dur="1" fill="hold">
                                          <p:stCondLst>
                                            <p:cond delay="0"/>
                                          </p:stCondLst>
                                        </p:cTn>
                                        <p:tgtEl>
                                          <p:spTgt spid="54"/>
                                        </p:tgtEl>
                                        <p:attrNameLst>
                                          <p:attrName>style.visibility</p:attrName>
                                        </p:attrNameLst>
                                      </p:cBhvr>
                                      <p:to>
                                        <p:strVal val="visible"/>
                                      </p:to>
                                    </p:set>
                                    <p:animEffect transition="in" filter="fade">
                                      <p:cBhvr>
                                        <p:cTn id="21" dur="500"/>
                                        <p:tgtEl>
                                          <p:spTgt spid="54"/>
                                        </p:tgtEl>
                                      </p:cBhvr>
                                    </p:animEffect>
                                  </p:childTnLst>
                                </p:cTn>
                              </p:par>
                              <p:par>
                                <p:cTn id="25" presetID="10" presetClass="entr" presetSubtype="0" fill="hold" grpId="0" nodeType="withEffect">
                                  <p:stCondLst>
                                    <p:cond delay="200"/>
                                  </p:stCondLst>
                                  <p:childTnLst>
                                    <p:set>
                                      <p:cBhvr>
                                        <p:cTn id="23" dur="1" fill="hold">
                                          <p:stCondLst>
                                            <p:cond delay="0"/>
                                          </p:stCondLst>
                                        </p:cTn>
                                        <p:tgtEl>
                                          <p:spTgt spid="55"/>
                                        </p:tgtEl>
                                        <p:attrNameLst>
                                          <p:attrName>style.visibility</p:attrName>
                                        </p:attrNameLst>
                                      </p:cBhvr>
                                      <p:to>
                                        <p:strVal val="visible"/>
                                      </p:to>
                                    </p:set>
                                    <p:animEffect transition="in" filter="fade">
                                      <p:cBhvr>
                                        <p:cTn id="24" dur="500"/>
                                        <p:tgtEl>
                                          <p:spTgt spid="55"/>
                                        </p:tgtEl>
                                      </p:cBhvr>
                                    </p:animEffect>
                                  </p:childTnLst>
                                </p:cTn>
                              </p:par>
                              <p:par>
                                <p:cTn id="28" presetID="10" presetClass="entr" presetSubtype="0" fill="hold" grpId="0" nodeType="withEffect">
                                  <p:stCondLst>
                                    <p:cond delay="200"/>
                                  </p:stCondLst>
                                  <p:childTnLst>
                                    <p:set>
                                      <p:cBhvr>
                                        <p:cTn id="26" dur="1" fill="hold">
                                          <p:stCondLst>
                                            <p:cond delay="0"/>
                                          </p:stCondLst>
                                        </p:cTn>
                                        <p:tgtEl>
                                          <p:spTgt spid="56"/>
                                        </p:tgtEl>
                                        <p:attrNameLst>
                                          <p:attrName>style.visibility</p:attrName>
                                        </p:attrNameLst>
                                      </p:cBhvr>
                                      <p:to>
                                        <p:strVal val="visible"/>
                                      </p:to>
                                    </p:set>
                                    <p:animEffect transition="in" filter="fade">
                                      <p:cBhvr>
                                        <p:cTn id="27" dur="500"/>
                                        <p:tgtEl>
                                          <p:spTgt spid="56"/>
                                        </p:tgtEl>
                                      </p:cBhvr>
                                    </p:animEffect>
                                  </p:childTnLst>
                                </p:cTn>
                              </p:par>
                              <p:par>
                                <p:cTn id="32" presetID="42" presetClass="entr" presetSubtype="0" fill="hold" grpId="0" nodeType="withEffect">
                                  <p:stCondLst>
                                    <p:cond delay="25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450" fill="hold"/>
                                        <p:tgtEl>
                                          <p:spTgt spid="7"/>
                                        </p:tgtEl>
                                        <p:attrNameLst>
                                          <p:attrName>ppt_y</p:attrName>
                                        </p:attrNameLst>
                                      </p:cBhvr>
                                      <p:tavLst>
                                        <p:tav tm="0">
                                          <p:val>
                                            <p:strVal val="#ppt_y+.06"/>
                                          </p:val>
                                        </p:tav>
                                        <p:tav tm="100000">
                                          <p:val>
                                            <p:strVal val="#ppt_y"/>
                                          </p:val>
                                        </p:tav>
                                      </p:tavLst>
                                    </p:anim>
                                    <p:animEffect transition="in" filter="fade">
                                      <p:cBhvr>
                                        <p:cTn id="31" dur="450"/>
                                        <p:tgtEl>
                                          <p:spTgt spid="7"/>
                                        </p:tgtEl>
                                      </p:cBhvr>
                                    </p:animEffect>
                                  </p:childTnLst>
                                </p:cTn>
                              </p:par>
                              <p:par>
                                <p:cTn id="36" presetID="42" presetClass="entr" presetSubtype="0" fill="hold" grpId="0" nodeType="withEffect">
                                  <p:stCondLst>
                                    <p:cond delay="250"/>
                                  </p:stCondLst>
                                  <p:childTnLst>
                                    <p:set>
                                      <p:cBhvr>
                                        <p:cTn id="33" dur="1" fill="hold">
                                          <p:stCondLst>
                                            <p:cond delay="0"/>
                                          </p:stCondLst>
                                        </p:cTn>
                                        <p:tgtEl>
                                          <p:spTgt spid="8"/>
                                        </p:tgtEl>
                                        <p:attrNameLst>
                                          <p:attrName>style.visibility</p:attrName>
                                        </p:attrNameLst>
                                      </p:cBhvr>
                                      <p:to>
                                        <p:strVal val="visible"/>
                                      </p:to>
                                    </p:set>
                                    <p:anim calcmode="lin" valueType="num">
                                      <p:cBhvr additive="base">
                                        <p:cTn id="34" dur="450" fill="hold"/>
                                        <p:tgtEl>
                                          <p:spTgt spid="8"/>
                                        </p:tgtEl>
                                        <p:attrNameLst>
                                          <p:attrName>ppt_y</p:attrName>
                                        </p:attrNameLst>
                                      </p:cBhvr>
                                      <p:tavLst>
                                        <p:tav tm="0">
                                          <p:val>
                                            <p:strVal val="#ppt_y+.06"/>
                                          </p:val>
                                        </p:tav>
                                        <p:tav tm="100000">
                                          <p:val>
                                            <p:strVal val="#ppt_y"/>
                                          </p:val>
                                        </p:tav>
                                      </p:tavLst>
                                    </p:anim>
                                    <p:animEffect transition="in" filter="fade">
                                      <p:cBhvr>
                                        <p:cTn id="35" dur="450"/>
                                        <p:tgtEl>
                                          <p:spTgt spid="8"/>
                                        </p:tgtEl>
                                      </p:cBhvr>
                                    </p:animEffect>
                                  </p:childTnLst>
                                </p:cTn>
                              </p:par>
                              <p:par>
                                <p:cTn id="40" presetID="42" presetClass="entr" presetSubtype="0" fill="hold" grpId="0" nodeType="withEffect">
                                  <p:stCondLst>
                                    <p:cond delay="250"/>
                                  </p:stCondLst>
                                  <p:childTnLst>
                                    <p:set>
                                      <p:cBhvr>
                                        <p:cTn id="37" dur="1" fill="hold">
                                          <p:stCondLst>
                                            <p:cond delay="0"/>
                                          </p:stCondLst>
                                        </p:cTn>
                                        <p:tgtEl>
                                          <p:spTgt spid="9"/>
                                        </p:tgtEl>
                                        <p:attrNameLst>
                                          <p:attrName>style.visibility</p:attrName>
                                        </p:attrNameLst>
                                      </p:cBhvr>
                                      <p:to>
                                        <p:strVal val="visible"/>
                                      </p:to>
                                    </p:set>
                                    <p:anim calcmode="lin" valueType="num">
                                      <p:cBhvr additive="base">
                                        <p:cTn id="38" dur="450" fill="hold"/>
                                        <p:tgtEl>
                                          <p:spTgt spid="9"/>
                                        </p:tgtEl>
                                        <p:attrNameLst>
                                          <p:attrName>ppt_y</p:attrName>
                                        </p:attrNameLst>
                                      </p:cBhvr>
                                      <p:tavLst>
                                        <p:tav tm="0">
                                          <p:val>
                                            <p:strVal val="#ppt_y+.06"/>
                                          </p:val>
                                        </p:tav>
                                        <p:tav tm="100000">
                                          <p:val>
                                            <p:strVal val="#ppt_y"/>
                                          </p:val>
                                        </p:tav>
                                      </p:tavLst>
                                    </p:anim>
                                    <p:animEffect transition="in" filter="fade">
                                      <p:cBhvr>
                                        <p:cTn id="39" dur="450"/>
                                        <p:tgtEl>
                                          <p:spTgt spid="9"/>
                                        </p:tgtEl>
                                      </p:cBhvr>
                                    </p:animEffect>
                                  </p:childTnLst>
                                </p:cTn>
                              </p:par>
                              <p:par>
                                <p:cTn id="44" presetID="42" presetClass="entr" presetSubtype="0" fill="hold" grpId="0" nodeType="withEffect">
                                  <p:stCondLst>
                                    <p:cond delay="480"/>
                                  </p:stCondLst>
                                  <p:childTnLst>
                                    <p:set>
                                      <p:cBhvr>
                                        <p:cTn id="41" dur="1" fill="hold">
                                          <p:stCondLst>
                                            <p:cond delay="0"/>
                                          </p:stCondLst>
                                        </p:cTn>
                                        <p:tgtEl>
                                          <p:spTgt spid="10"/>
                                        </p:tgtEl>
                                        <p:attrNameLst>
                                          <p:attrName>style.visibility</p:attrName>
                                        </p:attrNameLst>
                                      </p:cBhvr>
                                      <p:to>
                                        <p:strVal val="visible"/>
                                      </p:to>
                                    </p:set>
                                    <p:anim calcmode="lin" valueType="num">
                                      <p:cBhvr additive="base">
                                        <p:cTn id="42" dur="450" fill="hold"/>
                                        <p:tgtEl>
                                          <p:spTgt spid="10"/>
                                        </p:tgtEl>
                                        <p:attrNameLst>
                                          <p:attrName>ppt_y</p:attrName>
                                        </p:attrNameLst>
                                      </p:cBhvr>
                                      <p:tavLst>
                                        <p:tav tm="0">
                                          <p:val>
                                            <p:strVal val="#ppt_y+.06"/>
                                          </p:val>
                                        </p:tav>
                                        <p:tav tm="100000">
                                          <p:val>
                                            <p:strVal val="#ppt_y"/>
                                          </p:val>
                                        </p:tav>
                                      </p:tavLst>
                                    </p:anim>
                                    <p:animEffect transition="in" filter="fade">
                                      <p:cBhvr>
                                        <p:cTn id="43" dur="450"/>
                                        <p:tgtEl>
                                          <p:spTgt spid="10"/>
                                        </p:tgtEl>
                                      </p:cBhvr>
                                    </p:animEffect>
                                  </p:childTnLst>
                                </p:cTn>
                              </p:par>
                              <p:par>
                                <p:cTn id="48" presetID="42" presetClass="entr" presetSubtype="0" fill="hold" grpId="0" nodeType="withEffect">
                                  <p:stCondLst>
                                    <p:cond delay="480"/>
                                  </p:stCondLst>
                                  <p:childTnLst>
                                    <p:set>
                                      <p:cBhvr>
                                        <p:cTn id="45" dur="1" fill="hold">
                                          <p:stCondLst>
                                            <p:cond delay="0"/>
                                          </p:stCondLst>
                                        </p:cTn>
                                        <p:tgtEl>
                                          <p:spTgt spid="11"/>
                                        </p:tgtEl>
                                        <p:attrNameLst>
                                          <p:attrName>style.visibility</p:attrName>
                                        </p:attrNameLst>
                                      </p:cBhvr>
                                      <p:to>
                                        <p:strVal val="visible"/>
                                      </p:to>
                                    </p:set>
                                    <p:anim calcmode="lin" valueType="num">
                                      <p:cBhvr additive="base">
                                        <p:cTn id="46" dur="450" fill="hold"/>
                                        <p:tgtEl>
                                          <p:spTgt spid="11"/>
                                        </p:tgtEl>
                                        <p:attrNameLst>
                                          <p:attrName>ppt_y</p:attrName>
                                        </p:attrNameLst>
                                      </p:cBhvr>
                                      <p:tavLst>
                                        <p:tav tm="0">
                                          <p:val>
                                            <p:strVal val="#ppt_y+.06"/>
                                          </p:val>
                                        </p:tav>
                                        <p:tav tm="100000">
                                          <p:val>
                                            <p:strVal val="#ppt_y"/>
                                          </p:val>
                                        </p:tav>
                                      </p:tavLst>
                                    </p:anim>
                                    <p:animEffect transition="in" filter="fade">
                                      <p:cBhvr>
                                        <p:cTn id="47" dur="450"/>
                                        <p:tgtEl>
                                          <p:spTgt spid="11"/>
                                        </p:tgtEl>
                                      </p:cBhvr>
                                    </p:animEffect>
                                  </p:childTnLst>
                                </p:cTn>
                              </p:par>
                              <p:par>
                                <p:cTn id="52" presetID="42" presetClass="entr" presetSubtype="0" fill="hold" grpId="0" nodeType="withEffect">
                                  <p:stCondLst>
                                    <p:cond delay="48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450" fill="hold"/>
                                        <p:tgtEl>
                                          <p:spTgt spid="12"/>
                                        </p:tgtEl>
                                        <p:attrNameLst>
                                          <p:attrName>ppt_y</p:attrName>
                                        </p:attrNameLst>
                                      </p:cBhvr>
                                      <p:tavLst>
                                        <p:tav tm="0">
                                          <p:val>
                                            <p:strVal val="#ppt_y+.06"/>
                                          </p:val>
                                        </p:tav>
                                        <p:tav tm="100000">
                                          <p:val>
                                            <p:strVal val="#ppt_y"/>
                                          </p:val>
                                        </p:tav>
                                      </p:tavLst>
                                    </p:anim>
                                    <p:animEffect transition="in" filter="fade">
                                      <p:cBhvr>
                                        <p:cTn id="51" dur="450"/>
                                        <p:tgtEl>
                                          <p:spTgt spid="12"/>
                                        </p:tgtEl>
                                      </p:cBhvr>
                                    </p:animEffect>
                                  </p:childTnLst>
                                </p:cTn>
                              </p:par>
                              <p:par>
                                <p:cTn id="54" presetID="0" presetClass="path" presetSubtype="0" accel="50000" decel="50000" fill="hold" nodeType="withEffect">
                                  <p:stCondLst>
                                    <p:cond delay="500"/>
                                  </p:stCondLst>
                                  <p:childTnLst>
                                    <p:animMotion origin="layout" path="M -0.0578 0 L 0 0 E" pathEditMode="relative" rAng="0" ptsTypes="AA">
                                      <p:cBhvr>
                                        <p:cTn id="53" dur="1100" fill="hold"/>
                                        <p:tgtEl>
                                          <p:spTgt spid="57"/>
                                        </p:tgtEl>
                                        <p:attrNameLst>
                                          <p:attrName>ppt_x</p:attrName>
                                          <p:attrName>ppt_y</p:attrName>
                                        </p:attrNameLst>
                                      </p:cBhvr>
                                    </p:animMotion>
                                  </p:childTnLst>
                                </p:cTn>
                              </p:par>
                              <p:par>
                                <p:cTn id="57" presetID="22" presetClass="entr" presetSubtype="8" fill="hold" grpId="0" nodeType="withEffect">
                                  <p:stCondLst>
                                    <p:cond delay="500"/>
                                  </p:stCondLst>
                                  <p:childTnLst>
                                    <p:set>
                                      <p:cBhvr>
                                        <p:cTn id="55" dur="1" fill="hold">
                                          <p:stCondLst>
                                            <p:cond delay="0"/>
                                          </p:stCondLst>
                                        </p:cTn>
                                        <p:tgtEl>
                                          <p:spTgt spid="50"/>
                                        </p:tgtEl>
                                        <p:attrNameLst>
                                          <p:attrName>style.visibility</p:attrName>
                                        </p:attrNameLst>
                                      </p:cBhvr>
                                      <p:to>
                                        <p:strVal val="visible"/>
                                      </p:to>
                                    </p:set>
                                    <p:animEffect transition="in" filter="wipe(left)">
                                      <p:cBhvr>
                                        <p:cTn id="56" dur="1100"/>
                                        <p:tgtEl>
                                          <p:spTgt spid="50"/>
                                        </p:tgtEl>
                                      </p:cBhvr>
                                    </p:animEffect>
                                  </p:childTnLst>
                                </p:cTn>
                              </p:par>
                              <p:par>
                                <p:cTn id="61" presetID="42" presetClass="entr" presetSubtype="0" fill="hold" grpId="0" nodeType="withEffect">
                                  <p:stCondLst>
                                    <p:cond delay="500"/>
                                  </p:stCondLst>
                                  <p:childTnLst>
                                    <p:set>
                                      <p:cBhvr>
                                        <p:cTn id="58" dur="1" fill="hold">
                                          <p:stCondLst>
                                            <p:cond delay="0"/>
                                          </p:stCondLst>
                                        </p:cTn>
                                        <p:tgtEl>
                                          <p:spTgt spid="24"/>
                                        </p:tgtEl>
                                        <p:attrNameLst>
                                          <p:attrName>style.visibility</p:attrName>
                                        </p:attrNameLst>
                                      </p:cBhvr>
                                      <p:to>
                                        <p:strVal val="visible"/>
                                      </p:to>
                                    </p:set>
                                    <p:anim calcmode="lin" valueType="num">
                                      <p:cBhvr additive="base">
                                        <p:cTn id="59" dur="700" fill="hold"/>
                                        <p:tgtEl>
                                          <p:spTgt spid="24"/>
                                        </p:tgtEl>
                                        <p:attrNameLst>
                                          <p:attrName>ppt_y</p:attrName>
                                        </p:attrNameLst>
                                      </p:cBhvr>
                                      <p:tavLst>
                                        <p:tav tm="0">
                                          <p:val>
                                            <p:strVal val="#ppt_y+.06"/>
                                          </p:val>
                                        </p:tav>
                                        <p:tav tm="100000">
                                          <p:val>
                                            <p:strVal val="#ppt_y"/>
                                          </p:val>
                                        </p:tav>
                                      </p:tavLst>
                                    </p:anim>
                                    <p:animEffect transition="in" filter="fade">
                                      <p:cBhvr>
                                        <p:cTn id="60" dur="700"/>
                                        <p:tgtEl>
                                          <p:spTgt spid="24"/>
                                        </p:tgtEl>
                                      </p:cBhvr>
                                    </p:animEffect>
                                  </p:childTnLst>
                                </p:cTn>
                              </p:par>
                              <p:par>
                                <p:cTn id="65" presetID="42" presetClass="entr" presetSubtype="0" fill="hold" grpId="0" nodeType="withEffect">
                                  <p:stCondLst>
                                    <p:cond delay="500"/>
                                  </p:stCondLst>
                                  <p:childTnLst>
                                    <p:set>
                                      <p:cBhvr>
                                        <p:cTn id="62" dur="1" fill="hold">
                                          <p:stCondLst>
                                            <p:cond delay="0"/>
                                          </p:stCondLst>
                                        </p:cTn>
                                        <p:tgtEl>
                                          <p:spTgt spid="25"/>
                                        </p:tgtEl>
                                        <p:attrNameLst>
                                          <p:attrName>style.visibility</p:attrName>
                                        </p:attrNameLst>
                                      </p:cBhvr>
                                      <p:to>
                                        <p:strVal val="visible"/>
                                      </p:to>
                                    </p:set>
                                    <p:anim calcmode="lin" valueType="num">
                                      <p:cBhvr additive="base">
                                        <p:cTn id="63" dur="700" fill="hold"/>
                                        <p:tgtEl>
                                          <p:spTgt spid="25"/>
                                        </p:tgtEl>
                                        <p:attrNameLst>
                                          <p:attrName>ppt_y</p:attrName>
                                        </p:attrNameLst>
                                      </p:cBhvr>
                                      <p:tavLst>
                                        <p:tav tm="0">
                                          <p:val>
                                            <p:strVal val="#ppt_y+.06"/>
                                          </p:val>
                                        </p:tav>
                                        <p:tav tm="100000">
                                          <p:val>
                                            <p:strVal val="#ppt_y"/>
                                          </p:val>
                                        </p:tav>
                                      </p:tavLst>
                                    </p:anim>
                                    <p:animEffect transition="in" filter="fade">
                                      <p:cBhvr>
                                        <p:cTn id="64" dur="700"/>
                                        <p:tgtEl>
                                          <p:spTgt spid="25"/>
                                        </p:tgtEl>
                                      </p:cBhvr>
                                    </p:animEffect>
                                  </p:childTnLst>
                                </p:cTn>
                              </p:par>
                              <p:par>
                                <p:cTn id="69" presetID="42" presetClass="entr" presetSubtype="0" fill="hold" grpId="0" nodeType="withEffect">
                                  <p:stCondLst>
                                    <p:cond delay="500"/>
                                  </p:stCondLst>
                                  <p:childTnLst>
                                    <p:set>
                                      <p:cBhvr>
                                        <p:cTn id="66" dur="1" fill="hold">
                                          <p:stCondLst>
                                            <p:cond delay="0"/>
                                          </p:stCondLst>
                                        </p:cTn>
                                        <p:tgtEl>
                                          <p:spTgt spid="32"/>
                                        </p:tgtEl>
                                        <p:attrNameLst>
                                          <p:attrName>style.visibility</p:attrName>
                                        </p:attrNameLst>
                                      </p:cBhvr>
                                      <p:to>
                                        <p:strVal val="visible"/>
                                      </p:to>
                                    </p:set>
                                    <p:anim calcmode="lin" valueType="num">
                                      <p:cBhvr additive="base">
                                        <p:cTn id="67" dur="700" fill="hold"/>
                                        <p:tgtEl>
                                          <p:spTgt spid="32"/>
                                        </p:tgtEl>
                                        <p:attrNameLst>
                                          <p:attrName>ppt_y</p:attrName>
                                        </p:attrNameLst>
                                      </p:cBhvr>
                                      <p:tavLst>
                                        <p:tav tm="0">
                                          <p:val>
                                            <p:strVal val="#ppt_y+.06"/>
                                          </p:val>
                                        </p:tav>
                                        <p:tav tm="100000">
                                          <p:val>
                                            <p:strVal val="#ppt_y"/>
                                          </p:val>
                                        </p:tav>
                                      </p:tavLst>
                                    </p:anim>
                                    <p:animEffect transition="in" filter="fade">
                                      <p:cBhvr>
                                        <p:cTn id="68" dur="700"/>
                                        <p:tgtEl>
                                          <p:spTgt spid="32"/>
                                        </p:tgtEl>
                                      </p:cBhvr>
                                    </p:animEffect>
                                  </p:childTnLst>
                                </p:cTn>
                              </p:par>
                              <p:par>
                                <p:cTn id="73" presetID="42" presetClass="entr" presetSubtype="0" fill="hold" grpId="0" nodeType="withEffect">
                                  <p:stCondLst>
                                    <p:cond delay="710"/>
                                  </p:stCondLst>
                                  <p:childTnLst>
                                    <p:set>
                                      <p:cBhvr>
                                        <p:cTn id="70" dur="1" fill="hold">
                                          <p:stCondLst>
                                            <p:cond delay="0"/>
                                          </p:stCondLst>
                                        </p:cTn>
                                        <p:tgtEl>
                                          <p:spTgt spid="13"/>
                                        </p:tgtEl>
                                        <p:attrNameLst>
                                          <p:attrName>style.visibility</p:attrName>
                                        </p:attrNameLst>
                                      </p:cBhvr>
                                      <p:to>
                                        <p:strVal val="visible"/>
                                      </p:to>
                                    </p:set>
                                    <p:anim calcmode="lin" valueType="num">
                                      <p:cBhvr additive="base">
                                        <p:cTn id="71" dur="450" fill="hold"/>
                                        <p:tgtEl>
                                          <p:spTgt spid="13"/>
                                        </p:tgtEl>
                                        <p:attrNameLst>
                                          <p:attrName>ppt_y</p:attrName>
                                        </p:attrNameLst>
                                      </p:cBhvr>
                                      <p:tavLst>
                                        <p:tav tm="0">
                                          <p:val>
                                            <p:strVal val="#ppt_y+.06"/>
                                          </p:val>
                                        </p:tav>
                                        <p:tav tm="100000">
                                          <p:val>
                                            <p:strVal val="#ppt_y"/>
                                          </p:val>
                                        </p:tav>
                                      </p:tavLst>
                                    </p:anim>
                                    <p:animEffect transition="in" filter="fade">
                                      <p:cBhvr>
                                        <p:cTn id="72" dur="450"/>
                                        <p:tgtEl>
                                          <p:spTgt spid="13"/>
                                        </p:tgtEl>
                                      </p:cBhvr>
                                    </p:animEffect>
                                  </p:childTnLst>
                                </p:cTn>
                              </p:par>
                              <p:par>
                                <p:cTn id="77" presetID="42" presetClass="entr" presetSubtype="0" fill="hold" grpId="0" nodeType="withEffect">
                                  <p:stCondLst>
                                    <p:cond delay="710"/>
                                  </p:stCondLst>
                                  <p:childTnLst>
                                    <p:set>
                                      <p:cBhvr>
                                        <p:cTn id="74" dur="1" fill="hold">
                                          <p:stCondLst>
                                            <p:cond delay="0"/>
                                          </p:stCondLst>
                                        </p:cTn>
                                        <p:tgtEl>
                                          <p:spTgt spid="14"/>
                                        </p:tgtEl>
                                        <p:attrNameLst>
                                          <p:attrName>style.visibility</p:attrName>
                                        </p:attrNameLst>
                                      </p:cBhvr>
                                      <p:to>
                                        <p:strVal val="visible"/>
                                      </p:to>
                                    </p:set>
                                    <p:anim calcmode="lin" valueType="num">
                                      <p:cBhvr additive="base">
                                        <p:cTn id="75" dur="450" fill="hold"/>
                                        <p:tgtEl>
                                          <p:spTgt spid="14"/>
                                        </p:tgtEl>
                                        <p:attrNameLst>
                                          <p:attrName>ppt_y</p:attrName>
                                        </p:attrNameLst>
                                      </p:cBhvr>
                                      <p:tavLst>
                                        <p:tav tm="0">
                                          <p:val>
                                            <p:strVal val="#ppt_y+.06"/>
                                          </p:val>
                                        </p:tav>
                                        <p:tav tm="100000">
                                          <p:val>
                                            <p:strVal val="#ppt_y"/>
                                          </p:val>
                                        </p:tav>
                                      </p:tavLst>
                                    </p:anim>
                                    <p:animEffect transition="in" filter="fade">
                                      <p:cBhvr>
                                        <p:cTn id="76" dur="450"/>
                                        <p:tgtEl>
                                          <p:spTgt spid="14"/>
                                        </p:tgtEl>
                                      </p:cBhvr>
                                    </p:animEffect>
                                  </p:childTnLst>
                                </p:cTn>
                              </p:par>
                              <p:par>
                                <p:cTn id="81" presetID="42" presetClass="entr" presetSubtype="0" fill="hold" grpId="0" nodeType="withEffect">
                                  <p:stCondLst>
                                    <p:cond delay="710"/>
                                  </p:stCondLst>
                                  <p:childTnLst>
                                    <p:set>
                                      <p:cBhvr>
                                        <p:cTn id="78" dur="1" fill="hold">
                                          <p:stCondLst>
                                            <p:cond delay="0"/>
                                          </p:stCondLst>
                                        </p:cTn>
                                        <p:tgtEl>
                                          <p:spTgt spid="15"/>
                                        </p:tgtEl>
                                        <p:attrNameLst>
                                          <p:attrName>style.visibility</p:attrName>
                                        </p:attrNameLst>
                                      </p:cBhvr>
                                      <p:to>
                                        <p:strVal val="visible"/>
                                      </p:to>
                                    </p:set>
                                    <p:anim calcmode="lin" valueType="num">
                                      <p:cBhvr additive="base">
                                        <p:cTn id="79" dur="450" fill="hold"/>
                                        <p:tgtEl>
                                          <p:spTgt spid="15"/>
                                        </p:tgtEl>
                                        <p:attrNameLst>
                                          <p:attrName>ppt_y</p:attrName>
                                        </p:attrNameLst>
                                      </p:cBhvr>
                                      <p:tavLst>
                                        <p:tav tm="0">
                                          <p:val>
                                            <p:strVal val="#ppt_y+.06"/>
                                          </p:val>
                                        </p:tav>
                                        <p:tav tm="100000">
                                          <p:val>
                                            <p:strVal val="#ppt_y"/>
                                          </p:val>
                                        </p:tav>
                                      </p:tavLst>
                                    </p:anim>
                                    <p:animEffect transition="in" filter="fade">
                                      <p:cBhvr>
                                        <p:cTn id="80" dur="450"/>
                                        <p:tgtEl>
                                          <p:spTgt spid="15"/>
                                        </p:tgtEl>
                                      </p:cBhvr>
                                    </p:animEffect>
                                  </p:childTnLst>
                                </p:cTn>
                              </p:par>
                              <p:par>
                                <p:cTn id="85" presetID="42" presetClass="entr" presetSubtype="0" fill="hold" grpId="0" nodeType="withEffect">
                                  <p:stCondLst>
                                    <p:cond delay="940"/>
                                  </p:stCondLst>
                                  <p:childTnLst>
                                    <p:set>
                                      <p:cBhvr>
                                        <p:cTn id="82" dur="1" fill="hold">
                                          <p:stCondLst>
                                            <p:cond delay="0"/>
                                          </p:stCondLst>
                                        </p:cTn>
                                        <p:tgtEl>
                                          <p:spTgt spid="16"/>
                                        </p:tgtEl>
                                        <p:attrNameLst>
                                          <p:attrName>style.visibility</p:attrName>
                                        </p:attrNameLst>
                                      </p:cBhvr>
                                      <p:to>
                                        <p:strVal val="visible"/>
                                      </p:to>
                                    </p:set>
                                    <p:anim calcmode="lin" valueType="num">
                                      <p:cBhvr additive="base">
                                        <p:cTn id="83" dur="450" fill="hold"/>
                                        <p:tgtEl>
                                          <p:spTgt spid="16"/>
                                        </p:tgtEl>
                                        <p:attrNameLst>
                                          <p:attrName>ppt_y</p:attrName>
                                        </p:attrNameLst>
                                      </p:cBhvr>
                                      <p:tavLst>
                                        <p:tav tm="0">
                                          <p:val>
                                            <p:strVal val="#ppt_y+.06"/>
                                          </p:val>
                                        </p:tav>
                                        <p:tav tm="100000">
                                          <p:val>
                                            <p:strVal val="#ppt_y"/>
                                          </p:val>
                                        </p:tav>
                                      </p:tavLst>
                                    </p:anim>
                                    <p:animEffect transition="in" filter="fade">
                                      <p:cBhvr>
                                        <p:cTn id="84" dur="450"/>
                                        <p:tgtEl>
                                          <p:spTgt spid="16"/>
                                        </p:tgtEl>
                                      </p:cBhvr>
                                    </p:animEffect>
                                  </p:childTnLst>
                                </p:cTn>
                              </p:par>
                              <p:par>
                                <p:cTn id="89" presetID="42" presetClass="entr" presetSubtype="0" fill="hold" grpId="0" nodeType="withEffect">
                                  <p:stCondLst>
                                    <p:cond delay="940"/>
                                  </p:stCondLst>
                                  <p:childTnLst>
                                    <p:set>
                                      <p:cBhvr>
                                        <p:cTn id="86" dur="1" fill="hold">
                                          <p:stCondLst>
                                            <p:cond delay="0"/>
                                          </p:stCondLst>
                                        </p:cTn>
                                        <p:tgtEl>
                                          <p:spTgt spid="17"/>
                                        </p:tgtEl>
                                        <p:attrNameLst>
                                          <p:attrName>style.visibility</p:attrName>
                                        </p:attrNameLst>
                                      </p:cBhvr>
                                      <p:to>
                                        <p:strVal val="visible"/>
                                      </p:to>
                                    </p:set>
                                    <p:anim calcmode="lin" valueType="num">
                                      <p:cBhvr additive="base">
                                        <p:cTn id="87" dur="450" fill="hold"/>
                                        <p:tgtEl>
                                          <p:spTgt spid="17"/>
                                        </p:tgtEl>
                                        <p:attrNameLst>
                                          <p:attrName>ppt_y</p:attrName>
                                        </p:attrNameLst>
                                      </p:cBhvr>
                                      <p:tavLst>
                                        <p:tav tm="0">
                                          <p:val>
                                            <p:strVal val="#ppt_y+.06"/>
                                          </p:val>
                                        </p:tav>
                                        <p:tav tm="100000">
                                          <p:val>
                                            <p:strVal val="#ppt_y"/>
                                          </p:val>
                                        </p:tav>
                                      </p:tavLst>
                                    </p:anim>
                                    <p:animEffect transition="in" filter="fade">
                                      <p:cBhvr>
                                        <p:cTn id="88" dur="450"/>
                                        <p:tgtEl>
                                          <p:spTgt spid="17"/>
                                        </p:tgtEl>
                                      </p:cBhvr>
                                    </p:animEffect>
                                  </p:childTnLst>
                                </p:cTn>
                              </p:par>
                              <p:par>
                                <p:cTn id="93" presetID="42" presetClass="entr" presetSubtype="0" fill="hold" grpId="0" nodeType="withEffect">
                                  <p:stCondLst>
                                    <p:cond delay="940"/>
                                  </p:stCondLst>
                                  <p:childTnLst>
                                    <p:set>
                                      <p:cBhvr>
                                        <p:cTn id="90" dur="1" fill="hold">
                                          <p:stCondLst>
                                            <p:cond delay="0"/>
                                          </p:stCondLst>
                                        </p:cTn>
                                        <p:tgtEl>
                                          <p:spTgt spid="18"/>
                                        </p:tgtEl>
                                        <p:attrNameLst>
                                          <p:attrName>style.visibility</p:attrName>
                                        </p:attrNameLst>
                                      </p:cBhvr>
                                      <p:to>
                                        <p:strVal val="visible"/>
                                      </p:to>
                                    </p:set>
                                    <p:anim calcmode="lin" valueType="num">
                                      <p:cBhvr additive="base">
                                        <p:cTn id="91" dur="450" fill="hold"/>
                                        <p:tgtEl>
                                          <p:spTgt spid="18"/>
                                        </p:tgtEl>
                                        <p:attrNameLst>
                                          <p:attrName>ppt_y</p:attrName>
                                        </p:attrNameLst>
                                      </p:cBhvr>
                                      <p:tavLst>
                                        <p:tav tm="0">
                                          <p:val>
                                            <p:strVal val="#ppt_y+.06"/>
                                          </p:val>
                                        </p:tav>
                                        <p:tav tm="100000">
                                          <p:val>
                                            <p:strVal val="#ppt_y"/>
                                          </p:val>
                                        </p:tav>
                                      </p:tavLst>
                                    </p:anim>
                                    <p:animEffect transition="in" filter="fade">
                                      <p:cBhvr>
                                        <p:cTn id="92" dur="450"/>
                                        <p:tgtEl>
                                          <p:spTgt spid="18"/>
                                        </p:tgtEl>
                                      </p:cBhvr>
                                    </p:animEffect>
                                  </p:childTnLst>
                                </p:cTn>
                              </p:par>
                              <p:par>
                                <p:cTn id="96" presetID="10" presetClass="entr" presetSubtype="0" fill="hold" nodeType="withEffect">
                                  <p:stCondLst>
                                    <p:cond delay="1000"/>
                                  </p:stCondLst>
                                  <p:childTnLst>
                                    <p:set>
                                      <p:cBhvr>
                                        <p:cTn id="94" dur="1" fill="hold">
                                          <p:stCondLst>
                                            <p:cond delay="0"/>
                                          </p:stCondLst>
                                        </p:cTn>
                                        <p:tgtEl>
                                          <p:spTgt spid="26"/>
                                        </p:tgtEl>
                                        <p:attrNameLst>
                                          <p:attrName>style.visibility</p:attrName>
                                        </p:attrNameLst>
                                      </p:cBhvr>
                                      <p:to>
                                        <p:strVal val="visible"/>
                                      </p:to>
                                    </p:set>
                                    <p:animEffect transition="in" filter="fade">
                                      <p:cBhvr>
                                        <p:cTn id="95" dur="600"/>
                                        <p:tgtEl>
                                          <p:spTgt spid="26"/>
                                        </p:tgtEl>
                                      </p:cBhvr>
                                    </p:animEffect>
                                  </p:childTnLst>
                                </p:cTn>
                              </p:par>
                              <p:par>
                                <p:cTn id="99" presetID="10" presetClass="entr" presetSubtype="0" fill="hold" nodeType="withEffect">
                                  <p:stCondLst>
                                    <p:cond delay="1000"/>
                                  </p:stCondLst>
                                  <p:childTnLst>
                                    <p:set>
                                      <p:cBhvr>
                                        <p:cTn id="97" dur="1" fill="hold">
                                          <p:stCondLst>
                                            <p:cond delay="0"/>
                                          </p:stCondLst>
                                        </p:cTn>
                                        <p:tgtEl>
                                          <p:spTgt spid="27"/>
                                        </p:tgtEl>
                                        <p:attrNameLst>
                                          <p:attrName>style.visibility</p:attrName>
                                        </p:attrNameLst>
                                      </p:cBhvr>
                                      <p:to>
                                        <p:strVal val="visible"/>
                                      </p:to>
                                    </p:set>
                                    <p:animEffect transition="in" filter="fade">
                                      <p:cBhvr>
                                        <p:cTn id="98" dur="600"/>
                                        <p:tgtEl>
                                          <p:spTgt spid="27"/>
                                        </p:tgtEl>
                                      </p:cBhvr>
                                    </p:animEffect>
                                  </p:childTnLst>
                                </p:cTn>
                              </p:par>
                              <p:par>
                                <p:cTn id="102" presetID="10" presetClass="entr" presetSubtype="0" fill="hold" nodeType="withEffect">
                                  <p:stCondLst>
                                    <p:cond delay="100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600"/>
                                        <p:tgtEl>
                                          <p:spTgt spid="28"/>
                                        </p:tgtEl>
                                      </p:cBhvr>
                                    </p:animEffect>
                                  </p:childTnLst>
                                </p:cTn>
                              </p:par>
                              <p:par>
                                <p:cTn id="105" presetID="10" presetClass="entr" presetSubtype="0" fill="hold" nodeType="withEffect">
                                  <p:stCondLst>
                                    <p:cond delay="1000"/>
                                  </p:stCondLst>
                                  <p:childTnLst>
                                    <p:set>
                                      <p:cBhvr>
                                        <p:cTn id="103" dur="1" fill="hold">
                                          <p:stCondLst>
                                            <p:cond delay="0"/>
                                          </p:stCondLst>
                                        </p:cTn>
                                        <p:tgtEl>
                                          <p:spTgt spid="29"/>
                                        </p:tgtEl>
                                        <p:attrNameLst>
                                          <p:attrName>style.visibility</p:attrName>
                                        </p:attrNameLst>
                                      </p:cBhvr>
                                      <p:to>
                                        <p:strVal val="visible"/>
                                      </p:to>
                                    </p:set>
                                    <p:animEffect transition="in" filter="fade">
                                      <p:cBhvr>
                                        <p:cTn id="104" dur="600"/>
                                        <p:tgtEl>
                                          <p:spTgt spid="29"/>
                                        </p:tgtEl>
                                      </p:cBhvr>
                                    </p:animEffect>
                                  </p:childTnLst>
                                </p:cTn>
                              </p:par>
                              <p:par>
                                <p:cTn id="108" presetID="10" presetClass="entr" presetSubtype="0" fill="hold" grpId="0" nodeType="withEffect">
                                  <p:stCondLst>
                                    <p:cond delay="1000"/>
                                  </p:stCondLst>
                                  <p:childTnLst>
                                    <p:set>
                                      <p:cBhvr>
                                        <p:cTn id="106" dur="1" fill="hold">
                                          <p:stCondLst>
                                            <p:cond delay="0"/>
                                          </p:stCondLst>
                                        </p:cTn>
                                        <p:tgtEl>
                                          <p:spTgt spid="30"/>
                                        </p:tgtEl>
                                        <p:attrNameLst>
                                          <p:attrName>style.visibility</p:attrName>
                                        </p:attrNameLst>
                                      </p:cBhvr>
                                      <p:to>
                                        <p:strVal val="visible"/>
                                      </p:to>
                                    </p:set>
                                    <p:animEffect transition="in" filter="fade">
                                      <p:cBhvr>
                                        <p:cTn id="107" dur="600"/>
                                        <p:tgtEl>
                                          <p:spTgt spid="30"/>
                                        </p:tgtEl>
                                      </p:cBhvr>
                                    </p:animEffect>
                                  </p:childTnLst>
                                </p:cTn>
                              </p:par>
                              <p:par>
                                <p:cTn id="112" presetID="42" presetClass="entr" presetSubtype="0" fill="hold" grpId="0" nodeType="withEffect">
                                  <p:stCondLst>
                                    <p:cond delay="1170"/>
                                  </p:stCondLst>
                                  <p:childTnLst>
                                    <p:set>
                                      <p:cBhvr>
                                        <p:cTn id="109" dur="1" fill="hold">
                                          <p:stCondLst>
                                            <p:cond delay="0"/>
                                          </p:stCondLst>
                                        </p:cTn>
                                        <p:tgtEl>
                                          <p:spTgt spid="19"/>
                                        </p:tgtEl>
                                        <p:attrNameLst>
                                          <p:attrName>style.visibility</p:attrName>
                                        </p:attrNameLst>
                                      </p:cBhvr>
                                      <p:to>
                                        <p:strVal val="visible"/>
                                      </p:to>
                                    </p:set>
                                    <p:anim calcmode="lin" valueType="num">
                                      <p:cBhvr additive="base">
                                        <p:cTn id="110" dur="450" fill="hold"/>
                                        <p:tgtEl>
                                          <p:spTgt spid="19"/>
                                        </p:tgtEl>
                                        <p:attrNameLst>
                                          <p:attrName>ppt_y</p:attrName>
                                        </p:attrNameLst>
                                      </p:cBhvr>
                                      <p:tavLst>
                                        <p:tav tm="0">
                                          <p:val>
                                            <p:strVal val="#ppt_y+.06"/>
                                          </p:val>
                                        </p:tav>
                                        <p:tav tm="100000">
                                          <p:val>
                                            <p:strVal val="#ppt_y"/>
                                          </p:val>
                                        </p:tav>
                                      </p:tavLst>
                                    </p:anim>
                                    <p:animEffect transition="in" filter="fade">
                                      <p:cBhvr>
                                        <p:cTn id="111" dur="450"/>
                                        <p:tgtEl>
                                          <p:spTgt spid="19"/>
                                        </p:tgtEl>
                                      </p:cBhvr>
                                    </p:animEffect>
                                  </p:childTnLst>
                                </p:cTn>
                              </p:par>
                              <p:par>
                                <p:cTn id="116" presetID="42" presetClass="entr" presetSubtype="0" fill="hold" grpId="0" nodeType="withEffect">
                                  <p:stCondLst>
                                    <p:cond delay="1170"/>
                                  </p:stCondLst>
                                  <p:childTnLst>
                                    <p:set>
                                      <p:cBhvr>
                                        <p:cTn id="113" dur="1" fill="hold">
                                          <p:stCondLst>
                                            <p:cond delay="0"/>
                                          </p:stCondLst>
                                        </p:cTn>
                                        <p:tgtEl>
                                          <p:spTgt spid="20"/>
                                        </p:tgtEl>
                                        <p:attrNameLst>
                                          <p:attrName>style.visibility</p:attrName>
                                        </p:attrNameLst>
                                      </p:cBhvr>
                                      <p:to>
                                        <p:strVal val="visible"/>
                                      </p:to>
                                    </p:set>
                                    <p:anim calcmode="lin" valueType="num">
                                      <p:cBhvr additive="base">
                                        <p:cTn id="114" dur="450" fill="hold"/>
                                        <p:tgtEl>
                                          <p:spTgt spid="20"/>
                                        </p:tgtEl>
                                        <p:attrNameLst>
                                          <p:attrName>ppt_y</p:attrName>
                                        </p:attrNameLst>
                                      </p:cBhvr>
                                      <p:tavLst>
                                        <p:tav tm="0">
                                          <p:val>
                                            <p:strVal val="#ppt_y+.06"/>
                                          </p:val>
                                        </p:tav>
                                        <p:tav tm="100000">
                                          <p:val>
                                            <p:strVal val="#ppt_y"/>
                                          </p:val>
                                        </p:tav>
                                      </p:tavLst>
                                    </p:anim>
                                    <p:animEffect transition="in" filter="fade">
                                      <p:cBhvr>
                                        <p:cTn id="115" dur="450"/>
                                        <p:tgtEl>
                                          <p:spTgt spid="20"/>
                                        </p:tgtEl>
                                      </p:cBhvr>
                                    </p:animEffect>
                                  </p:childTnLst>
                                </p:cTn>
                              </p:par>
                              <p:par>
                                <p:cTn id="120" presetID="42" presetClass="entr" presetSubtype="0" fill="hold" grpId="0" nodeType="withEffect">
                                  <p:stCondLst>
                                    <p:cond delay="1170"/>
                                  </p:stCondLst>
                                  <p:childTnLst>
                                    <p:set>
                                      <p:cBhvr>
                                        <p:cTn id="117" dur="1" fill="hold">
                                          <p:stCondLst>
                                            <p:cond delay="0"/>
                                          </p:stCondLst>
                                        </p:cTn>
                                        <p:tgtEl>
                                          <p:spTgt spid="21"/>
                                        </p:tgtEl>
                                        <p:attrNameLst>
                                          <p:attrName>style.visibility</p:attrName>
                                        </p:attrNameLst>
                                      </p:cBhvr>
                                      <p:to>
                                        <p:strVal val="visible"/>
                                      </p:to>
                                    </p:set>
                                    <p:anim calcmode="lin" valueType="num">
                                      <p:cBhvr additive="base">
                                        <p:cTn id="118" dur="450" fill="hold"/>
                                        <p:tgtEl>
                                          <p:spTgt spid="21"/>
                                        </p:tgtEl>
                                        <p:attrNameLst>
                                          <p:attrName>ppt_y</p:attrName>
                                        </p:attrNameLst>
                                      </p:cBhvr>
                                      <p:tavLst>
                                        <p:tav tm="0">
                                          <p:val>
                                            <p:strVal val="#ppt_y+.06"/>
                                          </p:val>
                                        </p:tav>
                                        <p:tav tm="100000">
                                          <p:val>
                                            <p:strVal val="#ppt_y"/>
                                          </p:val>
                                        </p:tav>
                                      </p:tavLst>
                                    </p:anim>
                                    <p:animEffect transition="in" filter="fade">
                                      <p:cBhvr>
                                        <p:cTn id="119" dur="450"/>
                                        <p:tgtEl>
                                          <p:spTgt spid="21"/>
                                        </p:tgtEl>
                                      </p:cBhvr>
                                    </p:animEffect>
                                  </p:childTnLst>
                                </p:cTn>
                              </p:par>
                              <p:par>
                                <p:cTn id="124" presetID="42" presetClass="entr" presetSubtype="0" fill="hold" grpId="0" nodeType="withEffect">
                                  <p:stCondLst>
                                    <p:cond delay="1170"/>
                                  </p:stCondLst>
                                  <p:childTnLst>
                                    <p:set>
                                      <p:cBhvr>
                                        <p:cTn id="121" dur="1" fill="hold">
                                          <p:stCondLst>
                                            <p:cond delay="0"/>
                                          </p:stCondLst>
                                        </p:cTn>
                                        <p:tgtEl>
                                          <p:spTgt spid="22"/>
                                        </p:tgtEl>
                                        <p:attrNameLst>
                                          <p:attrName>style.visibility</p:attrName>
                                        </p:attrNameLst>
                                      </p:cBhvr>
                                      <p:to>
                                        <p:strVal val="visible"/>
                                      </p:to>
                                    </p:set>
                                    <p:anim calcmode="lin" valueType="num">
                                      <p:cBhvr additive="base">
                                        <p:cTn id="122" dur="450" fill="hold"/>
                                        <p:tgtEl>
                                          <p:spTgt spid="22"/>
                                        </p:tgtEl>
                                        <p:attrNameLst>
                                          <p:attrName>ppt_y</p:attrName>
                                        </p:attrNameLst>
                                      </p:cBhvr>
                                      <p:tavLst>
                                        <p:tav tm="0">
                                          <p:val>
                                            <p:strVal val="#ppt_y+.06"/>
                                          </p:val>
                                        </p:tav>
                                        <p:tav tm="100000">
                                          <p:val>
                                            <p:strVal val="#ppt_y"/>
                                          </p:val>
                                        </p:tav>
                                      </p:tavLst>
                                    </p:anim>
                                    <p:animEffect transition="in" filter="fade">
                                      <p:cBhvr>
                                        <p:cTn id="123" dur="450"/>
                                        <p:tgtEl>
                                          <p:spTgt spid="22"/>
                                        </p:tgtEl>
                                      </p:cBhvr>
                                    </p:animEffect>
                                  </p:childTnLst>
                                </p:cTn>
                              </p:par>
                              <p:par>
                                <p:cTn id="128" presetID="42" presetClass="entr" presetSubtype="0" fill="hold" grpId="0" nodeType="withEffect">
                                  <p:stCondLst>
                                    <p:cond delay="1500"/>
                                  </p:stCondLst>
                                  <p:childTnLst>
                                    <p:set>
                                      <p:cBhvr>
                                        <p:cTn id="125" dur="1" fill="hold">
                                          <p:stCondLst>
                                            <p:cond delay="0"/>
                                          </p:stCondLst>
                                        </p:cTn>
                                        <p:tgtEl>
                                          <p:spTgt spid="31"/>
                                        </p:tgtEl>
                                        <p:attrNameLst>
                                          <p:attrName>style.visibility</p:attrName>
                                        </p:attrNameLst>
                                      </p:cBhvr>
                                      <p:to>
                                        <p:strVal val="visible"/>
                                      </p:to>
                                    </p:set>
                                    <p:anim calcmode="lin" valueType="num">
                                      <p:cBhvr additive="base">
                                        <p:cTn id="126" dur="600" fill="hold"/>
                                        <p:tgtEl>
                                          <p:spTgt spid="31"/>
                                        </p:tgtEl>
                                        <p:attrNameLst>
                                          <p:attrName>ppt_y</p:attrName>
                                        </p:attrNameLst>
                                      </p:cBhvr>
                                      <p:tavLst>
                                        <p:tav tm="0">
                                          <p:val>
                                            <p:strVal val="#ppt_y+.06"/>
                                          </p:val>
                                        </p:tav>
                                        <p:tav tm="100000">
                                          <p:val>
                                            <p:strVal val="#ppt_y"/>
                                          </p:val>
                                        </p:tav>
                                      </p:tavLst>
                                    </p:anim>
                                    <p:animEffect transition="in" filter="fade">
                                      <p:cBhvr>
                                        <p:cTn id="127" dur="600"/>
                                        <p:tgtEl>
                                          <p:spTgt spid="31"/>
                                        </p:tgtEl>
                                      </p:cBhvr>
                                    </p:animEffect>
                                  </p:childTnLst>
                                </p:cTn>
                              </p:par>
                              <p:par>
                                <p:cTn id="132" presetID="42" presetClass="entr" presetSubtype="0" fill="hold" grpId="0" nodeType="withEffect">
                                  <p:stCondLst>
                                    <p:cond delay="1500"/>
                                  </p:stCondLst>
                                  <p:childTnLst>
                                    <p:set>
                                      <p:cBhvr>
                                        <p:cTn id="129" dur="1" fill="hold">
                                          <p:stCondLst>
                                            <p:cond delay="0"/>
                                          </p:stCondLst>
                                        </p:cTn>
                                        <p:tgtEl>
                                          <p:spTgt spid="33"/>
                                        </p:tgtEl>
                                        <p:attrNameLst>
                                          <p:attrName>style.visibility</p:attrName>
                                        </p:attrNameLst>
                                      </p:cBhvr>
                                      <p:to>
                                        <p:strVal val="visible"/>
                                      </p:to>
                                    </p:set>
                                    <p:anim calcmode="lin" valueType="num">
                                      <p:cBhvr additive="base">
                                        <p:cTn id="130" dur="600" fill="hold"/>
                                        <p:tgtEl>
                                          <p:spTgt spid="33"/>
                                        </p:tgtEl>
                                        <p:attrNameLst>
                                          <p:attrName>ppt_y</p:attrName>
                                        </p:attrNameLst>
                                      </p:cBhvr>
                                      <p:tavLst>
                                        <p:tav tm="0">
                                          <p:val>
                                            <p:strVal val="#ppt_y+.06"/>
                                          </p:val>
                                        </p:tav>
                                        <p:tav tm="100000">
                                          <p:val>
                                            <p:strVal val="#ppt_y"/>
                                          </p:val>
                                        </p:tav>
                                      </p:tavLst>
                                    </p:anim>
                                    <p:animEffect transition="in" filter="fade">
                                      <p:cBhvr>
                                        <p:cTn id="131" dur="600"/>
                                        <p:tgtEl>
                                          <p:spTgt spid="33"/>
                                        </p:tgtEl>
                                      </p:cBhvr>
                                    </p:animEffect>
                                  </p:childTnLst>
                                </p:cTn>
                              </p:par>
                              <p:par>
                                <p:cTn id="136" presetID="42" presetClass="entr" presetSubtype="0" fill="hold" grpId="0" nodeType="withEffect">
                                  <p:stCondLst>
                                    <p:cond delay="1500"/>
                                  </p:stCondLst>
                                  <p:childTnLst>
                                    <p:set>
                                      <p:cBhvr>
                                        <p:cTn id="133" dur="1" fill="hold">
                                          <p:stCondLst>
                                            <p:cond delay="0"/>
                                          </p:stCondLst>
                                        </p:cTn>
                                        <p:tgtEl>
                                          <p:spTgt spid="34"/>
                                        </p:tgtEl>
                                        <p:attrNameLst>
                                          <p:attrName>style.visibility</p:attrName>
                                        </p:attrNameLst>
                                      </p:cBhvr>
                                      <p:to>
                                        <p:strVal val="visible"/>
                                      </p:to>
                                    </p:set>
                                    <p:anim calcmode="lin" valueType="num">
                                      <p:cBhvr additive="base">
                                        <p:cTn id="134" dur="600" fill="hold"/>
                                        <p:tgtEl>
                                          <p:spTgt spid="34"/>
                                        </p:tgtEl>
                                        <p:attrNameLst>
                                          <p:attrName>ppt_y</p:attrName>
                                        </p:attrNameLst>
                                      </p:cBhvr>
                                      <p:tavLst>
                                        <p:tav tm="0">
                                          <p:val>
                                            <p:strVal val="#ppt_y+.06"/>
                                          </p:val>
                                        </p:tav>
                                        <p:tav tm="100000">
                                          <p:val>
                                            <p:strVal val="#ppt_y"/>
                                          </p:val>
                                        </p:tav>
                                      </p:tavLst>
                                    </p:anim>
                                    <p:animEffect transition="in" filter="fade">
                                      <p:cBhvr>
                                        <p:cTn id="135" dur="600"/>
                                        <p:tgtEl>
                                          <p:spTgt spid="34"/>
                                        </p:tgtEl>
                                      </p:cBhvr>
                                    </p:animEffect>
                                  </p:childTnLst>
                                </p:cTn>
                              </p:par>
                              <p:par>
                                <p:cTn id="140" presetID="42" presetClass="entr" presetSubtype="0" fill="hold" grpId="0" nodeType="withEffect">
                                  <p:stCondLst>
                                    <p:cond delay="1500"/>
                                  </p:stCondLst>
                                  <p:childTnLst>
                                    <p:set>
                                      <p:cBhvr>
                                        <p:cTn id="137" dur="1" fill="hold">
                                          <p:stCondLst>
                                            <p:cond delay="0"/>
                                          </p:stCondLst>
                                        </p:cTn>
                                        <p:tgtEl>
                                          <p:spTgt spid="35"/>
                                        </p:tgtEl>
                                        <p:attrNameLst>
                                          <p:attrName>style.visibility</p:attrName>
                                        </p:attrNameLst>
                                      </p:cBhvr>
                                      <p:to>
                                        <p:strVal val="visible"/>
                                      </p:to>
                                    </p:set>
                                    <p:anim calcmode="lin" valueType="num">
                                      <p:cBhvr additive="base">
                                        <p:cTn id="138" dur="600" fill="hold"/>
                                        <p:tgtEl>
                                          <p:spTgt spid="35"/>
                                        </p:tgtEl>
                                        <p:attrNameLst>
                                          <p:attrName>ppt_y</p:attrName>
                                        </p:attrNameLst>
                                      </p:cBhvr>
                                      <p:tavLst>
                                        <p:tav tm="0">
                                          <p:val>
                                            <p:strVal val="#ppt_y+.06"/>
                                          </p:val>
                                        </p:tav>
                                        <p:tav tm="100000">
                                          <p:val>
                                            <p:strVal val="#ppt_y"/>
                                          </p:val>
                                        </p:tav>
                                      </p:tavLst>
                                    </p:anim>
                                    <p:animEffect transition="in" filter="fade">
                                      <p:cBhvr>
                                        <p:cTn id="139" dur="600"/>
                                        <p:tgtEl>
                                          <p:spTgt spid="35"/>
                                        </p:tgtEl>
                                      </p:cBhvr>
                                    </p:animEffect>
                                  </p:childTnLst>
                                </p:cTn>
                              </p:par>
                              <p:par>
                                <p:cTn id="144" presetID="42" presetClass="entr" presetSubtype="0" fill="hold" grpId="0" nodeType="withEffect">
                                  <p:stCondLst>
                                    <p:cond delay="1500"/>
                                  </p:stCondLst>
                                  <p:childTnLst>
                                    <p:set>
                                      <p:cBhvr>
                                        <p:cTn id="141" dur="1" fill="hold">
                                          <p:stCondLst>
                                            <p:cond delay="0"/>
                                          </p:stCondLst>
                                        </p:cTn>
                                        <p:tgtEl>
                                          <p:spTgt spid="36"/>
                                        </p:tgtEl>
                                        <p:attrNameLst>
                                          <p:attrName>style.visibility</p:attrName>
                                        </p:attrNameLst>
                                      </p:cBhvr>
                                      <p:to>
                                        <p:strVal val="visible"/>
                                      </p:to>
                                    </p:set>
                                    <p:anim calcmode="lin" valueType="num">
                                      <p:cBhvr additive="base">
                                        <p:cTn id="142" dur="600" fill="hold"/>
                                        <p:tgtEl>
                                          <p:spTgt spid="36"/>
                                        </p:tgtEl>
                                        <p:attrNameLst>
                                          <p:attrName>ppt_y</p:attrName>
                                        </p:attrNameLst>
                                      </p:cBhvr>
                                      <p:tavLst>
                                        <p:tav tm="0">
                                          <p:val>
                                            <p:strVal val="#ppt_y+.06"/>
                                          </p:val>
                                        </p:tav>
                                        <p:tav tm="100000">
                                          <p:val>
                                            <p:strVal val="#ppt_y"/>
                                          </p:val>
                                        </p:tav>
                                      </p:tavLst>
                                    </p:anim>
                                    <p:animEffect transition="in" filter="fade">
                                      <p:cBhvr>
                                        <p:cTn id="143" dur="600"/>
                                        <p:tgtEl>
                                          <p:spTgt spid="36"/>
                                        </p:tgtEl>
                                      </p:cBhvr>
                                    </p:animEffect>
                                  </p:childTnLst>
                                </p:cTn>
                              </p:par>
                              <p:par>
                                <p:cTn id="148" presetID="42" presetClass="entr" presetSubtype="0" fill="hold" grpId="0" nodeType="withEffect">
                                  <p:stCondLst>
                                    <p:cond delay="1500"/>
                                  </p:stCondLst>
                                  <p:childTnLst>
                                    <p:set>
                                      <p:cBhvr>
                                        <p:cTn id="145" dur="1" fill="hold">
                                          <p:stCondLst>
                                            <p:cond delay="0"/>
                                          </p:stCondLst>
                                        </p:cTn>
                                        <p:tgtEl>
                                          <p:spTgt spid="37"/>
                                        </p:tgtEl>
                                        <p:attrNameLst>
                                          <p:attrName>style.visibility</p:attrName>
                                        </p:attrNameLst>
                                      </p:cBhvr>
                                      <p:to>
                                        <p:strVal val="visible"/>
                                      </p:to>
                                    </p:set>
                                    <p:anim calcmode="lin" valueType="num">
                                      <p:cBhvr additive="base">
                                        <p:cTn id="146" dur="600" fill="hold"/>
                                        <p:tgtEl>
                                          <p:spTgt spid="37"/>
                                        </p:tgtEl>
                                        <p:attrNameLst>
                                          <p:attrName>ppt_y</p:attrName>
                                        </p:attrNameLst>
                                      </p:cBhvr>
                                      <p:tavLst>
                                        <p:tav tm="0">
                                          <p:val>
                                            <p:strVal val="#ppt_y+.06"/>
                                          </p:val>
                                        </p:tav>
                                        <p:tav tm="100000">
                                          <p:val>
                                            <p:strVal val="#ppt_y"/>
                                          </p:val>
                                        </p:tav>
                                      </p:tavLst>
                                    </p:anim>
                                    <p:animEffect transition="in" filter="fade">
                                      <p:cBhvr>
                                        <p:cTn id="147" dur="600"/>
                                        <p:tgtEl>
                                          <p:spTgt spid="37"/>
                                        </p:tgtEl>
                                      </p:cBhvr>
                                    </p:animEffect>
                                  </p:childTnLst>
                                </p:cTn>
                              </p:par>
                              <p:par>
                                <p:cTn id="152" presetID="42" presetClass="entr" presetSubtype="0" fill="hold" grpId="0" nodeType="withEffect">
                                  <p:stCondLst>
                                    <p:cond delay="1500"/>
                                  </p:stCondLst>
                                  <p:childTnLst>
                                    <p:set>
                                      <p:cBhvr>
                                        <p:cTn id="149" dur="1" fill="hold">
                                          <p:stCondLst>
                                            <p:cond delay="0"/>
                                          </p:stCondLst>
                                        </p:cTn>
                                        <p:tgtEl>
                                          <p:spTgt spid="38"/>
                                        </p:tgtEl>
                                        <p:attrNameLst>
                                          <p:attrName>style.visibility</p:attrName>
                                        </p:attrNameLst>
                                      </p:cBhvr>
                                      <p:to>
                                        <p:strVal val="visible"/>
                                      </p:to>
                                    </p:set>
                                    <p:anim calcmode="lin" valueType="num">
                                      <p:cBhvr additive="base">
                                        <p:cTn id="150" dur="600" fill="hold"/>
                                        <p:tgtEl>
                                          <p:spTgt spid="38"/>
                                        </p:tgtEl>
                                        <p:attrNameLst>
                                          <p:attrName>ppt_y</p:attrName>
                                        </p:attrNameLst>
                                      </p:cBhvr>
                                      <p:tavLst>
                                        <p:tav tm="0">
                                          <p:val>
                                            <p:strVal val="#ppt_y+.06"/>
                                          </p:val>
                                        </p:tav>
                                        <p:tav tm="100000">
                                          <p:val>
                                            <p:strVal val="#ppt_y"/>
                                          </p:val>
                                        </p:tav>
                                      </p:tavLst>
                                    </p:anim>
                                    <p:animEffect transition="in" filter="fade">
                                      <p:cBhvr>
                                        <p:cTn id="151" dur="600"/>
                                        <p:tgtEl>
                                          <p:spTgt spid="38"/>
                                        </p:tgtEl>
                                      </p:cBhvr>
                                    </p:animEffect>
                                  </p:childTnLst>
                                </p:cTn>
                              </p:par>
                              <p:par>
                                <p:cTn id="156" presetID="42" presetClass="entr" presetSubtype="0" fill="hold" grpId="0" nodeType="withEffect">
                                  <p:stCondLst>
                                    <p:cond delay="1500"/>
                                  </p:stCondLst>
                                  <p:childTnLst>
                                    <p:set>
                                      <p:cBhvr>
                                        <p:cTn id="153" dur="1" fill="hold">
                                          <p:stCondLst>
                                            <p:cond delay="0"/>
                                          </p:stCondLst>
                                        </p:cTn>
                                        <p:tgtEl>
                                          <p:spTgt spid="39"/>
                                        </p:tgtEl>
                                        <p:attrNameLst>
                                          <p:attrName>style.visibility</p:attrName>
                                        </p:attrNameLst>
                                      </p:cBhvr>
                                      <p:to>
                                        <p:strVal val="visible"/>
                                      </p:to>
                                    </p:set>
                                    <p:anim calcmode="lin" valueType="num">
                                      <p:cBhvr additive="base">
                                        <p:cTn id="154" dur="600" fill="hold"/>
                                        <p:tgtEl>
                                          <p:spTgt spid="39"/>
                                        </p:tgtEl>
                                        <p:attrNameLst>
                                          <p:attrName>ppt_y</p:attrName>
                                        </p:attrNameLst>
                                      </p:cBhvr>
                                      <p:tavLst>
                                        <p:tav tm="0">
                                          <p:val>
                                            <p:strVal val="#ppt_y+.06"/>
                                          </p:val>
                                        </p:tav>
                                        <p:tav tm="100000">
                                          <p:val>
                                            <p:strVal val="#ppt_y"/>
                                          </p:val>
                                        </p:tav>
                                      </p:tavLst>
                                    </p:anim>
                                    <p:animEffect transition="in" filter="fade">
                                      <p:cBhvr>
                                        <p:cTn id="155" dur="600"/>
                                        <p:tgtEl>
                                          <p:spTgt spid="39"/>
                                        </p:tgtEl>
                                      </p:cBhvr>
                                    </p:animEffect>
                                  </p:childTnLst>
                                </p:cTn>
                              </p:par>
                              <p:par>
                                <p:cTn id="160" presetID="42" presetClass="entr" presetSubtype="0" fill="hold" grpId="0" nodeType="withEffect">
                                  <p:stCondLst>
                                    <p:cond delay="1500"/>
                                  </p:stCondLst>
                                  <p:childTnLst>
                                    <p:set>
                                      <p:cBhvr>
                                        <p:cTn id="157" dur="1" fill="hold">
                                          <p:stCondLst>
                                            <p:cond delay="0"/>
                                          </p:stCondLst>
                                        </p:cTn>
                                        <p:tgtEl>
                                          <p:spTgt spid="40"/>
                                        </p:tgtEl>
                                        <p:attrNameLst>
                                          <p:attrName>style.visibility</p:attrName>
                                        </p:attrNameLst>
                                      </p:cBhvr>
                                      <p:to>
                                        <p:strVal val="visible"/>
                                      </p:to>
                                    </p:set>
                                    <p:anim calcmode="lin" valueType="num">
                                      <p:cBhvr additive="base">
                                        <p:cTn id="158" dur="600" fill="hold"/>
                                        <p:tgtEl>
                                          <p:spTgt spid="40"/>
                                        </p:tgtEl>
                                        <p:attrNameLst>
                                          <p:attrName>ppt_y</p:attrName>
                                        </p:attrNameLst>
                                      </p:cBhvr>
                                      <p:tavLst>
                                        <p:tav tm="0">
                                          <p:val>
                                            <p:strVal val="#ppt_y+.06"/>
                                          </p:val>
                                        </p:tav>
                                        <p:tav tm="100000">
                                          <p:val>
                                            <p:strVal val="#ppt_y"/>
                                          </p:val>
                                        </p:tav>
                                      </p:tavLst>
                                    </p:anim>
                                    <p:animEffect transition="in" filter="fade">
                                      <p:cBhvr>
                                        <p:cTn id="159" dur="600"/>
                                        <p:tgtEl>
                                          <p:spTgt spid="40"/>
                                        </p:tgtEl>
                                      </p:cBhvr>
                                    </p:animEffect>
                                  </p:childTnLst>
                                </p:cTn>
                              </p:par>
                              <p:par>
                                <p:cTn id="164" presetID="42" presetClass="entr" presetSubtype="0" fill="hold" grpId="0" nodeType="withEffect">
                                  <p:stCondLst>
                                    <p:cond delay="1500"/>
                                  </p:stCondLst>
                                  <p:childTnLst>
                                    <p:set>
                                      <p:cBhvr>
                                        <p:cTn id="161" dur="1" fill="hold">
                                          <p:stCondLst>
                                            <p:cond delay="0"/>
                                          </p:stCondLst>
                                        </p:cTn>
                                        <p:tgtEl>
                                          <p:spTgt spid="41"/>
                                        </p:tgtEl>
                                        <p:attrNameLst>
                                          <p:attrName>style.visibility</p:attrName>
                                        </p:attrNameLst>
                                      </p:cBhvr>
                                      <p:to>
                                        <p:strVal val="visible"/>
                                      </p:to>
                                    </p:set>
                                    <p:anim calcmode="lin" valueType="num">
                                      <p:cBhvr additive="base">
                                        <p:cTn id="162" dur="600" fill="hold"/>
                                        <p:tgtEl>
                                          <p:spTgt spid="41"/>
                                        </p:tgtEl>
                                        <p:attrNameLst>
                                          <p:attrName>ppt_y</p:attrName>
                                        </p:attrNameLst>
                                      </p:cBhvr>
                                      <p:tavLst>
                                        <p:tav tm="0">
                                          <p:val>
                                            <p:strVal val="#ppt_y+.06"/>
                                          </p:val>
                                        </p:tav>
                                        <p:tav tm="100000">
                                          <p:val>
                                            <p:strVal val="#ppt_y"/>
                                          </p:val>
                                        </p:tav>
                                      </p:tavLst>
                                    </p:anim>
                                    <p:animEffect transition="in" filter="fade">
                                      <p:cBhvr>
                                        <p:cTn id="163" dur="600"/>
                                        <p:tgtEl>
                                          <p:spTgt spid="41"/>
                                        </p:tgtEl>
                                      </p:cBhvr>
                                    </p:animEffect>
                                  </p:childTnLst>
                                </p:cTn>
                              </p:par>
                              <p:par>
                                <p:cTn id="168" presetID="42" presetClass="entr" presetSubtype="0" fill="hold" grpId="0" nodeType="withEffect">
                                  <p:stCondLst>
                                    <p:cond delay="1500"/>
                                  </p:stCondLst>
                                  <p:childTnLst>
                                    <p:set>
                                      <p:cBhvr>
                                        <p:cTn id="165" dur="1" fill="hold">
                                          <p:stCondLst>
                                            <p:cond delay="0"/>
                                          </p:stCondLst>
                                        </p:cTn>
                                        <p:tgtEl>
                                          <p:spTgt spid="42"/>
                                        </p:tgtEl>
                                        <p:attrNameLst>
                                          <p:attrName>style.visibility</p:attrName>
                                        </p:attrNameLst>
                                      </p:cBhvr>
                                      <p:to>
                                        <p:strVal val="visible"/>
                                      </p:to>
                                    </p:set>
                                    <p:anim calcmode="lin" valueType="num">
                                      <p:cBhvr additive="base">
                                        <p:cTn id="166" dur="600" fill="hold"/>
                                        <p:tgtEl>
                                          <p:spTgt spid="42"/>
                                        </p:tgtEl>
                                        <p:attrNameLst>
                                          <p:attrName>ppt_y</p:attrName>
                                        </p:attrNameLst>
                                      </p:cBhvr>
                                      <p:tavLst>
                                        <p:tav tm="0">
                                          <p:val>
                                            <p:strVal val="#ppt_y+.06"/>
                                          </p:val>
                                        </p:tav>
                                        <p:tav tm="100000">
                                          <p:val>
                                            <p:strVal val="#ppt_y"/>
                                          </p:val>
                                        </p:tav>
                                      </p:tavLst>
                                    </p:anim>
                                    <p:animEffect transition="in" filter="fade">
                                      <p:cBhvr>
                                        <p:cTn id="167" dur="600"/>
                                        <p:tgtEl>
                                          <p:spTgt spid="42"/>
                                        </p:tgtEl>
                                      </p:cBhvr>
                                    </p:animEffect>
                                  </p:childTnLst>
                                </p:cTn>
                              </p:par>
                              <p:par>
                                <p:cTn id="172" presetID="42" presetClass="entr" presetSubtype="0" fill="hold" grpId="0" nodeType="withEffect">
                                  <p:stCondLst>
                                    <p:cond delay="1500"/>
                                  </p:stCondLst>
                                  <p:childTnLst>
                                    <p:set>
                                      <p:cBhvr>
                                        <p:cTn id="169" dur="1" fill="hold">
                                          <p:stCondLst>
                                            <p:cond delay="0"/>
                                          </p:stCondLst>
                                        </p:cTn>
                                        <p:tgtEl>
                                          <p:spTgt spid="43"/>
                                        </p:tgtEl>
                                        <p:attrNameLst>
                                          <p:attrName>style.visibility</p:attrName>
                                        </p:attrNameLst>
                                      </p:cBhvr>
                                      <p:to>
                                        <p:strVal val="visible"/>
                                      </p:to>
                                    </p:set>
                                    <p:anim calcmode="lin" valueType="num">
                                      <p:cBhvr additive="base">
                                        <p:cTn id="170" dur="600" fill="hold"/>
                                        <p:tgtEl>
                                          <p:spTgt spid="43"/>
                                        </p:tgtEl>
                                        <p:attrNameLst>
                                          <p:attrName>ppt_y</p:attrName>
                                        </p:attrNameLst>
                                      </p:cBhvr>
                                      <p:tavLst>
                                        <p:tav tm="0">
                                          <p:val>
                                            <p:strVal val="#ppt_y+.06"/>
                                          </p:val>
                                        </p:tav>
                                        <p:tav tm="100000">
                                          <p:val>
                                            <p:strVal val="#ppt_y"/>
                                          </p:val>
                                        </p:tav>
                                      </p:tavLst>
                                    </p:anim>
                                    <p:animEffect transition="in" filter="fade">
                                      <p:cBhvr>
                                        <p:cTn id="171" dur="600"/>
                                        <p:tgtEl>
                                          <p:spTgt spid="43"/>
                                        </p:tgtEl>
                                      </p:cBhvr>
                                    </p:animEffect>
                                  </p:childTnLst>
                                </p:cTn>
                              </p:par>
                              <p:par>
                                <p:cTn id="176" presetID="42" presetClass="entr" presetSubtype="0" fill="hold" grpId="0" nodeType="withEffect">
                                  <p:stCondLst>
                                    <p:cond delay="1500"/>
                                  </p:stCondLst>
                                  <p:childTnLst>
                                    <p:set>
                                      <p:cBhvr>
                                        <p:cTn id="173" dur="1" fill="hold">
                                          <p:stCondLst>
                                            <p:cond delay="0"/>
                                          </p:stCondLst>
                                        </p:cTn>
                                        <p:tgtEl>
                                          <p:spTgt spid="44"/>
                                        </p:tgtEl>
                                        <p:attrNameLst>
                                          <p:attrName>style.visibility</p:attrName>
                                        </p:attrNameLst>
                                      </p:cBhvr>
                                      <p:to>
                                        <p:strVal val="visible"/>
                                      </p:to>
                                    </p:set>
                                    <p:anim calcmode="lin" valueType="num">
                                      <p:cBhvr additive="base">
                                        <p:cTn id="174" dur="600" fill="hold"/>
                                        <p:tgtEl>
                                          <p:spTgt spid="44"/>
                                        </p:tgtEl>
                                        <p:attrNameLst>
                                          <p:attrName>ppt_y</p:attrName>
                                        </p:attrNameLst>
                                      </p:cBhvr>
                                      <p:tavLst>
                                        <p:tav tm="0">
                                          <p:val>
                                            <p:strVal val="#ppt_y+.06"/>
                                          </p:val>
                                        </p:tav>
                                        <p:tav tm="100000">
                                          <p:val>
                                            <p:strVal val="#ppt_y"/>
                                          </p:val>
                                        </p:tav>
                                      </p:tavLst>
                                    </p:anim>
                                    <p:animEffect transition="in" filter="fade">
                                      <p:cBhvr>
                                        <p:cTn id="175" dur="600"/>
                                        <p:tgtEl>
                                          <p:spTgt spid="44"/>
                                        </p:tgtEl>
                                      </p:cBhvr>
                                    </p:animEffect>
                                  </p:childTnLst>
                                </p:cTn>
                              </p:par>
                              <p:par>
                                <p:cTn id="180" presetID="42" presetClass="entr" presetSubtype="0" fill="hold" grpId="0" nodeType="withEffect">
                                  <p:stCondLst>
                                    <p:cond delay="1500"/>
                                  </p:stCondLst>
                                  <p:childTnLst>
                                    <p:set>
                                      <p:cBhvr>
                                        <p:cTn id="177" dur="1" fill="hold">
                                          <p:stCondLst>
                                            <p:cond delay="0"/>
                                          </p:stCondLst>
                                        </p:cTn>
                                        <p:tgtEl>
                                          <p:spTgt spid="45"/>
                                        </p:tgtEl>
                                        <p:attrNameLst>
                                          <p:attrName>style.visibility</p:attrName>
                                        </p:attrNameLst>
                                      </p:cBhvr>
                                      <p:to>
                                        <p:strVal val="visible"/>
                                      </p:to>
                                    </p:set>
                                    <p:anim calcmode="lin" valueType="num">
                                      <p:cBhvr additive="base">
                                        <p:cTn id="178" dur="600" fill="hold"/>
                                        <p:tgtEl>
                                          <p:spTgt spid="45"/>
                                        </p:tgtEl>
                                        <p:attrNameLst>
                                          <p:attrName>ppt_y</p:attrName>
                                        </p:attrNameLst>
                                      </p:cBhvr>
                                      <p:tavLst>
                                        <p:tav tm="0">
                                          <p:val>
                                            <p:strVal val="#ppt_y+.06"/>
                                          </p:val>
                                        </p:tav>
                                        <p:tav tm="100000">
                                          <p:val>
                                            <p:strVal val="#ppt_y"/>
                                          </p:val>
                                        </p:tav>
                                      </p:tavLst>
                                    </p:anim>
                                    <p:animEffect transition="in" filter="fade">
                                      <p:cBhvr>
                                        <p:cTn id="179" dur="600"/>
                                        <p:tgtEl>
                                          <p:spTgt spid="45"/>
                                        </p:tgtEl>
                                      </p:cBhvr>
                                    </p:animEffect>
                                  </p:childTnLst>
                                </p:cTn>
                              </p:par>
                              <p:par>
                                <p:cTn id="184" presetID="42" presetClass="entr" presetSubtype="0" fill="hold" grpId="0" nodeType="withEffect">
                                  <p:stCondLst>
                                    <p:cond delay="1500"/>
                                  </p:stCondLst>
                                  <p:childTnLst>
                                    <p:set>
                                      <p:cBhvr>
                                        <p:cTn id="181" dur="1" fill="hold">
                                          <p:stCondLst>
                                            <p:cond delay="0"/>
                                          </p:stCondLst>
                                        </p:cTn>
                                        <p:tgtEl>
                                          <p:spTgt spid="46"/>
                                        </p:tgtEl>
                                        <p:attrNameLst>
                                          <p:attrName>style.visibility</p:attrName>
                                        </p:attrNameLst>
                                      </p:cBhvr>
                                      <p:to>
                                        <p:strVal val="visible"/>
                                      </p:to>
                                    </p:set>
                                    <p:anim calcmode="lin" valueType="num">
                                      <p:cBhvr additive="base">
                                        <p:cTn id="182" dur="600" fill="hold"/>
                                        <p:tgtEl>
                                          <p:spTgt spid="46"/>
                                        </p:tgtEl>
                                        <p:attrNameLst>
                                          <p:attrName>ppt_y</p:attrName>
                                        </p:attrNameLst>
                                      </p:cBhvr>
                                      <p:tavLst>
                                        <p:tav tm="0">
                                          <p:val>
                                            <p:strVal val="#ppt_y+.06"/>
                                          </p:val>
                                        </p:tav>
                                        <p:tav tm="100000">
                                          <p:val>
                                            <p:strVal val="#ppt_y"/>
                                          </p:val>
                                        </p:tav>
                                      </p:tavLst>
                                    </p:anim>
                                    <p:animEffect transition="in" filter="fade">
                                      <p:cBhvr>
                                        <p:cTn id="183" dur="600"/>
                                        <p:tgtEl>
                                          <p:spTgt spid="46"/>
                                        </p:tgtEl>
                                      </p:cBhvr>
                                    </p:animEffect>
                                  </p:childTnLst>
                                </p:cTn>
                              </p:par>
                              <p:par>
                                <p:cTn id="188" presetID="42" presetClass="entr" presetSubtype="0" fill="hold" grpId="0" nodeType="withEffect">
                                  <p:stCondLst>
                                    <p:cond delay="1500"/>
                                  </p:stCondLst>
                                  <p:childTnLst>
                                    <p:set>
                                      <p:cBhvr>
                                        <p:cTn id="185" dur="1" fill="hold">
                                          <p:stCondLst>
                                            <p:cond delay="0"/>
                                          </p:stCondLst>
                                        </p:cTn>
                                        <p:tgtEl>
                                          <p:spTgt spid="47"/>
                                        </p:tgtEl>
                                        <p:attrNameLst>
                                          <p:attrName>style.visibility</p:attrName>
                                        </p:attrNameLst>
                                      </p:cBhvr>
                                      <p:to>
                                        <p:strVal val="visible"/>
                                      </p:to>
                                    </p:set>
                                    <p:anim calcmode="lin" valueType="num">
                                      <p:cBhvr additive="base">
                                        <p:cTn id="186" dur="600" fill="hold"/>
                                        <p:tgtEl>
                                          <p:spTgt spid="47"/>
                                        </p:tgtEl>
                                        <p:attrNameLst>
                                          <p:attrName>ppt_y</p:attrName>
                                        </p:attrNameLst>
                                      </p:cBhvr>
                                      <p:tavLst>
                                        <p:tav tm="0">
                                          <p:val>
                                            <p:strVal val="#ppt_y+.06"/>
                                          </p:val>
                                        </p:tav>
                                        <p:tav tm="100000">
                                          <p:val>
                                            <p:strVal val="#ppt_y"/>
                                          </p:val>
                                        </p:tav>
                                      </p:tavLst>
                                    </p:anim>
                                    <p:animEffect transition="in" filter="fade">
                                      <p:cBhvr>
                                        <p:cTn id="187" dur="600"/>
                                        <p:tgtEl>
                                          <p:spTgt spid="47"/>
                                        </p:tgtEl>
                                      </p:cBhvr>
                                    </p:animEffect>
                                  </p:childTnLst>
                                </p:cTn>
                              </p:par>
                              <p:par>
                                <p:cTn id="191" presetID="10" presetClass="entr" presetSubtype="0" fill="hold" grpId="0" nodeType="withEffect">
                                  <p:stCondLst>
                                    <p:cond delay="1700"/>
                                  </p:stCondLst>
                                  <p:childTnLst>
                                    <p:set>
                                      <p:cBhvr>
                                        <p:cTn id="189" dur="1" fill="hold">
                                          <p:stCondLst>
                                            <p:cond delay="0"/>
                                          </p:stCondLst>
                                        </p:cTn>
                                        <p:tgtEl>
                                          <p:spTgt spid="23"/>
                                        </p:tgtEl>
                                        <p:attrNameLst>
                                          <p:attrName>style.visibility</p:attrName>
                                        </p:attrNameLst>
                                      </p:cBhvr>
                                      <p:to>
                                        <p:strVal val="visible"/>
                                      </p:to>
                                    </p:set>
                                    <p:animEffect transition="in" filter="fade">
                                      <p:cBhvr>
                                        <p:cTn id="19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P spid="51" grpId="0" animBg="1"/>
      <p:bldP spid="52" grpId="0" animBg="1"/>
      <p:bldP spid="53" grpId="0" animBg="1"/>
      <p:bldP spid="54" grpId="0" animBg="1"/>
      <p:bldP spid="55" grpId="0" animBg="1"/>
      <p:bldP spid="56" grpId="0" animBg="1"/>
      <p:bldP spid="7" grpId="0" animBg="1"/>
      <p:bldP spid="8" grpId="0" animBg="1"/>
      <p:bldP spid="9" grpId="0" animBg="1"/>
      <p:bldP spid="10" grpId="0" animBg="1"/>
      <p:bldP spid="11" grpId="0" animBg="1"/>
      <p:bldP spid="12" grpId="0" animBg="1"/>
      <p:bldP spid="50" grpId="0" animBg="1"/>
      <p:bldP spid="24" grpId="0" animBg="1"/>
      <p:bldP spid="25" grpId="0" animBg="1"/>
      <p:bldP spid="32" grpId="0" animBg="1"/>
      <p:bldP spid="13" grpId="0" animBg="1"/>
      <p:bldP spid="14" grpId="0" animBg="1"/>
      <p:bldP spid="15" grpId="0" animBg="1"/>
      <p:bldP spid="16" grpId="0" animBg="1"/>
      <p:bldP spid="17" grpId="0" animBg="1"/>
      <p:bldP spid="18" grpId="0" animBg="1"/>
      <p:bldP spid="30" grpId="0" animBg="1"/>
      <p:bldP spid="19" grpId="0" animBg="1"/>
      <p:bldP spid="20" grpId="0" animBg="1"/>
      <p:bldP spid="21" grpId="0" animBg="1"/>
      <p:bldP spid="22" grpId="0" animBg="1"/>
      <p:bldP spid="31"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640080" y="457200"/>
            <a:ext cx="8229600" cy="237744"/>
          </a:xfrm>
          <a:prstGeom prst="rect">
            <a:avLst/>
          </a:prstGeom>
          <a:noFill/>
          <a:ln/>
        </p:spPr>
        <p:txBody>
          <a:bodyPr wrap="square" lIns="0" tIns="0" rIns="0" bIns="0" rtlCol="0" anchor="t"/>
          <a:lstStyle/>
          <a:p>
            <a:pPr algn="l" indent="0" marL="0">
              <a:buNone/>
            </a:pPr>
            <a:r>
              <a:rPr lang="en-US" sz="1000" spc="250" kern="0" dirty="0">
                <a:solidFill>
                  <a:schemeClr val="accent5"/>
                </a:solidFill>
                <a:latin typeface="Segoe UI Semibold" pitchFamily="34" charset="0"/>
                <a:ea typeface="Segoe UI Semibold" pitchFamily="34" charset="-122"/>
                <a:cs typeface="Segoe UI Semibold" pitchFamily="34" charset="-120"/>
              </a:rPr>
              <a:t>04  —  THE INNOVATION</a:t>
            </a:r>
            <a:endParaRPr lang="en-US" sz="1000" dirty="0"/>
          </a:p>
        </p:txBody>
      </p:sp>
      <p:sp>
        <p:nvSpPr>
          <p:cNvPr id="3" name="Text 1"/>
          <p:cNvSpPr/>
          <p:nvPr>
            <p:ph idx="103" type="title" hasCustomPrompt="1"/>
          </p:nvPr>
        </p:nvSpPr>
        <p:spPr>
          <a:xfrm>
            <a:off x="640080" y="749808"/>
            <a:ext cx="10911535" cy="1051560"/>
          </a:xfrm>
          <a:prstGeom prst="rect">
            <a:avLst/>
          </a:prstGeom>
          <a:noFill/>
          <a:ln/>
        </p:spPr>
        <p:txBody>
          <a:bodyPr wrap="square" lIns="0" tIns="0" rIns="0" bIns="0" rtlCol="0" anchor="t"/>
          <a:lstStyle/>
          <a:p>
            <a:pPr algn="l" indent="0" marL="0">
              <a:buNone/>
            </a:pPr>
            <a:r>
              <a:rPr lang="en-US" sz="3400" dirty="0">
                <a:solidFill>
                  <a:schemeClr val="tx1"/>
                </a:solidFill>
              </a:rPr>
              <a:t>Every Route Decision Has a Reason</a:t>
            </a:r>
            <a:endParaRPr lang="en-US" sz="3400" dirty="0"/>
          </a:p>
        </p:txBody>
      </p:sp>
      <p:sp>
        <p:nvSpPr>
          <p:cNvPr id="4" name="c0_1"/>
          <p:cNvSpPr/>
          <p:nvPr/>
        </p:nvSpPr>
        <p:spPr>
          <a:xfrm>
            <a:off x="640080" y="1783080"/>
            <a:ext cx="2834640" cy="0"/>
          </a:xfrm>
          <a:prstGeom prst="line">
            <a:avLst/>
          </a:prstGeom>
          <a:noFill/>
          <a:ln w="12700">
            <a:solidFill>
              <a:srgbClr val="D6D0C2"/>
            </a:solidFill>
            <a:prstDash val="solid"/>
          </a:ln>
        </p:spPr>
        <p:txBody>
          <a:bodyPr/>
          <a:p/>
        </p:txBody>
      </p:sp>
      <p:sp>
        <p:nvSpPr>
          <p:cNvPr id="5" name="c0_2"/>
          <p:cNvSpPr txBox="1"/>
          <p:nvPr/>
        </p:nvSpPr>
        <p:spPr>
          <a:xfrm>
            <a:off x="640080" y="1911096"/>
            <a:ext cx="457200" cy="219456"/>
          </a:xfrm>
          <a:prstGeom prst="rect">
            <a:avLst/>
          </a:prstGeom>
          <a:noFill/>
          <a:ln/>
        </p:spPr>
        <p:txBody>
          <a:bodyPr wrap="square" lIns="0" tIns="0" rIns="0" bIns="0" rtlCol="0" anchor="t"/>
          <a:lstStyle/>
          <a:p>
            <a:pPr indent="0" marL="0">
              <a:buNone/>
            </a:pPr>
            <a:r>
              <a:rPr lang="en-US" sz="1200" dirty="0">
                <a:solidFill>
                  <a:schemeClr val="accent4"/>
                </a:solidFill>
                <a:latin typeface="Segoe UI Semibold" pitchFamily="34" charset="0"/>
                <a:ea typeface="Segoe UI Semibold" pitchFamily="34" charset="-122"/>
                <a:cs typeface="Segoe UI Semibold" pitchFamily="34" charset="-120"/>
              </a:rPr>
              <a:t>01</a:t>
            </a:r>
            <a:endParaRPr lang="en-US" sz="1200" dirty="0"/>
          </a:p>
        </p:txBody>
      </p:sp>
      <p:sp>
        <p:nvSpPr>
          <p:cNvPr id="6" name="c0_3"/>
          <p:cNvSpPr txBox="1"/>
          <p:nvPr/>
        </p:nvSpPr>
        <p:spPr>
          <a:xfrm>
            <a:off x="640080" y="2167128"/>
            <a:ext cx="2834640" cy="310896"/>
          </a:xfrm>
          <a:prstGeom prst="rect">
            <a:avLst/>
          </a:prstGeom>
          <a:noFill/>
          <a:ln/>
        </p:spPr>
        <p:txBody>
          <a:bodyPr wrap="square" lIns="0" tIns="0" rIns="0" bIns="0" rtlCol="0" anchor="t"/>
          <a:lstStyle/>
          <a:p>
            <a:pPr indent="0" marL="0">
              <a:buNone/>
            </a:pPr>
            <a:r>
              <a:rPr lang="en-US" sz="1650" dirty="0">
                <a:solidFill>
                  <a:schemeClr val="tx1"/>
                </a:solidFill>
                <a:latin typeface="Segoe UI Semibold" pitchFamily="34" charset="0"/>
                <a:ea typeface="Segoe UI Semibold" pitchFamily="34" charset="-122"/>
                <a:cs typeface="Segoe UI Semibold" pitchFamily="34" charset="-120"/>
              </a:rPr>
              <a:t>Evidence-aware routing</a:t>
            </a:r>
            <a:endParaRPr lang="en-US" sz="1650" dirty="0"/>
          </a:p>
        </p:txBody>
      </p:sp>
      <p:sp>
        <p:nvSpPr>
          <p:cNvPr id="7" name="c0_4"/>
          <p:cNvSpPr txBox="1"/>
          <p:nvPr/>
        </p:nvSpPr>
        <p:spPr>
          <a:xfrm>
            <a:off x="640080" y="2551176"/>
            <a:ext cx="2834640" cy="1005840"/>
          </a:xfrm>
          <a:prstGeom prst="rect">
            <a:avLst/>
          </a:prstGeom>
          <a:noFill/>
          <a:ln/>
        </p:spPr>
        <p:txBody>
          <a:bodyPr wrap="square" lIns="0" tIns="0" rIns="0" bIns="0" rtlCol="0" anchor="t"/>
          <a:lstStyle/>
          <a:p>
            <a:pPr indent="0" marL="0">
              <a:buNone/>
            </a:pPr>
            <a:r>
              <a:rPr lang="en-US" sz="1200" dirty="0">
                <a:solidFill>
                  <a:srgbClr val="4A3F66"/>
                </a:solidFill>
              </a:rPr>
              <a:t>A single unverified report adds a warning and a penalty; it never blocks a route on its own. Corroborated or verified impassable incidents can make a route non-viable.</a:t>
            </a:r>
            <a:endParaRPr lang="en-US" sz="1200" dirty="0"/>
          </a:p>
        </p:txBody>
      </p:sp>
      <p:sp>
        <p:nvSpPr>
          <p:cNvPr id="8" name="c0_5"/>
          <p:cNvSpPr txBox="1"/>
          <p:nvPr/>
        </p:nvSpPr>
        <p:spPr>
          <a:xfrm>
            <a:off x="640080" y="3566160"/>
            <a:ext cx="2834640" cy="274320"/>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Unverified: penalty.  Corroborated or verified: can block.</a:t>
            </a:r>
            <a:endParaRPr lang="en-US" sz="1100" dirty="0"/>
          </a:p>
        </p:txBody>
      </p:sp>
      <p:sp>
        <p:nvSpPr>
          <p:cNvPr id="9" name="c1_6"/>
          <p:cNvSpPr/>
          <p:nvPr/>
        </p:nvSpPr>
        <p:spPr>
          <a:xfrm>
            <a:off x="3794760" y="1783080"/>
            <a:ext cx="2834640" cy="0"/>
          </a:xfrm>
          <a:prstGeom prst="line">
            <a:avLst/>
          </a:prstGeom>
          <a:noFill/>
          <a:ln w="12700">
            <a:solidFill>
              <a:srgbClr val="D6D0C2"/>
            </a:solidFill>
            <a:prstDash val="solid"/>
          </a:ln>
        </p:spPr>
        <p:txBody>
          <a:bodyPr/>
          <a:p/>
        </p:txBody>
      </p:sp>
      <p:sp>
        <p:nvSpPr>
          <p:cNvPr id="10" name="c1_7"/>
          <p:cNvSpPr txBox="1"/>
          <p:nvPr/>
        </p:nvSpPr>
        <p:spPr>
          <a:xfrm>
            <a:off x="3794760" y="1911096"/>
            <a:ext cx="457200" cy="219456"/>
          </a:xfrm>
          <a:prstGeom prst="rect">
            <a:avLst/>
          </a:prstGeom>
          <a:noFill/>
          <a:ln/>
        </p:spPr>
        <p:txBody>
          <a:bodyPr wrap="square" lIns="0" tIns="0" rIns="0" bIns="0" rtlCol="0" anchor="t"/>
          <a:lstStyle/>
          <a:p>
            <a:pPr indent="0" marL="0">
              <a:buNone/>
            </a:pPr>
            <a:r>
              <a:rPr lang="en-US" sz="1200" dirty="0">
                <a:solidFill>
                  <a:schemeClr val="accent4"/>
                </a:solidFill>
                <a:latin typeface="Segoe UI Semibold" pitchFamily="34" charset="0"/>
                <a:ea typeface="Segoe UI Semibold" pitchFamily="34" charset="-122"/>
                <a:cs typeface="Segoe UI Semibold" pitchFamily="34" charset="-120"/>
              </a:rPr>
              <a:t>02</a:t>
            </a:r>
            <a:endParaRPr lang="en-US" sz="1200" dirty="0"/>
          </a:p>
        </p:txBody>
      </p:sp>
      <p:sp>
        <p:nvSpPr>
          <p:cNvPr id="11" name="c1_8"/>
          <p:cNvSpPr txBox="1"/>
          <p:nvPr/>
        </p:nvSpPr>
        <p:spPr>
          <a:xfrm>
            <a:off x="3794760" y="2167128"/>
            <a:ext cx="2834640" cy="310896"/>
          </a:xfrm>
          <a:prstGeom prst="rect">
            <a:avLst/>
          </a:prstGeom>
          <a:noFill/>
          <a:ln/>
        </p:spPr>
        <p:txBody>
          <a:bodyPr wrap="square" lIns="0" tIns="0" rIns="0" bIns="0" rtlCol="0" anchor="t"/>
          <a:lstStyle/>
          <a:p>
            <a:pPr indent="0" marL="0">
              <a:buNone/>
            </a:pPr>
            <a:r>
              <a:rPr lang="en-US" sz="1650" dirty="0">
                <a:solidFill>
                  <a:schemeClr val="tx1"/>
                </a:solidFill>
                <a:latin typeface="Segoe UI Semibold" pitchFamily="34" charset="0"/>
                <a:ea typeface="Segoe UI Semibold" pitchFamily="34" charset="-122"/>
                <a:cs typeface="Segoe UI Semibold" pitchFamily="34" charset="-120"/>
              </a:rPr>
              <a:t>Explainable decisions</a:t>
            </a:r>
            <a:endParaRPr lang="en-US" sz="1650" dirty="0"/>
          </a:p>
        </p:txBody>
      </p:sp>
      <p:sp>
        <p:nvSpPr>
          <p:cNvPr id="12" name="c1_9"/>
          <p:cNvSpPr txBox="1"/>
          <p:nvPr/>
        </p:nvSpPr>
        <p:spPr>
          <a:xfrm>
            <a:off x="3794760" y="2551176"/>
            <a:ext cx="2834640" cy="1005840"/>
          </a:xfrm>
          <a:prstGeom prst="rect">
            <a:avLst/>
          </a:prstGeom>
          <a:noFill/>
          <a:ln/>
        </p:spPr>
        <p:txBody>
          <a:bodyPr wrap="square" lIns="0" tIns="0" rIns="0" bIns="0" rtlCol="0" anchor="t"/>
          <a:lstStyle/>
          <a:p>
            <a:pPr indent="0" marL="0">
              <a:buNone/>
            </a:pPr>
            <a:r>
              <a:rPr lang="en-US" sz="1200" dirty="0">
                <a:solidFill>
                  <a:srgbClr val="4A3F66"/>
                </a:solidFill>
              </a:rPr>
              <a:t>Every recommendation change shows the incident source, verification status, report age, hazards avoided and the reason for the change.</a:t>
            </a:r>
            <a:endParaRPr lang="en-US" sz="1200" dirty="0"/>
          </a:p>
        </p:txBody>
      </p:sp>
      <p:sp>
        <p:nvSpPr>
          <p:cNvPr id="13" name="c1_10"/>
          <p:cNvSpPr txBox="1"/>
          <p:nvPr/>
        </p:nvSpPr>
        <p:spPr>
          <a:xfrm>
            <a:off x="3794760" y="3566160"/>
            <a:ext cx="2834640" cy="274320"/>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Source, status, age, hazards, reason.</a:t>
            </a:r>
            <a:endParaRPr lang="en-US" sz="1100" dirty="0"/>
          </a:p>
        </p:txBody>
      </p:sp>
      <p:sp>
        <p:nvSpPr>
          <p:cNvPr id="14" name="c2_11"/>
          <p:cNvSpPr/>
          <p:nvPr/>
        </p:nvSpPr>
        <p:spPr>
          <a:xfrm>
            <a:off x="640080" y="4069080"/>
            <a:ext cx="2834640" cy="0"/>
          </a:xfrm>
          <a:prstGeom prst="line">
            <a:avLst/>
          </a:prstGeom>
          <a:noFill/>
          <a:ln w="12700">
            <a:solidFill>
              <a:srgbClr val="D6D0C2"/>
            </a:solidFill>
            <a:prstDash val="solid"/>
          </a:ln>
        </p:spPr>
        <p:txBody>
          <a:bodyPr/>
          <a:p/>
        </p:txBody>
      </p:sp>
      <p:sp>
        <p:nvSpPr>
          <p:cNvPr id="15" name="c2_12"/>
          <p:cNvSpPr txBox="1"/>
          <p:nvPr/>
        </p:nvSpPr>
        <p:spPr>
          <a:xfrm>
            <a:off x="640080" y="4197096"/>
            <a:ext cx="457200" cy="219456"/>
          </a:xfrm>
          <a:prstGeom prst="rect">
            <a:avLst/>
          </a:prstGeom>
          <a:noFill/>
          <a:ln/>
        </p:spPr>
        <p:txBody>
          <a:bodyPr wrap="square" lIns="0" tIns="0" rIns="0" bIns="0" rtlCol="0" anchor="t"/>
          <a:lstStyle/>
          <a:p>
            <a:pPr indent="0" marL="0">
              <a:buNone/>
            </a:pPr>
            <a:r>
              <a:rPr lang="en-US" sz="1200" dirty="0">
                <a:solidFill>
                  <a:schemeClr val="accent4"/>
                </a:solidFill>
                <a:latin typeface="Segoe UI Semibold" pitchFamily="34" charset="0"/>
                <a:ea typeface="Segoe UI Semibold" pitchFamily="34" charset="-122"/>
                <a:cs typeface="Segoe UI Semibold" pitchFamily="34" charset="-120"/>
              </a:rPr>
              <a:t>03</a:t>
            </a:r>
            <a:endParaRPr lang="en-US" sz="1200" dirty="0"/>
          </a:p>
        </p:txBody>
      </p:sp>
      <p:sp>
        <p:nvSpPr>
          <p:cNvPr id="16" name="c2_13"/>
          <p:cNvSpPr txBox="1"/>
          <p:nvPr/>
        </p:nvSpPr>
        <p:spPr>
          <a:xfrm>
            <a:off x="640080" y="4453128"/>
            <a:ext cx="2834640" cy="310896"/>
          </a:xfrm>
          <a:prstGeom prst="rect">
            <a:avLst/>
          </a:prstGeom>
          <a:noFill/>
          <a:ln/>
        </p:spPr>
        <p:txBody>
          <a:bodyPr wrap="square" lIns="0" tIns="0" rIns="0" bIns="0" rtlCol="0" anchor="t"/>
          <a:lstStyle/>
          <a:p>
            <a:pPr indent="0" marL="0">
              <a:buNone/>
            </a:pPr>
            <a:r>
              <a:rPr lang="en-US" sz="1650" dirty="0">
                <a:solidFill>
                  <a:schemeClr val="tx1"/>
                </a:solidFill>
                <a:latin typeface="Segoe UI Semibold" pitchFamily="34" charset="0"/>
                <a:ea typeface="Segoe UI Semibold" pitchFamily="34" charset="-122"/>
                <a:cs typeface="Segoe UI Semibold" pitchFamily="34" charset="-120"/>
              </a:rPr>
              <a:t>Stable adaptive rerouting</a:t>
            </a:r>
            <a:endParaRPr lang="en-US" sz="1650" dirty="0"/>
          </a:p>
        </p:txBody>
      </p:sp>
      <p:sp>
        <p:nvSpPr>
          <p:cNvPr id="17" name="c2_14"/>
          <p:cNvSpPr txBox="1"/>
          <p:nvPr/>
        </p:nvSpPr>
        <p:spPr>
          <a:xfrm>
            <a:off x="640080" y="4837176"/>
            <a:ext cx="2834640" cy="1005840"/>
          </a:xfrm>
          <a:prstGeom prst="rect">
            <a:avLst/>
          </a:prstGeom>
          <a:noFill/>
          <a:ln/>
        </p:spPr>
        <p:txBody>
          <a:bodyPr wrap="square" lIns="0" tIns="0" rIns="0" bIns="0" rtlCol="0" anchor="t"/>
          <a:lstStyle/>
          <a:p>
            <a:pPr indent="0" marL="0">
              <a:buNone/>
            </a:pPr>
            <a:r>
              <a:rPr lang="en-US" sz="1200" dirty="0">
                <a:solidFill>
                  <a:srgbClr val="4A3F66"/>
                </a:solidFill>
              </a:rPr>
              <a:t>No needless flip-flopping. Reconsider when the current route becomes non-viable, or an alternative improves enough to cross the switching threshold.</a:t>
            </a:r>
            <a:endParaRPr lang="en-US" sz="1200" dirty="0"/>
          </a:p>
        </p:txBody>
      </p:sp>
      <p:sp>
        <p:nvSpPr>
          <p:cNvPr id="18" name="c2_15"/>
          <p:cNvSpPr txBox="1"/>
          <p:nvPr/>
        </p:nvSpPr>
        <p:spPr>
          <a:xfrm>
            <a:off x="640080" y="5852160"/>
            <a:ext cx="2834640" cy="274320"/>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Switch only above the threshold.</a:t>
            </a:r>
            <a:endParaRPr lang="en-US" sz="1100" dirty="0"/>
          </a:p>
        </p:txBody>
      </p:sp>
      <p:sp>
        <p:nvSpPr>
          <p:cNvPr id="19" name="c3_16"/>
          <p:cNvSpPr/>
          <p:nvPr/>
        </p:nvSpPr>
        <p:spPr>
          <a:xfrm>
            <a:off x="3794760" y="4069080"/>
            <a:ext cx="2834640" cy="0"/>
          </a:xfrm>
          <a:prstGeom prst="line">
            <a:avLst/>
          </a:prstGeom>
          <a:noFill/>
          <a:ln w="12700">
            <a:solidFill>
              <a:srgbClr val="D6D0C2"/>
            </a:solidFill>
            <a:prstDash val="solid"/>
          </a:ln>
        </p:spPr>
        <p:txBody>
          <a:bodyPr/>
          <a:p/>
        </p:txBody>
      </p:sp>
      <p:sp>
        <p:nvSpPr>
          <p:cNvPr id="20" name="c3_17"/>
          <p:cNvSpPr txBox="1"/>
          <p:nvPr/>
        </p:nvSpPr>
        <p:spPr>
          <a:xfrm>
            <a:off x="3794760" y="4197096"/>
            <a:ext cx="457200" cy="219456"/>
          </a:xfrm>
          <a:prstGeom prst="rect">
            <a:avLst/>
          </a:prstGeom>
          <a:noFill/>
          <a:ln/>
        </p:spPr>
        <p:txBody>
          <a:bodyPr wrap="square" lIns="0" tIns="0" rIns="0" bIns="0" rtlCol="0" anchor="t"/>
          <a:lstStyle/>
          <a:p>
            <a:pPr indent="0" marL="0">
              <a:buNone/>
            </a:pPr>
            <a:r>
              <a:rPr lang="en-US" sz="1200" dirty="0">
                <a:solidFill>
                  <a:schemeClr val="accent4"/>
                </a:solidFill>
                <a:latin typeface="Segoe UI Semibold" pitchFamily="34" charset="0"/>
                <a:ea typeface="Segoe UI Semibold" pitchFamily="34" charset="-122"/>
                <a:cs typeface="Segoe UI Semibold" pitchFamily="34" charset="-120"/>
              </a:rPr>
              <a:t>04</a:t>
            </a:r>
            <a:endParaRPr lang="en-US" sz="1200" dirty="0"/>
          </a:p>
        </p:txBody>
      </p:sp>
      <p:sp>
        <p:nvSpPr>
          <p:cNvPr id="21" name="c3_18"/>
          <p:cNvSpPr txBox="1"/>
          <p:nvPr/>
        </p:nvSpPr>
        <p:spPr>
          <a:xfrm>
            <a:off x="3794760" y="4453128"/>
            <a:ext cx="2834640" cy="310896"/>
          </a:xfrm>
          <a:prstGeom prst="rect">
            <a:avLst/>
          </a:prstGeom>
          <a:noFill/>
          <a:ln/>
        </p:spPr>
        <p:txBody>
          <a:bodyPr wrap="square" lIns="0" tIns="0" rIns="0" bIns="0" rtlCol="0" anchor="t"/>
          <a:lstStyle/>
          <a:p>
            <a:pPr indent="0" marL="0">
              <a:buNone/>
            </a:pPr>
            <a:r>
              <a:rPr lang="en-US" sz="1650" dirty="0">
                <a:solidFill>
                  <a:schemeClr val="tx1"/>
                </a:solidFill>
                <a:latin typeface="Segoe UI Semibold" pitchFamily="34" charset="0"/>
                <a:ea typeface="Segoe UI Semibold" pitchFamily="34" charset="-122"/>
                <a:cs typeface="Segoe UI Semibold" pitchFamily="34" charset="-120"/>
              </a:rPr>
              <a:t>Checkable decisions</a:t>
            </a:r>
            <a:endParaRPr lang="en-US" sz="1650" dirty="0"/>
          </a:p>
        </p:txBody>
      </p:sp>
      <p:sp>
        <p:nvSpPr>
          <p:cNvPr id="22" name="c3_19"/>
          <p:cNvSpPr txBox="1"/>
          <p:nvPr/>
        </p:nvSpPr>
        <p:spPr>
          <a:xfrm>
            <a:off x="3794760" y="4837176"/>
            <a:ext cx="2834640" cy="1005840"/>
          </a:xfrm>
          <a:prstGeom prst="rect">
            <a:avLst/>
          </a:prstGeom>
          <a:noFill/>
          <a:ln/>
        </p:spPr>
        <p:txBody>
          <a:bodyPr wrap="square" lIns="0" tIns="0" rIns="0" bIns="0" rtlCol="0" anchor="t"/>
          <a:lstStyle/>
          <a:p>
            <a:pPr indent="0" marL="0">
              <a:buNone/>
            </a:pPr>
            <a:r>
              <a:rPr lang="en-US" sz="1200" dirty="0">
                <a:solidFill>
                  <a:srgbClr val="4A3F66"/>
                </a:solidFill>
              </a:rPr>
              <a:t>The phone and the control room compute the route independently and agree. Every decision gets a receipt anyone can re-run.</a:t>
            </a:r>
            <a:endParaRPr lang="en-US" sz="1200" dirty="0"/>
          </a:p>
        </p:txBody>
      </p:sp>
      <p:sp>
        <p:nvSpPr>
          <p:cNvPr id="23" name="c3_20"/>
          <p:cNvSpPr txBox="1"/>
          <p:nvPr/>
        </p:nvSpPr>
        <p:spPr>
          <a:xfrm>
            <a:off x="3794760" y="5852160"/>
            <a:ext cx="2834640" cy="274320"/>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Same evidence, same route, every time.</a:t>
            </a:r>
            <a:endParaRPr lang="en-US" sz="1100" dirty="0"/>
          </a:p>
        </p:txBody>
      </p:sp>
      <p:sp>
        <p:nvSpPr>
          <p:cNvPr id="24" name="dash_21"/>
          <p:cNvSpPr/>
          <p:nvPr/>
        </p:nvSpPr>
        <p:spPr>
          <a:xfrm>
            <a:off x="6903720" y="1600200"/>
            <a:ext cx="4647895" cy="4663440"/>
          </a:xfrm>
          <a:prstGeom prst="roundRect">
            <a:avLst>
              <a:gd name="adj" fmla="val 2754"/>
            </a:avLst>
          </a:prstGeom>
          <a:solidFill>
            <a:schemeClr val="tx1"/>
          </a:solidFill>
          <a:ln/>
          <a:effectLst>
            <a:outerShdw sx="100000" sy="100000" kx="0" ky="0" algn="bl" rotWithShape="0" blurRad="355600" dist="127000" dir="5400000">
              <a:srgbClr val="26123F">
                <a:alpha val="30000"/>
              </a:srgbClr>
            </a:outerShdw>
          </a:effectLst>
        </p:spPr>
        <p:txBody>
          <a:bodyPr/>
          <a:p/>
        </p:txBody>
      </p:sp>
      <p:sp>
        <p:nvSpPr>
          <p:cNvPr id="25" name="dash_22"/>
          <p:cNvSpPr/>
          <p:nvPr/>
        </p:nvSpPr>
        <p:spPr>
          <a:xfrm>
            <a:off x="7164324" y="1897380"/>
            <a:ext cx="100584" cy="100584"/>
          </a:xfrm>
          <a:prstGeom prst="ellipse">
            <a:avLst/>
          </a:prstGeom>
          <a:solidFill>
            <a:srgbClr val="C8F560"/>
          </a:solidFill>
          <a:ln/>
        </p:spPr>
        <p:txBody>
          <a:bodyPr/>
          <a:p/>
        </p:txBody>
      </p:sp>
      <p:sp>
        <p:nvSpPr>
          <p:cNvPr id="26" name="dash_23"/>
          <p:cNvSpPr txBox="1"/>
          <p:nvPr/>
        </p:nvSpPr>
        <p:spPr>
          <a:xfrm>
            <a:off x="7360920" y="1828800"/>
            <a:ext cx="2194560" cy="256032"/>
          </a:xfrm>
          <a:prstGeom prst="rect">
            <a:avLst/>
          </a:prstGeom>
          <a:noFill/>
          <a:ln/>
        </p:spPr>
        <p:txBody>
          <a:bodyPr wrap="square" lIns="0" tIns="0" rIns="0" bIns="0" rtlCol="0" anchor="ctr"/>
          <a:lstStyle/>
          <a:p>
            <a:pPr indent="0" marL="0">
              <a:buNone/>
            </a:pPr>
            <a:r>
              <a:rPr lang="en-US" sz="1300" dirty="0">
                <a:solidFill>
                  <a:schemeClr val="bg1"/>
                </a:solidFill>
                <a:latin typeface="Segoe UI Semibold" pitchFamily="34" charset="0"/>
                <a:ea typeface="Segoe UI Semibold" pitchFamily="34" charset="-122"/>
                <a:cs typeface="Segoe UI Semibold" pitchFamily="34" charset="-120"/>
              </a:rPr>
              <a:t>Incident timeline</a:t>
            </a:r>
            <a:endParaRPr lang="en-US" sz="1300" dirty="0"/>
          </a:p>
        </p:txBody>
      </p:sp>
      <p:sp>
        <p:nvSpPr>
          <p:cNvPr id="27" name="dash_24"/>
          <p:cNvSpPr txBox="1"/>
          <p:nvPr/>
        </p:nvSpPr>
        <p:spPr>
          <a:xfrm>
            <a:off x="9631375" y="1828800"/>
            <a:ext cx="1645920" cy="256032"/>
          </a:xfrm>
          <a:prstGeom prst="rect">
            <a:avLst/>
          </a:prstGeom>
          <a:noFill/>
          <a:ln/>
        </p:spPr>
        <p:txBody>
          <a:bodyPr wrap="square" lIns="0" tIns="0" rIns="0" bIns="0" rtlCol="0" anchor="ctr"/>
          <a:lstStyle/>
          <a:p>
            <a:pPr algn="r" indent="0" marL="0">
              <a:buNone/>
            </a:pPr>
            <a:r>
              <a:rPr lang="en-US" sz="1100" dirty="0">
                <a:solidFill>
                  <a:srgbClr val="FFB320"/>
                </a:solidFill>
              </a:rPr>
              <a:t>Simulated events</a:t>
            </a:r>
            <a:endParaRPr lang="en-US" sz="1100" dirty="0"/>
          </a:p>
        </p:txBody>
      </p:sp>
      <p:sp>
        <p:nvSpPr>
          <p:cNvPr id="28" name="ev0_25"/>
          <p:cNvSpPr txBox="1"/>
          <p:nvPr/>
        </p:nvSpPr>
        <p:spPr>
          <a:xfrm>
            <a:off x="7178040" y="2313432"/>
            <a:ext cx="731520" cy="256032"/>
          </a:xfrm>
          <a:prstGeom prst="rect">
            <a:avLst/>
          </a:prstGeom>
          <a:noFill/>
          <a:ln/>
        </p:spPr>
        <p:txBody>
          <a:bodyPr wrap="square" lIns="0" tIns="0" rIns="0" bIns="0" rtlCol="0" anchor="ctr"/>
          <a:lstStyle/>
          <a:p>
            <a:pPr indent="0" marL="0">
              <a:buNone/>
            </a:pPr>
            <a:r>
              <a:rPr lang="en-US" sz="1500" dirty="0">
                <a:solidFill>
                  <a:schemeClr val="bg1"/>
                </a:solidFill>
                <a:latin typeface="Segoe UI Semibold" pitchFamily="34" charset="0"/>
                <a:ea typeface="Segoe UI Semibold" pitchFamily="34" charset="-122"/>
                <a:cs typeface="Segoe UI Semibold" pitchFamily="34" charset="-120"/>
              </a:rPr>
              <a:t>14:06</a:t>
            </a:r>
            <a:endParaRPr lang="en-US" sz="1500" dirty="0"/>
          </a:p>
        </p:txBody>
      </p:sp>
      <p:sp>
        <p:nvSpPr>
          <p:cNvPr id="29" name="ev0_26"/>
          <p:cNvSpPr/>
          <p:nvPr/>
        </p:nvSpPr>
        <p:spPr>
          <a:xfrm>
            <a:off x="8060436" y="2382012"/>
            <a:ext cx="118872" cy="118872"/>
          </a:xfrm>
          <a:prstGeom prst="ellipse">
            <a:avLst/>
          </a:prstGeom>
          <a:solidFill>
            <a:srgbClr val="F59E0B"/>
          </a:solidFill>
          <a:ln/>
        </p:spPr>
        <p:txBody>
          <a:bodyPr/>
          <a:p/>
        </p:txBody>
      </p:sp>
      <p:sp>
        <p:nvSpPr>
          <p:cNvPr id="30" name="ev0_27"/>
          <p:cNvSpPr/>
          <p:nvPr/>
        </p:nvSpPr>
        <p:spPr>
          <a:xfrm>
            <a:off x="8119872" y="2532888"/>
            <a:ext cx="0" cy="475488"/>
          </a:xfrm>
          <a:prstGeom prst="line">
            <a:avLst/>
          </a:prstGeom>
          <a:noFill/>
          <a:ln w="15875">
            <a:solidFill>
              <a:srgbClr val="4A3570"/>
            </a:solidFill>
            <a:prstDash val="solid"/>
          </a:ln>
        </p:spPr>
        <p:txBody>
          <a:bodyPr/>
          <a:p/>
        </p:txBody>
      </p:sp>
      <p:sp>
        <p:nvSpPr>
          <p:cNvPr id="31" name="ev0_28"/>
          <p:cNvSpPr txBox="1"/>
          <p:nvPr/>
        </p:nvSpPr>
        <p:spPr>
          <a:xfrm>
            <a:off x="8385048" y="2276856"/>
            <a:ext cx="2956255" cy="621792"/>
          </a:xfrm>
          <a:prstGeom prst="rect">
            <a:avLst/>
          </a:prstGeom>
          <a:noFill/>
          <a:ln/>
        </p:spPr>
        <p:txBody>
          <a:bodyPr wrap="square" lIns="0" tIns="0" rIns="0" bIns="0" rtlCol="0" anchor="t"/>
          <a:lstStyle/>
          <a:p>
            <a:pPr indent="0" marL="0">
              <a:buNone/>
            </a:pPr>
            <a:r>
              <a:rPr lang="en-US" sz="1250" dirty="0">
                <a:solidFill>
                  <a:schemeClr val="bg1"/>
                </a:solidFill>
                <a:latin typeface="Segoe UI Semibold" pitchFamily="34" charset="0"/>
                <a:ea typeface="Segoe UI Semibold" pitchFamily="34" charset="-122"/>
                <a:cs typeface="Segoe UI Semibold" pitchFamily="34" charset="-120"/>
              </a:rPr>
              <a:t>One ankle-deep report</a:t>
            </a:r>
            <a:endParaRPr lang="en-US" sz="1100" dirty="0"/>
          </a:p>
          <a:p>
            <a:pPr indent="0" marL="0">
              <a:buNone/>
            </a:pPr>
            <a:r>
              <a:rPr lang="en-US" sz="1100" dirty="0">
                <a:solidFill>
                  <a:srgbClr val="FFB320"/>
                </a:solidFill>
                <a:latin typeface="Segoe UI Semibold" pitchFamily="34" charset="0"/>
                <a:ea typeface="Segoe UI Semibold" pitchFamily="34" charset="-122"/>
                <a:cs typeface="Segoe UI Semibold" pitchFamily="34" charset="-120"/>
              </a:rPr>
              <a:t>Unverified  </a:t>
            </a:r>
            <a:pPr indent="0" marL="0">
              <a:buNone/>
            </a:pPr>
            <a:r>
              <a:rPr lang="en-US" sz="1100" dirty="0">
                <a:solidFill>
                  <a:schemeClr val="accent6"/>
                </a:solidFill>
              </a:rPr>
              <a:t>Route holds.</a:t>
            </a:r>
            <a:endParaRPr lang="en-US" sz="1100" dirty="0"/>
          </a:p>
        </p:txBody>
      </p:sp>
      <p:sp>
        <p:nvSpPr>
          <p:cNvPr id="32" name="ev1_29"/>
          <p:cNvSpPr txBox="1"/>
          <p:nvPr/>
        </p:nvSpPr>
        <p:spPr>
          <a:xfrm>
            <a:off x="7178040" y="2916936"/>
            <a:ext cx="731520" cy="256032"/>
          </a:xfrm>
          <a:prstGeom prst="rect">
            <a:avLst/>
          </a:prstGeom>
          <a:noFill/>
          <a:ln/>
        </p:spPr>
        <p:txBody>
          <a:bodyPr wrap="square" lIns="0" tIns="0" rIns="0" bIns="0" rtlCol="0" anchor="ctr"/>
          <a:lstStyle/>
          <a:p>
            <a:pPr indent="0" marL="0">
              <a:buNone/>
            </a:pPr>
            <a:r>
              <a:rPr lang="en-US" sz="1500" dirty="0">
                <a:solidFill>
                  <a:schemeClr val="bg1"/>
                </a:solidFill>
                <a:latin typeface="Segoe UI Semibold" pitchFamily="34" charset="0"/>
                <a:ea typeface="Segoe UI Semibold" pitchFamily="34" charset="-122"/>
                <a:cs typeface="Segoe UI Semibold" pitchFamily="34" charset="-120"/>
              </a:rPr>
              <a:t>14:08</a:t>
            </a:r>
            <a:endParaRPr lang="en-US" sz="1500" dirty="0"/>
          </a:p>
        </p:txBody>
      </p:sp>
      <p:sp>
        <p:nvSpPr>
          <p:cNvPr id="33" name="ev1_30"/>
          <p:cNvSpPr/>
          <p:nvPr/>
        </p:nvSpPr>
        <p:spPr>
          <a:xfrm>
            <a:off x="8060436" y="2985516"/>
            <a:ext cx="118872" cy="118872"/>
          </a:xfrm>
          <a:prstGeom prst="ellipse">
            <a:avLst/>
          </a:prstGeom>
          <a:solidFill>
            <a:srgbClr val="FF7A6B"/>
          </a:solidFill>
          <a:ln/>
        </p:spPr>
        <p:txBody>
          <a:bodyPr/>
          <a:p/>
        </p:txBody>
      </p:sp>
      <p:sp>
        <p:nvSpPr>
          <p:cNvPr id="34" name="ev1_31"/>
          <p:cNvSpPr/>
          <p:nvPr/>
        </p:nvSpPr>
        <p:spPr>
          <a:xfrm>
            <a:off x="8119872" y="3136392"/>
            <a:ext cx="0" cy="475488"/>
          </a:xfrm>
          <a:prstGeom prst="line">
            <a:avLst/>
          </a:prstGeom>
          <a:noFill/>
          <a:ln w="15875">
            <a:solidFill>
              <a:srgbClr val="4A3570"/>
            </a:solidFill>
            <a:prstDash val="solid"/>
          </a:ln>
        </p:spPr>
        <p:txBody>
          <a:bodyPr/>
          <a:p/>
        </p:txBody>
      </p:sp>
      <p:sp>
        <p:nvSpPr>
          <p:cNvPr id="35" name="ev1_32"/>
          <p:cNvSpPr txBox="1"/>
          <p:nvPr/>
        </p:nvSpPr>
        <p:spPr>
          <a:xfrm>
            <a:off x="8385048" y="2880360"/>
            <a:ext cx="2956255" cy="621792"/>
          </a:xfrm>
          <a:prstGeom prst="rect">
            <a:avLst/>
          </a:prstGeom>
          <a:noFill/>
          <a:ln/>
        </p:spPr>
        <p:txBody>
          <a:bodyPr wrap="square" lIns="0" tIns="0" rIns="0" bIns="0" rtlCol="0" anchor="t"/>
          <a:lstStyle/>
          <a:p>
            <a:pPr indent="0" marL="0">
              <a:buNone/>
            </a:pPr>
            <a:r>
              <a:rPr lang="en-US" sz="1250" dirty="0">
                <a:solidFill>
                  <a:schemeClr val="bg1"/>
                </a:solidFill>
                <a:latin typeface="Segoe UI Semibold" pitchFamily="34" charset="0"/>
                <a:ea typeface="Segoe UI Semibold" pitchFamily="34" charset="-122"/>
                <a:cs typeface="Segoe UI Semibold" pitchFamily="34" charset="-120"/>
              </a:rPr>
              <a:t>Second device: knee-deep water</a:t>
            </a:r>
            <a:endParaRPr lang="en-US" sz="1100" dirty="0"/>
          </a:p>
          <a:p>
            <a:pPr indent="0" marL="0">
              <a:buNone/>
            </a:pPr>
            <a:r>
              <a:rPr lang="en-US" sz="1100" dirty="0">
                <a:solidFill>
                  <a:srgbClr val="FF7A6B"/>
                </a:solidFill>
                <a:latin typeface="Segoe UI Semibold" pitchFamily="34" charset="0"/>
                <a:ea typeface="Segoe UI Semibold" pitchFamily="34" charset="-122"/>
                <a:cs typeface="Segoe UI Semibold" pitchFamily="34" charset="-120"/>
              </a:rPr>
              <a:t>Corroborated  </a:t>
            </a:r>
            <a:pPr indent="0" marL="0">
              <a:buNone/>
            </a:pPr>
            <a:r>
              <a:rPr lang="en-US" sz="1100" dirty="0">
                <a:solidFill>
                  <a:schemeClr val="accent6"/>
                </a:solidFill>
              </a:rPr>
              <a:t>Subway not viable.</a:t>
            </a:r>
            <a:endParaRPr lang="en-US" sz="1100" dirty="0"/>
          </a:p>
        </p:txBody>
      </p:sp>
      <p:sp>
        <p:nvSpPr>
          <p:cNvPr id="36" name="ev2_33"/>
          <p:cNvSpPr txBox="1"/>
          <p:nvPr/>
        </p:nvSpPr>
        <p:spPr>
          <a:xfrm>
            <a:off x="7178040" y="3520440"/>
            <a:ext cx="731520" cy="256032"/>
          </a:xfrm>
          <a:prstGeom prst="rect">
            <a:avLst/>
          </a:prstGeom>
          <a:noFill/>
          <a:ln/>
        </p:spPr>
        <p:txBody>
          <a:bodyPr wrap="square" lIns="0" tIns="0" rIns="0" bIns="0" rtlCol="0" anchor="ctr"/>
          <a:lstStyle/>
          <a:p>
            <a:pPr indent="0" marL="0">
              <a:buNone/>
            </a:pPr>
            <a:r>
              <a:rPr lang="en-US" sz="1500" dirty="0">
                <a:solidFill>
                  <a:schemeClr val="bg1"/>
                </a:solidFill>
                <a:latin typeface="Segoe UI Semibold" pitchFamily="34" charset="0"/>
                <a:ea typeface="Segoe UI Semibold" pitchFamily="34" charset="-122"/>
                <a:cs typeface="Segoe UI Semibold" pitchFamily="34" charset="-120"/>
              </a:rPr>
              <a:t>14:09</a:t>
            </a:r>
            <a:endParaRPr lang="en-US" sz="1500" dirty="0"/>
          </a:p>
        </p:txBody>
      </p:sp>
      <p:sp>
        <p:nvSpPr>
          <p:cNvPr id="37" name="ev2_34"/>
          <p:cNvSpPr/>
          <p:nvPr/>
        </p:nvSpPr>
        <p:spPr>
          <a:xfrm>
            <a:off x="8060436" y="3589020"/>
            <a:ext cx="118872" cy="118872"/>
          </a:xfrm>
          <a:prstGeom prst="ellipse">
            <a:avLst/>
          </a:prstGeom>
          <a:solidFill>
            <a:srgbClr val="C8F560"/>
          </a:solidFill>
          <a:ln/>
        </p:spPr>
        <p:txBody>
          <a:bodyPr/>
          <a:p/>
        </p:txBody>
      </p:sp>
      <p:sp>
        <p:nvSpPr>
          <p:cNvPr id="38" name="ev2_35"/>
          <p:cNvSpPr/>
          <p:nvPr/>
        </p:nvSpPr>
        <p:spPr>
          <a:xfrm>
            <a:off x="8119872" y="3739896"/>
            <a:ext cx="0" cy="475488"/>
          </a:xfrm>
          <a:prstGeom prst="line">
            <a:avLst/>
          </a:prstGeom>
          <a:noFill/>
          <a:ln w="15875">
            <a:solidFill>
              <a:srgbClr val="4A3570"/>
            </a:solidFill>
            <a:prstDash val="solid"/>
          </a:ln>
        </p:spPr>
        <p:txBody>
          <a:bodyPr/>
          <a:p/>
        </p:txBody>
      </p:sp>
      <p:sp>
        <p:nvSpPr>
          <p:cNvPr id="39" name="ev2_36"/>
          <p:cNvSpPr txBox="1"/>
          <p:nvPr/>
        </p:nvSpPr>
        <p:spPr>
          <a:xfrm>
            <a:off x="8385048" y="3483864"/>
            <a:ext cx="2956255" cy="621792"/>
          </a:xfrm>
          <a:prstGeom prst="rect">
            <a:avLst/>
          </a:prstGeom>
          <a:noFill/>
          <a:ln/>
        </p:spPr>
        <p:txBody>
          <a:bodyPr wrap="square" lIns="0" tIns="0" rIns="0" bIns="0" rtlCol="0" anchor="t"/>
          <a:lstStyle/>
          <a:p>
            <a:pPr indent="0" marL="0">
              <a:buNone/>
            </a:pPr>
            <a:r>
              <a:rPr lang="en-US" sz="1250" dirty="0">
                <a:solidFill>
                  <a:schemeClr val="bg1"/>
                </a:solidFill>
                <a:latin typeface="Segoe UI Semibold" pitchFamily="34" charset="0"/>
                <a:ea typeface="Segoe UI Semibold" pitchFamily="34" charset="-122"/>
                <a:cs typeface="Segoe UI Semibold" pitchFamily="34" charset="-120"/>
              </a:rPr>
              <a:t>Operator verification</a:t>
            </a:r>
            <a:endParaRPr lang="en-US" sz="1100" dirty="0"/>
          </a:p>
          <a:p>
            <a:pPr indent="0" marL="0">
              <a:buNone/>
            </a:pPr>
            <a:r>
              <a:rPr lang="en-US" sz="1100" dirty="0">
                <a:solidFill>
                  <a:srgbClr val="C8F560"/>
                </a:solidFill>
                <a:latin typeface="Segoe UI Semibold" pitchFamily="34" charset="0"/>
                <a:ea typeface="Segoe UI Semibold" pitchFamily="34" charset="-122"/>
                <a:cs typeface="Segoe UI Semibold" pitchFamily="34" charset="-120"/>
              </a:rPr>
              <a:t>Verified (simulated)  </a:t>
            </a:r>
            <a:pPr indent="0" marL="0">
              <a:buNone/>
            </a:pPr>
            <a:r>
              <a:rPr lang="en-US" sz="1100" dirty="0">
                <a:solidFill>
                  <a:schemeClr val="accent6"/>
                </a:solidFill>
              </a:rPr>
              <a:t>Route holds, already right.</a:t>
            </a:r>
            <a:endParaRPr lang="en-US" sz="1100" dirty="0"/>
          </a:p>
        </p:txBody>
      </p:sp>
      <p:sp>
        <p:nvSpPr>
          <p:cNvPr id="40" name="ev3_37"/>
          <p:cNvSpPr txBox="1"/>
          <p:nvPr/>
        </p:nvSpPr>
        <p:spPr>
          <a:xfrm>
            <a:off x="7178040" y="4123944"/>
            <a:ext cx="731520" cy="256032"/>
          </a:xfrm>
          <a:prstGeom prst="rect">
            <a:avLst/>
          </a:prstGeom>
          <a:noFill/>
          <a:ln/>
        </p:spPr>
        <p:txBody>
          <a:bodyPr wrap="square" lIns="0" tIns="0" rIns="0" bIns="0" rtlCol="0" anchor="ctr"/>
          <a:lstStyle/>
          <a:p>
            <a:pPr indent="0" marL="0">
              <a:buNone/>
            </a:pPr>
            <a:r>
              <a:rPr lang="en-US" sz="1500" dirty="0">
                <a:solidFill>
                  <a:schemeClr val="bg1"/>
                </a:solidFill>
                <a:latin typeface="Segoe UI Semibold" pitchFamily="34" charset="0"/>
                <a:ea typeface="Segoe UI Semibold" pitchFamily="34" charset="-122"/>
                <a:cs typeface="Segoe UI Semibold" pitchFamily="34" charset="-120"/>
              </a:rPr>
              <a:t>14:11</a:t>
            </a:r>
            <a:endParaRPr lang="en-US" sz="1500" dirty="0"/>
          </a:p>
        </p:txBody>
      </p:sp>
      <p:sp>
        <p:nvSpPr>
          <p:cNvPr id="41" name="ev3_38"/>
          <p:cNvSpPr/>
          <p:nvPr/>
        </p:nvSpPr>
        <p:spPr>
          <a:xfrm>
            <a:off x="8060436" y="4192524"/>
            <a:ext cx="118872" cy="118872"/>
          </a:xfrm>
          <a:prstGeom prst="ellipse">
            <a:avLst/>
          </a:prstGeom>
          <a:solidFill>
            <a:srgbClr val="F59E0B"/>
          </a:solidFill>
          <a:ln/>
        </p:spPr>
        <p:txBody>
          <a:bodyPr/>
          <a:p/>
        </p:txBody>
      </p:sp>
      <p:sp>
        <p:nvSpPr>
          <p:cNvPr id="42" name="ev3_39"/>
          <p:cNvSpPr txBox="1"/>
          <p:nvPr/>
        </p:nvSpPr>
        <p:spPr>
          <a:xfrm>
            <a:off x="8385048" y="4087368"/>
            <a:ext cx="2956255" cy="621792"/>
          </a:xfrm>
          <a:prstGeom prst="rect">
            <a:avLst/>
          </a:prstGeom>
          <a:noFill/>
          <a:ln/>
        </p:spPr>
        <p:txBody>
          <a:bodyPr wrap="square" lIns="0" tIns="0" rIns="0" bIns="0" rtlCol="0" anchor="t"/>
          <a:lstStyle/>
          <a:p>
            <a:pPr indent="0" marL="0">
              <a:buNone/>
            </a:pPr>
            <a:r>
              <a:rPr lang="en-US" sz="1250" dirty="0">
                <a:solidFill>
                  <a:schemeClr val="bg1"/>
                </a:solidFill>
                <a:latin typeface="Segoe UI Semibold" pitchFamily="34" charset="0"/>
                <a:ea typeface="Segoe UI Semibold" pitchFamily="34" charset="-122"/>
                <a:cs typeface="Segoe UI Semibold" pitchFamily="34" charset="-120"/>
              </a:rPr>
              <a:t>Heavy congestion on the flyover</a:t>
            </a:r>
            <a:endParaRPr lang="en-US" sz="1100" dirty="0"/>
          </a:p>
          <a:p>
            <a:pPr indent="0" marL="0">
              <a:buNone/>
            </a:pPr>
            <a:r>
              <a:rPr lang="en-US" sz="1100" dirty="0">
                <a:solidFill>
                  <a:srgbClr val="FFB320"/>
                </a:solidFill>
                <a:latin typeface="Segoe UI Semibold" pitchFamily="34" charset="0"/>
                <a:ea typeface="Segoe UI Semibold" pitchFamily="34" charset="-122"/>
                <a:cs typeface="Segoe UI Semibold" pitchFamily="34" charset="-120"/>
              </a:rPr>
              <a:t>Corroborated  </a:t>
            </a:r>
            <a:pPr indent="0" marL="0">
              <a:buNone/>
            </a:pPr>
            <a:r>
              <a:rPr lang="en-US" sz="1100" dirty="0">
                <a:solidFill>
                  <a:schemeClr val="accent6"/>
                </a:solidFill>
              </a:rPr>
              <a:t>Switch: saves 3 min.</a:t>
            </a:r>
            <a:endParaRPr lang="en-US" sz="1100" dirty="0"/>
          </a:p>
        </p:txBody>
      </p:sp>
      <p:sp>
        <p:nvSpPr>
          <p:cNvPr id="43" name="mini_40"/>
          <p:cNvSpPr txBox="1"/>
          <p:nvPr/>
        </p:nvSpPr>
        <p:spPr>
          <a:xfrm>
            <a:off x="7178040" y="4754880"/>
            <a:ext cx="1958188" cy="201168"/>
          </a:xfrm>
          <a:prstGeom prst="rect">
            <a:avLst/>
          </a:prstGeom>
          <a:noFill/>
          <a:ln/>
        </p:spPr>
        <p:txBody>
          <a:bodyPr wrap="square" lIns="0" tIns="0" rIns="0" bIns="0" rtlCol="0" anchor="t"/>
          <a:lstStyle/>
          <a:p>
            <a:pPr indent="0" marL="0">
              <a:buNone/>
            </a:pPr>
            <a:r>
              <a:rPr lang="en-US" sz="1050" dirty="0">
                <a:solidFill>
                  <a:srgbClr val="FFB320"/>
                </a:solidFill>
                <a:latin typeface="Segoe UI Semibold" pitchFamily="34" charset="0"/>
                <a:ea typeface="Segoe UI Semibold" pitchFamily="34" charset="-122"/>
                <a:cs typeface="Segoe UI Semibold" pitchFamily="34" charset="-120"/>
              </a:rPr>
              <a:t>Before  </a:t>
            </a:r>
            <a:pPr indent="0" marL="0">
              <a:buNone/>
            </a:pPr>
            <a:r>
              <a:rPr lang="en-US" sz="1050" dirty="0">
                <a:solidFill>
                  <a:schemeClr val="accent6"/>
                </a:solidFill>
              </a:rPr>
              <a:t>14:06  Andheri Subway</a:t>
            </a:r>
            <a:endParaRPr lang="en-US" sz="1050" dirty="0"/>
          </a:p>
        </p:txBody>
      </p:sp>
      <p:sp>
        <p:nvSpPr>
          <p:cNvPr id="44" name="mini_41"/>
          <p:cNvSpPr txBox="1"/>
          <p:nvPr/>
        </p:nvSpPr>
        <p:spPr>
          <a:xfrm>
            <a:off x="9319108" y="4754880"/>
            <a:ext cx="1958188" cy="201168"/>
          </a:xfrm>
          <a:prstGeom prst="rect">
            <a:avLst/>
          </a:prstGeom>
          <a:noFill/>
          <a:ln/>
        </p:spPr>
        <p:txBody>
          <a:bodyPr wrap="square" lIns="0" tIns="0" rIns="0" bIns="0" rtlCol="0" anchor="t"/>
          <a:lstStyle/>
          <a:p>
            <a:pPr indent="0" marL="0">
              <a:buNone/>
            </a:pPr>
            <a:r>
              <a:rPr lang="en-US" sz="1050" dirty="0">
                <a:solidFill>
                  <a:srgbClr val="C8F560"/>
                </a:solidFill>
                <a:latin typeface="Segoe UI Semibold" pitchFamily="34" charset="0"/>
                <a:ea typeface="Segoe UI Semibold" pitchFamily="34" charset="-122"/>
                <a:cs typeface="Segoe UI Semibold" pitchFamily="34" charset="-120"/>
              </a:rPr>
              <a:t>After  </a:t>
            </a:r>
            <a:pPr indent="0" marL="0">
              <a:buNone/>
            </a:pPr>
            <a:r>
              <a:rPr lang="en-US" sz="1050" dirty="0">
                <a:solidFill>
                  <a:schemeClr val="accent6"/>
                </a:solidFill>
              </a:rPr>
              <a:t>14:11  farther crossing</a:t>
            </a:r>
            <a:endParaRPr lang="en-US" sz="1050" dirty="0"/>
          </a:p>
        </p:txBody>
      </p:sp>
      <p:pic>
        <p:nvPicPr>
          <p:cNvPr id="45" name="mini_42" descr="3D map of a flood-prone rail corridor, built from OpenStreetMap data">    </p:cNvPr>
          <p:cNvPicPr>
            <a:picLocks noChangeAspect="1"/>
          </p:cNvPicPr>
          <p:nvPr/>
        </p:nvPicPr>
        <p:blipFill>
          <a:blip r:embed="rId1"/>
          <a:stretch>
            <a:fillRect/>
          </a:stretch>
        </p:blipFill>
        <p:spPr>
          <a:xfrm>
            <a:off x="7178040" y="5010912"/>
            <a:ext cx="1958188" cy="1051560"/>
          </a:xfrm>
          <a:prstGeom prst="rect">
            <a:avLst/>
          </a:prstGeom>
        </p:spPr>
      </p:pic>
      <p:pic>
        <p:nvPicPr>
          <p:cNvPr id="46" name="mini_43" descr="Route A">    </p:cNvPr>
          <p:cNvPicPr>
            <a:picLocks noChangeAspect="1"/>
          </p:cNvPicPr>
          <p:nvPr/>
        </p:nvPicPr>
        <p:blipFill>
          <a:blip r:embed="rId2"/>
          <a:stretch>
            <a:fillRect/>
          </a:stretch>
        </p:blipFill>
        <p:spPr>
          <a:xfrm>
            <a:off x="7178040" y="5010912"/>
            <a:ext cx="1958188" cy="1051560"/>
          </a:xfrm>
          <a:prstGeom prst="rect">
            <a:avLst/>
          </a:prstGeom>
        </p:spPr>
      </p:pic>
      <p:pic>
        <p:nvPicPr>
          <p:cNvPr id="47" name="mini2_44" descr="3D map of a flood-prone rail corridor, built from OpenStreetMap data">    </p:cNvPr>
          <p:cNvPicPr>
            <a:picLocks noChangeAspect="1"/>
          </p:cNvPicPr>
          <p:nvPr/>
        </p:nvPicPr>
        <p:blipFill>
          <a:blip r:embed="rId3"/>
          <a:stretch>
            <a:fillRect/>
          </a:stretch>
        </p:blipFill>
        <p:spPr>
          <a:xfrm>
            <a:off x="9319108" y="5010912"/>
            <a:ext cx="1958188" cy="1051560"/>
          </a:xfrm>
          <a:prstGeom prst="rect">
            <a:avLst/>
          </a:prstGeom>
        </p:spPr>
      </p:pic>
      <p:pic>
        <p:nvPicPr>
          <p:cNvPr id="48" name="mini2_45" descr="Route A">    </p:cNvPr>
          <p:cNvPicPr>
            <a:picLocks noChangeAspect="1"/>
          </p:cNvPicPr>
          <p:nvPr/>
        </p:nvPicPr>
        <p:blipFill>
          <a:blip r:embed="rId4"/>
          <a:stretch>
            <a:fillRect/>
          </a:stretch>
        </p:blipFill>
        <p:spPr>
          <a:xfrm>
            <a:off x="9319108" y="5010912"/>
            <a:ext cx="1958188" cy="1051560"/>
          </a:xfrm>
          <a:prstGeom prst="rect">
            <a:avLst/>
          </a:prstGeom>
        </p:spPr>
      </p:pic>
      <p:pic>
        <p:nvPicPr>
          <p:cNvPr id="49" name="mini2_46" descr="Route B">    </p:cNvPr>
          <p:cNvPicPr>
            <a:picLocks noChangeAspect="1"/>
          </p:cNvPicPr>
          <p:nvPr/>
        </p:nvPicPr>
        <p:blipFill>
          <a:blip r:embed="rId5"/>
          <a:stretch>
            <a:fillRect/>
          </a:stretch>
        </p:blipFill>
        <p:spPr>
          <a:xfrm>
            <a:off x="9319108" y="5010912"/>
            <a:ext cx="1958188" cy="1051560"/>
          </a:xfrm>
          <a:prstGeom prst="rect">
            <a:avLst/>
          </a:prstGeom>
        </p:spPr>
      </p:pic>
      <p:pic>
        <p:nvPicPr>
          <p:cNvPr id="50" name="mini2_47" descr="Route C">    </p:cNvPr>
          <p:cNvPicPr>
            <a:picLocks noChangeAspect="1"/>
          </p:cNvPicPr>
          <p:nvPr/>
        </p:nvPicPr>
        <p:blipFill>
          <a:blip r:embed="rId6"/>
          <a:stretch>
            <a:fillRect/>
          </a:stretch>
        </p:blipFill>
        <p:spPr>
          <a:xfrm>
            <a:off x="9319108" y="5010912"/>
            <a:ext cx="1958188" cy="1051560"/>
          </a:xfrm>
          <a:prstGeom prst="rect">
            <a:avLst/>
          </a:prstGeom>
        </p:spPr>
      </p:pic>
      <p:sp>
        <p:nvSpPr>
          <p:cNvPr id="51" name="jn_48"/>
          <p:cNvSpPr/>
          <p:nvPr/>
        </p:nvSpPr>
        <p:spPr>
          <a:xfrm>
            <a:off x="4343400" y="6537960"/>
            <a:ext cx="3520440" cy="0"/>
          </a:xfrm>
          <a:prstGeom prst="line">
            <a:avLst/>
          </a:prstGeom>
          <a:noFill/>
          <a:ln w="12700">
            <a:solidFill>
              <a:srgbClr val="D2CBBB"/>
            </a:solidFill>
            <a:prstDash val="solid"/>
          </a:ln>
        </p:spPr>
        <p:txBody>
          <a:bodyPr/>
          <a:p/>
        </p:txBody>
      </p:sp>
      <p:sp>
        <p:nvSpPr>
          <p:cNvPr id="52" name="jn_49"/>
          <p:cNvSpPr/>
          <p:nvPr/>
        </p:nvSpPr>
        <p:spPr>
          <a:xfrm>
            <a:off x="4343400" y="6537960"/>
            <a:ext cx="1408176" cy="0"/>
          </a:xfrm>
          <a:prstGeom prst="line">
            <a:avLst/>
          </a:prstGeom>
          <a:noFill/>
          <a:ln w="19050">
            <a:solidFill>
              <a:srgbClr val="4D7C0F"/>
            </a:solidFill>
            <a:prstDash val="solid"/>
          </a:ln>
        </p:spPr>
        <p:txBody>
          <a:bodyPr/>
          <a:p/>
        </p:txBody>
      </p:sp>
      <p:sp>
        <p:nvSpPr>
          <p:cNvPr id="53" name="jseg_50"/>
          <p:cNvSpPr/>
          <p:nvPr/>
        </p:nvSpPr>
        <p:spPr>
          <a:xfrm>
            <a:off x="5751576" y="6537960"/>
            <a:ext cx="704088" cy="0"/>
          </a:xfrm>
          <a:prstGeom prst="line">
            <a:avLst/>
          </a:prstGeom>
          <a:noFill/>
          <a:ln w="19050">
            <a:solidFill>
              <a:srgbClr val="4D7C0F"/>
            </a:solidFill>
            <a:prstDash val="solid"/>
          </a:ln>
        </p:spPr>
        <p:txBody>
          <a:bodyPr/>
          <a:p/>
        </p:txBody>
      </p:sp>
      <p:sp>
        <p:nvSpPr>
          <p:cNvPr id="54" name="jn_51"/>
          <p:cNvSpPr/>
          <p:nvPr/>
        </p:nvSpPr>
        <p:spPr>
          <a:xfrm>
            <a:off x="4306824" y="6501384"/>
            <a:ext cx="73152" cy="73152"/>
          </a:xfrm>
          <a:prstGeom prst="ellipse">
            <a:avLst/>
          </a:prstGeom>
          <a:solidFill>
            <a:schemeClr val="accent1"/>
          </a:solidFill>
          <a:ln/>
        </p:spPr>
        <p:txBody>
          <a:bodyPr/>
          <a:p/>
        </p:txBody>
      </p:sp>
      <p:sp>
        <p:nvSpPr>
          <p:cNvPr id="55" name="jn_52"/>
          <p:cNvSpPr/>
          <p:nvPr/>
        </p:nvSpPr>
        <p:spPr>
          <a:xfrm>
            <a:off x="5010912" y="6501384"/>
            <a:ext cx="73152" cy="73152"/>
          </a:xfrm>
          <a:prstGeom prst="ellipse">
            <a:avLst/>
          </a:prstGeom>
          <a:solidFill>
            <a:schemeClr val="accent1"/>
          </a:solidFill>
          <a:ln/>
        </p:spPr>
        <p:txBody>
          <a:bodyPr/>
          <a:p/>
        </p:txBody>
      </p:sp>
      <p:sp>
        <p:nvSpPr>
          <p:cNvPr id="56" name="jn_53"/>
          <p:cNvSpPr/>
          <p:nvPr/>
        </p:nvSpPr>
        <p:spPr>
          <a:xfrm>
            <a:off x="5715000" y="6501384"/>
            <a:ext cx="73152" cy="73152"/>
          </a:xfrm>
          <a:prstGeom prst="ellipse">
            <a:avLst/>
          </a:prstGeom>
          <a:solidFill>
            <a:schemeClr val="accent1"/>
          </a:solidFill>
          <a:ln/>
        </p:spPr>
        <p:txBody>
          <a:bodyPr/>
          <a:p/>
        </p:txBody>
      </p:sp>
      <p:sp>
        <p:nvSpPr>
          <p:cNvPr id="57" name="jn_54"/>
          <p:cNvSpPr/>
          <p:nvPr/>
        </p:nvSpPr>
        <p:spPr>
          <a:xfrm>
            <a:off x="6419088" y="6501384"/>
            <a:ext cx="73152" cy="73152"/>
          </a:xfrm>
          <a:prstGeom prst="ellipse">
            <a:avLst/>
          </a:prstGeom>
          <a:solidFill>
            <a:srgbClr val="B8B1A0"/>
          </a:solidFill>
          <a:ln/>
        </p:spPr>
        <p:txBody>
          <a:bodyPr/>
          <a:p/>
        </p:txBody>
      </p:sp>
      <p:sp>
        <p:nvSpPr>
          <p:cNvPr id="58" name="jn_55"/>
          <p:cNvSpPr/>
          <p:nvPr/>
        </p:nvSpPr>
        <p:spPr>
          <a:xfrm>
            <a:off x="7123176" y="6501384"/>
            <a:ext cx="73152" cy="73152"/>
          </a:xfrm>
          <a:prstGeom prst="ellipse">
            <a:avLst/>
          </a:prstGeom>
          <a:solidFill>
            <a:srgbClr val="B8B1A0"/>
          </a:solidFill>
          <a:ln/>
        </p:spPr>
        <p:txBody>
          <a:bodyPr/>
          <a:p/>
        </p:txBody>
      </p:sp>
      <p:sp>
        <p:nvSpPr>
          <p:cNvPr id="59" name="jn_56"/>
          <p:cNvSpPr/>
          <p:nvPr/>
        </p:nvSpPr>
        <p:spPr>
          <a:xfrm>
            <a:off x="7827264" y="6501384"/>
            <a:ext cx="73152" cy="73152"/>
          </a:xfrm>
          <a:prstGeom prst="ellipse">
            <a:avLst/>
          </a:prstGeom>
          <a:solidFill>
            <a:srgbClr val="B8B1A0"/>
          </a:solidFill>
          <a:ln/>
        </p:spPr>
        <p:txBody>
          <a:bodyPr/>
          <a:p/>
        </p:txBody>
      </p:sp>
      <p:sp>
        <p:nvSpPr>
          <p:cNvPr id="60" name="jdot_57"/>
          <p:cNvSpPr/>
          <p:nvPr/>
        </p:nvSpPr>
        <p:spPr>
          <a:xfrm>
            <a:off x="6368796" y="6451092"/>
            <a:ext cx="173736" cy="173736"/>
          </a:xfrm>
          <a:prstGeom prst="ellipse">
            <a:avLst/>
          </a:prstGeom>
          <a:solidFill>
            <a:schemeClr val="accent1"/>
          </a:solidFill>
          <a:ln w="28575">
            <a:solidFill>
              <a:srgbClr val="F6F1E9"/>
            </a:solidFill>
            <a:prstDash val="solid"/>
          </a:ln>
        </p:spPr>
        <p:txBody>
          <a:bodyPr/>
          <a:p/>
        </p:txBody>
      </p:sp>
      <p:sp>
        <p:nvSpPr>
          <p:cNvPr id="61" name="Text 53"/>
          <p:cNvSpPr txBox="1"/>
          <p:nvPr/>
        </p:nvSpPr>
        <p:spPr>
          <a:xfrm>
            <a:off x="10454335" y="6419088"/>
            <a:ext cx="1097280" cy="237744"/>
          </a:xfrm>
          <a:prstGeom prst="rect">
            <a:avLst/>
          </a:prstGeom>
          <a:noFill/>
          <a:ln/>
        </p:spPr>
        <p:txBody>
          <a:bodyPr wrap="square" lIns="0" tIns="0" rIns="0" bIns="0" rtlCol="0" anchor="ctr"/>
          <a:lstStyle/>
          <a:p>
            <a:pPr algn="r" indent="0" marL="0">
              <a:buNone/>
            </a:pPr>
            <a:r>
              <a:rPr lang="en-US" sz="1000" dirty="0">
                <a:solidFill>
                  <a:schemeClr val="accent5"/>
                </a:solidFill>
              </a:rPr>
              <a:t>04 / 06</a:t>
            </a:r>
            <a:endParaRPr lang="en-US" sz="1000" dirty="0"/>
          </a:p>
        </p:txBody>
      </p:sp>
      <p:sp>
        <p:nvSpPr>
          <p:cNvPr id="62" name="attrib"/>
          <p:cNvSpPr txBox="1"/>
          <p:nvPr/>
        </p:nvSpPr>
        <p:spPr>
          <a:xfrm>
            <a:off x="7178040" y="6071616"/>
            <a:ext cx="4096512" cy="182880"/>
          </a:xfrm>
          <a:prstGeom prst="rect">
            <a:avLst/>
          </a:prstGeom>
          <a:noFill/>
          <a:ln/>
        </p:spPr>
        <p:txBody>
          <a:bodyPr wrap="square" lIns="0" tIns="0" rIns="0" bIns="0" rtlCol="0" anchor="ctr"/>
          <a:lstStyle/>
          <a:p>
            <a:pPr algn="r" indent="0" marL="0">
              <a:buNone/>
            </a:pPr>
            <a:r>
              <a:rPr lang="en-US" sz="800" dirty="0">
                <a:solidFill>
                  <a:srgbClr val="B2A8D2"/>
                </a:solidFill>
              </a:rPr>
              <a:t>© OpenStreetMap contributors</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200">
        <p14:pan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200"/>
                                  </p:stCondLst>
                                  <p:childTnLst>
                                    <p:set>
                                      <p:cBhvr>
                                        <p:cTn id="5" dur="1" fill="hold">
                                          <p:stCondLst>
                                            <p:cond delay="0"/>
                                          </p:stCondLst>
                                        </p:cTn>
                                        <p:tgtEl>
                                          <p:spTgt spid="51"/>
                                        </p:tgtEl>
                                        <p:attrNameLst>
                                          <p:attrName>style.visibility</p:attrName>
                                        </p:attrNameLst>
                                      </p:cBhvr>
                                      <p:to>
                                        <p:strVal val="visible"/>
                                      </p:to>
                                    </p:set>
                                    <p:animEffect transition="in" filter="fade">
                                      <p:cBhvr>
                                        <p:cTn id="6" dur="500"/>
                                        <p:tgtEl>
                                          <p:spTgt spid="51"/>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52"/>
                                        </p:tgtEl>
                                        <p:attrNameLst>
                                          <p:attrName>style.visibility</p:attrName>
                                        </p:attrNameLst>
                                      </p:cBhvr>
                                      <p:to>
                                        <p:strVal val="visible"/>
                                      </p:to>
                                    </p:set>
                                    <p:animEffect transition="in" filter="fade">
                                      <p:cBhvr>
                                        <p:cTn id="9" dur="500"/>
                                        <p:tgtEl>
                                          <p:spTgt spid="52"/>
                                        </p:tgtEl>
                                      </p:cBhvr>
                                    </p:animEffect>
                                  </p:childTnLst>
                                </p:cTn>
                              </p:par>
                              <p:par>
                                <p:cTn id="13" presetID="10" presetClass="entr" presetSubtype="0" fill="hold" grpId="0" nodeType="withEffect">
                                  <p:stCondLst>
                                    <p:cond delay="20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500"/>
                                        <p:tgtEl>
                                          <p:spTgt spid="54"/>
                                        </p:tgtEl>
                                      </p:cBhvr>
                                    </p:animEffect>
                                  </p:childTnLst>
                                </p:cTn>
                              </p:par>
                              <p:par>
                                <p:cTn id="16" presetID="10" presetClass="entr" presetSubtype="0" fill="hold" grpId="0" nodeType="withEffect">
                                  <p:stCondLst>
                                    <p:cond delay="20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500"/>
                                        <p:tgtEl>
                                          <p:spTgt spid="55"/>
                                        </p:tgtEl>
                                      </p:cBhvr>
                                    </p:animEffect>
                                  </p:childTnLst>
                                </p:cTn>
                              </p:par>
                              <p:par>
                                <p:cTn id="19" presetID="10" presetClass="entr" presetSubtype="0" fill="hold" grpId="0" nodeType="withEffect">
                                  <p:stCondLst>
                                    <p:cond delay="200"/>
                                  </p:stCondLst>
                                  <p:childTnLst>
                                    <p:set>
                                      <p:cBhvr>
                                        <p:cTn id="17" dur="1" fill="hold">
                                          <p:stCondLst>
                                            <p:cond delay="0"/>
                                          </p:stCondLst>
                                        </p:cTn>
                                        <p:tgtEl>
                                          <p:spTgt spid="56"/>
                                        </p:tgtEl>
                                        <p:attrNameLst>
                                          <p:attrName>style.visibility</p:attrName>
                                        </p:attrNameLst>
                                      </p:cBhvr>
                                      <p:to>
                                        <p:strVal val="visible"/>
                                      </p:to>
                                    </p:set>
                                    <p:animEffect transition="in" filter="fade">
                                      <p:cBhvr>
                                        <p:cTn id="18" dur="500"/>
                                        <p:tgtEl>
                                          <p:spTgt spid="56"/>
                                        </p:tgtEl>
                                      </p:cBhvr>
                                    </p:animEffect>
                                  </p:childTnLst>
                                </p:cTn>
                              </p:par>
                              <p:par>
                                <p:cTn id="22" presetID="10" presetClass="entr" presetSubtype="0" fill="hold" grpId="0" nodeType="withEffect">
                                  <p:stCondLst>
                                    <p:cond delay="200"/>
                                  </p:stCondLst>
                                  <p:childTnLst>
                                    <p:set>
                                      <p:cBhvr>
                                        <p:cTn id="20" dur="1" fill="hold">
                                          <p:stCondLst>
                                            <p:cond delay="0"/>
                                          </p:stCondLst>
                                        </p:cTn>
                                        <p:tgtEl>
                                          <p:spTgt spid="57"/>
                                        </p:tgtEl>
                                        <p:attrNameLst>
                                          <p:attrName>style.visibility</p:attrName>
                                        </p:attrNameLst>
                                      </p:cBhvr>
                                      <p:to>
                                        <p:strVal val="visible"/>
                                      </p:to>
                                    </p:set>
                                    <p:animEffect transition="in" filter="fade">
                                      <p:cBhvr>
                                        <p:cTn id="21" dur="500"/>
                                        <p:tgtEl>
                                          <p:spTgt spid="57"/>
                                        </p:tgtEl>
                                      </p:cBhvr>
                                    </p:animEffect>
                                  </p:childTnLst>
                                </p:cTn>
                              </p:par>
                              <p:par>
                                <p:cTn id="25" presetID="10" presetClass="entr" presetSubtype="0" fill="hold" grpId="0" nodeType="withEffect">
                                  <p:stCondLst>
                                    <p:cond delay="200"/>
                                  </p:stCondLst>
                                  <p:childTnLst>
                                    <p:set>
                                      <p:cBhvr>
                                        <p:cTn id="23" dur="1" fill="hold">
                                          <p:stCondLst>
                                            <p:cond delay="0"/>
                                          </p:stCondLst>
                                        </p:cTn>
                                        <p:tgtEl>
                                          <p:spTgt spid="58"/>
                                        </p:tgtEl>
                                        <p:attrNameLst>
                                          <p:attrName>style.visibility</p:attrName>
                                        </p:attrNameLst>
                                      </p:cBhvr>
                                      <p:to>
                                        <p:strVal val="visible"/>
                                      </p:to>
                                    </p:set>
                                    <p:animEffect transition="in" filter="fade">
                                      <p:cBhvr>
                                        <p:cTn id="24" dur="500"/>
                                        <p:tgtEl>
                                          <p:spTgt spid="58"/>
                                        </p:tgtEl>
                                      </p:cBhvr>
                                    </p:animEffect>
                                  </p:childTnLst>
                                </p:cTn>
                              </p:par>
                              <p:par>
                                <p:cTn id="28" presetID="10" presetClass="entr" presetSubtype="0" fill="hold" grpId="0" nodeType="withEffect">
                                  <p:stCondLst>
                                    <p:cond delay="200"/>
                                  </p:stCondLst>
                                  <p:childTnLst>
                                    <p:set>
                                      <p:cBhvr>
                                        <p:cTn id="26" dur="1" fill="hold">
                                          <p:stCondLst>
                                            <p:cond delay="0"/>
                                          </p:stCondLst>
                                        </p:cTn>
                                        <p:tgtEl>
                                          <p:spTgt spid="59"/>
                                        </p:tgtEl>
                                        <p:attrNameLst>
                                          <p:attrName>style.visibility</p:attrName>
                                        </p:attrNameLst>
                                      </p:cBhvr>
                                      <p:to>
                                        <p:strVal val="visible"/>
                                      </p:to>
                                    </p:set>
                                    <p:animEffect transition="in" filter="fade">
                                      <p:cBhvr>
                                        <p:cTn id="27" dur="500"/>
                                        <p:tgtEl>
                                          <p:spTgt spid="59"/>
                                        </p:tgtEl>
                                      </p:cBhvr>
                                    </p:animEffect>
                                  </p:childTnLst>
                                </p:cTn>
                              </p:par>
                              <p:par>
                                <p:cTn id="32" presetID="42" presetClass="entr" presetSubtype="0" fill="hold" grpId="0" nodeType="withEffect">
                                  <p:stCondLst>
                                    <p:cond delay="25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ppt_y</p:attrName>
                                        </p:attrNameLst>
                                      </p:cBhvr>
                                      <p:tavLst>
                                        <p:tav tm="0">
                                          <p:val>
                                            <p:strVal val="#ppt_y+.06"/>
                                          </p:val>
                                        </p:tav>
                                        <p:tav tm="100000">
                                          <p:val>
                                            <p:strVal val="#ppt_y"/>
                                          </p:val>
                                        </p:tav>
                                      </p:tavLst>
                                    </p:anim>
                                    <p:animEffect transition="in" filter="fade">
                                      <p:cBhvr>
                                        <p:cTn id="31" dur="500"/>
                                        <p:tgtEl>
                                          <p:spTgt spid="9"/>
                                        </p:tgtEl>
                                      </p:cBhvr>
                                    </p:animEffect>
                                  </p:childTnLst>
                                </p:cTn>
                              </p:par>
                              <p:par>
                                <p:cTn id="36" presetID="42" presetClass="entr" presetSubtype="0" fill="hold" grpId="0" nodeType="withEffect">
                                  <p:stCondLst>
                                    <p:cond delay="25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ppt_y</p:attrName>
                                        </p:attrNameLst>
                                      </p:cBhvr>
                                      <p:tavLst>
                                        <p:tav tm="0">
                                          <p:val>
                                            <p:strVal val="#ppt_y+.06"/>
                                          </p:val>
                                        </p:tav>
                                        <p:tav tm="100000">
                                          <p:val>
                                            <p:strVal val="#ppt_y"/>
                                          </p:val>
                                        </p:tav>
                                      </p:tavLst>
                                    </p:anim>
                                    <p:animEffect transition="in" filter="fade">
                                      <p:cBhvr>
                                        <p:cTn id="35" dur="500"/>
                                        <p:tgtEl>
                                          <p:spTgt spid="10"/>
                                        </p:tgtEl>
                                      </p:cBhvr>
                                    </p:animEffect>
                                  </p:childTnLst>
                                </p:cTn>
                              </p:par>
                              <p:par>
                                <p:cTn id="40" presetID="42" presetClass="entr" presetSubtype="0" fill="hold" grpId="0" nodeType="withEffect">
                                  <p:stCondLst>
                                    <p:cond delay="25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ppt_y</p:attrName>
                                        </p:attrNameLst>
                                      </p:cBhvr>
                                      <p:tavLst>
                                        <p:tav tm="0">
                                          <p:val>
                                            <p:strVal val="#ppt_y+.06"/>
                                          </p:val>
                                        </p:tav>
                                        <p:tav tm="100000">
                                          <p:val>
                                            <p:strVal val="#ppt_y"/>
                                          </p:val>
                                        </p:tav>
                                      </p:tavLst>
                                    </p:anim>
                                    <p:animEffect transition="in" filter="fade">
                                      <p:cBhvr>
                                        <p:cTn id="39" dur="500"/>
                                        <p:tgtEl>
                                          <p:spTgt spid="11"/>
                                        </p:tgtEl>
                                      </p:cBhvr>
                                    </p:animEffect>
                                  </p:childTnLst>
                                </p:cTn>
                              </p:par>
                              <p:par>
                                <p:cTn id="44" presetID="42" presetClass="entr" presetSubtype="0" fill="hold" grpId="0" nodeType="withEffect">
                                  <p:stCondLst>
                                    <p:cond delay="25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ppt_y</p:attrName>
                                        </p:attrNameLst>
                                      </p:cBhvr>
                                      <p:tavLst>
                                        <p:tav tm="0">
                                          <p:val>
                                            <p:strVal val="#ppt_y+.06"/>
                                          </p:val>
                                        </p:tav>
                                        <p:tav tm="100000">
                                          <p:val>
                                            <p:strVal val="#ppt_y"/>
                                          </p:val>
                                        </p:tav>
                                      </p:tavLst>
                                    </p:anim>
                                    <p:animEffect transition="in" filter="fade">
                                      <p:cBhvr>
                                        <p:cTn id="43" dur="500"/>
                                        <p:tgtEl>
                                          <p:spTgt spid="12"/>
                                        </p:tgtEl>
                                      </p:cBhvr>
                                    </p:animEffect>
                                  </p:childTnLst>
                                </p:cTn>
                              </p:par>
                              <p:par>
                                <p:cTn id="48" presetID="42" presetClass="entr" presetSubtype="0" fill="hold" grpId="0" nodeType="withEffect">
                                  <p:stCondLst>
                                    <p:cond delay="25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ppt_y</p:attrName>
                                        </p:attrNameLst>
                                      </p:cBhvr>
                                      <p:tavLst>
                                        <p:tav tm="0">
                                          <p:val>
                                            <p:strVal val="#ppt_y+.06"/>
                                          </p:val>
                                        </p:tav>
                                        <p:tav tm="100000">
                                          <p:val>
                                            <p:strVal val="#ppt_y"/>
                                          </p:val>
                                        </p:tav>
                                      </p:tavLst>
                                    </p:anim>
                                    <p:animEffect transition="in" filter="fade">
                                      <p:cBhvr>
                                        <p:cTn id="47" dur="500"/>
                                        <p:tgtEl>
                                          <p:spTgt spid="13"/>
                                        </p:tgtEl>
                                      </p:cBhvr>
                                    </p:animEffect>
                                  </p:childTnLst>
                                </p:cTn>
                              </p:par>
                              <p:par>
                                <p:cTn id="50" presetID="0" presetClass="path" presetSubtype="0" accel="50000" decel="50000" fill="hold" nodeType="withEffect">
                                  <p:stCondLst>
                                    <p:cond delay="500"/>
                                  </p:stCondLst>
                                  <p:childTnLst>
                                    <p:animMotion origin="layout" path="M -0.0578 0 L 0 0 E" pathEditMode="relative" rAng="0" ptsTypes="AA">
                                      <p:cBhvr>
                                        <p:cTn id="49" dur="1100" fill="hold"/>
                                        <p:tgtEl>
                                          <p:spTgt spid="60"/>
                                        </p:tgtEl>
                                        <p:attrNameLst>
                                          <p:attrName>ppt_x</p:attrName>
                                          <p:attrName>ppt_y</p:attrName>
                                        </p:attrNameLst>
                                      </p:cBhvr>
                                    </p:animMotion>
                                  </p:childTnLst>
                                </p:cTn>
                              </p:par>
                              <p:par>
                                <p:cTn id="53" presetID="22" presetClass="entr" presetSubtype="8" fill="hold" grpId="0" nodeType="withEffect">
                                  <p:stCondLst>
                                    <p:cond delay="500"/>
                                  </p:stCondLst>
                                  <p:childTnLst>
                                    <p:set>
                                      <p:cBhvr>
                                        <p:cTn id="51" dur="1" fill="hold">
                                          <p:stCondLst>
                                            <p:cond delay="0"/>
                                          </p:stCondLst>
                                        </p:cTn>
                                        <p:tgtEl>
                                          <p:spTgt spid="53"/>
                                        </p:tgtEl>
                                        <p:attrNameLst>
                                          <p:attrName>style.visibility</p:attrName>
                                        </p:attrNameLst>
                                      </p:cBhvr>
                                      <p:to>
                                        <p:strVal val="visible"/>
                                      </p:to>
                                    </p:set>
                                    <p:animEffect transition="in" filter="wipe(left)">
                                      <p:cBhvr>
                                        <p:cTn id="52" dur="1100"/>
                                        <p:tgtEl>
                                          <p:spTgt spid="53"/>
                                        </p:tgtEl>
                                      </p:cBhvr>
                                    </p:animEffect>
                                  </p:childTnLst>
                                </p:cTn>
                              </p:par>
                              <p:par>
                                <p:cTn id="56" presetID="10" presetClass="entr" presetSubtype="0" fill="hold" grpId="0" nodeType="withEffect">
                                  <p:stCondLst>
                                    <p:cond delay="50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600"/>
                                        <p:tgtEl>
                                          <p:spTgt spid="24"/>
                                        </p:tgtEl>
                                      </p:cBhvr>
                                    </p:animEffect>
                                  </p:childTnLst>
                                </p:cTn>
                              </p:par>
                              <p:par>
                                <p:cTn id="59" presetID="10" presetClass="entr" presetSubtype="0" fill="hold" grpId="0" nodeType="withEffect">
                                  <p:stCondLst>
                                    <p:cond delay="50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600"/>
                                        <p:tgtEl>
                                          <p:spTgt spid="25"/>
                                        </p:tgtEl>
                                      </p:cBhvr>
                                    </p:animEffect>
                                  </p:childTnLst>
                                </p:cTn>
                              </p:par>
                              <p:par>
                                <p:cTn id="62" presetID="10" presetClass="entr" presetSubtype="0" fill="hold" grpId="0" nodeType="withEffect">
                                  <p:stCondLst>
                                    <p:cond delay="50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600"/>
                                        <p:tgtEl>
                                          <p:spTgt spid="26"/>
                                        </p:tgtEl>
                                      </p:cBhvr>
                                    </p:animEffect>
                                  </p:childTnLst>
                                </p:cTn>
                              </p:par>
                              <p:par>
                                <p:cTn id="65" presetID="10" presetClass="entr" presetSubtype="0" fill="hold" grpId="0" nodeType="withEffect">
                                  <p:stCondLst>
                                    <p:cond delay="50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600"/>
                                        <p:tgtEl>
                                          <p:spTgt spid="27"/>
                                        </p:tgtEl>
                                      </p:cBhvr>
                                    </p:animEffect>
                                  </p:childTnLst>
                                </p:cTn>
                              </p:par>
                              <p:par>
                                <p:cTn id="69" presetID="42" presetClass="entr" presetSubtype="0" fill="hold" grpId="0" nodeType="withEffect">
                                  <p:stCondLst>
                                    <p:cond delay="51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500" fill="hold"/>
                                        <p:tgtEl>
                                          <p:spTgt spid="14"/>
                                        </p:tgtEl>
                                        <p:attrNameLst>
                                          <p:attrName>ppt_y</p:attrName>
                                        </p:attrNameLst>
                                      </p:cBhvr>
                                      <p:tavLst>
                                        <p:tav tm="0">
                                          <p:val>
                                            <p:strVal val="#ppt_y+.06"/>
                                          </p:val>
                                        </p:tav>
                                        <p:tav tm="100000">
                                          <p:val>
                                            <p:strVal val="#ppt_y"/>
                                          </p:val>
                                        </p:tav>
                                      </p:tavLst>
                                    </p:anim>
                                    <p:animEffect transition="in" filter="fade">
                                      <p:cBhvr>
                                        <p:cTn id="68" dur="500"/>
                                        <p:tgtEl>
                                          <p:spTgt spid="14"/>
                                        </p:tgtEl>
                                      </p:cBhvr>
                                    </p:animEffect>
                                  </p:childTnLst>
                                </p:cTn>
                              </p:par>
                              <p:par>
                                <p:cTn id="73" presetID="42" presetClass="entr" presetSubtype="0" fill="hold" grpId="0" nodeType="withEffect">
                                  <p:stCondLst>
                                    <p:cond delay="510"/>
                                  </p:stCondLst>
                                  <p:childTnLst>
                                    <p:set>
                                      <p:cBhvr>
                                        <p:cTn id="70" dur="1" fill="hold">
                                          <p:stCondLst>
                                            <p:cond delay="0"/>
                                          </p:stCondLst>
                                        </p:cTn>
                                        <p:tgtEl>
                                          <p:spTgt spid="15"/>
                                        </p:tgtEl>
                                        <p:attrNameLst>
                                          <p:attrName>style.visibility</p:attrName>
                                        </p:attrNameLst>
                                      </p:cBhvr>
                                      <p:to>
                                        <p:strVal val="visible"/>
                                      </p:to>
                                    </p:set>
                                    <p:anim calcmode="lin" valueType="num">
                                      <p:cBhvr additive="base">
                                        <p:cTn id="71" dur="500" fill="hold"/>
                                        <p:tgtEl>
                                          <p:spTgt spid="15"/>
                                        </p:tgtEl>
                                        <p:attrNameLst>
                                          <p:attrName>ppt_y</p:attrName>
                                        </p:attrNameLst>
                                      </p:cBhvr>
                                      <p:tavLst>
                                        <p:tav tm="0">
                                          <p:val>
                                            <p:strVal val="#ppt_y+.06"/>
                                          </p:val>
                                        </p:tav>
                                        <p:tav tm="100000">
                                          <p:val>
                                            <p:strVal val="#ppt_y"/>
                                          </p:val>
                                        </p:tav>
                                      </p:tavLst>
                                    </p:anim>
                                    <p:animEffect transition="in" filter="fade">
                                      <p:cBhvr>
                                        <p:cTn id="72" dur="500"/>
                                        <p:tgtEl>
                                          <p:spTgt spid="15"/>
                                        </p:tgtEl>
                                      </p:cBhvr>
                                    </p:animEffect>
                                  </p:childTnLst>
                                </p:cTn>
                              </p:par>
                              <p:par>
                                <p:cTn id="77" presetID="42" presetClass="entr" presetSubtype="0" fill="hold" grpId="0" nodeType="withEffect">
                                  <p:stCondLst>
                                    <p:cond delay="510"/>
                                  </p:stCondLst>
                                  <p:childTnLst>
                                    <p:set>
                                      <p:cBhvr>
                                        <p:cTn id="74" dur="1" fill="hold">
                                          <p:stCondLst>
                                            <p:cond delay="0"/>
                                          </p:stCondLst>
                                        </p:cTn>
                                        <p:tgtEl>
                                          <p:spTgt spid="16"/>
                                        </p:tgtEl>
                                        <p:attrNameLst>
                                          <p:attrName>style.visibility</p:attrName>
                                        </p:attrNameLst>
                                      </p:cBhvr>
                                      <p:to>
                                        <p:strVal val="visible"/>
                                      </p:to>
                                    </p:set>
                                    <p:anim calcmode="lin" valueType="num">
                                      <p:cBhvr additive="base">
                                        <p:cTn id="75" dur="500" fill="hold"/>
                                        <p:tgtEl>
                                          <p:spTgt spid="16"/>
                                        </p:tgtEl>
                                        <p:attrNameLst>
                                          <p:attrName>ppt_y</p:attrName>
                                        </p:attrNameLst>
                                      </p:cBhvr>
                                      <p:tavLst>
                                        <p:tav tm="0">
                                          <p:val>
                                            <p:strVal val="#ppt_y+.06"/>
                                          </p:val>
                                        </p:tav>
                                        <p:tav tm="100000">
                                          <p:val>
                                            <p:strVal val="#ppt_y"/>
                                          </p:val>
                                        </p:tav>
                                      </p:tavLst>
                                    </p:anim>
                                    <p:animEffect transition="in" filter="fade">
                                      <p:cBhvr>
                                        <p:cTn id="76" dur="500"/>
                                        <p:tgtEl>
                                          <p:spTgt spid="16"/>
                                        </p:tgtEl>
                                      </p:cBhvr>
                                    </p:animEffect>
                                  </p:childTnLst>
                                </p:cTn>
                              </p:par>
                              <p:par>
                                <p:cTn id="81" presetID="42" presetClass="entr" presetSubtype="0" fill="hold" grpId="0" nodeType="withEffect">
                                  <p:stCondLst>
                                    <p:cond delay="510"/>
                                  </p:stCondLst>
                                  <p:childTnLst>
                                    <p:set>
                                      <p:cBhvr>
                                        <p:cTn id="78" dur="1" fill="hold">
                                          <p:stCondLst>
                                            <p:cond delay="0"/>
                                          </p:stCondLst>
                                        </p:cTn>
                                        <p:tgtEl>
                                          <p:spTgt spid="17"/>
                                        </p:tgtEl>
                                        <p:attrNameLst>
                                          <p:attrName>style.visibility</p:attrName>
                                        </p:attrNameLst>
                                      </p:cBhvr>
                                      <p:to>
                                        <p:strVal val="visible"/>
                                      </p:to>
                                    </p:set>
                                    <p:anim calcmode="lin" valueType="num">
                                      <p:cBhvr additive="base">
                                        <p:cTn id="79" dur="500" fill="hold"/>
                                        <p:tgtEl>
                                          <p:spTgt spid="17"/>
                                        </p:tgtEl>
                                        <p:attrNameLst>
                                          <p:attrName>ppt_y</p:attrName>
                                        </p:attrNameLst>
                                      </p:cBhvr>
                                      <p:tavLst>
                                        <p:tav tm="0">
                                          <p:val>
                                            <p:strVal val="#ppt_y+.06"/>
                                          </p:val>
                                        </p:tav>
                                        <p:tav tm="100000">
                                          <p:val>
                                            <p:strVal val="#ppt_y"/>
                                          </p:val>
                                        </p:tav>
                                      </p:tavLst>
                                    </p:anim>
                                    <p:animEffect transition="in" filter="fade">
                                      <p:cBhvr>
                                        <p:cTn id="80" dur="500"/>
                                        <p:tgtEl>
                                          <p:spTgt spid="17"/>
                                        </p:tgtEl>
                                      </p:cBhvr>
                                    </p:animEffect>
                                  </p:childTnLst>
                                </p:cTn>
                              </p:par>
                              <p:par>
                                <p:cTn id="85" presetID="42" presetClass="entr" presetSubtype="0" fill="hold" grpId="0" nodeType="withEffect">
                                  <p:stCondLst>
                                    <p:cond delay="510"/>
                                  </p:stCondLst>
                                  <p:childTnLst>
                                    <p:set>
                                      <p:cBhvr>
                                        <p:cTn id="82" dur="1" fill="hold">
                                          <p:stCondLst>
                                            <p:cond delay="0"/>
                                          </p:stCondLst>
                                        </p:cTn>
                                        <p:tgtEl>
                                          <p:spTgt spid="18"/>
                                        </p:tgtEl>
                                        <p:attrNameLst>
                                          <p:attrName>style.visibility</p:attrName>
                                        </p:attrNameLst>
                                      </p:cBhvr>
                                      <p:to>
                                        <p:strVal val="visible"/>
                                      </p:to>
                                    </p:set>
                                    <p:anim calcmode="lin" valueType="num">
                                      <p:cBhvr additive="base">
                                        <p:cTn id="83" dur="500" fill="hold"/>
                                        <p:tgtEl>
                                          <p:spTgt spid="18"/>
                                        </p:tgtEl>
                                        <p:attrNameLst>
                                          <p:attrName>ppt_y</p:attrName>
                                        </p:attrNameLst>
                                      </p:cBhvr>
                                      <p:tavLst>
                                        <p:tav tm="0">
                                          <p:val>
                                            <p:strVal val="#ppt_y+.06"/>
                                          </p:val>
                                        </p:tav>
                                        <p:tav tm="100000">
                                          <p:val>
                                            <p:strVal val="#ppt_y"/>
                                          </p:val>
                                        </p:tav>
                                      </p:tavLst>
                                    </p:anim>
                                    <p:animEffect transition="in" filter="fade">
                                      <p:cBhvr>
                                        <p:cTn id="84" dur="500"/>
                                        <p:tgtEl>
                                          <p:spTgt spid="18"/>
                                        </p:tgtEl>
                                      </p:cBhvr>
                                    </p:animEffect>
                                  </p:childTnLst>
                                </p:cTn>
                              </p:par>
                              <p:par>
                                <p:cTn id="89" presetID="42" presetClass="entr" presetSubtype="0" fill="hold" grpId="0" nodeType="withEffect">
                                  <p:stCondLst>
                                    <p:cond delay="770"/>
                                  </p:stCondLst>
                                  <p:childTnLst>
                                    <p:set>
                                      <p:cBhvr>
                                        <p:cTn id="86" dur="1" fill="hold">
                                          <p:stCondLst>
                                            <p:cond delay="0"/>
                                          </p:stCondLst>
                                        </p:cTn>
                                        <p:tgtEl>
                                          <p:spTgt spid="19"/>
                                        </p:tgtEl>
                                        <p:attrNameLst>
                                          <p:attrName>style.visibility</p:attrName>
                                        </p:attrNameLst>
                                      </p:cBhvr>
                                      <p:to>
                                        <p:strVal val="visible"/>
                                      </p:to>
                                    </p:set>
                                    <p:anim calcmode="lin" valueType="num">
                                      <p:cBhvr additive="base">
                                        <p:cTn id="87" dur="500" fill="hold"/>
                                        <p:tgtEl>
                                          <p:spTgt spid="19"/>
                                        </p:tgtEl>
                                        <p:attrNameLst>
                                          <p:attrName>ppt_y</p:attrName>
                                        </p:attrNameLst>
                                      </p:cBhvr>
                                      <p:tavLst>
                                        <p:tav tm="0">
                                          <p:val>
                                            <p:strVal val="#ppt_y+.06"/>
                                          </p:val>
                                        </p:tav>
                                        <p:tav tm="100000">
                                          <p:val>
                                            <p:strVal val="#ppt_y"/>
                                          </p:val>
                                        </p:tav>
                                      </p:tavLst>
                                    </p:anim>
                                    <p:animEffect transition="in" filter="fade">
                                      <p:cBhvr>
                                        <p:cTn id="88" dur="500"/>
                                        <p:tgtEl>
                                          <p:spTgt spid="19"/>
                                        </p:tgtEl>
                                      </p:cBhvr>
                                    </p:animEffect>
                                  </p:childTnLst>
                                </p:cTn>
                              </p:par>
                              <p:par>
                                <p:cTn id="93" presetID="42" presetClass="entr" presetSubtype="0" fill="hold" grpId="0" nodeType="withEffect">
                                  <p:stCondLst>
                                    <p:cond delay="770"/>
                                  </p:stCondLst>
                                  <p:childTnLst>
                                    <p:set>
                                      <p:cBhvr>
                                        <p:cTn id="90" dur="1" fill="hold">
                                          <p:stCondLst>
                                            <p:cond delay="0"/>
                                          </p:stCondLst>
                                        </p:cTn>
                                        <p:tgtEl>
                                          <p:spTgt spid="20"/>
                                        </p:tgtEl>
                                        <p:attrNameLst>
                                          <p:attrName>style.visibility</p:attrName>
                                        </p:attrNameLst>
                                      </p:cBhvr>
                                      <p:to>
                                        <p:strVal val="visible"/>
                                      </p:to>
                                    </p:set>
                                    <p:anim calcmode="lin" valueType="num">
                                      <p:cBhvr additive="base">
                                        <p:cTn id="91" dur="500" fill="hold"/>
                                        <p:tgtEl>
                                          <p:spTgt spid="20"/>
                                        </p:tgtEl>
                                        <p:attrNameLst>
                                          <p:attrName>ppt_y</p:attrName>
                                        </p:attrNameLst>
                                      </p:cBhvr>
                                      <p:tavLst>
                                        <p:tav tm="0">
                                          <p:val>
                                            <p:strVal val="#ppt_y+.06"/>
                                          </p:val>
                                        </p:tav>
                                        <p:tav tm="100000">
                                          <p:val>
                                            <p:strVal val="#ppt_y"/>
                                          </p:val>
                                        </p:tav>
                                      </p:tavLst>
                                    </p:anim>
                                    <p:animEffect transition="in" filter="fade">
                                      <p:cBhvr>
                                        <p:cTn id="92" dur="500"/>
                                        <p:tgtEl>
                                          <p:spTgt spid="20"/>
                                        </p:tgtEl>
                                      </p:cBhvr>
                                    </p:animEffect>
                                  </p:childTnLst>
                                </p:cTn>
                              </p:par>
                              <p:par>
                                <p:cTn id="97" presetID="42" presetClass="entr" presetSubtype="0" fill="hold" grpId="0" nodeType="withEffect">
                                  <p:stCondLst>
                                    <p:cond delay="770"/>
                                  </p:stCondLst>
                                  <p:childTnLst>
                                    <p:set>
                                      <p:cBhvr>
                                        <p:cTn id="94" dur="1" fill="hold">
                                          <p:stCondLst>
                                            <p:cond delay="0"/>
                                          </p:stCondLst>
                                        </p:cTn>
                                        <p:tgtEl>
                                          <p:spTgt spid="21"/>
                                        </p:tgtEl>
                                        <p:attrNameLst>
                                          <p:attrName>style.visibility</p:attrName>
                                        </p:attrNameLst>
                                      </p:cBhvr>
                                      <p:to>
                                        <p:strVal val="visible"/>
                                      </p:to>
                                    </p:set>
                                    <p:anim calcmode="lin" valueType="num">
                                      <p:cBhvr additive="base">
                                        <p:cTn id="95" dur="500" fill="hold"/>
                                        <p:tgtEl>
                                          <p:spTgt spid="21"/>
                                        </p:tgtEl>
                                        <p:attrNameLst>
                                          <p:attrName>ppt_y</p:attrName>
                                        </p:attrNameLst>
                                      </p:cBhvr>
                                      <p:tavLst>
                                        <p:tav tm="0">
                                          <p:val>
                                            <p:strVal val="#ppt_y+.06"/>
                                          </p:val>
                                        </p:tav>
                                        <p:tav tm="100000">
                                          <p:val>
                                            <p:strVal val="#ppt_y"/>
                                          </p:val>
                                        </p:tav>
                                      </p:tavLst>
                                    </p:anim>
                                    <p:animEffect transition="in" filter="fade">
                                      <p:cBhvr>
                                        <p:cTn id="96" dur="500"/>
                                        <p:tgtEl>
                                          <p:spTgt spid="21"/>
                                        </p:tgtEl>
                                      </p:cBhvr>
                                    </p:animEffect>
                                  </p:childTnLst>
                                </p:cTn>
                              </p:par>
                              <p:par>
                                <p:cTn id="101" presetID="42" presetClass="entr" presetSubtype="0" fill="hold" grpId="0" nodeType="withEffect">
                                  <p:stCondLst>
                                    <p:cond delay="770"/>
                                  </p:stCondLst>
                                  <p:childTnLst>
                                    <p:set>
                                      <p:cBhvr>
                                        <p:cTn id="98" dur="1" fill="hold">
                                          <p:stCondLst>
                                            <p:cond delay="0"/>
                                          </p:stCondLst>
                                        </p:cTn>
                                        <p:tgtEl>
                                          <p:spTgt spid="22"/>
                                        </p:tgtEl>
                                        <p:attrNameLst>
                                          <p:attrName>style.visibility</p:attrName>
                                        </p:attrNameLst>
                                      </p:cBhvr>
                                      <p:to>
                                        <p:strVal val="visible"/>
                                      </p:to>
                                    </p:set>
                                    <p:anim calcmode="lin" valueType="num">
                                      <p:cBhvr additive="base">
                                        <p:cTn id="99" dur="500" fill="hold"/>
                                        <p:tgtEl>
                                          <p:spTgt spid="22"/>
                                        </p:tgtEl>
                                        <p:attrNameLst>
                                          <p:attrName>ppt_y</p:attrName>
                                        </p:attrNameLst>
                                      </p:cBhvr>
                                      <p:tavLst>
                                        <p:tav tm="0">
                                          <p:val>
                                            <p:strVal val="#ppt_y+.06"/>
                                          </p:val>
                                        </p:tav>
                                        <p:tav tm="100000">
                                          <p:val>
                                            <p:strVal val="#ppt_y"/>
                                          </p:val>
                                        </p:tav>
                                      </p:tavLst>
                                    </p:anim>
                                    <p:animEffect transition="in" filter="fade">
                                      <p:cBhvr>
                                        <p:cTn id="100" dur="500"/>
                                        <p:tgtEl>
                                          <p:spTgt spid="22"/>
                                        </p:tgtEl>
                                      </p:cBhvr>
                                    </p:animEffect>
                                  </p:childTnLst>
                                </p:cTn>
                              </p:par>
                              <p:par>
                                <p:cTn id="105" presetID="42" presetClass="entr" presetSubtype="0" fill="hold" grpId="0" nodeType="withEffect">
                                  <p:stCondLst>
                                    <p:cond delay="770"/>
                                  </p:stCondLst>
                                  <p:childTnLst>
                                    <p:set>
                                      <p:cBhvr>
                                        <p:cTn id="102" dur="1" fill="hold">
                                          <p:stCondLst>
                                            <p:cond delay="0"/>
                                          </p:stCondLst>
                                        </p:cTn>
                                        <p:tgtEl>
                                          <p:spTgt spid="23"/>
                                        </p:tgtEl>
                                        <p:attrNameLst>
                                          <p:attrName>style.visibility</p:attrName>
                                        </p:attrNameLst>
                                      </p:cBhvr>
                                      <p:to>
                                        <p:strVal val="visible"/>
                                      </p:to>
                                    </p:set>
                                    <p:anim calcmode="lin" valueType="num">
                                      <p:cBhvr additive="base">
                                        <p:cTn id="103" dur="500" fill="hold"/>
                                        <p:tgtEl>
                                          <p:spTgt spid="23"/>
                                        </p:tgtEl>
                                        <p:attrNameLst>
                                          <p:attrName>ppt_y</p:attrName>
                                        </p:attrNameLst>
                                      </p:cBhvr>
                                      <p:tavLst>
                                        <p:tav tm="0">
                                          <p:val>
                                            <p:strVal val="#ppt_y+.06"/>
                                          </p:val>
                                        </p:tav>
                                        <p:tav tm="100000">
                                          <p:val>
                                            <p:strVal val="#ppt_y"/>
                                          </p:val>
                                        </p:tav>
                                      </p:tavLst>
                                    </p:anim>
                                    <p:animEffect transition="in" filter="fade">
                                      <p:cBhvr>
                                        <p:cTn id="104" dur="500"/>
                                        <p:tgtEl>
                                          <p:spTgt spid="23"/>
                                        </p:tgtEl>
                                      </p:cBhvr>
                                    </p:animEffect>
                                  </p:childTnLst>
                                </p:cTn>
                              </p:par>
                              <p:par>
                                <p:cTn id="109" presetID="42" presetClass="entr" presetSubtype="0" fill="hold" grpId="0" nodeType="withEffect">
                                  <p:stCondLst>
                                    <p:cond delay="1100"/>
                                  </p:stCondLst>
                                  <p:childTnLst>
                                    <p:set>
                                      <p:cBhvr>
                                        <p:cTn id="106" dur="1" fill="hold">
                                          <p:stCondLst>
                                            <p:cond delay="0"/>
                                          </p:stCondLst>
                                        </p:cTn>
                                        <p:tgtEl>
                                          <p:spTgt spid="32"/>
                                        </p:tgtEl>
                                        <p:attrNameLst>
                                          <p:attrName>style.visibility</p:attrName>
                                        </p:attrNameLst>
                                      </p:cBhvr>
                                      <p:to>
                                        <p:strVal val="visible"/>
                                      </p:to>
                                    </p:set>
                                    <p:anim calcmode="lin" valueType="num">
                                      <p:cBhvr additive="base">
                                        <p:cTn id="107" dur="500" fill="hold"/>
                                        <p:tgtEl>
                                          <p:spTgt spid="32"/>
                                        </p:tgtEl>
                                        <p:attrNameLst>
                                          <p:attrName>ppt_y</p:attrName>
                                        </p:attrNameLst>
                                      </p:cBhvr>
                                      <p:tavLst>
                                        <p:tav tm="0">
                                          <p:val>
                                            <p:strVal val="#ppt_y+.06"/>
                                          </p:val>
                                        </p:tav>
                                        <p:tav tm="100000">
                                          <p:val>
                                            <p:strVal val="#ppt_y"/>
                                          </p:val>
                                        </p:tav>
                                      </p:tavLst>
                                    </p:anim>
                                    <p:animEffect transition="in" filter="fade">
                                      <p:cBhvr>
                                        <p:cTn id="108" dur="500"/>
                                        <p:tgtEl>
                                          <p:spTgt spid="32"/>
                                        </p:tgtEl>
                                      </p:cBhvr>
                                    </p:animEffect>
                                  </p:childTnLst>
                                </p:cTn>
                              </p:par>
                              <p:par>
                                <p:cTn id="113" presetID="42" presetClass="entr" presetSubtype="0" fill="hold" grpId="0" nodeType="withEffect">
                                  <p:stCondLst>
                                    <p:cond delay="1100"/>
                                  </p:stCondLst>
                                  <p:childTnLst>
                                    <p:set>
                                      <p:cBhvr>
                                        <p:cTn id="110" dur="1" fill="hold">
                                          <p:stCondLst>
                                            <p:cond delay="0"/>
                                          </p:stCondLst>
                                        </p:cTn>
                                        <p:tgtEl>
                                          <p:spTgt spid="33"/>
                                        </p:tgtEl>
                                        <p:attrNameLst>
                                          <p:attrName>style.visibility</p:attrName>
                                        </p:attrNameLst>
                                      </p:cBhvr>
                                      <p:to>
                                        <p:strVal val="visible"/>
                                      </p:to>
                                    </p:set>
                                    <p:anim calcmode="lin" valueType="num">
                                      <p:cBhvr additive="base">
                                        <p:cTn id="111" dur="500" fill="hold"/>
                                        <p:tgtEl>
                                          <p:spTgt spid="33"/>
                                        </p:tgtEl>
                                        <p:attrNameLst>
                                          <p:attrName>ppt_y</p:attrName>
                                        </p:attrNameLst>
                                      </p:cBhvr>
                                      <p:tavLst>
                                        <p:tav tm="0">
                                          <p:val>
                                            <p:strVal val="#ppt_y+.06"/>
                                          </p:val>
                                        </p:tav>
                                        <p:tav tm="100000">
                                          <p:val>
                                            <p:strVal val="#ppt_y"/>
                                          </p:val>
                                        </p:tav>
                                      </p:tavLst>
                                    </p:anim>
                                    <p:animEffect transition="in" filter="fade">
                                      <p:cBhvr>
                                        <p:cTn id="112" dur="500"/>
                                        <p:tgtEl>
                                          <p:spTgt spid="33"/>
                                        </p:tgtEl>
                                      </p:cBhvr>
                                    </p:animEffect>
                                  </p:childTnLst>
                                </p:cTn>
                              </p:par>
                              <p:par>
                                <p:cTn id="117" presetID="42" presetClass="entr" presetSubtype="0" fill="hold" grpId="0" nodeType="withEffect">
                                  <p:stCondLst>
                                    <p:cond delay="1100"/>
                                  </p:stCondLst>
                                  <p:childTnLst>
                                    <p:set>
                                      <p:cBhvr>
                                        <p:cTn id="114" dur="1" fill="hold">
                                          <p:stCondLst>
                                            <p:cond delay="0"/>
                                          </p:stCondLst>
                                        </p:cTn>
                                        <p:tgtEl>
                                          <p:spTgt spid="34"/>
                                        </p:tgtEl>
                                        <p:attrNameLst>
                                          <p:attrName>style.visibility</p:attrName>
                                        </p:attrNameLst>
                                      </p:cBhvr>
                                      <p:to>
                                        <p:strVal val="visible"/>
                                      </p:to>
                                    </p:set>
                                    <p:anim calcmode="lin" valueType="num">
                                      <p:cBhvr additive="base">
                                        <p:cTn id="115" dur="500" fill="hold"/>
                                        <p:tgtEl>
                                          <p:spTgt spid="34"/>
                                        </p:tgtEl>
                                        <p:attrNameLst>
                                          <p:attrName>ppt_y</p:attrName>
                                        </p:attrNameLst>
                                      </p:cBhvr>
                                      <p:tavLst>
                                        <p:tav tm="0">
                                          <p:val>
                                            <p:strVal val="#ppt_y+.06"/>
                                          </p:val>
                                        </p:tav>
                                        <p:tav tm="100000">
                                          <p:val>
                                            <p:strVal val="#ppt_y"/>
                                          </p:val>
                                        </p:tav>
                                      </p:tavLst>
                                    </p:anim>
                                    <p:animEffect transition="in" filter="fade">
                                      <p:cBhvr>
                                        <p:cTn id="116" dur="500"/>
                                        <p:tgtEl>
                                          <p:spTgt spid="34"/>
                                        </p:tgtEl>
                                      </p:cBhvr>
                                    </p:animEffect>
                                  </p:childTnLst>
                                </p:cTn>
                              </p:par>
                              <p:par>
                                <p:cTn id="121" presetID="42" presetClass="entr" presetSubtype="0" fill="hold" grpId="0" nodeType="withEffect">
                                  <p:stCondLst>
                                    <p:cond delay="1100"/>
                                  </p:stCondLst>
                                  <p:childTnLst>
                                    <p:set>
                                      <p:cBhvr>
                                        <p:cTn id="118" dur="1" fill="hold">
                                          <p:stCondLst>
                                            <p:cond delay="0"/>
                                          </p:stCondLst>
                                        </p:cTn>
                                        <p:tgtEl>
                                          <p:spTgt spid="35"/>
                                        </p:tgtEl>
                                        <p:attrNameLst>
                                          <p:attrName>style.visibility</p:attrName>
                                        </p:attrNameLst>
                                      </p:cBhvr>
                                      <p:to>
                                        <p:strVal val="visible"/>
                                      </p:to>
                                    </p:set>
                                    <p:anim calcmode="lin" valueType="num">
                                      <p:cBhvr additive="base">
                                        <p:cTn id="119" dur="500" fill="hold"/>
                                        <p:tgtEl>
                                          <p:spTgt spid="35"/>
                                        </p:tgtEl>
                                        <p:attrNameLst>
                                          <p:attrName>ppt_y</p:attrName>
                                        </p:attrNameLst>
                                      </p:cBhvr>
                                      <p:tavLst>
                                        <p:tav tm="0">
                                          <p:val>
                                            <p:strVal val="#ppt_y+.06"/>
                                          </p:val>
                                        </p:tav>
                                        <p:tav tm="100000">
                                          <p:val>
                                            <p:strVal val="#ppt_y"/>
                                          </p:val>
                                        </p:tav>
                                      </p:tavLst>
                                    </p:anim>
                                    <p:animEffect transition="in" filter="fade">
                                      <p:cBhvr>
                                        <p:cTn id="120" dur="500"/>
                                        <p:tgtEl>
                                          <p:spTgt spid="35"/>
                                        </p:tgtEl>
                                      </p:cBhvr>
                                    </p:animEffect>
                                  </p:childTnLst>
                                </p:cTn>
                              </p:par>
                              <p:par>
                                <p:cTn id="125" presetID="42" presetClass="entr" presetSubtype="0" fill="hold" grpId="0" nodeType="withEffect">
                                  <p:stCondLst>
                                    <p:cond delay="1700"/>
                                  </p:stCondLst>
                                  <p:childTnLst>
                                    <p:set>
                                      <p:cBhvr>
                                        <p:cTn id="122" dur="1" fill="hold">
                                          <p:stCondLst>
                                            <p:cond delay="0"/>
                                          </p:stCondLst>
                                        </p:cTn>
                                        <p:tgtEl>
                                          <p:spTgt spid="36"/>
                                        </p:tgtEl>
                                        <p:attrNameLst>
                                          <p:attrName>style.visibility</p:attrName>
                                        </p:attrNameLst>
                                      </p:cBhvr>
                                      <p:to>
                                        <p:strVal val="visible"/>
                                      </p:to>
                                    </p:set>
                                    <p:anim calcmode="lin" valueType="num">
                                      <p:cBhvr additive="base">
                                        <p:cTn id="123" dur="500" fill="hold"/>
                                        <p:tgtEl>
                                          <p:spTgt spid="36"/>
                                        </p:tgtEl>
                                        <p:attrNameLst>
                                          <p:attrName>ppt_y</p:attrName>
                                        </p:attrNameLst>
                                      </p:cBhvr>
                                      <p:tavLst>
                                        <p:tav tm="0">
                                          <p:val>
                                            <p:strVal val="#ppt_y+.06"/>
                                          </p:val>
                                        </p:tav>
                                        <p:tav tm="100000">
                                          <p:val>
                                            <p:strVal val="#ppt_y"/>
                                          </p:val>
                                        </p:tav>
                                      </p:tavLst>
                                    </p:anim>
                                    <p:animEffect transition="in" filter="fade">
                                      <p:cBhvr>
                                        <p:cTn id="124" dur="500"/>
                                        <p:tgtEl>
                                          <p:spTgt spid="36"/>
                                        </p:tgtEl>
                                      </p:cBhvr>
                                    </p:animEffect>
                                  </p:childTnLst>
                                </p:cTn>
                              </p:par>
                              <p:par>
                                <p:cTn id="129" presetID="42" presetClass="entr" presetSubtype="0" fill="hold" grpId="0" nodeType="withEffect">
                                  <p:stCondLst>
                                    <p:cond delay="1700"/>
                                  </p:stCondLst>
                                  <p:childTnLst>
                                    <p:set>
                                      <p:cBhvr>
                                        <p:cTn id="126" dur="1" fill="hold">
                                          <p:stCondLst>
                                            <p:cond delay="0"/>
                                          </p:stCondLst>
                                        </p:cTn>
                                        <p:tgtEl>
                                          <p:spTgt spid="37"/>
                                        </p:tgtEl>
                                        <p:attrNameLst>
                                          <p:attrName>style.visibility</p:attrName>
                                        </p:attrNameLst>
                                      </p:cBhvr>
                                      <p:to>
                                        <p:strVal val="visible"/>
                                      </p:to>
                                    </p:set>
                                    <p:anim calcmode="lin" valueType="num">
                                      <p:cBhvr additive="base">
                                        <p:cTn id="127" dur="500" fill="hold"/>
                                        <p:tgtEl>
                                          <p:spTgt spid="37"/>
                                        </p:tgtEl>
                                        <p:attrNameLst>
                                          <p:attrName>ppt_y</p:attrName>
                                        </p:attrNameLst>
                                      </p:cBhvr>
                                      <p:tavLst>
                                        <p:tav tm="0">
                                          <p:val>
                                            <p:strVal val="#ppt_y+.06"/>
                                          </p:val>
                                        </p:tav>
                                        <p:tav tm="100000">
                                          <p:val>
                                            <p:strVal val="#ppt_y"/>
                                          </p:val>
                                        </p:tav>
                                      </p:tavLst>
                                    </p:anim>
                                    <p:animEffect transition="in" filter="fade">
                                      <p:cBhvr>
                                        <p:cTn id="128" dur="500"/>
                                        <p:tgtEl>
                                          <p:spTgt spid="37"/>
                                        </p:tgtEl>
                                      </p:cBhvr>
                                    </p:animEffect>
                                  </p:childTnLst>
                                </p:cTn>
                              </p:par>
                              <p:par>
                                <p:cTn id="133" presetID="42" presetClass="entr" presetSubtype="0" fill="hold" grpId="0" nodeType="withEffect">
                                  <p:stCondLst>
                                    <p:cond delay="1700"/>
                                  </p:stCondLst>
                                  <p:childTnLst>
                                    <p:set>
                                      <p:cBhvr>
                                        <p:cTn id="130" dur="1" fill="hold">
                                          <p:stCondLst>
                                            <p:cond delay="0"/>
                                          </p:stCondLst>
                                        </p:cTn>
                                        <p:tgtEl>
                                          <p:spTgt spid="38"/>
                                        </p:tgtEl>
                                        <p:attrNameLst>
                                          <p:attrName>style.visibility</p:attrName>
                                        </p:attrNameLst>
                                      </p:cBhvr>
                                      <p:to>
                                        <p:strVal val="visible"/>
                                      </p:to>
                                    </p:set>
                                    <p:anim calcmode="lin" valueType="num">
                                      <p:cBhvr additive="base">
                                        <p:cTn id="131" dur="500" fill="hold"/>
                                        <p:tgtEl>
                                          <p:spTgt spid="38"/>
                                        </p:tgtEl>
                                        <p:attrNameLst>
                                          <p:attrName>ppt_y</p:attrName>
                                        </p:attrNameLst>
                                      </p:cBhvr>
                                      <p:tavLst>
                                        <p:tav tm="0">
                                          <p:val>
                                            <p:strVal val="#ppt_y+.06"/>
                                          </p:val>
                                        </p:tav>
                                        <p:tav tm="100000">
                                          <p:val>
                                            <p:strVal val="#ppt_y"/>
                                          </p:val>
                                        </p:tav>
                                      </p:tavLst>
                                    </p:anim>
                                    <p:animEffect transition="in" filter="fade">
                                      <p:cBhvr>
                                        <p:cTn id="132" dur="500"/>
                                        <p:tgtEl>
                                          <p:spTgt spid="38"/>
                                        </p:tgtEl>
                                      </p:cBhvr>
                                    </p:animEffect>
                                  </p:childTnLst>
                                </p:cTn>
                              </p:par>
                              <p:par>
                                <p:cTn id="137" presetID="42" presetClass="entr" presetSubtype="0" fill="hold" grpId="0" nodeType="withEffect">
                                  <p:stCondLst>
                                    <p:cond delay="1700"/>
                                  </p:stCondLst>
                                  <p:childTnLst>
                                    <p:set>
                                      <p:cBhvr>
                                        <p:cTn id="134" dur="1" fill="hold">
                                          <p:stCondLst>
                                            <p:cond delay="0"/>
                                          </p:stCondLst>
                                        </p:cTn>
                                        <p:tgtEl>
                                          <p:spTgt spid="39"/>
                                        </p:tgtEl>
                                        <p:attrNameLst>
                                          <p:attrName>style.visibility</p:attrName>
                                        </p:attrNameLst>
                                      </p:cBhvr>
                                      <p:to>
                                        <p:strVal val="visible"/>
                                      </p:to>
                                    </p:set>
                                    <p:anim calcmode="lin" valueType="num">
                                      <p:cBhvr additive="base">
                                        <p:cTn id="135" dur="500" fill="hold"/>
                                        <p:tgtEl>
                                          <p:spTgt spid="39"/>
                                        </p:tgtEl>
                                        <p:attrNameLst>
                                          <p:attrName>ppt_y</p:attrName>
                                        </p:attrNameLst>
                                      </p:cBhvr>
                                      <p:tavLst>
                                        <p:tav tm="0">
                                          <p:val>
                                            <p:strVal val="#ppt_y+.06"/>
                                          </p:val>
                                        </p:tav>
                                        <p:tav tm="100000">
                                          <p:val>
                                            <p:strVal val="#ppt_y"/>
                                          </p:val>
                                        </p:tav>
                                      </p:tavLst>
                                    </p:anim>
                                    <p:animEffect transition="in" filter="fade">
                                      <p:cBhvr>
                                        <p:cTn id="136" dur="500"/>
                                        <p:tgtEl>
                                          <p:spTgt spid="39"/>
                                        </p:tgtEl>
                                      </p:cBhvr>
                                    </p:animEffect>
                                  </p:childTnLst>
                                </p:cTn>
                              </p:par>
                              <p:par>
                                <p:cTn id="141" presetID="42" presetClass="entr" presetSubtype="0" fill="hold" grpId="0" nodeType="withEffect">
                                  <p:stCondLst>
                                    <p:cond delay="2300"/>
                                  </p:stCondLst>
                                  <p:childTnLst>
                                    <p:set>
                                      <p:cBhvr>
                                        <p:cTn id="138" dur="1" fill="hold">
                                          <p:stCondLst>
                                            <p:cond delay="0"/>
                                          </p:stCondLst>
                                        </p:cTn>
                                        <p:tgtEl>
                                          <p:spTgt spid="40"/>
                                        </p:tgtEl>
                                        <p:attrNameLst>
                                          <p:attrName>style.visibility</p:attrName>
                                        </p:attrNameLst>
                                      </p:cBhvr>
                                      <p:to>
                                        <p:strVal val="visible"/>
                                      </p:to>
                                    </p:set>
                                    <p:anim calcmode="lin" valueType="num">
                                      <p:cBhvr additive="base">
                                        <p:cTn id="139" dur="500" fill="hold"/>
                                        <p:tgtEl>
                                          <p:spTgt spid="40"/>
                                        </p:tgtEl>
                                        <p:attrNameLst>
                                          <p:attrName>ppt_y</p:attrName>
                                        </p:attrNameLst>
                                      </p:cBhvr>
                                      <p:tavLst>
                                        <p:tav tm="0">
                                          <p:val>
                                            <p:strVal val="#ppt_y+.06"/>
                                          </p:val>
                                        </p:tav>
                                        <p:tav tm="100000">
                                          <p:val>
                                            <p:strVal val="#ppt_y"/>
                                          </p:val>
                                        </p:tav>
                                      </p:tavLst>
                                    </p:anim>
                                    <p:animEffect transition="in" filter="fade">
                                      <p:cBhvr>
                                        <p:cTn id="140" dur="500"/>
                                        <p:tgtEl>
                                          <p:spTgt spid="40"/>
                                        </p:tgtEl>
                                      </p:cBhvr>
                                    </p:animEffect>
                                  </p:childTnLst>
                                </p:cTn>
                              </p:par>
                              <p:par>
                                <p:cTn id="145" presetID="42" presetClass="entr" presetSubtype="0" fill="hold" grpId="0" nodeType="withEffect">
                                  <p:stCondLst>
                                    <p:cond delay="2300"/>
                                  </p:stCondLst>
                                  <p:childTnLst>
                                    <p:set>
                                      <p:cBhvr>
                                        <p:cTn id="142" dur="1" fill="hold">
                                          <p:stCondLst>
                                            <p:cond delay="0"/>
                                          </p:stCondLst>
                                        </p:cTn>
                                        <p:tgtEl>
                                          <p:spTgt spid="41"/>
                                        </p:tgtEl>
                                        <p:attrNameLst>
                                          <p:attrName>style.visibility</p:attrName>
                                        </p:attrNameLst>
                                      </p:cBhvr>
                                      <p:to>
                                        <p:strVal val="visible"/>
                                      </p:to>
                                    </p:set>
                                    <p:anim calcmode="lin" valueType="num">
                                      <p:cBhvr additive="base">
                                        <p:cTn id="143" dur="500" fill="hold"/>
                                        <p:tgtEl>
                                          <p:spTgt spid="41"/>
                                        </p:tgtEl>
                                        <p:attrNameLst>
                                          <p:attrName>ppt_y</p:attrName>
                                        </p:attrNameLst>
                                      </p:cBhvr>
                                      <p:tavLst>
                                        <p:tav tm="0">
                                          <p:val>
                                            <p:strVal val="#ppt_y+.06"/>
                                          </p:val>
                                        </p:tav>
                                        <p:tav tm="100000">
                                          <p:val>
                                            <p:strVal val="#ppt_y"/>
                                          </p:val>
                                        </p:tav>
                                      </p:tavLst>
                                    </p:anim>
                                    <p:animEffect transition="in" filter="fade">
                                      <p:cBhvr>
                                        <p:cTn id="144" dur="500"/>
                                        <p:tgtEl>
                                          <p:spTgt spid="41"/>
                                        </p:tgtEl>
                                      </p:cBhvr>
                                    </p:animEffect>
                                  </p:childTnLst>
                                </p:cTn>
                              </p:par>
                              <p:par>
                                <p:cTn id="149" presetID="42" presetClass="entr" presetSubtype="0" fill="hold" grpId="0" nodeType="withEffect">
                                  <p:stCondLst>
                                    <p:cond delay="2300"/>
                                  </p:stCondLst>
                                  <p:childTnLst>
                                    <p:set>
                                      <p:cBhvr>
                                        <p:cTn id="146" dur="1" fill="hold">
                                          <p:stCondLst>
                                            <p:cond delay="0"/>
                                          </p:stCondLst>
                                        </p:cTn>
                                        <p:tgtEl>
                                          <p:spTgt spid="42"/>
                                        </p:tgtEl>
                                        <p:attrNameLst>
                                          <p:attrName>style.visibility</p:attrName>
                                        </p:attrNameLst>
                                      </p:cBhvr>
                                      <p:to>
                                        <p:strVal val="visible"/>
                                      </p:to>
                                    </p:set>
                                    <p:anim calcmode="lin" valueType="num">
                                      <p:cBhvr additive="base">
                                        <p:cTn id="147" dur="500" fill="hold"/>
                                        <p:tgtEl>
                                          <p:spTgt spid="42"/>
                                        </p:tgtEl>
                                        <p:attrNameLst>
                                          <p:attrName>ppt_y</p:attrName>
                                        </p:attrNameLst>
                                      </p:cBhvr>
                                      <p:tavLst>
                                        <p:tav tm="0">
                                          <p:val>
                                            <p:strVal val="#ppt_y+.06"/>
                                          </p:val>
                                        </p:tav>
                                        <p:tav tm="100000">
                                          <p:val>
                                            <p:strVal val="#ppt_y"/>
                                          </p:val>
                                        </p:tav>
                                      </p:tavLst>
                                    </p:anim>
                                    <p:animEffect transition="in" filter="fade">
                                      <p:cBhvr>
                                        <p:cTn id="148" dur="500"/>
                                        <p:tgtEl>
                                          <p:spTgt spid="42"/>
                                        </p:tgtEl>
                                      </p:cBhvr>
                                    </p:animEffect>
                                  </p:childTnLst>
                                </p:cTn>
                              </p:par>
                              <p:par>
                                <p:cTn id="152" presetID="10" presetClass="entr" presetSubtype="0" fill="hold" grpId="0" nodeType="withEffect">
                                  <p:stCondLst>
                                    <p:cond delay="3600"/>
                                  </p:stCondLst>
                                  <p:childTnLst>
                                    <p:set>
                                      <p:cBhvr>
                                        <p:cTn id="150" dur="1" fill="hold">
                                          <p:stCondLst>
                                            <p:cond delay="0"/>
                                          </p:stCondLst>
                                        </p:cTn>
                                        <p:tgtEl>
                                          <p:spTgt spid="43"/>
                                        </p:tgtEl>
                                        <p:attrNameLst>
                                          <p:attrName>style.visibility</p:attrName>
                                        </p:attrNameLst>
                                      </p:cBhvr>
                                      <p:to>
                                        <p:strVal val="visible"/>
                                      </p:to>
                                    </p:set>
                                    <p:animEffect transition="in" filter="fade">
                                      <p:cBhvr>
                                        <p:cTn id="151" dur="600"/>
                                        <p:tgtEl>
                                          <p:spTgt spid="43"/>
                                        </p:tgtEl>
                                      </p:cBhvr>
                                    </p:animEffect>
                                  </p:childTnLst>
                                </p:cTn>
                              </p:par>
                              <p:par>
                                <p:cTn id="155" presetID="10" presetClass="entr" presetSubtype="0" fill="hold" grpId="0" nodeType="withEffect">
                                  <p:stCondLst>
                                    <p:cond delay="3600"/>
                                  </p:stCondLst>
                                  <p:childTnLst>
                                    <p:set>
                                      <p:cBhvr>
                                        <p:cTn id="153" dur="1" fill="hold">
                                          <p:stCondLst>
                                            <p:cond delay="0"/>
                                          </p:stCondLst>
                                        </p:cTn>
                                        <p:tgtEl>
                                          <p:spTgt spid="44"/>
                                        </p:tgtEl>
                                        <p:attrNameLst>
                                          <p:attrName>style.visibility</p:attrName>
                                        </p:attrNameLst>
                                      </p:cBhvr>
                                      <p:to>
                                        <p:strVal val="visible"/>
                                      </p:to>
                                    </p:set>
                                    <p:animEffect transition="in" filter="fade">
                                      <p:cBhvr>
                                        <p:cTn id="154" dur="600"/>
                                        <p:tgtEl>
                                          <p:spTgt spid="44"/>
                                        </p:tgtEl>
                                      </p:cBhvr>
                                    </p:animEffect>
                                  </p:childTnLst>
                                </p:cTn>
                              </p:par>
                              <p:par>
                                <p:cTn id="158" presetID="10" presetClass="entr" presetSubtype="0" fill="hold" nodeType="withEffect">
                                  <p:stCondLst>
                                    <p:cond delay="3600"/>
                                  </p:stCondLst>
                                  <p:childTnLst>
                                    <p:set>
                                      <p:cBhvr>
                                        <p:cTn id="156" dur="1" fill="hold">
                                          <p:stCondLst>
                                            <p:cond delay="0"/>
                                          </p:stCondLst>
                                        </p:cTn>
                                        <p:tgtEl>
                                          <p:spTgt spid="45"/>
                                        </p:tgtEl>
                                        <p:attrNameLst>
                                          <p:attrName>style.visibility</p:attrName>
                                        </p:attrNameLst>
                                      </p:cBhvr>
                                      <p:to>
                                        <p:strVal val="visible"/>
                                      </p:to>
                                    </p:set>
                                    <p:animEffect transition="in" filter="fade">
                                      <p:cBhvr>
                                        <p:cTn id="157" dur="600"/>
                                        <p:tgtEl>
                                          <p:spTgt spid="45"/>
                                        </p:tgtEl>
                                      </p:cBhvr>
                                    </p:animEffect>
                                  </p:childTnLst>
                                </p:cTn>
                              </p:par>
                              <p:par>
                                <p:cTn id="161" presetID="10" presetClass="entr" presetSubtype="0" fill="hold" nodeType="withEffect">
                                  <p:stCondLst>
                                    <p:cond delay="3600"/>
                                  </p:stCondLst>
                                  <p:childTnLst>
                                    <p:set>
                                      <p:cBhvr>
                                        <p:cTn id="159" dur="1" fill="hold">
                                          <p:stCondLst>
                                            <p:cond delay="0"/>
                                          </p:stCondLst>
                                        </p:cTn>
                                        <p:tgtEl>
                                          <p:spTgt spid="46"/>
                                        </p:tgtEl>
                                        <p:attrNameLst>
                                          <p:attrName>style.visibility</p:attrName>
                                        </p:attrNameLst>
                                      </p:cBhvr>
                                      <p:to>
                                        <p:strVal val="visible"/>
                                      </p:to>
                                    </p:set>
                                    <p:animEffect transition="in" filter="fade">
                                      <p:cBhvr>
                                        <p:cTn id="160" dur="600"/>
                                        <p:tgtEl>
                                          <p:spTgt spid="46"/>
                                        </p:tgtEl>
                                      </p:cBhvr>
                                    </p:animEffect>
                                  </p:childTnLst>
                                </p:cTn>
                              </p:par>
                              <p:par>
                                <p:cTn id="164" presetID="10" presetClass="entr" presetSubtype="0" fill="hold" nodeType="withEffect">
                                  <p:stCondLst>
                                    <p:cond delay="4100"/>
                                  </p:stCondLst>
                                  <p:childTnLst>
                                    <p:set>
                                      <p:cBhvr>
                                        <p:cTn id="162" dur="1" fill="hold">
                                          <p:stCondLst>
                                            <p:cond delay="0"/>
                                          </p:stCondLst>
                                        </p:cTn>
                                        <p:tgtEl>
                                          <p:spTgt spid="47"/>
                                        </p:tgtEl>
                                        <p:attrNameLst>
                                          <p:attrName>style.visibility</p:attrName>
                                        </p:attrNameLst>
                                      </p:cBhvr>
                                      <p:to>
                                        <p:strVal val="visible"/>
                                      </p:to>
                                    </p:set>
                                    <p:animEffect transition="in" filter="fade">
                                      <p:cBhvr>
                                        <p:cTn id="163" dur="600"/>
                                        <p:tgtEl>
                                          <p:spTgt spid="47"/>
                                        </p:tgtEl>
                                      </p:cBhvr>
                                    </p:animEffect>
                                  </p:childTnLst>
                                </p:cTn>
                              </p:par>
                              <p:par>
                                <p:cTn id="167" presetID="10" presetClass="entr" presetSubtype="0" fill="hold" nodeType="withEffect">
                                  <p:stCondLst>
                                    <p:cond delay="4100"/>
                                  </p:stCondLst>
                                  <p:childTnLst>
                                    <p:set>
                                      <p:cBhvr>
                                        <p:cTn id="165" dur="1" fill="hold">
                                          <p:stCondLst>
                                            <p:cond delay="0"/>
                                          </p:stCondLst>
                                        </p:cTn>
                                        <p:tgtEl>
                                          <p:spTgt spid="48"/>
                                        </p:tgtEl>
                                        <p:attrNameLst>
                                          <p:attrName>style.visibility</p:attrName>
                                        </p:attrNameLst>
                                      </p:cBhvr>
                                      <p:to>
                                        <p:strVal val="visible"/>
                                      </p:to>
                                    </p:set>
                                    <p:animEffect transition="in" filter="fade">
                                      <p:cBhvr>
                                        <p:cTn id="166" dur="600"/>
                                        <p:tgtEl>
                                          <p:spTgt spid="48"/>
                                        </p:tgtEl>
                                      </p:cBhvr>
                                    </p:animEffect>
                                  </p:childTnLst>
                                </p:cTn>
                              </p:par>
                              <p:par>
                                <p:cTn id="170" presetID="10" presetClass="entr" presetSubtype="0" fill="hold" nodeType="withEffect">
                                  <p:stCondLst>
                                    <p:cond delay="4100"/>
                                  </p:stCondLst>
                                  <p:childTnLst>
                                    <p:set>
                                      <p:cBhvr>
                                        <p:cTn id="168" dur="1" fill="hold">
                                          <p:stCondLst>
                                            <p:cond delay="0"/>
                                          </p:stCondLst>
                                        </p:cTn>
                                        <p:tgtEl>
                                          <p:spTgt spid="49"/>
                                        </p:tgtEl>
                                        <p:attrNameLst>
                                          <p:attrName>style.visibility</p:attrName>
                                        </p:attrNameLst>
                                      </p:cBhvr>
                                      <p:to>
                                        <p:strVal val="visible"/>
                                      </p:to>
                                    </p:set>
                                    <p:animEffect transition="in" filter="fade">
                                      <p:cBhvr>
                                        <p:cTn id="169" dur="600"/>
                                        <p:tgtEl>
                                          <p:spTgt spid="49"/>
                                        </p:tgtEl>
                                      </p:cBhvr>
                                    </p:animEffect>
                                  </p:childTnLst>
                                </p:cTn>
                              </p:par>
                              <p:par>
                                <p:cTn id="173" presetID="10" presetClass="entr" presetSubtype="0" fill="hold" nodeType="withEffect">
                                  <p:stCondLst>
                                    <p:cond delay="4100"/>
                                  </p:stCondLst>
                                  <p:childTnLst>
                                    <p:set>
                                      <p:cBhvr>
                                        <p:cTn id="171" dur="1" fill="hold">
                                          <p:stCondLst>
                                            <p:cond delay="0"/>
                                          </p:stCondLst>
                                        </p:cTn>
                                        <p:tgtEl>
                                          <p:spTgt spid="50"/>
                                        </p:tgtEl>
                                        <p:attrNameLst>
                                          <p:attrName>style.visibility</p:attrName>
                                        </p:attrNameLst>
                                      </p:cBhvr>
                                      <p:to>
                                        <p:strVal val="visible"/>
                                      </p:to>
                                    </p:set>
                                    <p:animEffect transition="in" filter="fade">
                                      <p:cBhvr>
                                        <p:cTn id="172" dur="6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54" grpId="0" animBg="1"/>
      <p:bldP spid="55" grpId="0" animBg="1"/>
      <p:bldP spid="56" grpId="0" animBg="1"/>
      <p:bldP spid="57" grpId="0" animBg="1"/>
      <p:bldP spid="58" grpId="0" animBg="1"/>
      <p:bldP spid="59" grpId="0" animBg="1"/>
      <p:bldP spid="9" grpId="0" animBg="1"/>
      <p:bldP spid="10" grpId="0" animBg="1"/>
      <p:bldP spid="11" grpId="0" animBg="1"/>
      <p:bldP spid="12" grpId="0" animBg="1"/>
      <p:bldP spid="13" grpId="0" animBg="1"/>
      <p:bldP spid="53" grpId="0" animBg="1"/>
      <p:bldP spid="24" grpId="0" animBg="1"/>
      <p:bldP spid="25" grpId="0" animBg="1"/>
      <p:bldP spid="26" grpId="0" animBg="1"/>
      <p:bldP spid="27"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640080" y="457200"/>
            <a:ext cx="8229600" cy="237744"/>
          </a:xfrm>
          <a:prstGeom prst="rect">
            <a:avLst/>
          </a:prstGeom>
          <a:noFill/>
          <a:ln/>
        </p:spPr>
        <p:txBody>
          <a:bodyPr wrap="square" lIns="0" tIns="0" rIns="0" bIns="0" rtlCol="0" anchor="t"/>
          <a:lstStyle/>
          <a:p>
            <a:pPr algn="l" indent="0" marL="0">
              <a:buNone/>
            </a:pPr>
            <a:r>
              <a:rPr lang="en-US" sz="1000" spc="250" kern="0" dirty="0">
                <a:solidFill>
                  <a:schemeClr val="accent5"/>
                </a:solidFill>
                <a:latin typeface="Segoe UI Semibold" pitchFamily="34" charset="0"/>
                <a:ea typeface="Segoe UI Semibold" pitchFamily="34" charset="-122"/>
                <a:cs typeface="Segoe UI Semibold" pitchFamily="34" charset="-120"/>
              </a:rPr>
              <a:t>05  —  TECHNOLOGY AND SYSTEM ARCHITECTURE</a:t>
            </a:r>
            <a:endParaRPr lang="en-US" sz="1000" dirty="0"/>
          </a:p>
        </p:txBody>
      </p:sp>
      <p:sp>
        <p:nvSpPr>
          <p:cNvPr id="3" name="Text 1"/>
          <p:cNvSpPr/>
          <p:nvPr>
            <p:ph idx="103" type="title" hasCustomPrompt="1"/>
          </p:nvPr>
        </p:nvSpPr>
        <p:spPr>
          <a:xfrm>
            <a:off x="640080" y="749808"/>
            <a:ext cx="10911535" cy="1051560"/>
          </a:xfrm>
          <a:prstGeom prst="rect">
            <a:avLst/>
          </a:prstGeom>
          <a:noFill/>
          <a:ln/>
        </p:spPr>
        <p:txBody>
          <a:bodyPr wrap="square" lIns="0" tIns="0" rIns="0" bIns="0" rtlCol="0" anchor="t"/>
          <a:lstStyle/>
          <a:p>
            <a:pPr algn="l" indent="0" marL="0">
              <a:buNone/>
            </a:pPr>
            <a:r>
              <a:rPr lang="en-US" sz="3400" dirty="0">
                <a:solidFill>
                  <a:schemeClr val="tx1"/>
                </a:solidFill>
              </a:rPr>
              <a:t>Deterministic Intelligence. Explainable Outcomes</a:t>
            </a:r>
            <a:endParaRPr lang="en-US" sz="3400" dirty="0"/>
          </a:p>
        </p:txBody>
      </p:sp>
      <p:sp>
        <p:nvSpPr>
          <p:cNvPr id="4" name="spine_1"/>
          <p:cNvSpPr/>
          <p:nvPr/>
        </p:nvSpPr>
        <p:spPr>
          <a:xfrm>
            <a:off x="896112" y="2121408"/>
            <a:ext cx="0" cy="3383280"/>
          </a:xfrm>
          <a:prstGeom prst="line">
            <a:avLst/>
          </a:prstGeom>
          <a:noFill/>
          <a:ln w="15875">
            <a:solidFill>
              <a:srgbClr val="B8B1A0"/>
            </a:solidFill>
            <a:prstDash val="solid"/>
          </a:ln>
        </p:spPr>
        <p:txBody>
          <a:bodyPr/>
          <a:p/>
        </p:txBody>
      </p:sp>
      <p:sp>
        <p:nvSpPr>
          <p:cNvPr id="5" name="L0_2"/>
          <p:cNvSpPr/>
          <p:nvPr/>
        </p:nvSpPr>
        <p:spPr>
          <a:xfrm>
            <a:off x="758952" y="1984248"/>
            <a:ext cx="274320" cy="274320"/>
          </a:xfrm>
          <a:prstGeom prst="ellipse">
            <a:avLst/>
          </a:prstGeom>
          <a:solidFill>
            <a:srgbClr val="FFFFFF"/>
          </a:solidFill>
          <a:ln w="15875">
            <a:solidFill>
              <a:srgbClr val="B8B1A0"/>
            </a:solidFill>
            <a:prstDash val="solid"/>
          </a:ln>
        </p:spPr>
        <p:txBody>
          <a:bodyPr/>
          <a:p/>
        </p:txBody>
      </p:sp>
      <p:sp>
        <p:nvSpPr>
          <p:cNvPr id="6" name="L0_3"/>
          <p:cNvSpPr txBox="1"/>
          <p:nvPr/>
        </p:nvSpPr>
        <p:spPr>
          <a:xfrm>
            <a:off x="758952" y="1984248"/>
            <a:ext cx="274320" cy="274320"/>
          </a:xfrm>
          <a:prstGeom prst="rect">
            <a:avLst/>
          </a:prstGeom>
          <a:noFill/>
          <a:ln/>
        </p:spPr>
        <p:txBody>
          <a:bodyPr wrap="square" lIns="0" tIns="0" rIns="0" bIns="0" rtlCol="0" anchor="ctr"/>
          <a:lstStyle/>
          <a:p>
            <a:pPr algn="ctr" indent="0" marL="0">
              <a:buNone/>
            </a:pPr>
            <a:r>
              <a:rPr lang="en-US" sz="1100" dirty="0">
                <a:solidFill>
                  <a:schemeClr val="tx1"/>
                </a:solidFill>
                <a:latin typeface="Segoe UI Semibold" pitchFamily="34" charset="0"/>
                <a:ea typeface="Segoe UI Semibold" pitchFamily="34" charset="-122"/>
                <a:cs typeface="Segoe UI Semibold" pitchFamily="34" charset="-120"/>
              </a:rPr>
              <a:t>1</a:t>
            </a:r>
            <a:endParaRPr lang="en-US" sz="1100" dirty="0"/>
          </a:p>
        </p:txBody>
      </p:sp>
      <p:sp>
        <p:nvSpPr>
          <p:cNvPr id="7" name="L0_4"/>
          <p:cNvSpPr txBox="1"/>
          <p:nvPr/>
        </p:nvSpPr>
        <p:spPr>
          <a:xfrm>
            <a:off x="1280160" y="1819656"/>
            <a:ext cx="1920240" cy="603504"/>
          </a:xfrm>
          <a:prstGeom prst="rect">
            <a:avLst/>
          </a:prstGeom>
          <a:noFill/>
          <a:ln/>
        </p:spPr>
        <p:txBody>
          <a:bodyPr wrap="square" lIns="0" tIns="0" rIns="0" bIns="0" rtlCol="0" anchor="ct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Citizen app</a:t>
            </a:r>
            <a:endParaRPr lang="en-US" sz="1400" dirty="0"/>
          </a:p>
        </p:txBody>
      </p:sp>
      <p:sp>
        <p:nvSpPr>
          <p:cNvPr id="8" name="L0_5"/>
          <p:cNvSpPr txBox="1"/>
          <p:nvPr/>
        </p:nvSpPr>
        <p:spPr>
          <a:xfrm>
            <a:off x="3337560" y="1819656"/>
            <a:ext cx="4114800" cy="603504"/>
          </a:xfrm>
          <a:prstGeom prst="rect">
            <a:avLst/>
          </a:prstGeom>
          <a:noFill/>
          <a:ln/>
        </p:spPr>
        <p:txBody>
          <a:bodyPr wrap="square" lIns="0" tIns="0" rIns="0" bIns="0" rtlCol="0" anchor="ctr"/>
          <a:lstStyle/>
          <a:p>
            <a:pPr indent="0" marL="0">
              <a:buNone/>
            </a:pPr>
            <a:r>
              <a:rPr lang="en-US" sz="1200" dirty="0">
                <a:solidFill>
                  <a:srgbClr val="4A3F66"/>
                </a:solidFill>
              </a:rPr>
              <a:t>Expo (React Native) Android app on Google Maps; English, Hindi, Marathi</a:t>
            </a:r>
            <a:endParaRPr lang="en-US" sz="1200" dirty="0"/>
          </a:p>
        </p:txBody>
      </p:sp>
      <p:sp>
        <p:nvSpPr>
          <p:cNvPr id="9" name="L1_6"/>
          <p:cNvSpPr/>
          <p:nvPr/>
        </p:nvSpPr>
        <p:spPr>
          <a:xfrm>
            <a:off x="1188720" y="2459736"/>
            <a:ext cx="6446520" cy="0"/>
          </a:xfrm>
          <a:prstGeom prst="line">
            <a:avLst/>
          </a:prstGeom>
          <a:noFill/>
          <a:ln w="9525">
            <a:solidFill>
              <a:srgbClr val="D6D0C2"/>
            </a:solidFill>
            <a:prstDash val="solid"/>
          </a:ln>
        </p:spPr>
        <p:txBody>
          <a:bodyPr/>
          <a:p/>
        </p:txBody>
      </p:sp>
      <p:sp>
        <p:nvSpPr>
          <p:cNvPr id="10" name="L1_7"/>
          <p:cNvSpPr/>
          <p:nvPr/>
        </p:nvSpPr>
        <p:spPr>
          <a:xfrm>
            <a:off x="758952" y="2660904"/>
            <a:ext cx="274320" cy="274320"/>
          </a:xfrm>
          <a:prstGeom prst="ellipse">
            <a:avLst/>
          </a:prstGeom>
          <a:solidFill>
            <a:srgbClr val="FFFFFF"/>
          </a:solidFill>
          <a:ln w="15875">
            <a:solidFill>
              <a:srgbClr val="B8B1A0"/>
            </a:solidFill>
            <a:prstDash val="solid"/>
          </a:ln>
        </p:spPr>
        <p:txBody>
          <a:bodyPr/>
          <a:p/>
        </p:txBody>
      </p:sp>
      <p:sp>
        <p:nvSpPr>
          <p:cNvPr id="11" name="L1_8"/>
          <p:cNvSpPr txBox="1"/>
          <p:nvPr/>
        </p:nvSpPr>
        <p:spPr>
          <a:xfrm>
            <a:off x="758952" y="2660904"/>
            <a:ext cx="274320" cy="274320"/>
          </a:xfrm>
          <a:prstGeom prst="rect">
            <a:avLst/>
          </a:prstGeom>
          <a:noFill/>
          <a:ln/>
        </p:spPr>
        <p:txBody>
          <a:bodyPr wrap="square" lIns="0" tIns="0" rIns="0" bIns="0" rtlCol="0" anchor="ctr"/>
          <a:lstStyle/>
          <a:p>
            <a:pPr algn="ctr" indent="0" marL="0">
              <a:buNone/>
            </a:pPr>
            <a:r>
              <a:rPr lang="en-US" sz="1100" dirty="0">
                <a:solidFill>
                  <a:schemeClr val="tx1"/>
                </a:solidFill>
                <a:latin typeface="Segoe UI Semibold" pitchFamily="34" charset="0"/>
                <a:ea typeface="Segoe UI Semibold" pitchFamily="34" charset="-122"/>
                <a:cs typeface="Segoe UI Semibold" pitchFamily="34" charset="-120"/>
              </a:rPr>
              <a:t>2</a:t>
            </a:r>
            <a:endParaRPr lang="en-US" sz="1100" dirty="0"/>
          </a:p>
        </p:txBody>
      </p:sp>
      <p:sp>
        <p:nvSpPr>
          <p:cNvPr id="12" name="L1_9"/>
          <p:cNvSpPr txBox="1"/>
          <p:nvPr/>
        </p:nvSpPr>
        <p:spPr>
          <a:xfrm>
            <a:off x="1280160" y="2496312"/>
            <a:ext cx="1920240" cy="603504"/>
          </a:xfrm>
          <a:prstGeom prst="rect">
            <a:avLst/>
          </a:prstGeom>
          <a:noFill/>
          <a:ln/>
        </p:spPr>
        <p:txBody>
          <a:bodyPr wrap="square" lIns="0" tIns="0" rIns="0" bIns="0" rtlCol="0" anchor="ct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Control room</a:t>
            </a:r>
            <a:endParaRPr lang="en-US" sz="1400" dirty="0"/>
          </a:p>
        </p:txBody>
      </p:sp>
      <p:sp>
        <p:nvSpPr>
          <p:cNvPr id="13" name="L1_10"/>
          <p:cNvSpPr txBox="1"/>
          <p:nvPr/>
        </p:nvSpPr>
        <p:spPr>
          <a:xfrm>
            <a:off x="3337560" y="2496312"/>
            <a:ext cx="4114800" cy="603504"/>
          </a:xfrm>
          <a:prstGeom prst="rect">
            <a:avLst/>
          </a:prstGeom>
          <a:noFill/>
          <a:ln/>
        </p:spPr>
        <p:txBody>
          <a:bodyPr wrap="square" lIns="0" tIns="0" rIns="0" bIns="0" rtlCol="0" anchor="ctr"/>
          <a:lstStyle/>
          <a:p>
            <a:pPr indent="0" marL="0">
              <a:buNone/>
            </a:pPr>
            <a:r>
              <a:rPr lang="en-US" sz="1200" dirty="0">
                <a:solidFill>
                  <a:srgbClr val="4A3F66"/>
                </a:solidFill>
              </a:rPr>
              <a:t>Next.js web console: verify reports, run the simulation, receipts, judge QR</a:t>
            </a:r>
            <a:endParaRPr lang="en-US" sz="1200" dirty="0"/>
          </a:p>
        </p:txBody>
      </p:sp>
      <p:sp>
        <p:nvSpPr>
          <p:cNvPr id="14" name="L2_11"/>
          <p:cNvSpPr/>
          <p:nvPr/>
        </p:nvSpPr>
        <p:spPr>
          <a:xfrm>
            <a:off x="1188720" y="3136392"/>
            <a:ext cx="6446520" cy="0"/>
          </a:xfrm>
          <a:prstGeom prst="line">
            <a:avLst/>
          </a:prstGeom>
          <a:noFill/>
          <a:ln w="9525">
            <a:solidFill>
              <a:srgbClr val="D6D0C2"/>
            </a:solidFill>
            <a:prstDash val="solid"/>
          </a:ln>
        </p:spPr>
        <p:txBody>
          <a:bodyPr/>
          <a:p/>
        </p:txBody>
      </p:sp>
      <p:sp>
        <p:nvSpPr>
          <p:cNvPr id="15" name="L2_12"/>
          <p:cNvSpPr/>
          <p:nvPr/>
        </p:nvSpPr>
        <p:spPr>
          <a:xfrm>
            <a:off x="758952" y="3337560"/>
            <a:ext cx="274320" cy="274320"/>
          </a:xfrm>
          <a:prstGeom prst="ellipse">
            <a:avLst/>
          </a:prstGeom>
          <a:solidFill>
            <a:srgbClr val="FFFFFF"/>
          </a:solidFill>
          <a:ln w="15875">
            <a:solidFill>
              <a:srgbClr val="B8B1A0"/>
            </a:solidFill>
            <a:prstDash val="solid"/>
          </a:ln>
        </p:spPr>
        <p:txBody>
          <a:bodyPr/>
          <a:p/>
        </p:txBody>
      </p:sp>
      <p:sp>
        <p:nvSpPr>
          <p:cNvPr id="16" name="L2_13"/>
          <p:cNvSpPr txBox="1"/>
          <p:nvPr/>
        </p:nvSpPr>
        <p:spPr>
          <a:xfrm>
            <a:off x="758952" y="3337560"/>
            <a:ext cx="274320" cy="274320"/>
          </a:xfrm>
          <a:prstGeom prst="rect">
            <a:avLst/>
          </a:prstGeom>
          <a:noFill/>
          <a:ln/>
        </p:spPr>
        <p:txBody>
          <a:bodyPr wrap="square" lIns="0" tIns="0" rIns="0" bIns="0" rtlCol="0" anchor="ctr"/>
          <a:lstStyle/>
          <a:p>
            <a:pPr algn="ctr" indent="0" marL="0">
              <a:buNone/>
            </a:pPr>
            <a:r>
              <a:rPr lang="en-US" sz="1100" dirty="0">
                <a:solidFill>
                  <a:schemeClr val="tx1"/>
                </a:solidFill>
                <a:latin typeface="Segoe UI Semibold" pitchFamily="34" charset="0"/>
                <a:ea typeface="Segoe UI Semibold" pitchFamily="34" charset="-122"/>
                <a:cs typeface="Segoe UI Semibold" pitchFamily="34" charset="-120"/>
              </a:rPr>
              <a:t>3</a:t>
            </a:r>
            <a:endParaRPr lang="en-US" sz="1100" dirty="0"/>
          </a:p>
        </p:txBody>
      </p:sp>
      <p:sp>
        <p:nvSpPr>
          <p:cNvPr id="17" name="L2_14"/>
          <p:cNvSpPr txBox="1"/>
          <p:nvPr/>
        </p:nvSpPr>
        <p:spPr>
          <a:xfrm>
            <a:off x="1280160" y="3172968"/>
            <a:ext cx="1920240" cy="603504"/>
          </a:xfrm>
          <a:prstGeom prst="rect">
            <a:avLst/>
          </a:prstGeom>
          <a:noFill/>
          <a:ln/>
        </p:spPr>
        <p:txBody>
          <a:bodyPr wrap="square" lIns="0" tIns="0" rIns="0" bIns="0" rtlCol="0" anchor="ct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API and data</a:t>
            </a:r>
            <a:endParaRPr lang="en-US" sz="1400" dirty="0"/>
          </a:p>
        </p:txBody>
      </p:sp>
      <p:sp>
        <p:nvSpPr>
          <p:cNvPr id="18" name="L2_15"/>
          <p:cNvSpPr txBox="1"/>
          <p:nvPr/>
        </p:nvSpPr>
        <p:spPr>
          <a:xfrm>
            <a:off x="3337560" y="3172968"/>
            <a:ext cx="4114800" cy="603504"/>
          </a:xfrm>
          <a:prstGeom prst="rect">
            <a:avLst/>
          </a:prstGeom>
          <a:noFill/>
          <a:ln/>
        </p:spPr>
        <p:txBody>
          <a:bodyPr wrap="square" lIns="0" tIns="0" rIns="0" bIns="0" rtlCol="0" anchor="ctr"/>
          <a:lstStyle/>
          <a:p>
            <a:pPr indent="0" marL="0">
              <a:buNone/>
            </a:pPr>
            <a:r>
              <a:rPr lang="en-US" sz="1200" dirty="0">
                <a:solidFill>
                  <a:srgbClr val="4A3F66"/>
                </a:solidFill>
              </a:rPr>
              <a:t>NestJS, Postgres + PostGIS snapping and corroboration, socket.io with resync</a:t>
            </a:r>
            <a:endParaRPr lang="en-US" sz="1200" dirty="0"/>
          </a:p>
        </p:txBody>
      </p:sp>
      <p:sp>
        <p:nvSpPr>
          <p:cNvPr id="19" name="L3_16"/>
          <p:cNvSpPr/>
          <p:nvPr/>
        </p:nvSpPr>
        <p:spPr>
          <a:xfrm>
            <a:off x="640080" y="3840480"/>
            <a:ext cx="6995160" cy="621792"/>
          </a:xfrm>
          <a:prstGeom prst="roundRect">
            <a:avLst>
              <a:gd name="adj" fmla="val 11765"/>
            </a:avLst>
          </a:prstGeom>
          <a:solidFill>
            <a:schemeClr val="tx1"/>
          </a:solidFill>
          <a:ln/>
          <a:effectLst>
            <a:outerShdw sx="100000" sy="100000" kx="0" ky="0" algn="bl" rotWithShape="0" blurRad="177800" dist="50800" dir="5400000">
              <a:srgbClr val="26123F">
                <a:alpha val="22000"/>
              </a:srgbClr>
            </a:outerShdw>
          </a:effectLst>
        </p:spPr>
        <p:txBody>
          <a:bodyPr/>
          <a:p/>
        </p:txBody>
      </p:sp>
      <p:sp>
        <p:nvSpPr>
          <p:cNvPr id="20" name="L3_17"/>
          <p:cNvSpPr/>
          <p:nvPr/>
        </p:nvSpPr>
        <p:spPr>
          <a:xfrm>
            <a:off x="758952" y="4014216"/>
            <a:ext cx="274320" cy="274320"/>
          </a:xfrm>
          <a:prstGeom prst="ellipse">
            <a:avLst/>
          </a:prstGeom>
          <a:solidFill>
            <a:srgbClr val="C8F560"/>
          </a:solidFill>
          <a:ln/>
        </p:spPr>
        <p:txBody>
          <a:bodyPr/>
          <a:p/>
        </p:txBody>
      </p:sp>
      <p:sp>
        <p:nvSpPr>
          <p:cNvPr id="21" name="L3_18"/>
          <p:cNvSpPr txBox="1"/>
          <p:nvPr/>
        </p:nvSpPr>
        <p:spPr>
          <a:xfrm>
            <a:off x="758952" y="4014216"/>
            <a:ext cx="274320" cy="274320"/>
          </a:xfrm>
          <a:prstGeom prst="rect">
            <a:avLst/>
          </a:prstGeom>
          <a:noFill/>
          <a:ln/>
        </p:spPr>
        <p:txBody>
          <a:bodyPr wrap="square" lIns="0" tIns="0" rIns="0" bIns="0" rtlCol="0" anchor="ctr"/>
          <a:lstStyle/>
          <a:p>
            <a:pPr algn="ctr" indent="0" marL="0">
              <a:buNone/>
            </a:pPr>
            <a:r>
              <a:rPr lang="en-US" sz="1100" dirty="0">
                <a:solidFill>
                  <a:srgbClr val="14102A"/>
                </a:solidFill>
                <a:latin typeface="Segoe UI Semibold" pitchFamily="34" charset="0"/>
                <a:ea typeface="Segoe UI Semibold" pitchFamily="34" charset="-122"/>
                <a:cs typeface="Segoe UI Semibold" pitchFamily="34" charset="-120"/>
              </a:rPr>
              <a:t>4</a:t>
            </a:r>
            <a:endParaRPr lang="en-US" sz="1100" dirty="0"/>
          </a:p>
        </p:txBody>
      </p:sp>
      <p:sp>
        <p:nvSpPr>
          <p:cNvPr id="22" name="L3_19"/>
          <p:cNvSpPr txBox="1"/>
          <p:nvPr/>
        </p:nvSpPr>
        <p:spPr>
          <a:xfrm>
            <a:off x="1280160" y="3849624"/>
            <a:ext cx="1920240" cy="603504"/>
          </a:xfrm>
          <a:prstGeom prst="rect">
            <a:avLst/>
          </a:prstGeom>
          <a:noFill/>
          <a:ln/>
        </p:spPr>
        <p:txBody>
          <a:bodyPr wrap="square" lIns="0" tIns="0" rIns="0" bIns="0" rtlCol="0" anchor="ctr"/>
          <a:lstStyle/>
          <a:p>
            <a:pPr indent="0" marL="0">
              <a:buNone/>
            </a:pPr>
            <a:r>
              <a:rPr lang="en-US" sz="1400" dirty="0">
                <a:solidFill>
                  <a:srgbClr val="C8F560"/>
                </a:solidFill>
                <a:latin typeface="Segoe UI Semibold" pitchFamily="34" charset="0"/>
                <a:ea typeface="Segoe UI Semibold" pitchFamily="34" charset="-122"/>
                <a:cs typeface="Segoe UI Semibold" pitchFamily="34" charset="-120"/>
              </a:rPr>
              <a:t>Shared route engine</a:t>
            </a:r>
            <a:endParaRPr lang="en-US" sz="1400" dirty="0"/>
          </a:p>
        </p:txBody>
      </p:sp>
      <p:sp>
        <p:nvSpPr>
          <p:cNvPr id="23" name="L3_20"/>
          <p:cNvSpPr txBox="1"/>
          <p:nvPr/>
        </p:nvSpPr>
        <p:spPr>
          <a:xfrm>
            <a:off x="3337560" y="3849624"/>
            <a:ext cx="4114800" cy="603504"/>
          </a:xfrm>
          <a:prstGeom prst="rect">
            <a:avLst/>
          </a:prstGeom>
          <a:noFill/>
          <a:ln/>
        </p:spPr>
        <p:txBody>
          <a:bodyPr wrap="square" lIns="0" tIns="0" rIns="0" bIns="0" rtlCol="0" anchor="ctr"/>
          <a:lstStyle/>
          <a:p>
            <a:pPr indent="0" marL="0">
              <a:buNone/>
            </a:pPr>
            <a:r>
              <a:rPr lang="en-US" sz="1200" dirty="0">
                <a:solidFill>
                  <a:schemeClr val="bg1"/>
                </a:solidFill>
              </a:rPr>
              <a:t>One pure TypeScript engine on phone and console: Yen k-shortest paths, hard blocks, evidence-weighted penalties</a:t>
            </a:r>
            <a:endParaRPr lang="en-US" sz="1200" dirty="0"/>
          </a:p>
        </p:txBody>
      </p:sp>
      <p:sp>
        <p:nvSpPr>
          <p:cNvPr id="24" name="L4_21"/>
          <p:cNvSpPr/>
          <p:nvPr/>
        </p:nvSpPr>
        <p:spPr>
          <a:xfrm>
            <a:off x="640080" y="4517136"/>
            <a:ext cx="6995160" cy="621792"/>
          </a:xfrm>
          <a:prstGeom prst="roundRect">
            <a:avLst>
              <a:gd name="adj" fmla="val 11765"/>
            </a:avLst>
          </a:prstGeom>
          <a:solidFill>
            <a:schemeClr val="tx1"/>
          </a:solidFill>
          <a:ln/>
          <a:effectLst>
            <a:outerShdw sx="100000" sy="100000" kx="0" ky="0" algn="bl" rotWithShape="0" blurRad="177800" dist="50800" dir="5400000">
              <a:srgbClr val="26123F">
                <a:alpha val="22000"/>
              </a:srgbClr>
            </a:outerShdw>
          </a:effectLst>
        </p:spPr>
        <p:txBody>
          <a:bodyPr/>
          <a:p/>
        </p:txBody>
      </p:sp>
      <p:sp>
        <p:nvSpPr>
          <p:cNvPr id="25" name="L4_22"/>
          <p:cNvSpPr/>
          <p:nvPr/>
        </p:nvSpPr>
        <p:spPr>
          <a:xfrm>
            <a:off x="758952" y="4690872"/>
            <a:ext cx="274320" cy="274320"/>
          </a:xfrm>
          <a:prstGeom prst="ellipse">
            <a:avLst/>
          </a:prstGeom>
          <a:solidFill>
            <a:srgbClr val="C8F560"/>
          </a:solidFill>
          <a:ln/>
        </p:spPr>
        <p:txBody>
          <a:bodyPr/>
          <a:p/>
        </p:txBody>
      </p:sp>
      <p:sp>
        <p:nvSpPr>
          <p:cNvPr id="26" name="L4_23"/>
          <p:cNvSpPr txBox="1"/>
          <p:nvPr/>
        </p:nvSpPr>
        <p:spPr>
          <a:xfrm>
            <a:off x="758952" y="4690872"/>
            <a:ext cx="274320" cy="274320"/>
          </a:xfrm>
          <a:prstGeom prst="rect">
            <a:avLst/>
          </a:prstGeom>
          <a:noFill/>
          <a:ln/>
        </p:spPr>
        <p:txBody>
          <a:bodyPr wrap="square" lIns="0" tIns="0" rIns="0" bIns="0" rtlCol="0" anchor="ctr"/>
          <a:lstStyle/>
          <a:p>
            <a:pPr algn="ctr" indent="0" marL="0">
              <a:buNone/>
            </a:pPr>
            <a:r>
              <a:rPr lang="en-US" sz="1100" dirty="0">
                <a:solidFill>
                  <a:srgbClr val="14102A"/>
                </a:solidFill>
                <a:latin typeface="Segoe UI Semibold" pitchFamily="34" charset="0"/>
                <a:ea typeface="Segoe UI Semibold" pitchFamily="34" charset="-122"/>
                <a:cs typeface="Segoe UI Semibold" pitchFamily="34" charset="-120"/>
              </a:rPr>
              <a:t>5</a:t>
            </a:r>
            <a:endParaRPr lang="en-US" sz="1100" dirty="0"/>
          </a:p>
        </p:txBody>
      </p:sp>
      <p:sp>
        <p:nvSpPr>
          <p:cNvPr id="27" name="L4_24"/>
          <p:cNvSpPr txBox="1"/>
          <p:nvPr/>
        </p:nvSpPr>
        <p:spPr>
          <a:xfrm>
            <a:off x="1280160" y="4526280"/>
            <a:ext cx="1920240" cy="603504"/>
          </a:xfrm>
          <a:prstGeom prst="rect">
            <a:avLst/>
          </a:prstGeom>
          <a:noFill/>
          <a:ln/>
        </p:spPr>
        <p:txBody>
          <a:bodyPr wrap="square" lIns="0" tIns="0" rIns="0" bIns="0" rtlCol="0" anchor="ctr"/>
          <a:lstStyle/>
          <a:p>
            <a:pPr indent="0" marL="0">
              <a:buNone/>
            </a:pPr>
            <a:r>
              <a:rPr lang="en-US" sz="1400" dirty="0">
                <a:solidFill>
                  <a:srgbClr val="C8F560"/>
                </a:solidFill>
                <a:latin typeface="Segoe UI Semibold" pitchFamily="34" charset="0"/>
                <a:ea typeface="Segoe UI Semibold" pitchFamily="34" charset="-122"/>
                <a:cs typeface="Segoe UI Semibold" pitchFamily="34" charset="-120"/>
              </a:rPr>
              <a:t>Recommendation engine</a:t>
            </a:r>
            <a:endParaRPr lang="en-US" sz="1400" dirty="0"/>
          </a:p>
        </p:txBody>
      </p:sp>
      <p:sp>
        <p:nvSpPr>
          <p:cNvPr id="28" name="L4_25"/>
          <p:cNvSpPr txBox="1"/>
          <p:nvPr/>
        </p:nvSpPr>
        <p:spPr>
          <a:xfrm>
            <a:off x="3337560" y="4526280"/>
            <a:ext cx="4114800" cy="603504"/>
          </a:xfrm>
          <a:prstGeom prst="rect">
            <a:avLst/>
          </a:prstGeom>
          <a:noFill/>
          <a:ln/>
        </p:spPr>
        <p:txBody>
          <a:bodyPr wrap="square" lIns="0" tIns="0" rIns="0" bIns="0" rtlCol="0" anchor="ctr"/>
          <a:lstStyle/>
          <a:p>
            <a:pPr indent="0" marL="0">
              <a:buNone/>
            </a:pPr>
            <a:r>
              <a:rPr lang="en-US" sz="1200" dirty="0">
                <a:solidFill>
                  <a:schemeClr val="bg1"/>
                </a:solidFill>
              </a:rPr>
              <a:t>Route ranking, viability assessment, confidence labels, plain-language explanations, switching threshold</a:t>
            </a:r>
            <a:endParaRPr lang="en-US" sz="1200" dirty="0"/>
          </a:p>
        </p:txBody>
      </p:sp>
      <p:sp>
        <p:nvSpPr>
          <p:cNvPr id="29" name="L5_26"/>
          <p:cNvSpPr/>
          <p:nvPr/>
        </p:nvSpPr>
        <p:spPr>
          <a:xfrm>
            <a:off x="1188720" y="5166360"/>
            <a:ext cx="6446520" cy="0"/>
          </a:xfrm>
          <a:prstGeom prst="line">
            <a:avLst/>
          </a:prstGeom>
          <a:noFill/>
          <a:ln w="9525">
            <a:solidFill>
              <a:srgbClr val="D6D0C2"/>
            </a:solidFill>
            <a:prstDash val="solid"/>
          </a:ln>
        </p:spPr>
        <p:txBody>
          <a:bodyPr/>
          <a:p/>
        </p:txBody>
      </p:sp>
      <p:sp>
        <p:nvSpPr>
          <p:cNvPr id="30" name="L5_27"/>
          <p:cNvSpPr/>
          <p:nvPr/>
        </p:nvSpPr>
        <p:spPr>
          <a:xfrm>
            <a:off x="758952" y="5367528"/>
            <a:ext cx="274320" cy="274320"/>
          </a:xfrm>
          <a:prstGeom prst="ellipse">
            <a:avLst/>
          </a:prstGeom>
          <a:solidFill>
            <a:srgbClr val="FFFFFF"/>
          </a:solidFill>
          <a:ln w="15875">
            <a:solidFill>
              <a:srgbClr val="B8B1A0"/>
            </a:solidFill>
            <a:prstDash val="solid"/>
          </a:ln>
        </p:spPr>
        <p:txBody>
          <a:bodyPr/>
          <a:p/>
        </p:txBody>
      </p:sp>
      <p:sp>
        <p:nvSpPr>
          <p:cNvPr id="31" name="L5_28"/>
          <p:cNvSpPr txBox="1"/>
          <p:nvPr/>
        </p:nvSpPr>
        <p:spPr>
          <a:xfrm>
            <a:off x="758952" y="5367528"/>
            <a:ext cx="274320" cy="274320"/>
          </a:xfrm>
          <a:prstGeom prst="rect">
            <a:avLst/>
          </a:prstGeom>
          <a:noFill/>
          <a:ln/>
        </p:spPr>
        <p:txBody>
          <a:bodyPr wrap="square" lIns="0" tIns="0" rIns="0" bIns="0" rtlCol="0" anchor="ctr"/>
          <a:lstStyle/>
          <a:p>
            <a:pPr algn="ctr" indent="0" marL="0">
              <a:buNone/>
            </a:pPr>
            <a:r>
              <a:rPr lang="en-US" sz="1100" dirty="0">
                <a:solidFill>
                  <a:schemeClr val="tx1"/>
                </a:solidFill>
                <a:latin typeface="Segoe UI Semibold" pitchFamily="34" charset="0"/>
                <a:ea typeface="Segoe UI Semibold" pitchFamily="34" charset="-122"/>
                <a:cs typeface="Segoe UI Semibold" pitchFamily="34" charset="-120"/>
              </a:rPr>
              <a:t>6</a:t>
            </a:r>
            <a:endParaRPr lang="en-US" sz="1100" dirty="0"/>
          </a:p>
        </p:txBody>
      </p:sp>
      <p:sp>
        <p:nvSpPr>
          <p:cNvPr id="32" name="L5_29"/>
          <p:cNvSpPr txBox="1"/>
          <p:nvPr/>
        </p:nvSpPr>
        <p:spPr>
          <a:xfrm>
            <a:off x="1280160" y="5202936"/>
            <a:ext cx="1920240" cy="603504"/>
          </a:xfrm>
          <a:prstGeom prst="rect">
            <a:avLst/>
          </a:prstGeom>
          <a:noFill/>
          <a:ln/>
        </p:spPr>
        <p:txBody>
          <a:bodyPr wrap="square" lIns="0" tIns="0" rIns="0" bIns="0" rtlCol="0" anchor="ct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Output</a:t>
            </a:r>
            <a:endParaRPr lang="en-US" sz="1400" dirty="0"/>
          </a:p>
        </p:txBody>
      </p:sp>
      <p:sp>
        <p:nvSpPr>
          <p:cNvPr id="33" name="L5_30"/>
          <p:cNvSpPr txBox="1"/>
          <p:nvPr/>
        </p:nvSpPr>
        <p:spPr>
          <a:xfrm>
            <a:off x="3337560" y="5202936"/>
            <a:ext cx="4114800" cy="603504"/>
          </a:xfrm>
          <a:prstGeom prst="rect">
            <a:avLst/>
          </a:prstGeom>
          <a:noFill/>
          <a:ln/>
        </p:spPr>
        <p:txBody>
          <a:bodyPr wrap="square" lIns="0" tIns="0" rIns="0" bIns="0" rtlCol="0" anchor="ctr"/>
          <a:lstStyle/>
          <a:p>
            <a:pPr indent="0" marL="0">
              <a:buNone/>
            </a:pPr>
            <a:r>
              <a:rPr lang="en-US" sz="1200" dirty="0">
                <a:solidFill>
                  <a:srgbClr val="4A3F66"/>
                </a:solidFill>
              </a:rPr>
              <a:t>Recommended route, alternatives, a one-sentence reason and a decision receipt</a:t>
            </a:r>
            <a:endParaRPr lang="en-US" sz="1200" dirty="0"/>
          </a:p>
        </p:txBody>
      </p:sp>
      <p:sp>
        <p:nvSpPr>
          <p:cNvPr id="34" name="map_31"/>
          <p:cNvSpPr/>
          <p:nvPr/>
        </p:nvSpPr>
        <p:spPr>
          <a:xfrm>
            <a:off x="8138160" y="1783080"/>
            <a:ext cx="3413455" cy="1600200"/>
          </a:xfrm>
          <a:prstGeom prst="roundRect">
            <a:avLst>
              <a:gd name="adj" fmla="val 5714"/>
            </a:avLst>
          </a:prstGeom>
          <a:solidFill>
            <a:srgbClr val="FFFFFF"/>
          </a:solidFill>
          <a:ln/>
          <a:effectLst>
            <a:outerShdw sx="100000" sy="100000" kx="0" ky="0" algn="bl" rotWithShape="0" blurRad="228600" dist="63500" dir="5400000">
              <a:srgbClr val="26123F">
                <a:alpha val="18000"/>
              </a:srgbClr>
            </a:outerShdw>
          </a:effectLst>
        </p:spPr>
        <p:txBody>
          <a:bodyPr/>
          <a:p/>
        </p:txBody>
      </p:sp>
      <p:pic>
        <p:nvPicPr>
          <p:cNvPr id="35" name="map_32" descr="3D map of a flood-prone rail corridor, built from OpenStreetMap data">    </p:cNvPr>
          <p:cNvPicPr>
            <a:picLocks noChangeAspect="1"/>
          </p:cNvPicPr>
          <p:nvPr/>
        </p:nvPicPr>
        <p:blipFill>
          <a:blip r:embed="rId1"/>
          <a:stretch>
            <a:fillRect/>
          </a:stretch>
        </p:blipFill>
        <p:spPr>
          <a:xfrm>
            <a:off x="8138160" y="1783080"/>
            <a:ext cx="3413455" cy="1600200"/>
          </a:xfrm>
          <a:prstGeom prst="rect">
            <a:avLst/>
          </a:prstGeom>
        </p:spPr>
      </p:pic>
      <p:pic>
        <p:nvPicPr>
          <p:cNvPr id="36" name="map_33" descr="Route A">    </p:cNvPr>
          <p:cNvPicPr>
            <a:picLocks noChangeAspect="1"/>
          </p:cNvPicPr>
          <p:nvPr/>
        </p:nvPicPr>
        <p:blipFill>
          <a:blip r:embed="rId2"/>
          <a:stretch>
            <a:fillRect/>
          </a:stretch>
        </p:blipFill>
        <p:spPr>
          <a:xfrm>
            <a:off x="8138160" y="1783080"/>
            <a:ext cx="3413455" cy="1600200"/>
          </a:xfrm>
          <a:prstGeom prst="rect">
            <a:avLst/>
          </a:prstGeom>
        </p:spPr>
      </p:pic>
      <p:pic>
        <p:nvPicPr>
          <p:cNvPr id="37" name="map_34" descr="Route B">    </p:cNvPr>
          <p:cNvPicPr>
            <a:picLocks noChangeAspect="1"/>
          </p:cNvPicPr>
          <p:nvPr/>
        </p:nvPicPr>
        <p:blipFill>
          <a:blip r:embed="rId3"/>
          <a:stretch>
            <a:fillRect/>
          </a:stretch>
        </p:blipFill>
        <p:spPr>
          <a:xfrm>
            <a:off x="8138160" y="1783080"/>
            <a:ext cx="3413455" cy="1600200"/>
          </a:xfrm>
          <a:prstGeom prst="rect">
            <a:avLst/>
          </a:prstGeom>
        </p:spPr>
      </p:pic>
      <p:sp>
        <p:nvSpPr>
          <p:cNvPr id="38" name="map_35"/>
          <p:cNvSpPr txBox="1"/>
          <p:nvPr/>
        </p:nvSpPr>
        <p:spPr>
          <a:xfrm>
            <a:off x="8138160" y="3456432"/>
            <a:ext cx="3413455" cy="365760"/>
          </a:xfrm>
          <a:prstGeom prst="rect">
            <a:avLst/>
          </a:prstGeom>
          <a:noFill/>
          <a:ln/>
        </p:spPr>
        <p:txBody>
          <a:bodyPr wrap="square" lIns="0" tIns="0" rIns="0" bIns="0" rtlCol="0" anchor="t"/>
          <a:lstStyle/>
          <a:p>
            <a:pPr indent="0" marL="0">
              <a:buNone/>
            </a:pPr>
            <a:r>
              <a:rPr lang="en-US" sz="1050" dirty="0">
                <a:solidFill>
                  <a:schemeClr val="accent5"/>
                </a:solidFill>
              </a:rPr>
              <a:t>Real OpenStreetMap roads of Andheri (23,177 edges), simulated incidents. © OpenStreetMap contributors</a:t>
            </a:r>
            <a:endParaRPr lang="en-US" sz="1050" dirty="0"/>
          </a:p>
        </p:txBody>
      </p:sp>
      <p:sp>
        <p:nvSpPr>
          <p:cNvPr id="39" name="pt0_36"/>
          <p:cNvSpPr/>
          <p:nvPr/>
        </p:nvSpPr>
        <p:spPr>
          <a:xfrm>
            <a:off x="8151876" y="4000500"/>
            <a:ext cx="82296" cy="82296"/>
          </a:xfrm>
          <a:prstGeom prst="ellipse">
            <a:avLst/>
          </a:prstGeom>
          <a:solidFill>
            <a:schemeClr val="accent1"/>
          </a:solidFill>
          <a:ln/>
        </p:spPr>
        <p:txBody>
          <a:bodyPr/>
          <a:p/>
        </p:txBody>
      </p:sp>
      <p:sp>
        <p:nvSpPr>
          <p:cNvPr id="40" name="pt0_37"/>
          <p:cNvSpPr txBox="1"/>
          <p:nvPr/>
        </p:nvSpPr>
        <p:spPr>
          <a:xfrm>
            <a:off x="8366760" y="3931920"/>
            <a:ext cx="3184855" cy="420624"/>
          </a:xfrm>
          <a:prstGeom prst="rect">
            <a:avLst/>
          </a:prstGeom>
          <a:noFill/>
          <a:ln/>
        </p:spPr>
        <p:txBody>
          <a:bodyPr wrap="square" lIns="0" tIns="0" rIns="0" bIns="0" rtlCol="0" anchor="t"/>
          <a:lstStyle/>
          <a:p>
            <a:pPr indent="0" marL="0">
              <a:buNone/>
            </a:pPr>
            <a:r>
              <a:rPr lang="en-US" sz="1150" dirty="0">
                <a:solidFill>
                  <a:srgbClr val="4A3F66"/>
                </a:solidFill>
              </a:rPr>
              <a:t>The server never sends routes. It sends evidence</a:t>
            </a:r>
            <a:endParaRPr lang="en-US" sz="1150" dirty="0"/>
          </a:p>
        </p:txBody>
      </p:sp>
      <p:sp>
        <p:nvSpPr>
          <p:cNvPr id="41" name="pt1_38"/>
          <p:cNvSpPr/>
          <p:nvPr/>
        </p:nvSpPr>
        <p:spPr>
          <a:xfrm>
            <a:off x="8151876" y="4430268"/>
            <a:ext cx="82296" cy="82296"/>
          </a:xfrm>
          <a:prstGeom prst="ellipse">
            <a:avLst/>
          </a:prstGeom>
          <a:solidFill>
            <a:schemeClr val="accent1"/>
          </a:solidFill>
          <a:ln/>
        </p:spPr>
        <p:txBody>
          <a:bodyPr/>
          <a:p/>
        </p:txBody>
      </p:sp>
      <p:sp>
        <p:nvSpPr>
          <p:cNvPr id="42" name="pt1_39"/>
          <p:cNvSpPr txBox="1"/>
          <p:nvPr/>
        </p:nvSpPr>
        <p:spPr>
          <a:xfrm>
            <a:off x="8366760" y="4361688"/>
            <a:ext cx="3184855" cy="420624"/>
          </a:xfrm>
          <a:prstGeom prst="rect">
            <a:avLst/>
          </a:prstGeom>
          <a:noFill/>
          <a:ln/>
        </p:spPr>
        <p:txBody>
          <a:bodyPr wrap="square" lIns="0" tIns="0" rIns="0" bIns="0" rtlCol="0" anchor="t"/>
          <a:lstStyle/>
          <a:p>
            <a:pPr indent="0" marL="0">
              <a:buNone/>
            </a:pPr>
            <a:r>
              <a:rPr lang="en-US" sz="1150" dirty="0">
                <a:solidFill>
                  <a:srgbClr val="4A3F66"/>
                </a:solidFill>
              </a:rPr>
              <a:t>Phone and console reach the same route: matching parity hash</a:t>
            </a:r>
            <a:endParaRPr lang="en-US" sz="1150" dirty="0"/>
          </a:p>
        </p:txBody>
      </p:sp>
      <p:sp>
        <p:nvSpPr>
          <p:cNvPr id="43" name="pt2_40"/>
          <p:cNvSpPr/>
          <p:nvPr/>
        </p:nvSpPr>
        <p:spPr>
          <a:xfrm>
            <a:off x="8151876" y="4860036"/>
            <a:ext cx="82296" cy="82296"/>
          </a:xfrm>
          <a:prstGeom prst="ellipse">
            <a:avLst/>
          </a:prstGeom>
          <a:solidFill>
            <a:schemeClr val="accent2"/>
          </a:solidFill>
          <a:ln/>
        </p:spPr>
        <p:txBody>
          <a:bodyPr/>
          <a:p/>
        </p:txBody>
      </p:sp>
      <p:sp>
        <p:nvSpPr>
          <p:cNvPr id="44" name="pt2_41"/>
          <p:cNvSpPr txBox="1"/>
          <p:nvPr/>
        </p:nvSpPr>
        <p:spPr>
          <a:xfrm>
            <a:off x="8366760" y="4791456"/>
            <a:ext cx="3184855" cy="420624"/>
          </a:xfrm>
          <a:prstGeom prst="rect">
            <a:avLst/>
          </a:prstGeom>
          <a:noFill/>
          <a:ln/>
        </p:spPr>
        <p:txBody>
          <a:bodyPr wrap="square" lIns="0" tIns="0" rIns="0" bIns="0" rtlCol="0" anchor="t"/>
          <a:lstStyle/>
          <a:p>
            <a:pPr indent="0" marL="0">
              <a:buNone/>
            </a:pPr>
            <a:r>
              <a:rPr lang="en-US" sz="1150" dirty="0">
                <a:solidFill>
                  <a:srgbClr val="4A3F66"/>
                </a:solidFill>
              </a:rPr>
              <a:t>Keeps routing offline on cached incidents; reports relay by QR</a:t>
            </a:r>
            <a:endParaRPr lang="en-US" sz="1150" dirty="0"/>
          </a:p>
        </p:txBody>
      </p:sp>
      <p:sp>
        <p:nvSpPr>
          <p:cNvPr id="45" name="pt3_42"/>
          <p:cNvSpPr/>
          <p:nvPr/>
        </p:nvSpPr>
        <p:spPr>
          <a:xfrm>
            <a:off x="8151876" y="5289804"/>
            <a:ext cx="82296" cy="82296"/>
          </a:xfrm>
          <a:prstGeom prst="ellipse">
            <a:avLst/>
          </a:prstGeom>
          <a:solidFill>
            <a:schemeClr val="accent1"/>
          </a:solidFill>
          <a:ln/>
        </p:spPr>
        <p:txBody>
          <a:bodyPr/>
          <a:p/>
        </p:txBody>
      </p:sp>
      <p:sp>
        <p:nvSpPr>
          <p:cNvPr id="46" name="pt3_43"/>
          <p:cNvSpPr txBox="1"/>
          <p:nvPr/>
        </p:nvSpPr>
        <p:spPr>
          <a:xfrm>
            <a:off x="8366760" y="5221224"/>
            <a:ext cx="3184855" cy="420624"/>
          </a:xfrm>
          <a:prstGeom prst="rect">
            <a:avLst/>
          </a:prstGeom>
          <a:noFill/>
          <a:ln/>
        </p:spPr>
        <p:txBody>
          <a:bodyPr wrap="square" lIns="0" tIns="0" rIns="0" bIns="0" rtlCol="0" anchor="t"/>
          <a:lstStyle/>
          <a:p>
            <a:pPr indent="0" marL="0">
              <a:buNone/>
            </a:pPr>
            <a:r>
              <a:rPr lang="en-US" sz="1150" dirty="0">
                <a:solidFill>
                  <a:srgbClr val="4A3F66"/>
                </a:solidFill>
              </a:rPr>
              <a:t>Shared Zod contracts; tests on engine, API, app and console</a:t>
            </a:r>
            <a:endParaRPr lang="en-US" sz="1150" dirty="0"/>
          </a:p>
        </p:txBody>
      </p:sp>
      <p:sp>
        <p:nvSpPr>
          <p:cNvPr id="47" name="bd_44"/>
          <p:cNvSpPr/>
          <p:nvPr/>
        </p:nvSpPr>
        <p:spPr>
          <a:xfrm>
            <a:off x="8138160" y="5760720"/>
            <a:ext cx="3413455" cy="0"/>
          </a:xfrm>
          <a:prstGeom prst="line">
            <a:avLst/>
          </a:prstGeom>
          <a:noFill/>
          <a:ln w="12700">
            <a:solidFill>
              <a:srgbClr val="D6D0C2"/>
            </a:solidFill>
            <a:prstDash val="solid"/>
          </a:ln>
        </p:spPr>
        <p:txBody>
          <a:bodyPr/>
          <a:p/>
        </p:txBody>
      </p:sp>
      <p:sp>
        <p:nvSpPr>
          <p:cNvPr id="48" name="bd_45"/>
          <p:cNvSpPr txBox="1"/>
          <p:nvPr/>
        </p:nvSpPr>
        <p:spPr>
          <a:xfrm>
            <a:off x="8138160" y="5833872"/>
            <a:ext cx="3413455" cy="502920"/>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No machine learning or LLM</a:t>
            </a:r>
            <a:pPr indent="0" marL="0">
              <a:buNone/>
            </a:pPr>
            <a:r>
              <a:rPr lang="en-US" sz="1100" dirty="0">
                <a:solidFill>
                  <a:schemeClr val="tx1"/>
                </a:solidFill>
              </a:rPr>
              <a:t> makes route decisions. Simulated incidents stay separate from real road data.</a:t>
            </a:r>
            <a:endParaRPr lang="en-US" sz="1100" dirty="0"/>
          </a:p>
        </p:txBody>
      </p:sp>
      <p:sp>
        <p:nvSpPr>
          <p:cNvPr id="49" name="jn_46"/>
          <p:cNvSpPr/>
          <p:nvPr/>
        </p:nvSpPr>
        <p:spPr>
          <a:xfrm>
            <a:off x="4343400" y="6537960"/>
            <a:ext cx="3520440" cy="0"/>
          </a:xfrm>
          <a:prstGeom prst="line">
            <a:avLst/>
          </a:prstGeom>
          <a:noFill/>
          <a:ln w="12700">
            <a:solidFill>
              <a:srgbClr val="D2CBBB"/>
            </a:solidFill>
            <a:prstDash val="solid"/>
          </a:ln>
        </p:spPr>
        <p:txBody>
          <a:bodyPr/>
          <a:p/>
        </p:txBody>
      </p:sp>
      <p:sp>
        <p:nvSpPr>
          <p:cNvPr id="50" name="jn_47"/>
          <p:cNvSpPr/>
          <p:nvPr/>
        </p:nvSpPr>
        <p:spPr>
          <a:xfrm>
            <a:off x="4343400" y="6537960"/>
            <a:ext cx="2112264" cy="0"/>
          </a:xfrm>
          <a:prstGeom prst="line">
            <a:avLst/>
          </a:prstGeom>
          <a:noFill/>
          <a:ln w="19050">
            <a:solidFill>
              <a:srgbClr val="4D7C0F"/>
            </a:solidFill>
            <a:prstDash val="solid"/>
          </a:ln>
        </p:spPr>
        <p:txBody>
          <a:bodyPr/>
          <a:p/>
        </p:txBody>
      </p:sp>
      <p:sp>
        <p:nvSpPr>
          <p:cNvPr id="51" name="jseg_48"/>
          <p:cNvSpPr/>
          <p:nvPr/>
        </p:nvSpPr>
        <p:spPr>
          <a:xfrm>
            <a:off x="6455664" y="6537960"/>
            <a:ext cx="704088" cy="0"/>
          </a:xfrm>
          <a:prstGeom prst="line">
            <a:avLst/>
          </a:prstGeom>
          <a:noFill/>
          <a:ln w="19050">
            <a:solidFill>
              <a:srgbClr val="4D7C0F"/>
            </a:solidFill>
            <a:prstDash val="solid"/>
          </a:ln>
        </p:spPr>
        <p:txBody>
          <a:bodyPr/>
          <a:p/>
        </p:txBody>
      </p:sp>
      <p:sp>
        <p:nvSpPr>
          <p:cNvPr id="52" name="jn_49"/>
          <p:cNvSpPr/>
          <p:nvPr/>
        </p:nvSpPr>
        <p:spPr>
          <a:xfrm>
            <a:off x="4306824" y="6501384"/>
            <a:ext cx="73152" cy="73152"/>
          </a:xfrm>
          <a:prstGeom prst="ellipse">
            <a:avLst/>
          </a:prstGeom>
          <a:solidFill>
            <a:schemeClr val="accent1"/>
          </a:solidFill>
          <a:ln/>
        </p:spPr>
        <p:txBody>
          <a:bodyPr/>
          <a:p/>
        </p:txBody>
      </p:sp>
      <p:sp>
        <p:nvSpPr>
          <p:cNvPr id="53" name="jn_50"/>
          <p:cNvSpPr/>
          <p:nvPr/>
        </p:nvSpPr>
        <p:spPr>
          <a:xfrm>
            <a:off x="5010912" y="6501384"/>
            <a:ext cx="73152" cy="73152"/>
          </a:xfrm>
          <a:prstGeom prst="ellipse">
            <a:avLst/>
          </a:prstGeom>
          <a:solidFill>
            <a:schemeClr val="accent1"/>
          </a:solidFill>
          <a:ln/>
        </p:spPr>
        <p:txBody>
          <a:bodyPr/>
          <a:p/>
        </p:txBody>
      </p:sp>
      <p:sp>
        <p:nvSpPr>
          <p:cNvPr id="54" name="jn_51"/>
          <p:cNvSpPr/>
          <p:nvPr/>
        </p:nvSpPr>
        <p:spPr>
          <a:xfrm>
            <a:off x="5715000" y="6501384"/>
            <a:ext cx="73152" cy="73152"/>
          </a:xfrm>
          <a:prstGeom prst="ellipse">
            <a:avLst/>
          </a:prstGeom>
          <a:solidFill>
            <a:schemeClr val="accent1"/>
          </a:solidFill>
          <a:ln/>
        </p:spPr>
        <p:txBody>
          <a:bodyPr/>
          <a:p/>
        </p:txBody>
      </p:sp>
      <p:sp>
        <p:nvSpPr>
          <p:cNvPr id="55" name="jn_52"/>
          <p:cNvSpPr/>
          <p:nvPr/>
        </p:nvSpPr>
        <p:spPr>
          <a:xfrm>
            <a:off x="6419088" y="6501384"/>
            <a:ext cx="73152" cy="73152"/>
          </a:xfrm>
          <a:prstGeom prst="ellipse">
            <a:avLst/>
          </a:prstGeom>
          <a:solidFill>
            <a:schemeClr val="accent1"/>
          </a:solidFill>
          <a:ln/>
        </p:spPr>
        <p:txBody>
          <a:bodyPr/>
          <a:p/>
        </p:txBody>
      </p:sp>
      <p:sp>
        <p:nvSpPr>
          <p:cNvPr id="56" name="jn_53"/>
          <p:cNvSpPr/>
          <p:nvPr/>
        </p:nvSpPr>
        <p:spPr>
          <a:xfrm>
            <a:off x="7123176" y="6501384"/>
            <a:ext cx="73152" cy="73152"/>
          </a:xfrm>
          <a:prstGeom prst="ellipse">
            <a:avLst/>
          </a:prstGeom>
          <a:solidFill>
            <a:srgbClr val="B8B1A0"/>
          </a:solidFill>
          <a:ln/>
        </p:spPr>
        <p:txBody>
          <a:bodyPr/>
          <a:p/>
        </p:txBody>
      </p:sp>
      <p:sp>
        <p:nvSpPr>
          <p:cNvPr id="57" name="jn_54"/>
          <p:cNvSpPr/>
          <p:nvPr/>
        </p:nvSpPr>
        <p:spPr>
          <a:xfrm>
            <a:off x="7827264" y="6501384"/>
            <a:ext cx="73152" cy="73152"/>
          </a:xfrm>
          <a:prstGeom prst="ellipse">
            <a:avLst/>
          </a:prstGeom>
          <a:solidFill>
            <a:srgbClr val="B8B1A0"/>
          </a:solidFill>
          <a:ln/>
        </p:spPr>
        <p:txBody>
          <a:bodyPr/>
          <a:p/>
        </p:txBody>
      </p:sp>
      <p:sp>
        <p:nvSpPr>
          <p:cNvPr id="58" name="jdot_55"/>
          <p:cNvSpPr/>
          <p:nvPr/>
        </p:nvSpPr>
        <p:spPr>
          <a:xfrm>
            <a:off x="7072884" y="6451092"/>
            <a:ext cx="173736" cy="173736"/>
          </a:xfrm>
          <a:prstGeom prst="ellipse">
            <a:avLst/>
          </a:prstGeom>
          <a:solidFill>
            <a:schemeClr val="accent1"/>
          </a:solidFill>
          <a:ln w="28575">
            <a:solidFill>
              <a:srgbClr val="F6F1E9"/>
            </a:solidFill>
            <a:prstDash val="solid"/>
          </a:ln>
        </p:spPr>
        <p:txBody>
          <a:bodyPr/>
          <a:p/>
        </p:txBody>
      </p:sp>
      <p:sp>
        <p:nvSpPr>
          <p:cNvPr id="59" name="Text 54"/>
          <p:cNvSpPr txBox="1"/>
          <p:nvPr/>
        </p:nvSpPr>
        <p:spPr>
          <a:xfrm>
            <a:off x="10454335" y="6419088"/>
            <a:ext cx="1097280" cy="237744"/>
          </a:xfrm>
          <a:prstGeom prst="rect">
            <a:avLst/>
          </a:prstGeom>
          <a:noFill/>
          <a:ln/>
        </p:spPr>
        <p:txBody>
          <a:bodyPr wrap="square" lIns="0" tIns="0" rIns="0" bIns="0" rtlCol="0" anchor="ctr"/>
          <a:lstStyle/>
          <a:p>
            <a:pPr algn="r" indent="0" marL="0">
              <a:buNone/>
            </a:pPr>
            <a:r>
              <a:rPr lang="en-US" sz="1000" dirty="0">
                <a:solidFill>
                  <a:schemeClr val="accent5"/>
                </a:solidFill>
              </a:rPr>
              <a:t>05 / 06</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200">
        <p14:pan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200"/>
                                  </p:stCondLst>
                                  <p:childTnLst>
                                    <p:set>
                                      <p:cBhvr>
                                        <p:cTn id="5" dur="1" fill="hold">
                                          <p:stCondLst>
                                            <p:cond delay="0"/>
                                          </p:stCondLst>
                                        </p:cTn>
                                        <p:tgtEl>
                                          <p:spTgt spid="49"/>
                                        </p:tgtEl>
                                        <p:attrNameLst>
                                          <p:attrName>style.visibility</p:attrName>
                                        </p:attrNameLst>
                                      </p:cBhvr>
                                      <p:to>
                                        <p:strVal val="visible"/>
                                      </p:to>
                                    </p:set>
                                    <p:animEffect transition="in" filter="fade">
                                      <p:cBhvr>
                                        <p:cTn id="6" dur="500"/>
                                        <p:tgtEl>
                                          <p:spTgt spid="49"/>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50"/>
                                        </p:tgtEl>
                                        <p:attrNameLst>
                                          <p:attrName>style.visibility</p:attrName>
                                        </p:attrNameLst>
                                      </p:cBhvr>
                                      <p:to>
                                        <p:strVal val="visible"/>
                                      </p:to>
                                    </p:set>
                                    <p:animEffect transition="in" filter="fade">
                                      <p:cBhvr>
                                        <p:cTn id="9" dur="500"/>
                                        <p:tgtEl>
                                          <p:spTgt spid="50"/>
                                        </p:tgtEl>
                                      </p:cBhvr>
                                    </p:animEffect>
                                  </p:childTnLst>
                                </p:cTn>
                              </p:par>
                              <p:par>
                                <p:cTn id="13" presetID="10" presetClass="entr" presetSubtype="0" fill="hold" grpId="0" nodeType="withEffect">
                                  <p:stCondLst>
                                    <p:cond delay="20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500"/>
                                        <p:tgtEl>
                                          <p:spTgt spid="52"/>
                                        </p:tgtEl>
                                      </p:cBhvr>
                                    </p:animEffect>
                                  </p:childTnLst>
                                </p:cTn>
                              </p:par>
                              <p:par>
                                <p:cTn id="16" presetID="10" presetClass="entr" presetSubtype="0" fill="hold" grpId="0" nodeType="withEffect">
                                  <p:stCondLst>
                                    <p:cond delay="200"/>
                                  </p:stCondLst>
                                  <p:childTnLst>
                                    <p:set>
                                      <p:cBhvr>
                                        <p:cTn id="14" dur="1" fill="hold">
                                          <p:stCondLst>
                                            <p:cond delay="0"/>
                                          </p:stCondLst>
                                        </p:cTn>
                                        <p:tgtEl>
                                          <p:spTgt spid="53"/>
                                        </p:tgtEl>
                                        <p:attrNameLst>
                                          <p:attrName>style.visibility</p:attrName>
                                        </p:attrNameLst>
                                      </p:cBhvr>
                                      <p:to>
                                        <p:strVal val="visible"/>
                                      </p:to>
                                    </p:set>
                                    <p:animEffect transition="in" filter="fade">
                                      <p:cBhvr>
                                        <p:cTn id="15" dur="500"/>
                                        <p:tgtEl>
                                          <p:spTgt spid="53"/>
                                        </p:tgtEl>
                                      </p:cBhvr>
                                    </p:animEffect>
                                  </p:childTnLst>
                                </p:cTn>
                              </p:par>
                              <p:par>
                                <p:cTn id="19" presetID="10" presetClass="entr" presetSubtype="0" fill="hold" grpId="0" nodeType="withEffect">
                                  <p:stCondLst>
                                    <p:cond delay="200"/>
                                  </p:stCondLst>
                                  <p:childTnLst>
                                    <p:set>
                                      <p:cBhvr>
                                        <p:cTn id="17" dur="1" fill="hold">
                                          <p:stCondLst>
                                            <p:cond delay="0"/>
                                          </p:stCondLst>
                                        </p:cTn>
                                        <p:tgtEl>
                                          <p:spTgt spid="54"/>
                                        </p:tgtEl>
                                        <p:attrNameLst>
                                          <p:attrName>style.visibility</p:attrName>
                                        </p:attrNameLst>
                                      </p:cBhvr>
                                      <p:to>
                                        <p:strVal val="visible"/>
                                      </p:to>
                                    </p:set>
                                    <p:animEffect transition="in" filter="fade">
                                      <p:cBhvr>
                                        <p:cTn id="18" dur="500"/>
                                        <p:tgtEl>
                                          <p:spTgt spid="54"/>
                                        </p:tgtEl>
                                      </p:cBhvr>
                                    </p:animEffect>
                                  </p:childTnLst>
                                </p:cTn>
                              </p:par>
                              <p:par>
                                <p:cTn id="22" presetID="10" presetClass="entr" presetSubtype="0" fill="hold" grpId="0" nodeType="withEffect">
                                  <p:stCondLst>
                                    <p:cond delay="200"/>
                                  </p:stCondLst>
                                  <p:childTnLst>
                                    <p:set>
                                      <p:cBhvr>
                                        <p:cTn id="20" dur="1" fill="hold">
                                          <p:stCondLst>
                                            <p:cond delay="0"/>
                                          </p:stCondLst>
                                        </p:cTn>
                                        <p:tgtEl>
                                          <p:spTgt spid="55"/>
                                        </p:tgtEl>
                                        <p:attrNameLst>
                                          <p:attrName>style.visibility</p:attrName>
                                        </p:attrNameLst>
                                      </p:cBhvr>
                                      <p:to>
                                        <p:strVal val="visible"/>
                                      </p:to>
                                    </p:set>
                                    <p:animEffect transition="in" filter="fade">
                                      <p:cBhvr>
                                        <p:cTn id="21" dur="500"/>
                                        <p:tgtEl>
                                          <p:spTgt spid="55"/>
                                        </p:tgtEl>
                                      </p:cBhvr>
                                    </p:animEffect>
                                  </p:childTnLst>
                                </p:cTn>
                              </p:par>
                              <p:par>
                                <p:cTn id="25" presetID="10" presetClass="entr" presetSubtype="0" fill="hold" grpId="0" nodeType="withEffect">
                                  <p:stCondLst>
                                    <p:cond delay="200"/>
                                  </p:stCondLst>
                                  <p:childTnLst>
                                    <p:set>
                                      <p:cBhvr>
                                        <p:cTn id="23" dur="1" fill="hold">
                                          <p:stCondLst>
                                            <p:cond delay="0"/>
                                          </p:stCondLst>
                                        </p:cTn>
                                        <p:tgtEl>
                                          <p:spTgt spid="56"/>
                                        </p:tgtEl>
                                        <p:attrNameLst>
                                          <p:attrName>style.visibility</p:attrName>
                                        </p:attrNameLst>
                                      </p:cBhvr>
                                      <p:to>
                                        <p:strVal val="visible"/>
                                      </p:to>
                                    </p:set>
                                    <p:animEffect transition="in" filter="fade">
                                      <p:cBhvr>
                                        <p:cTn id="24" dur="500"/>
                                        <p:tgtEl>
                                          <p:spTgt spid="56"/>
                                        </p:tgtEl>
                                      </p:cBhvr>
                                    </p:animEffect>
                                  </p:childTnLst>
                                </p:cTn>
                              </p:par>
                              <p:par>
                                <p:cTn id="28" presetID="10" presetClass="entr" presetSubtype="0" fill="hold" grpId="0" nodeType="withEffect">
                                  <p:stCondLst>
                                    <p:cond delay="200"/>
                                  </p:stCondLst>
                                  <p:childTnLst>
                                    <p:set>
                                      <p:cBhvr>
                                        <p:cTn id="26" dur="1" fill="hold">
                                          <p:stCondLst>
                                            <p:cond delay="0"/>
                                          </p:stCondLst>
                                        </p:cTn>
                                        <p:tgtEl>
                                          <p:spTgt spid="57"/>
                                        </p:tgtEl>
                                        <p:attrNameLst>
                                          <p:attrName>style.visibility</p:attrName>
                                        </p:attrNameLst>
                                      </p:cBhvr>
                                      <p:to>
                                        <p:strVal val="visible"/>
                                      </p:to>
                                    </p:set>
                                    <p:animEffect transition="in" filter="fade">
                                      <p:cBhvr>
                                        <p:cTn id="27" dur="500"/>
                                        <p:tgtEl>
                                          <p:spTgt spid="57"/>
                                        </p:tgtEl>
                                      </p:cBhvr>
                                    </p:animEffect>
                                  </p:childTnLst>
                                </p:cTn>
                              </p:par>
                              <p:par>
                                <p:cTn id="32" presetID="42" presetClass="entr" presetSubtype="0" fill="hold" grpId="0" nodeType="withEffect">
                                  <p:stCondLst>
                                    <p:cond delay="25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450" fill="hold"/>
                                        <p:tgtEl>
                                          <p:spTgt spid="9"/>
                                        </p:tgtEl>
                                        <p:attrNameLst>
                                          <p:attrName>ppt_y</p:attrName>
                                        </p:attrNameLst>
                                      </p:cBhvr>
                                      <p:tavLst>
                                        <p:tav tm="0">
                                          <p:val>
                                            <p:strVal val="#ppt_y+.06"/>
                                          </p:val>
                                        </p:tav>
                                        <p:tav tm="100000">
                                          <p:val>
                                            <p:strVal val="#ppt_y"/>
                                          </p:val>
                                        </p:tav>
                                      </p:tavLst>
                                    </p:anim>
                                    <p:animEffect transition="in" filter="fade">
                                      <p:cBhvr>
                                        <p:cTn id="31" dur="450"/>
                                        <p:tgtEl>
                                          <p:spTgt spid="9"/>
                                        </p:tgtEl>
                                      </p:cBhvr>
                                    </p:animEffect>
                                  </p:childTnLst>
                                </p:cTn>
                              </p:par>
                              <p:par>
                                <p:cTn id="36" presetID="42" presetClass="entr" presetSubtype="0" fill="hold" grpId="0" nodeType="withEffect">
                                  <p:stCondLst>
                                    <p:cond delay="25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450" fill="hold"/>
                                        <p:tgtEl>
                                          <p:spTgt spid="10"/>
                                        </p:tgtEl>
                                        <p:attrNameLst>
                                          <p:attrName>ppt_y</p:attrName>
                                        </p:attrNameLst>
                                      </p:cBhvr>
                                      <p:tavLst>
                                        <p:tav tm="0">
                                          <p:val>
                                            <p:strVal val="#ppt_y+.06"/>
                                          </p:val>
                                        </p:tav>
                                        <p:tav tm="100000">
                                          <p:val>
                                            <p:strVal val="#ppt_y"/>
                                          </p:val>
                                        </p:tav>
                                      </p:tavLst>
                                    </p:anim>
                                    <p:animEffect transition="in" filter="fade">
                                      <p:cBhvr>
                                        <p:cTn id="35" dur="450"/>
                                        <p:tgtEl>
                                          <p:spTgt spid="10"/>
                                        </p:tgtEl>
                                      </p:cBhvr>
                                    </p:animEffect>
                                  </p:childTnLst>
                                </p:cTn>
                              </p:par>
                              <p:par>
                                <p:cTn id="40" presetID="42" presetClass="entr" presetSubtype="0" fill="hold" grpId="0" nodeType="withEffect">
                                  <p:stCondLst>
                                    <p:cond delay="25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450" fill="hold"/>
                                        <p:tgtEl>
                                          <p:spTgt spid="11"/>
                                        </p:tgtEl>
                                        <p:attrNameLst>
                                          <p:attrName>ppt_y</p:attrName>
                                        </p:attrNameLst>
                                      </p:cBhvr>
                                      <p:tavLst>
                                        <p:tav tm="0">
                                          <p:val>
                                            <p:strVal val="#ppt_y+.06"/>
                                          </p:val>
                                        </p:tav>
                                        <p:tav tm="100000">
                                          <p:val>
                                            <p:strVal val="#ppt_y"/>
                                          </p:val>
                                        </p:tav>
                                      </p:tavLst>
                                    </p:anim>
                                    <p:animEffect transition="in" filter="fade">
                                      <p:cBhvr>
                                        <p:cTn id="39" dur="450"/>
                                        <p:tgtEl>
                                          <p:spTgt spid="11"/>
                                        </p:tgtEl>
                                      </p:cBhvr>
                                    </p:animEffect>
                                  </p:childTnLst>
                                </p:cTn>
                              </p:par>
                              <p:par>
                                <p:cTn id="44" presetID="42" presetClass="entr" presetSubtype="0" fill="hold" grpId="0" nodeType="withEffect">
                                  <p:stCondLst>
                                    <p:cond delay="25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450" fill="hold"/>
                                        <p:tgtEl>
                                          <p:spTgt spid="12"/>
                                        </p:tgtEl>
                                        <p:attrNameLst>
                                          <p:attrName>ppt_y</p:attrName>
                                        </p:attrNameLst>
                                      </p:cBhvr>
                                      <p:tavLst>
                                        <p:tav tm="0">
                                          <p:val>
                                            <p:strVal val="#ppt_y+.06"/>
                                          </p:val>
                                        </p:tav>
                                        <p:tav tm="100000">
                                          <p:val>
                                            <p:strVal val="#ppt_y"/>
                                          </p:val>
                                        </p:tav>
                                      </p:tavLst>
                                    </p:anim>
                                    <p:animEffect transition="in" filter="fade">
                                      <p:cBhvr>
                                        <p:cTn id="43" dur="450"/>
                                        <p:tgtEl>
                                          <p:spTgt spid="12"/>
                                        </p:tgtEl>
                                      </p:cBhvr>
                                    </p:animEffect>
                                  </p:childTnLst>
                                </p:cTn>
                              </p:par>
                              <p:par>
                                <p:cTn id="48" presetID="42" presetClass="entr" presetSubtype="0" fill="hold" grpId="0" nodeType="withEffect">
                                  <p:stCondLst>
                                    <p:cond delay="25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450" fill="hold"/>
                                        <p:tgtEl>
                                          <p:spTgt spid="13"/>
                                        </p:tgtEl>
                                        <p:attrNameLst>
                                          <p:attrName>ppt_y</p:attrName>
                                        </p:attrNameLst>
                                      </p:cBhvr>
                                      <p:tavLst>
                                        <p:tav tm="0">
                                          <p:val>
                                            <p:strVal val="#ppt_y+.06"/>
                                          </p:val>
                                        </p:tav>
                                        <p:tav tm="100000">
                                          <p:val>
                                            <p:strVal val="#ppt_y"/>
                                          </p:val>
                                        </p:tav>
                                      </p:tavLst>
                                    </p:anim>
                                    <p:animEffect transition="in" filter="fade">
                                      <p:cBhvr>
                                        <p:cTn id="47" dur="450"/>
                                        <p:tgtEl>
                                          <p:spTgt spid="13"/>
                                        </p:tgtEl>
                                      </p:cBhvr>
                                    </p:animEffect>
                                  </p:childTnLst>
                                </p:cTn>
                              </p:par>
                              <p:par>
                                <p:cTn id="51" presetID="22" presetClass="entr" presetSubtype="8" fill="hold" grpId="0" nodeType="withEffect">
                                  <p:stCondLst>
                                    <p:cond delay="250"/>
                                  </p:stCondLst>
                                  <p:childTnLst>
                                    <p:set>
                                      <p:cBhvr>
                                        <p:cTn id="49" dur="1" fill="hold">
                                          <p:stCondLst>
                                            <p:cond delay="0"/>
                                          </p:stCondLst>
                                        </p:cTn>
                                        <p:tgtEl>
                                          <p:spTgt spid="4"/>
                                        </p:tgtEl>
                                        <p:attrNameLst>
                                          <p:attrName>style.visibility</p:attrName>
                                        </p:attrNameLst>
                                      </p:cBhvr>
                                      <p:to>
                                        <p:strVal val="visible"/>
                                      </p:to>
                                    </p:set>
                                    <p:animEffect transition="in" filter="wipe(left)">
                                      <p:cBhvr>
                                        <p:cTn id="50" dur="1500"/>
                                        <p:tgtEl>
                                          <p:spTgt spid="4"/>
                                        </p:tgtEl>
                                      </p:cBhvr>
                                    </p:animEffect>
                                  </p:childTnLst>
                                </p:cTn>
                              </p:par>
                              <p:par>
                                <p:cTn id="53" presetID="0" presetClass="path" presetSubtype="0" accel="50000" decel="50000" fill="hold" nodeType="withEffect">
                                  <p:stCondLst>
                                    <p:cond delay="500"/>
                                  </p:stCondLst>
                                  <p:childTnLst>
                                    <p:animMotion origin="layout" path="M -0.0578 0 L 0 0 E" pathEditMode="relative" rAng="0" ptsTypes="AA">
                                      <p:cBhvr>
                                        <p:cTn id="52" dur="1100" fill="hold"/>
                                        <p:tgtEl>
                                          <p:spTgt spid="58"/>
                                        </p:tgtEl>
                                        <p:attrNameLst>
                                          <p:attrName>ppt_x</p:attrName>
                                          <p:attrName>ppt_y</p:attrName>
                                        </p:attrNameLst>
                                      </p:cBhvr>
                                    </p:animMotion>
                                  </p:childTnLst>
                                </p:cTn>
                              </p:par>
                              <p:par>
                                <p:cTn id="56" presetID="22" presetClass="entr" presetSubtype="8" fill="hold" grpId="0" nodeType="withEffect">
                                  <p:stCondLst>
                                    <p:cond delay="500"/>
                                  </p:stCondLst>
                                  <p:childTnLst>
                                    <p:set>
                                      <p:cBhvr>
                                        <p:cTn id="54" dur="1" fill="hold">
                                          <p:stCondLst>
                                            <p:cond delay="0"/>
                                          </p:stCondLst>
                                        </p:cTn>
                                        <p:tgtEl>
                                          <p:spTgt spid="51"/>
                                        </p:tgtEl>
                                        <p:attrNameLst>
                                          <p:attrName>style.visibility</p:attrName>
                                        </p:attrNameLst>
                                      </p:cBhvr>
                                      <p:to>
                                        <p:strVal val="visible"/>
                                      </p:to>
                                    </p:set>
                                    <p:animEffect transition="in" filter="wipe(left)">
                                      <p:cBhvr>
                                        <p:cTn id="55" dur="1100"/>
                                        <p:tgtEl>
                                          <p:spTgt spid="51"/>
                                        </p:tgtEl>
                                      </p:cBhvr>
                                    </p:animEffect>
                                  </p:childTnLst>
                                </p:cTn>
                              </p:par>
                              <p:par>
                                <p:cTn id="60" presetID="42" presetClass="entr" presetSubtype="0" fill="hold" grpId="0" nodeType="withEffect">
                                  <p:stCondLst>
                                    <p:cond delay="550"/>
                                  </p:stCondLst>
                                  <p:childTnLst>
                                    <p:set>
                                      <p:cBhvr>
                                        <p:cTn id="57" dur="1" fill="hold">
                                          <p:stCondLst>
                                            <p:cond delay="0"/>
                                          </p:stCondLst>
                                        </p:cTn>
                                        <p:tgtEl>
                                          <p:spTgt spid="14"/>
                                        </p:tgtEl>
                                        <p:attrNameLst>
                                          <p:attrName>style.visibility</p:attrName>
                                        </p:attrNameLst>
                                      </p:cBhvr>
                                      <p:to>
                                        <p:strVal val="visible"/>
                                      </p:to>
                                    </p:set>
                                    <p:anim calcmode="lin" valueType="num">
                                      <p:cBhvr additive="base">
                                        <p:cTn id="58" dur="450" fill="hold"/>
                                        <p:tgtEl>
                                          <p:spTgt spid="14"/>
                                        </p:tgtEl>
                                        <p:attrNameLst>
                                          <p:attrName>ppt_y</p:attrName>
                                        </p:attrNameLst>
                                      </p:cBhvr>
                                      <p:tavLst>
                                        <p:tav tm="0">
                                          <p:val>
                                            <p:strVal val="#ppt_y+.06"/>
                                          </p:val>
                                        </p:tav>
                                        <p:tav tm="100000">
                                          <p:val>
                                            <p:strVal val="#ppt_y"/>
                                          </p:val>
                                        </p:tav>
                                      </p:tavLst>
                                    </p:anim>
                                    <p:animEffect transition="in" filter="fade">
                                      <p:cBhvr>
                                        <p:cTn id="59" dur="450"/>
                                        <p:tgtEl>
                                          <p:spTgt spid="14"/>
                                        </p:tgtEl>
                                      </p:cBhvr>
                                    </p:animEffect>
                                  </p:childTnLst>
                                </p:cTn>
                              </p:par>
                              <p:par>
                                <p:cTn id="64" presetID="42" presetClass="entr" presetSubtype="0" fill="hold" grpId="0" nodeType="withEffect">
                                  <p:stCondLst>
                                    <p:cond delay="55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450" fill="hold"/>
                                        <p:tgtEl>
                                          <p:spTgt spid="15"/>
                                        </p:tgtEl>
                                        <p:attrNameLst>
                                          <p:attrName>ppt_y</p:attrName>
                                        </p:attrNameLst>
                                      </p:cBhvr>
                                      <p:tavLst>
                                        <p:tav tm="0">
                                          <p:val>
                                            <p:strVal val="#ppt_y+.06"/>
                                          </p:val>
                                        </p:tav>
                                        <p:tav tm="100000">
                                          <p:val>
                                            <p:strVal val="#ppt_y"/>
                                          </p:val>
                                        </p:tav>
                                      </p:tavLst>
                                    </p:anim>
                                    <p:animEffect transition="in" filter="fade">
                                      <p:cBhvr>
                                        <p:cTn id="63" dur="450"/>
                                        <p:tgtEl>
                                          <p:spTgt spid="15"/>
                                        </p:tgtEl>
                                      </p:cBhvr>
                                    </p:animEffect>
                                  </p:childTnLst>
                                </p:cTn>
                              </p:par>
                              <p:par>
                                <p:cTn id="68" presetID="42" presetClass="entr" presetSubtype="0" fill="hold" grpId="0" nodeType="withEffect">
                                  <p:stCondLst>
                                    <p:cond delay="550"/>
                                  </p:stCondLst>
                                  <p:childTnLst>
                                    <p:set>
                                      <p:cBhvr>
                                        <p:cTn id="65" dur="1" fill="hold">
                                          <p:stCondLst>
                                            <p:cond delay="0"/>
                                          </p:stCondLst>
                                        </p:cTn>
                                        <p:tgtEl>
                                          <p:spTgt spid="16"/>
                                        </p:tgtEl>
                                        <p:attrNameLst>
                                          <p:attrName>style.visibility</p:attrName>
                                        </p:attrNameLst>
                                      </p:cBhvr>
                                      <p:to>
                                        <p:strVal val="visible"/>
                                      </p:to>
                                    </p:set>
                                    <p:anim calcmode="lin" valueType="num">
                                      <p:cBhvr additive="base">
                                        <p:cTn id="66" dur="450" fill="hold"/>
                                        <p:tgtEl>
                                          <p:spTgt spid="16"/>
                                        </p:tgtEl>
                                        <p:attrNameLst>
                                          <p:attrName>ppt_y</p:attrName>
                                        </p:attrNameLst>
                                      </p:cBhvr>
                                      <p:tavLst>
                                        <p:tav tm="0">
                                          <p:val>
                                            <p:strVal val="#ppt_y+.06"/>
                                          </p:val>
                                        </p:tav>
                                        <p:tav tm="100000">
                                          <p:val>
                                            <p:strVal val="#ppt_y"/>
                                          </p:val>
                                        </p:tav>
                                      </p:tavLst>
                                    </p:anim>
                                    <p:animEffect transition="in" filter="fade">
                                      <p:cBhvr>
                                        <p:cTn id="67" dur="450"/>
                                        <p:tgtEl>
                                          <p:spTgt spid="16"/>
                                        </p:tgtEl>
                                      </p:cBhvr>
                                    </p:animEffect>
                                  </p:childTnLst>
                                </p:cTn>
                              </p:par>
                              <p:par>
                                <p:cTn id="72" presetID="42" presetClass="entr" presetSubtype="0" fill="hold" grpId="0" nodeType="withEffect">
                                  <p:stCondLst>
                                    <p:cond delay="550"/>
                                  </p:stCondLst>
                                  <p:childTnLst>
                                    <p:set>
                                      <p:cBhvr>
                                        <p:cTn id="69" dur="1" fill="hold">
                                          <p:stCondLst>
                                            <p:cond delay="0"/>
                                          </p:stCondLst>
                                        </p:cTn>
                                        <p:tgtEl>
                                          <p:spTgt spid="17"/>
                                        </p:tgtEl>
                                        <p:attrNameLst>
                                          <p:attrName>style.visibility</p:attrName>
                                        </p:attrNameLst>
                                      </p:cBhvr>
                                      <p:to>
                                        <p:strVal val="visible"/>
                                      </p:to>
                                    </p:set>
                                    <p:anim calcmode="lin" valueType="num">
                                      <p:cBhvr additive="base">
                                        <p:cTn id="70" dur="450" fill="hold"/>
                                        <p:tgtEl>
                                          <p:spTgt spid="17"/>
                                        </p:tgtEl>
                                        <p:attrNameLst>
                                          <p:attrName>ppt_y</p:attrName>
                                        </p:attrNameLst>
                                      </p:cBhvr>
                                      <p:tavLst>
                                        <p:tav tm="0">
                                          <p:val>
                                            <p:strVal val="#ppt_y+.06"/>
                                          </p:val>
                                        </p:tav>
                                        <p:tav tm="100000">
                                          <p:val>
                                            <p:strVal val="#ppt_y"/>
                                          </p:val>
                                        </p:tav>
                                      </p:tavLst>
                                    </p:anim>
                                    <p:animEffect transition="in" filter="fade">
                                      <p:cBhvr>
                                        <p:cTn id="71" dur="450"/>
                                        <p:tgtEl>
                                          <p:spTgt spid="17"/>
                                        </p:tgtEl>
                                      </p:cBhvr>
                                    </p:animEffect>
                                  </p:childTnLst>
                                </p:cTn>
                              </p:par>
                              <p:par>
                                <p:cTn id="76" presetID="42" presetClass="entr" presetSubtype="0" fill="hold" grpId="0" nodeType="withEffect">
                                  <p:stCondLst>
                                    <p:cond delay="550"/>
                                  </p:stCondLst>
                                  <p:childTnLst>
                                    <p:set>
                                      <p:cBhvr>
                                        <p:cTn id="73" dur="1" fill="hold">
                                          <p:stCondLst>
                                            <p:cond delay="0"/>
                                          </p:stCondLst>
                                        </p:cTn>
                                        <p:tgtEl>
                                          <p:spTgt spid="18"/>
                                        </p:tgtEl>
                                        <p:attrNameLst>
                                          <p:attrName>style.visibility</p:attrName>
                                        </p:attrNameLst>
                                      </p:cBhvr>
                                      <p:to>
                                        <p:strVal val="visible"/>
                                      </p:to>
                                    </p:set>
                                    <p:anim calcmode="lin" valueType="num">
                                      <p:cBhvr additive="base">
                                        <p:cTn id="74" dur="450" fill="hold"/>
                                        <p:tgtEl>
                                          <p:spTgt spid="18"/>
                                        </p:tgtEl>
                                        <p:attrNameLst>
                                          <p:attrName>ppt_y</p:attrName>
                                        </p:attrNameLst>
                                      </p:cBhvr>
                                      <p:tavLst>
                                        <p:tav tm="0">
                                          <p:val>
                                            <p:strVal val="#ppt_y+.06"/>
                                          </p:val>
                                        </p:tav>
                                        <p:tav tm="100000">
                                          <p:val>
                                            <p:strVal val="#ppt_y"/>
                                          </p:val>
                                        </p:tav>
                                      </p:tavLst>
                                    </p:anim>
                                    <p:animEffect transition="in" filter="fade">
                                      <p:cBhvr>
                                        <p:cTn id="75" dur="450"/>
                                        <p:tgtEl>
                                          <p:spTgt spid="18"/>
                                        </p:tgtEl>
                                      </p:cBhvr>
                                    </p:animEffect>
                                  </p:childTnLst>
                                </p:cTn>
                              </p:par>
                              <p:par>
                                <p:cTn id="80" presetID="42" presetClass="entr" presetSubtype="0" fill="hold" grpId="0" nodeType="withEffect">
                                  <p:stCondLst>
                                    <p:cond delay="850"/>
                                  </p:stCondLst>
                                  <p:childTnLst>
                                    <p:set>
                                      <p:cBhvr>
                                        <p:cTn id="77" dur="1" fill="hold">
                                          <p:stCondLst>
                                            <p:cond delay="0"/>
                                          </p:stCondLst>
                                        </p:cTn>
                                        <p:tgtEl>
                                          <p:spTgt spid="19"/>
                                        </p:tgtEl>
                                        <p:attrNameLst>
                                          <p:attrName>style.visibility</p:attrName>
                                        </p:attrNameLst>
                                      </p:cBhvr>
                                      <p:to>
                                        <p:strVal val="visible"/>
                                      </p:to>
                                    </p:set>
                                    <p:anim calcmode="lin" valueType="num">
                                      <p:cBhvr additive="base">
                                        <p:cTn id="78" dur="450" fill="hold"/>
                                        <p:tgtEl>
                                          <p:spTgt spid="19"/>
                                        </p:tgtEl>
                                        <p:attrNameLst>
                                          <p:attrName>ppt_y</p:attrName>
                                        </p:attrNameLst>
                                      </p:cBhvr>
                                      <p:tavLst>
                                        <p:tav tm="0">
                                          <p:val>
                                            <p:strVal val="#ppt_y+.06"/>
                                          </p:val>
                                        </p:tav>
                                        <p:tav tm="100000">
                                          <p:val>
                                            <p:strVal val="#ppt_y"/>
                                          </p:val>
                                        </p:tav>
                                      </p:tavLst>
                                    </p:anim>
                                    <p:animEffect transition="in" filter="fade">
                                      <p:cBhvr>
                                        <p:cTn id="79" dur="450"/>
                                        <p:tgtEl>
                                          <p:spTgt spid="19"/>
                                        </p:tgtEl>
                                      </p:cBhvr>
                                    </p:animEffect>
                                  </p:childTnLst>
                                </p:cTn>
                              </p:par>
                              <p:par>
                                <p:cTn id="84" presetID="42" presetClass="entr" presetSubtype="0" fill="hold" grpId="0" nodeType="withEffect">
                                  <p:stCondLst>
                                    <p:cond delay="850"/>
                                  </p:stCondLst>
                                  <p:childTnLst>
                                    <p:set>
                                      <p:cBhvr>
                                        <p:cTn id="81" dur="1" fill="hold">
                                          <p:stCondLst>
                                            <p:cond delay="0"/>
                                          </p:stCondLst>
                                        </p:cTn>
                                        <p:tgtEl>
                                          <p:spTgt spid="20"/>
                                        </p:tgtEl>
                                        <p:attrNameLst>
                                          <p:attrName>style.visibility</p:attrName>
                                        </p:attrNameLst>
                                      </p:cBhvr>
                                      <p:to>
                                        <p:strVal val="visible"/>
                                      </p:to>
                                    </p:set>
                                    <p:anim calcmode="lin" valueType="num">
                                      <p:cBhvr additive="base">
                                        <p:cTn id="82" dur="450" fill="hold"/>
                                        <p:tgtEl>
                                          <p:spTgt spid="20"/>
                                        </p:tgtEl>
                                        <p:attrNameLst>
                                          <p:attrName>ppt_y</p:attrName>
                                        </p:attrNameLst>
                                      </p:cBhvr>
                                      <p:tavLst>
                                        <p:tav tm="0">
                                          <p:val>
                                            <p:strVal val="#ppt_y+.06"/>
                                          </p:val>
                                        </p:tav>
                                        <p:tav tm="100000">
                                          <p:val>
                                            <p:strVal val="#ppt_y"/>
                                          </p:val>
                                        </p:tav>
                                      </p:tavLst>
                                    </p:anim>
                                    <p:animEffect transition="in" filter="fade">
                                      <p:cBhvr>
                                        <p:cTn id="83" dur="450"/>
                                        <p:tgtEl>
                                          <p:spTgt spid="20"/>
                                        </p:tgtEl>
                                      </p:cBhvr>
                                    </p:animEffect>
                                  </p:childTnLst>
                                </p:cTn>
                              </p:par>
                              <p:par>
                                <p:cTn id="88" presetID="42" presetClass="entr" presetSubtype="0" fill="hold" grpId="0" nodeType="withEffect">
                                  <p:stCondLst>
                                    <p:cond delay="850"/>
                                  </p:stCondLst>
                                  <p:childTnLst>
                                    <p:set>
                                      <p:cBhvr>
                                        <p:cTn id="85" dur="1" fill="hold">
                                          <p:stCondLst>
                                            <p:cond delay="0"/>
                                          </p:stCondLst>
                                        </p:cTn>
                                        <p:tgtEl>
                                          <p:spTgt spid="21"/>
                                        </p:tgtEl>
                                        <p:attrNameLst>
                                          <p:attrName>style.visibility</p:attrName>
                                        </p:attrNameLst>
                                      </p:cBhvr>
                                      <p:to>
                                        <p:strVal val="visible"/>
                                      </p:to>
                                    </p:set>
                                    <p:anim calcmode="lin" valueType="num">
                                      <p:cBhvr additive="base">
                                        <p:cTn id="86" dur="450" fill="hold"/>
                                        <p:tgtEl>
                                          <p:spTgt spid="21"/>
                                        </p:tgtEl>
                                        <p:attrNameLst>
                                          <p:attrName>ppt_y</p:attrName>
                                        </p:attrNameLst>
                                      </p:cBhvr>
                                      <p:tavLst>
                                        <p:tav tm="0">
                                          <p:val>
                                            <p:strVal val="#ppt_y+.06"/>
                                          </p:val>
                                        </p:tav>
                                        <p:tav tm="100000">
                                          <p:val>
                                            <p:strVal val="#ppt_y"/>
                                          </p:val>
                                        </p:tav>
                                      </p:tavLst>
                                    </p:anim>
                                    <p:animEffect transition="in" filter="fade">
                                      <p:cBhvr>
                                        <p:cTn id="87" dur="450"/>
                                        <p:tgtEl>
                                          <p:spTgt spid="21"/>
                                        </p:tgtEl>
                                      </p:cBhvr>
                                    </p:animEffect>
                                  </p:childTnLst>
                                </p:cTn>
                              </p:par>
                              <p:par>
                                <p:cTn id="92" presetID="42" presetClass="entr" presetSubtype="0" fill="hold" grpId="0" nodeType="withEffect">
                                  <p:stCondLst>
                                    <p:cond delay="850"/>
                                  </p:stCondLst>
                                  <p:childTnLst>
                                    <p:set>
                                      <p:cBhvr>
                                        <p:cTn id="89" dur="1" fill="hold">
                                          <p:stCondLst>
                                            <p:cond delay="0"/>
                                          </p:stCondLst>
                                        </p:cTn>
                                        <p:tgtEl>
                                          <p:spTgt spid="22"/>
                                        </p:tgtEl>
                                        <p:attrNameLst>
                                          <p:attrName>style.visibility</p:attrName>
                                        </p:attrNameLst>
                                      </p:cBhvr>
                                      <p:to>
                                        <p:strVal val="visible"/>
                                      </p:to>
                                    </p:set>
                                    <p:anim calcmode="lin" valueType="num">
                                      <p:cBhvr additive="base">
                                        <p:cTn id="90" dur="450" fill="hold"/>
                                        <p:tgtEl>
                                          <p:spTgt spid="22"/>
                                        </p:tgtEl>
                                        <p:attrNameLst>
                                          <p:attrName>ppt_y</p:attrName>
                                        </p:attrNameLst>
                                      </p:cBhvr>
                                      <p:tavLst>
                                        <p:tav tm="0">
                                          <p:val>
                                            <p:strVal val="#ppt_y+.06"/>
                                          </p:val>
                                        </p:tav>
                                        <p:tav tm="100000">
                                          <p:val>
                                            <p:strVal val="#ppt_y"/>
                                          </p:val>
                                        </p:tav>
                                      </p:tavLst>
                                    </p:anim>
                                    <p:animEffect transition="in" filter="fade">
                                      <p:cBhvr>
                                        <p:cTn id="91" dur="450"/>
                                        <p:tgtEl>
                                          <p:spTgt spid="22"/>
                                        </p:tgtEl>
                                      </p:cBhvr>
                                    </p:animEffect>
                                  </p:childTnLst>
                                </p:cTn>
                              </p:par>
                              <p:par>
                                <p:cTn id="96" presetID="42" presetClass="entr" presetSubtype="0" fill="hold" grpId="0" nodeType="withEffect">
                                  <p:stCondLst>
                                    <p:cond delay="850"/>
                                  </p:stCondLst>
                                  <p:childTnLst>
                                    <p:set>
                                      <p:cBhvr>
                                        <p:cTn id="93" dur="1" fill="hold">
                                          <p:stCondLst>
                                            <p:cond delay="0"/>
                                          </p:stCondLst>
                                        </p:cTn>
                                        <p:tgtEl>
                                          <p:spTgt spid="23"/>
                                        </p:tgtEl>
                                        <p:attrNameLst>
                                          <p:attrName>style.visibility</p:attrName>
                                        </p:attrNameLst>
                                      </p:cBhvr>
                                      <p:to>
                                        <p:strVal val="visible"/>
                                      </p:to>
                                    </p:set>
                                    <p:anim calcmode="lin" valueType="num">
                                      <p:cBhvr additive="base">
                                        <p:cTn id="94" dur="450" fill="hold"/>
                                        <p:tgtEl>
                                          <p:spTgt spid="23"/>
                                        </p:tgtEl>
                                        <p:attrNameLst>
                                          <p:attrName>ppt_y</p:attrName>
                                        </p:attrNameLst>
                                      </p:cBhvr>
                                      <p:tavLst>
                                        <p:tav tm="0">
                                          <p:val>
                                            <p:strVal val="#ppt_y+.06"/>
                                          </p:val>
                                        </p:tav>
                                        <p:tav tm="100000">
                                          <p:val>
                                            <p:strVal val="#ppt_y"/>
                                          </p:val>
                                        </p:tav>
                                      </p:tavLst>
                                    </p:anim>
                                    <p:animEffect transition="in" filter="fade">
                                      <p:cBhvr>
                                        <p:cTn id="95" dur="450"/>
                                        <p:tgtEl>
                                          <p:spTgt spid="23"/>
                                        </p:tgtEl>
                                      </p:cBhvr>
                                    </p:animEffect>
                                  </p:childTnLst>
                                </p:cTn>
                              </p:par>
                              <p:par>
                                <p:cTn id="100" presetID="42" presetClass="entr" presetSubtype="0" fill="hold" grpId="0" nodeType="withEffect">
                                  <p:stCondLst>
                                    <p:cond delay="1150"/>
                                  </p:stCondLst>
                                  <p:childTnLst>
                                    <p:set>
                                      <p:cBhvr>
                                        <p:cTn id="97" dur="1" fill="hold">
                                          <p:stCondLst>
                                            <p:cond delay="0"/>
                                          </p:stCondLst>
                                        </p:cTn>
                                        <p:tgtEl>
                                          <p:spTgt spid="24"/>
                                        </p:tgtEl>
                                        <p:attrNameLst>
                                          <p:attrName>style.visibility</p:attrName>
                                        </p:attrNameLst>
                                      </p:cBhvr>
                                      <p:to>
                                        <p:strVal val="visible"/>
                                      </p:to>
                                    </p:set>
                                    <p:anim calcmode="lin" valueType="num">
                                      <p:cBhvr additive="base">
                                        <p:cTn id="98" dur="450" fill="hold"/>
                                        <p:tgtEl>
                                          <p:spTgt spid="24"/>
                                        </p:tgtEl>
                                        <p:attrNameLst>
                                          <p:attrName>ppt_y</p:attrName>
                                        </p:attrNameLst>
                                      </p:cBhvr>
                                      <p:tavLst>
                                        <p:tav tm="0">
                                          <p:val>
                                            <p:strVal val="#ppt_y+.06"/>
                                          </p:val>
                                        </p:tav>
                                        <p:tav tm="100000">
                                          <p:val>
                                            <p:strVal val="#ppt_y"/>
                                          </p:val>
                                        </p:tav>
                                      </p:tavLst>
                                    </p:anim>
                                    <p:animEffect transition="in" filter="fade">
                                      <p:cBhvr>
                                        <p:cTn id="99" dur="450"/>
                                        <p:tgtEl>
                                          <p:spTgt spid="24"/>
                                        </p:tgtEl>
                                      </p:cBhvr>
                                    </p:animEffect>
                                  </p:childTnLst>
                                </p:cTn>
                              </p:par>
                              <p:par>
                                <p:cTn id="104" presetID="42" presetClass="entr" presetSubtype="0" fill="hold" grpId="0" nodeType="withEffect">
                                  <p:stCondLst>
                                    <p:cond delay="1150"/>
                                  </p:stCondLst>
                                  <p:childTnLst>
                                    <p:set>
                                      <p:cBhvr>
                                        <p:cTn id="101" dur="1" fill="hold">
                                          <p:stCondLst>
                                            <p:cond delay="0"/>
                                          </p:stCondLst>
                                        </p:cTn>
                                        <p:tgtEl>
                                          <p:spTgt spid="25"/>
                                        </p:tgtEl>
                                        <p:attrNameLst>
                                          <p:attrName>style.visibility</p:attrName>
                                        </p:attrNameLst>
                                      </p:cBhvr>
                                      <p:to>
                                        <p:strVal val="visible"/>
                                      </p:to>
                                    </p:set>
                                    <p:anim calcmode="lin" valueType="num">
                                      <p:cBhvr additive="base">
                                        <p:cTn id="102" dur="450" fill="hold"/>
                                        <p:tgtEl>
                                          <p:spTgt spid="25"/>
                                        </p:tgtEl>
                                        <p:attrNameLst>
                                          <p:attrName>ppt_y</p:attrName>
                                        </p:attrNameLst>
                                      </p:cBhvr>
                                      <p:tavLst>
                                        <p:tav tm="0">
                                          <p:val>
                                            <p:strVal val="#ppt_y+.06"/>
                                          </p:val>
                                        </p:tav>
                                        <p:tav tm="100000">
                                          <p:val>
                                            <p:strVal val="#ppt_y"/>
                                          </p:val>
                                        </p:tav>
                                      </p:tavLst>
                                    </p:anim>
                                    <p:animEffect transition="in" filter="fade">
                                      <p:cBhvr>
                                        <p:cTn id="103" dur="450"/>
                                        <p:tgtEl>
                                          <p:spTgt spid="25"/>
                                        </p:tgtEl>
                                      </p:cBhvr>
                                    </p:animEffect>
                                  </p:childTnLst>
                                </p:cTn>
                              </p:par>
                              <p:par>
                                <p:cTn id="108" presetID="42" presetClass="entr" presetSubtype="0" fill="hold" grpId="0" nodeType="withEffect">
                                  <p:stCondLst>
                                    <p:cond delay="1150"/>
                                  </p:stCondLst>
                                  <p:childTnLst>
                                    <p:set>
                                      <p:cBhvr>
                                        <p:cTn id="105" dur="1" fill="hold">
                                          <p:stCondLst>
                                            <p:cond delay="0"/>
                                          </p:stCondLst>
                                        </p:cTn>
                                        <p:tgtEl>
                                          <p:spTgt spid="26"/>
                                        </p:tgtEl>
                                        <p:attrNameLst>
                                          <p:attrName>style.visibility</p:attrName>
                                        </p:attrNameLst>
                                      </p:cBhvr>
                                      <p:to>
                                        <p:strVal val="visible"/>
                                      </p:to>
                                    </p:set>
                                    <p:anim calcmode="lin" valueType="num">
                                      <p:cBhvr additive="base">
                                        <p:cTn id="106" dur="450" fill="hold"/>
                                        <p:tgtEl>
                                          <p:spTgt spid="26"/>
                                        </p:tgtEl>
                                        <p:attrNameLst>
                                          <p:attrName>ppt_y</p:attrName>
                                        </p:attrNameLst>
                                      </p:cBhvr>
                                      <p:tavLst>
                                        <p:tav tm="0">
                                          <p:val>
                                            <p:strVal val="#ppt_y+.06"/>
                                          </p:val>
                                        </p:tav>
                                        <p:tav tm="100000">
                                          <p:val>
                                            <p:strVal val="#ppt_y"/>
                                          </p:val>
                                        </p:tav>
                                      </p:tavLst>
                                    </p:anim>
                                    <p:animEffect transition="in" filter="fade">
                                      <p:cBhvr>
                                        <p:cTn id="107" dur="450"/>
                                        <p:tgtEl>
                                          <p:spTgt spid="26"/>
                                        </p:tgtEl>
                                      </p:cBhvr>
                                    </p:animEffect>
                                  </p:childTnLst>
                                </p:cTn>
                              </p:par>
                              <p:par>
                                <p:cTn id="112" presetID="42" presetClass="entr" presetSubtype="0" fill="hold" grpId="0" nodeType="withEffect">
                                  <p:stCondLst>
                                    <p:cond delay="1150"/>
                                  </p:stCondLst>
                                  <p:childTnLst>
                                    <p:set>
                                      <p:cBhvr>
                                        <p:cTn id="109" dur="1" fill="hold">
                                          <p:stCondLst>
                                            <p:cond delay="0"/>
                                          </p:stCondLst>
                                        </p:cTn>
                                        <p:tgtEl>
                                          <p:spTgt spid="27"/>
                                        </p:tgtEl>
                                        <p:attrNameLst>
                                          <p:attrName>style.visibility</p:attrName>
                                        </p:attrNameLst>
                                      </p:cBhvr>
                                      <p:to>
                                        <p:strVal val="visible"/>
                                      </p:to>
                                    </p:set>
                                    <p:anim calcmode="lin" valueType="num">
                                      <p:cBhvr additive="base">
                                        <p:cTn id="110" dur="450" fill="hold"/>
                                        <p:tgtEl>
                                          <p:spTgt spid="27"/>
                                        </p:tgtEl>
                                        <p:attrNameLst>
                                          <p:attrName>ppt_y</p:attrName>
                                        </p:attrNameLst>
                                      </p:cBhvr>
                                      <p:tavLst>
                                        <p:tav tm="0">
                                          <p:val>
                                            <p:strVal val="#ppt_y+.06"/>
                                          </p:val>
                                        </p:tav>
                                        <p:tav tm="100000">
                                          <p:val>
                                            <p:strVal val="#ppt_y"/>
                                          </p:val>
                                        </p:tav>
                                      </p:tavLst>
                                    </p:anim>
                                    <p:animEffect transition="in" filter="fade">
                                      <p:cBhvr>
                                        <p:cTn id="111" dur="450"/>
                                        <p:tgtEl>
                                          <p:spTgt spid="27"/>
                                        </p:tgtEl>
                                      </p:cBhvr>
                                    </p:animEffect>
                                  </p:childTnLst>
                                </p:cTn>
                              </p:par>
                              <p:par>
                                <p:cTn id="116" presetID="42" presetClass="entr" presetSubtype="0" fill="hold" grpId="0" nodeType="withEffect">
                                  <p:stCondLst>
                                    <p:cond delay="1150"/>
                                  </p:stCondLst>
                                  <p:childTnLst>
                                    <p:set>
                                      <p:cBhvr>
                                        <p:cTn id="113" dur="1" fill="hold">
                                          <p:stCondLst>
                                            <p:cond delay="0"/>
                                          </p:stCondLst>
                                        </p:cTn>
                                        <p:tgtEl>
                                          <p:spTgt spid="28"/>
                                        </p:tgtEl>
                                        <p:attrNameLst>
                                          <p:attrName>style.visibility</p:attrName>
                                        </p:attrNameLst>
                                      </p:cBhvr>
                                      <p:to>
                                        <p:strVal val="visible"/>
                                      </p:to>
                                    </p:set>
                                    <p:anim calcmode="lin" valueType="num">
                                      <p:cBhvr additive="base">
                                        <p:cTn id="114" dur="450" fill="hold"/>
                                        <p:tgtEl>
                                          <p:spTgt spid="28"/>
                                        </p:tgtEl>
                                        <p:attrNameLst>
                                          <p:attrName>ppt_y</p:attrName>
                                        </p:attrNameLst>
                                      </p:cBhvr>
                                      <p:tavLst>
                                        <p:tav tm="0">
                                          <p:val>
                                            <p:strVal val="#ppt_y+.06"/>
                                          </p:val>
                                        </p:tav>
                                        <p:tav tm="100000">
                                          <p:val>
                                            <p:strVal val="#ppt_y"/>
                                          </p:val>
                                        </p:tav>
                                      </p:tavLst>
                                    </p:anim>
                                    <p:animEffect transition="in" filter="fade">
                                      <p:cBhvr>
                                        <p:cTn id="115" dur="450"/>
                                        <p:tgtEl>
                                          <p:spTgt spid="28"/>
                                        </p:tgtEl>
                                      </p:cBhvr>
                                    </p:animEffect>
                                  </p:childTnLst>
                                </p:cTn>
                              </p:par>
                              <p:par>
                                <p:cTn id="120" presetID="42" presetClass="entr" presetSubtype="0" fill="hold" grpId="0" nodeType="withEffect">
                                  <p:stCondLst>
                                    <p:cond delay="1450"/>
                                  </p:stCondLst>
                                  <p:childTnLst>
                                    <p:set>
                                      <p:cBhvr>
                                        <p:cTn id="117" dur="1" fill="hold">
                                          <p:stCondLst>
                                            <p:cond delay="0"/>
                                          </p:stCondLst>
                                        </p:cTn>
                                        <p:tgtEl>
                                          <p:spTgt spid="29"/>
                                        </p:tgtEl>
                                        <p:attrNameLst>
                                          <p:attrName>style.visibility</p:attrName>
                                        </p:attrNameLst>
                                      </p:cBhvr>
                                      <p:to>
                                        <p:strVal val="visible"/>
                                      </p:to>
                                    </p:set>
                                    <p:anim calcmode="lin" valueType="num">
                                      <p:cBhvr additive="base">
                                        <p:cTn id="118" dur="450" fill="hold"/>
                                        <p:tgtEl>
                                          <p:spTgt spid="29"/>
                                        </p:tgtEl>
                                        <p:attrNameLst>
                                          <p:attrName>ppt_y</p:attrName>
                                        </p:attrNameLst>
                                      </p:cBhvr>
                                      <p:tavLst>
                                        <p:tav tm="0">
                                          <p:val>
                                            <p:strVal val="#ppt_y+.06"/>
                                          </p:val>
                                        </p:tav>
                                        <p:tav tm="100000">
                                          <p:val>
                                            <p:strVal val="#ppt_y"/>
                                          </p:val>
                                        </p:tav>
                                      </p:tavLst>
                                    </p:anim>
                                    <p:animEffect transition="in" filter="fade">
                                      <p:cBhvr>
                                        <p:cTn id="119" dur="450"/>
                                        <p:tgtEl>
                                          <p:spTgt spid="29"/>
                                        </p:tgtEl>
                                      </p:cBhvr>
                                    </p:animEffect>
                                  </p:childTnLst>
                                </p:cTn>
                              </p:par>
                              <p:par>
                                <p:cTn id="124" presetID="42" presetClass="entr" presetSubtype="0" fill="hold" grpId="0" nodeType="withEffect">
                                  <p:stCondLst>
                                    <p:cond delay="1450"/>
                                  </p:stCondLst>
                                  <p:childTnLst>
                                    <p:set>
                                      <p:cBhvr>
                                        <p:cTn id="121" dur="1" fill="hold">
                                          <p:stCondLst>
                                            <p:cond delay="0"/>
                                          </p:stCondLst>
                                        </p:cTn>
                                        <p:tgtEl>
                                          <p:spTgt spid="30"/>
                                        </p:tgtEl>
                                        <p:attrNameLst>
                                          <p:attrName>style.visibility</p:attrName>
                                        </p:attrNameLst>
                                      </p:cBhvr>
                                      <p:to>
                                        <p:strVal val="visible"/>
                                      </p:to>
                                    </p:set>
                                    <p:anim calcmode="lin" valueType="num">
                                      <p:cBhvr additive="base">
                                        <p:cTn id="122" dur="450" fill="hold"/>
                                        <p:tgtEl>
                                          <p:spTgt spid="30"/>
                                        </p:tgtEl>
                                        <p:attrNameLst>
                                          <p:attrName>ppt_y</p:attrName>
                                        </p:attrNameLst>
                                      </p:cBhvr>
                                      <p:tavLst>
                                        <p:tav tm="0">
                                          <p:val>
                                            <p:strVal val="#ppt_y+.06"/>
                                          </p:val>
                                        </p:tav>
                                        <p:tav tm="100000">
                                          <p:val>
                                            <p:strVal val="#ppt_y"/>
                                          </p:val>
                                        </p:tav>
                                      </p:tavLst>
                                    </p:anim>
                                    <p:animEffect transition="in" filter="fade">
                                      <p:cBhvr>
                                        <p:cTn id="123" dur="450"/>
                                        <p:tgtEl>
                                          <p:spTgt spid="30"/>
                                        </p:tgtEl>
                                      </p:cBhvr>
                                    </p:animEffect>
                                  </p:childTnLst>
                                </p:cTn>
                              </p:par>
                              <p:par>
                                <p:cTn id="128" presetID="42" presetClass="entr" presetSubtype="0" fill="hold" grpId="0" nodeType="withEffect">
                                  <p:stCondLst>
                                    <p:cond delay="1450"/>
                                  </p:stCondLst>
                                  <p:childTnLst>
                                    <p:set>
                                      <p:cBhvr>
                                        <p:cTn id="125" dur="1" fill="hold">
                                          <p:stCondLst>
                                            <p:cond delay="0"/>
                                          </p:stCondLst>
                                        </p:cTn>
                                        <p:tgtEl>
                                          <p:spTgt spid="31"/>
                                        </p:tgtEl>
                                        <p:attrNameLst>
                                          <p:attrName>style.visibility</p:attrName>
                                        </p:attrNameLst>
                                      </p:cBhvr>
                                      <p:to>
                                        <p:strVal val="visible"/>
                                      </p:to>
                                    </p:set>
                                    <p:anim calcmode="lin" valueType="num">
                                      <p:cBhvr additive="base">
                                        <p:cTn id="126" dur="450" fill="hold"/>
                                        <p:tgtEl>
                                          <p:spTgt spid="31"/>
                                        </p:tgtEl>
                                        <p:attrNameLst>
                                          <p:attrName>ppt_y</p:attrName>
                                        </p:attrNameLst>
                                      </p:cBhvr>
                                      <p:tavLst>
                                        <p:tav tm="0">
                                          <p:val>
                                            <p:strVal val="#ppt_y+.06"/>
                                          </p:val>
                                        </p:tav>
                                        <p:tav tm="100000">
                                          <p:val>
                                            <p:strVal val="#ppt_y"/>
                                          </p:val>
                                        </p:tav>
                                      </p:tavLst>
                                    </p:anim>
                                    <p:animEffect transition="in" filter="fade">
                                      <p:cBhvr>
                                        <p:cTn id="127" dur="450"/>
                                        <p:tgtEl>
                                          <p:spTgt spid="31"/>
                                        </p:tgtEl>
                                      </p:cBhvr>
                                    </p:animEffect>
                                  </p:childTnLst>
                                </p:cTn>
                              </p:par>
                              <p:par>
                                <p:cTn id="132" presetID="42" presetClass="entr" presetSubtype="0" fill="hold" grpId="0" nodeType="withEffect">
                                  <p:stCondLst>
                                    <p:cond delay="1450"/>
                                  </p:stCondLst>
                                  <p:childTnLst>
                                    <p:set>
                                      <p:cBhvr>
                                        <p:cTn id="129" dur="1" fill="hold">
                                          <p:stCondLst>
                                            <p:cond delay="0"/>
                                          </p:stCondLst>
                                        </p:cTn>
                                        <p:tgtEl>
                                          <p:spTgt spid="32"/>
                                        </p:tgtEl>
                                        <p:attrNameLst>
                                          <p:attrName>style.visibility</p:attrName>
                                        </p:attrNameLst>
                                      </p:cBhvr>
                                      <p:to>
                                        <p:strVal val="visible"/>
                                      </p:to>
                                    </p:set>
                                    <p:anim calcmode="lin" valueType="num">
                                      <p:cBhvr additive="base">
                                        <p:cTn id="130" dur="450" fill="hold"/>
                                        <p:tgtEl>
                                          <p:spTgt spid="32"/>
                                        </p:tgtEl>
                                        <p:attrNameLst>
                                          <p:attrName>ppt_y</p:attrName>
                                        </p:attrNameLst>
                                      </p:cBhvr>
                                      <p:tavLst>
                                        <p:tav tm="0">
                                          <p:val>
                                            <p:strVal val="#ppt_y+.06"/>
                                          </p:val>
                                        </p:tav>
                                        <p:tav tm="100000">
                                          <p:val>
                                            <p:strVal val="#ppt_y"/>
                                          </p:val>
                                        </p:tav>
                                      </p:tavLst>
                                    </p:anim>
                                    <p:animEffect transition="in" filter="fade">
                                      <p:cBhvr>
                                        <p:cTn id="131" dur="450"/>
                                        <p:tgtEl>
                                          <p:spTgt spid="32"/>
                                        </p:tgtEl>
                                      </p:cBhvr>
                                    </p:animEffect>
                                  </p:childTnLst>
                                </p:cTn>
                              </p:par>
                              <p:par>
                                <p:cTn id="136" presetID="42" presetClass="entr" presetSubtype="0" fill="hold" grpId="0" nodeType="withEffect">
                                  <p:stCondLst>
                                    <p:cond delay="1450"/>
                                  </p:stCondLst>
                                  <p:childTnLst>
                                    <p:set>
                                      <p:cBhvr>
                                        <p:cTn id="133" dur="1" fill="hold">
                                          <p:stCondLst>
                                            <p:cond delay="0"/>
                                          </p:stCondLst>
                                        </p:cTn>
                                        <p:tgtEl>
                                          <p:spTgt spid="33"/>
                                        </p:tgtEl>
                                        <p:attrNameLst>
                                          <p:attrName>style.visibility</p:attrName>
                                        </p:attrNameLst>
                                      </p:cBhvr>
                                      <p:to>
                                        <p:strVal val="visible"/>
                                      </p:to>
                                    </p:set>
                                    <p:anim calcmode="lin" valueType="num">
                                      <p:cBhvr additive="base">
                                        <p:cTn id="134" dur="450" fill="hold"/>
                                        <p:tgtEl>
                                          <p:spTgt spid="33"/>
                                        </p:tgtEl>
                                        <p:attrNameLst>
                                          <p:attrName>ppt_y</p:attrName>
                                        </p:attrNameLst>
                                      </p:cBhvr>
                                      <p:tavLst>
                                        <p:tav tm="0">
                                          <p:val>
                                            <p:strVal val="#ppt_y+.06"/>
                                          </p:val>
                                        </p:tav>
                                        <p:tav tm="100000">
                                          <p:val>
                                            <p:strVal val="#ppt_y"/>
                                          </p:val>
                                        </p:tav>
                                      </p:tavLst>
                                    </p:anim>
                                    <p:animEffect transition="in" filter="fade">
                                      <p:cBhvr>
                                        <p:cTn id="135" dur="450"/>
                                        <p:tgtEl>
                                          <p:spTgt spid="33"/>
                                        </p:tgtEl>
                                      </p:cBhvr>
                                    </p:animEffect>
                                  </p:childTnLst>
                                </p:cTn>
                              </p:par>
                              <p:par>
                                <p:cTn id="139" presetID="10" presetClass="entr" presetSubtype="0" fill="hold" grpId="0" nodeType="withEffect">
                                  <p:stCondLst>
                                    <p:cond delay="1500"/>
                                  </p:stCondLst>
                                  <p:childTnLst>
                                    <p:set>
                                      <p:cBhvr>
                                        <p:cTn id="137" dur="1" fill="hold">
                                          <p:stCondLst>
                                            <p:cond delay="0"/>
                                          </p:stCondLst>
                                        </p:cTn>
                                        <p:tgtEl>
                                          <p:spTgt spid="34"/>
                                        </p:tgtEl>
                                        <p:attrNameLst>
                                          <p:attrName>style.visibility</p:attrName>
                                        </p:attrNameLst>
                                      </p:cBhvr>
                                      <p:to>
                                        <p:strVal val="visible"/>
                                      </p:to>
                                    </p:set>
                                    <p:animEffect transition="in" filter="fade">
                                      <p:cBhvr>
                                        <p:cTn id="138" dur="600"/>
                                        <p:tgtEl>
                                          <p:spTgt spid="34"/>
                                        </p:tgtEl>
                                      </p:cBhvr>
                                    </p:animEffect>
                                  </p:childTnLst>
                                </p:cTn>
                              </p:par>
                              <p:par>
                                <p:cTn id="142" presetID="10" presetClass="entr" presetSubtype="0" fill="hold" nodeType="withEffect">
                                  <p:stCondLst>
                                    <p:cond delay="1500"/>
                                  </p:stCondLst>
                                  <p:childTnLst>
                                    <p:set>
                                      <p:cBhvr>
                                        <p:cTn id="140" dur="1" fill="hold">
                                          <p:stCondLst>
                                            <p:cond delay="0"/>
                                          </p:stCondLst>
                                        </p:cTn>
                                        <p:tgtEl>
                                          <p:spTgt spid="35"/>
                                        </p:tgtEl>
                                        <p:attrNameLst>
                                          <p:attrName>style.visibility</p:attrName>
                                        </p:attrNameLst>
                                      </p:cBhvr>
                                      <p:to>
                                        <p:strVal val="visible"/>
                                      </p:to>
                                    </p:set>
                                    <p:animEffect transition="in" filter="fade">
                                      <p:cBhvr>
                                        <p:cTn id="141" dur="600"/>
                                        <p:tgtEl>
                                          <p:spTgt spid="35"/>
                                        </p:tgtEl>
                                      </p:cBhvr>
                                    </p:animEffect>
                                  </p:childTnLst>
                                </p:cTn>
                              </p:par>
                              <p:par>
                                <p:cTn id="145" presetID="10" presetClass="entr" presetSubtype="0" fill="hold" nodeType="withEffect">
                                  <p:stCondLst>
                                    <p:cond delay="1500"/>
                                  </p:stCondLst>
                                  <p:childTnLst>
                                    <p:set>
                                      <p:cBhvr>
                                        <p:cTn id="143" dur="1" fill="hold">
                                          <p:stCondLst>
                                            <p:cond delay="0"/>
                                          </p:stCondLst>
                                        </p:cTn>
                                        <p:tgtEl>
                                          <p:spTgt spid="36"/>
                                        </p:tgtEl>
                                        <p:attrNameLst>
                                          <p:attrName>style.visibility</p:attrName>
                                        </p:attrNameLst>
                                      </p:cBhvr>
                                      <p:to>
                                        <p:strVal val="visible"/>
                                      </p:to>
                                    </p:set>
                                    <p:animEffect transition="in" filter="fade">
                                      <p:cBhvr>
                                        <p:cTn id="144" dur="600"/>
                                        <p:tgtEl>
                                          <p:spTgt spid="36"/>
                                        </p:tgtEl>
                                      </p:cBhvr>
                                    </p:animEffect>
                                  </p:childTnLst>
                                </p:cTn>
                              </p:par>
                              <p:par>
                                <p:cTn id="148" presetID="10" presetClass="entr" presetSubtype="0" fill="hold" nodeType="withEffect">
                                  <p:stCondLst>
                                    <p:cond delay="1500"/>
                                  </p:stCondLst>
                                  <p:childTnLst>
                                    <p:set>
                                      <p:cBhvr>
                                        <p:cTn id="146" dur="1" fill="hold">
                                          <p:stCondLst>
                                            <p:cond delay="0"/>
                                          </p:stCondLst>
                                        </p:cTn>
                                        <p:tgtEl>
                                          <p:spTgt spid="37"/>
                                        </p:tgtEl>
                                        <p:attrNameLst>
                                          <p:attrName>style.visibility</p:attrName>
                                        </p:attrNameLst>
                                      </p:cBhvr>
                                      <p:to>
                                        <p:strVal val="visible"/>
                                      </p:to>
                                    </p:set>
                                    <p:animEffect transition="in" filter="fade">
                                      <p:cBhvr>
                                        <p:cTn id="147" dur="600"/>
                                        <p:tgtEl>
                                          <p:spTgt spid="37"/>
                                        </p:tgtEl>
                                      </p:cBhvr>
                                    </p:animEffect>
                                  </p:childTnLst>
                                </p:cTn>
                              </p:par>
                              <p:par>
                                <p:cTn id="151" presetID="10" presetClass="entr" presetSubtype="0" fill="hold" grpId="0" nodeType="withEffect">
                                  <p:stCondLst>
                                    <p:cond delay="1500"/>
                                  </p:stCondLst>
                                  <p:childTnLst>
                                    <p:set>
                                      <p:cBhvr>
                                        <p:cTn id="149" dur="1" fill="hold">
                                          <p:stCondLst>
                                            <p:cond delay="0"/>
                                          </p:stCondLst>
                                        </p:cTn>
                                        <p:tgtEl>
                                          <p:spTgt spid="38"/>
                                        </p:tgtEl>
                                        <p:attrNameLst>
                                          <p:attrName>style.visibility</p:attrName>
                                        </p:attrNameLst>
                                      </p:cBhvr>
                                      <p:to>
                                        <p:strVal val="visible"/>
                                      </p:to>
                                    </p:set>
                                    <p:animEffect transition="in" filter="fade">
                                      <p:cBhvr>
                                        <p:cTn id="150" dur="600"/>
                                        <p:tgtEl>
                                          <p:spTgt spid="38"/>
                                        </p:tgtEl>
                                      </p:cBhvr>
                                    </p:animEffect>
                                  </p:childTnLst>
                                </p:cTn>
                              </p:par>
                              <p:par>
                                <p:cTn id="155" presetID="42" presetClass="entr" presetSubtype="0" fill="hold" grpId="0" nodeType="withEffect">
                                  <p:stCondLst>
                                    <p:cond delay="2100"/>
                                  </p:stCondLst>
                                  <p:childTnLst>
                                    <p:set>
                                      <p:cBhvr>
                                        <p:cTn id="152" dur="1" fill="hold">
                                          <p:stCondLst>
                                            <p:cond delay="0"/>
                                          </p:stCondLst>
                                        </p:cTn>
                                        <p:tgtEl>
                                          <p:spTgt spid="41"/>
                                        </p:tgtEl>
                                        <p:attrNameLst>
                                          <p:attrName>style.visibility</p:attrName>
                                        </p:attrNameLst>
                                      </p:cBhvr>
                                      <p:to>
                                        <p:strVal val="visible"/>
                                      </p:to>
                                    </p:set>
                                    <p:anim calcmode="lin" valueType="num">
                                      <p:cBhvr additive="base">
                                        <p:cTn id="153" dur="400" fill="hold"/>
                                        <p:tgtEl>
                                          <p:spTgt spid="41"/>
                                        </p:tgtEl>
                                        <p:attrNameLst>
                                          <p:attrName>ppt_y</p:attrName>
                                        </p:attrNameLst>
                                      </p:cBhvr>
                                      <p:tavLst>
                                        <p:tav tm="0">
                                          <p:val>
                                            <p:strVal val="#ppt_y+.06"/>
                                          </p:val>
                                        </p:tav>
                                        <p:tav tm="100000">
                                          <p:val>
                                            <p:strVal val="#ppt_y"/>
                                          </p:val>
                                        </p:tav>
                                      </p:tavLst>
                                    </p:anim>
                                    <p:animEffect transition="in" filter="fade">
                                      <p:cBhvr>
                                        <p:cTn id="154" dur="400"/>
                                        <p:tgtEl>
                                          <p:spTgt spid="41"/>
                                        </p:tgtEl>
                                      </p:cBhvr>
                                    </p:animEffect>
                                  </p:childTnLst>
                                </p:cTn>
                              </p:par>
                              <p:par>
                                <p:cTn id="159" presetID="42" presetClass="entr" presetSubtype="0" fill="hold" grpId="0" nodeType="withEffect">
                                  <p:stCondLst>
                                    <p:cond delay="2100"/>
                                  </p:stCondLst>
                                  <p:childTnLst>
                                    <p:set>
                                      <p:cBhvr>
                                        <p:cTn id="156" dur="1" fill="hold">
                                          <p:stCondLst>
                                            <p:cond delay="0"/>
                                          </p:stCondLst>
                                        </p:cTn>
                                        <p:tgtEl>
                                          <p:spTgt spid="42"/>
                                        </p:tgtEl>
                                        <p:attrNameLst>
                                          <p:attrName>style.visibility</p:attrName>
                                        </p:attrNameLst>
                                      </p:cBhvr>
                                      <p:to>
                                        <p:strVal val="visible"/>
                                      </p:to>
                                    </p:set>
                                    <p:anim calcmode="lin" valueType="num">
                                      <p:cBhvr additive="base">
                                        <p:cTn id="157" dur="400" fill="hold"/>
                                        <p:tgtEl>
                                          <p:spTgt spid="42"/>
                                        </p:tgtEl>
                                        <p:attrNameLst>
                                          <p:attrName>ppt_y</p:attrName>
                                        </p:attrNameLst>
                                      </p:cBhvr>
                                      <p:tavLst>
                                        <p:tav tm="0">
                                          <p:val>
                                            <p:strVal val="#ppt_y+.06"/>
                                          </p:val>
                                        </p:tav>
                                        <p:tav tm="100000">
                                          <p:val>
                                            <p:strVal val="#ppt_y"/>
                                          </p:val>
                                        </p:tav>
                                      </p:tavLst>
                                    </p:anim>
                                    <p:animEffect transition="in" filter="fade">
                                      <p:cBhvr>
                                        <p:cTn id="158" dur="400"/>
                                        <p:tgtEl>
                                          <p:spTgt spid="42"/>
                                        </p:tgtEl>
                                      </p:cBhvr>
                                    </p:animEffect>
                                  </p:childTnLst>
                                </p:cTn>
                              </p:par>
                              <p:par>
                                <p:cTn id="163" presetID="42" presetClass="entr" presetSubtype="0" fill="hold" grpId="0" nodeType="withEffect">
                                  <p:stCondLst>
                                    <p:cond delay="2300"/>
                                  </p:stCondLst>
                                  <p:childTnLst>
                                    <p:set>
                                      <p:cBhvr>
                                        <p:cTn id="160" dur="1" fill="hold">
                                          <p:stCondLst>
                                            <p:cond delay="0"/>
                                          </p:stCondLst>
                                        </p:cTn>
                                        <p:tgtEl>
                                          <p:spTgt spid="43"/>
                                        </p:tgtEl>
                                        <p:attrNameLst>
                                          <p:attrName>style.visibility</p:attrName>
                                        </p:attrNameLst>
                                      </p:cBhvr>
                                      <p:to>
                                        <p:strVal val="visible"/>
                                      </p:to>
                                    </p:set>
                                    <p:anim calcmode="lin" valueType="num">
                                      <p:cBhvr additive="base">
                                        <p:cTn id="161" dur="400" fill="hold"/>
                                        <p:tgtEl>
                                          <p:spTgt spid="43"/>
                                        </p:tgtEl>
                                        <p:attrNameLst>
                                          <p:attrName>ppt_y</p:attrName>
                                        </p:attrNameLst>
                                      </p:cBhvr>
                                      <p:tavLst>
                                        <p:tav tm="0">
                                          <p:val>
                                            <p:strVal val="#ppt_y+.06"/>
                                          </p:val>
                                        </p:tav>
                                        <p:tav tm="100000">
                                          <p:val>
                                            <p:strVal val="#ppt_y"/>
                                          </p:val>
                                        </p:tav>
                                      </p:tavLst>
                                    </p:anim>
                                    <p:animEffect transition="in" filter="fade">
                                      <p:cBhvr>
                                        <p:cTn id="162" dur="400"/>
                                        <p:tgtEl>
                                          <p:spTgt spid="43"/>
                                        </p:tgtEl>
                                      </p:cBhvr>
                                    </p:animEffect>
                                  </p:childTnLst>
                                </p:cTn>
                              </p:par>
                              <p:par>
                                <p:cTn id="167" presetID="42" presetClass="entr" presetSubtype="0" fill="hold" grpId="0" nodeType="withEffect">
                                  <p:stCondLst>
                                    <p:cond delay="2300"/>
                                  </p:stCondLst>
                                  <p:childTnLst>
                                    <p:set>
                                      <p:cBhvr>
                                        <p:cTn id="164" dur="1" fill="hold">
                                          <p:stCondLst>
                                            <p:cond delay="0"/>
                                          </p:stCondLst>
                                        </p:cTn>
                                        <p:tgtEl>
                                          <p:spTgt spid="44"/>
                                        </p:tgtEl>
                                        <p:attrNameLst>
                                          <p:attrName>style.visibility</p:attrName>
                                        </p:attrNameLst>
                                      </p:cBhvr>
                                      <p:to>
                                        <p:strVal val="visible"/>
                                      </p:to>
                                    </p:set>
                                    <p:anim calcmode="lin" valueType="num">
                                      <p:cBhvr additive="base">
                                        <p:cTn id="165" dur="400" fill="hold"/>
                                        <p:tgtEl>
                                          <p:spTgt spid="44"/>
                                        </p:tgtEl>
                                        <p:attrNameLst>
                                          <p:attrName>ppt_y</p:attrName>
                                        </p:attrNameLst>
                                      </p:cBhvr>
                                      <p:tavLst>
                                        <p:tav tm="0">
                                          <p:val>
                                            <p:strVal val="#ppt_y+.06"/>
                                          </p:val>
                                        </p:tav>
                                        <p:tav tm="100000">
                                          <p:val>
                                            <p:strVal val="#ppt_y"/>
                                          </p:val>
                                        </p:tav>
                                      </p:tavLst>
                                    </p:anim>
                                    <p:animEffect transition="in" filter="fade">
                                      <p:cBhvr>
                                        <p:cTn id="166" dur="400"/>
                                        <p:tgtEl>
                                          <p:spTgt spid="44"/>
                                        </p:tgtEl>
                                      </p:cBhvr>
                                    </p:animEffect>
                                  </p:childTnLst>
                                </p:cTn>
                              </p:par>
                              <p:par>
                                <p:cTn id="171" presetID="42" presetClass="entr" presetSubtype="0" fill="hold" grpId="0" nodeType="withEffect">
                                  <p:stCondLst>
                                    <p:cond delay="2500"/>
                                  </p:stCondLst>
                                  <p:childTnLst>
                                    <p:set>
                                      <p:cBhvr>
                                        <p:cTn id="168" dur="1" fill="hold">
                                          <p:stCondLst>
                                            <p:cond delay="0"/>
                                          </p:stCondLst>
                                        </p:cTn>
                                        <p:tgtEl>
                                          <p:spTgt spid="45"/>
                                        </p:tgtEl>
                                        <p:attrNameLst>
                                          <p:attrName>style.visibility</p:attrName>
                                        </p:attrNameLst>
                                      </p:cBhvr>
                                      <p:to>
                                        <p:strVal val="visible"/>
                                      </p:to>
                                    </p:set>
                                    <p:anim calcmode="lin" valueType="num">
                                      <p:cBhvr additive="base">
                                        <p:cTn id="169" dur="400" fill="hold"/>
                                        <p:tgtEl>
                                          <p:spTgt spid="45"/>
                                        </p:tgtEl>
                                        <p:attrNameLst>
                                          <p:attrName>ppt_y</p:attrName>
                                        </p:attrNameLst>
                                      </p:cBhvr>
                                      <p:tavLst>
                                        <p:tav tm="0">
                                          <p:val>
                                            <p:strVal val="#ppt_y+.06"/>
                                          </p:val>
                                        </p:tav>
                                        <p:tav tm="100000">
                                          <p:val>
                                            <p:strVal val="#ppt_y"/>
                                          </p:val>
                                        </p:tav>
                                      </p:tavLst>
                                    </p:anim>
                                    <p:animEffect transition="in" filter="fade">
                                      <p:cBhvr>
                                        <p:cTn id="170" dur="400"/>
                                        <p:tgtEl>
                                          <p:spTgt spid="45"/>
                                        </p:tgtEl>
                                      </p:cBhvr>
                                    </p:animEffect>
                                  </p:childTnLst>
                                </p:cTn>
                              </p:par>
                              <p:par>
                                <p:cTn id="175" presetID="42" presetClass="entr" presetSubtype="0" fill="hold" grpId="0" nodeType="withEffect">
                                  <p:stCondLst>
                                    <p:cond delay="2500"/>
                                  </p:stCondLst>
                                  <p:childTnLst>
                                    <p:set>
                                      <p:cBhvr>
                                        <p:cTn id="172" dur="1" fill="hold">
                                          <p:stCondLst>
                                            <p:cond delay="0"/>
                                          </p:stCondLst>
                                        </p:cTn>
                                        <p:tgtEl>
                                          <p:spTgt spid="46"/>
                                        </p:tgtEl>
                                        <p:attrNameLst>
                                          <p:attrName>style.visibility</p:attrName>
                                        </p:attrNameLst>
                                      </p:cBhvr>
                                      <p:to>
                                        <p:strVal val="visible"/>
                                      </p:to>
                                    </p:set>
                                    <p:anim calcmode="lin" valueType="num">
                                      <p:cBhvr additive="base">
                                        <p:cTn id="173" dur="400" fill="hold"/>
                                        <p:tgtEl>
                                          <p:spTgt spid="46"/>
                                        </p:tgtEl>
                                        <p:attrNameLst>
                                          <p:attrName>ppt_y</p:attrName>
                                        </p:attrNameLst>
                                      </p:cBhvr>
                                      <p:tavLst>
                                        <p:tav tm="0">
                                          <p:val>
                                            <p:strVal val="#ppt_y+.06"/>
                                          </p:val>
                                        </p:tav>
                                        <p:tav tm="100000">
                                          <p:val>
                                            <p:strVal val="#ppt_y"/>
                                          </p:val>
                                        </p:tav>
                                      </p:tavLst>
                                    </p:anim>
                                    <p:animEffect transition="in" filter="fade">
                                      <p:cBhvr>
                                        <p:cTn id="174" dur="400"/>
                                        <p:tgtEl>
                                          <p:spTgt spid="46"/>
                                        </p:tgtEl>
                                      </p:cBhvr>
                                    </p:animEffect>
                                  </p:childTnLst>
                                </p:cTn>
                              </p:par>
                              <p:par>
                                <p:cTn id="178" presetID="10" presetClass="entr" presetSubtype="0" fill="hold" grpId="0" nodeType="withEffect">
                                  <p:stCondLst>
                                    <p:cond delay="3000"/>
                                  </p:stCondLst>
                                  <p:childTnLst>
                                    <p:set>
                                      <p:cBhvr>
                                        <p:cTn id="176" dur="1" fill="hold">
                                          <p:stCondLst>
                                            <p:cond delay="0"/>
                                          </p:stCondLst>
                                        </p:cTn>
                                        <p:tgtEl>
                                          <p:spTgt spid="47"/>
                                        </p:tgtEl>
                                        <p:attrNameLst>
                                          <p:attrName>style.visibility</p:attrName>
                                        </p:attrNameLst>
                                      </p:cBhvr>
                                      <p:to>
                                        <p:strVal val="visible"/>
                                      </p:to>
                                    </p:set>
                                    <p:animEffect transition="in" filter="fade">
                                      <p:cBhvr>
                                        <p:cTn id="177" dur="500"/>
                                        <p:tgtEl>
                                          <p:spTgt spid="47"/>
                                        </p:tgtEl>
                                      </p:cBhvr>
                                    </p:animEffect>
                                  </p:childTnLst>
                                </p:cTn>
                              </p:par>
                              <p:par>
                                <p:cTn id="181" presetID="10" presetClass="entr" presetSubtype="0" fill="hold" grpId="0" nodeType="withEffect">
                                  <p:stCondLst>
                                    <p:cond delay="3000"/>
                                  </p:stCondLst>
                                  <p:childTnLst>
                                    <p:set>
                                      <p:cBhvr>
                                        <p:cTn id="179" dur="1" fill="hold">
                                          <p:stCondLst>
                                            <p:cond delay="0"/>
                                          </p:stCondLst>
                                        </p:cTn>
                                        <p:tgtEl>
                                          <p:spTgt spid="48"/>
                                        </p:tgtEl>
                                        <p:attrNameLst>
                                          <p:attrName>style.visibility</p:attrName>
                                        </p:attrNameLst>
                                      </p:cBhvr>
                                      <p:to>
                                        <p:strVal val="visible"/>
                                      </p:to>
                                    </p:set>
                                    <p:animEffect transition="in" filter="fade">
                                      <p:cBhvr>
                                        <p:cTn id="18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2" grpId="0" animBg="1"/>
      <p:bldP spid="53" grpId="0" animBg="1"/>
      <p:bldP spid="54" grpId="0" animBg="1"/>
      <p:bldP spid="55" grpId="0" animBg="1"/>
      <p:bldP spid="56" grpId="0" animBg="1"/>
      <p:bldP spid="57" grpId="0" animBg="1"/>
      <p:bldP spid="9" grpId="0" animBg="1"/>
      <p:bldP spid="10" grpId="0" animBg="1"/>
      <p:bldP spid="11" grpId="0" animBg="1"/>
      <p:bldP spid="12" grpId="0" animBg="1"/>
      <p:bldP spid="13" grpId="0" animBg="1"/>
      <p:bldP spid="4" grpId="0" animBg="1"/>
      <p:bldP spid="51"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8"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640080" y="457200"/>
            <a:ext cx="8229600" cy="237744"/>
          </a:xfrm>
          <a:prstGeom prst="rect">
            <a:avLst/>
          </a:prstGeom>
          <a:noFill/>
          <a:ln/>
        </p:spPr>
        <p:txBody>
          <a:bodyPr wrap="square" lIns="0" tIns="0" rIns="0" bIns="0" rtlCol="0" anchor="t"/>
          <a:lstStyle/>
          <a:p>
            <a:pPr algn="l" indent="0" marL="0">
              <a:buNone/>
            </a:pPr>
            <a:r>
              <a:rPr lang="en-US" sz="1000" spc="250" kern="0" dirty="0">
                <a:solidFill>
                  <a:schemeClr val="accent5"/>
                </a:solidFill>
                <a:latin typeface="Segoe UI Semibold" pitchFamily="34" charset="0"/>
                <a:ea typeface="Segoe UI Semibold" pitchFamily="34" charset="-122"/>
                <a:cs typeface="Segoe UI Semibold" pitchFamily="34" charset="-120"/>
              </a:rPr>
              <a:t>06  —  LIVE DEMO, PROOF AND ROADMAP</a:t>
            </a:r>
            <a:endParaRPr lang="en-US" sz="1000" dirty="0"/>
          </a:p>
        </p:txBody>
      </p:sp>
      <p:sp>
        <p:nvSpPr>
          <p:cNvPr id="3" name="Text 1"/>
          <p:cNvSpPr/>
          <p:nvPr>
            <p:ph idx="103" type="title" hasCustomPrompt="1"/>
          </p:nvPr>
        </p:nvSpPr>
        <p:spPr>
          <a:xfrm>
            <a:off x="640080" y="749808"/>
            <a:ext cx="10911535" cy="1051560"/>
          </a:xfrm>
          <a:prstGeom prst="rect">
            <a:avLst/>
          </a:prstGeom>
          <a:noFill/>
          <a:ln/>
        </p:spPr>
        <p:txBody>
          <a:bodyPr wrap="square" lIns="0" tIns="0" rIns="0" bIns="0" rtlCol="0" anchor="t"/>
          <a:lstStyle/>
          <a:p>
            <a:pPr algn="l" indent="0" marL="0">
              <a:buNone/>
            </a:pPr>
            <a:r>
              <a:rPr lang="en-US" sz="3400" dirty="0">
                <a:solidFill>
                  <a:schemeClr val="tx1"/>
                </a:solidFill>
              </a:rPr>
              <a:t>Demonstrate the Decision. Prove the Difference</a:t>
            </a:r>
            <a:endParaRPr lang="en-US" sz="3400" dirty="0"/>
          </a:p>
        </p:txBody>
      </p:sp>
      <p:sp>
        <p:nvSpPr>
          <p:cNvPr id="4" name="h0_1"/>
          <p:cNvSpPr txBox="1"/>
          <p:nvPr/>
        </p:nvSpPr>
        <p:spPr>
          <a:xfrm>
            <a:off x="640080" y="1783080"/>
            <a:ext cx="4023360" cy="256032"/>
          </a:xfrm>
          <a:prstGeom prst="rect">
            <a:avLst/>
          </a:prstGeom>
          <a:noFill/>
          <a:ln/>
        </p:spPr>
        <p:txBody>
          <a:bodyPr wrap="square" lIns="0" tIns="0" rIns="0" bIns="0" rtlCol="0" anchor="t"/>
          <a:lstStyle/>
          <a:p>
            <a:pPr indent="0" marL="0">
              <a:buNone/>
            </a:pPr>
            <a:r>
              <a:rPr lang="en-US" sz="1400" dirty="0">
                <a:solidFill>
                  <a:schemeClr val="accent4"/>
                </a:solidFill>
                <a:latin typeface="Segoe UI Semibold" pitchFamily="34" charset="0"/>
                <a:ea typeface="Segoe UI Semibold" pitchFamily="34" charset="-122"/>
                <a:cs typeface="Segoe UI Semibold" pitchFamily="34" charset="-120"/>
              </a:rPr>
              <a:t>Live hackathon demonstration</a:t>
            </a:r>
            <a:endParaRPr lang="en-US" sz="1400" dirty="0"/>
          </a:p>
        </p:txBody>
      </p:sp>
      <p:sp>
        <p:nvSpPr>
          <p:cNvPr id="5" name="h0_2"/>
          <p:cNvSpPr txBox="1"/>
          <p:nvPr/>
        </p:nvSpPr>
        <p:spPr>
          <a:xfrm>
            <a:off x="640080" y="2057400"/>
            <a:ext cx="4023360" cy="219456"/>
          </a:xfrm>
          <a:prstGeom prst="rect">
            <a:avLst/>
          </a:prstGeom>
          <a:noFill/>
          <a:ln/>
        </p:spPr>
        <p:txBody>
          <a:bodyPr wrap="square" lIns="0" tIns="0" rIns="0" bIns="0" rtlCol="0" anchor="t"/>
          <a:lstStyle/>
          <a:p>
            <a:pPr indent="0" marL="0">
              <a:buNone/>
            </a:pPr>
            <a:r>
              <a:rPr lang="en-US" sz="1100" dirty="0">
                <a:solidFill>
                  <a:schemeClr val="accent5"/>
                </a:solidFill>
              </a:rPr>
              <a:t>Prototype, simulated incidents</a:t>
            </a:r>
            <a:endParaRPr lang="en-US" sz="1100" dirty="0"/>
          </a:p>
        </p:txBody>
      </p:sp>
      <p:sp>
        <p:nvSpPr>
          <p:cNvPr id="6" name="h0_3"/>
          <p:cNvSpPr/>
          <p:nvPr/>
        </p:nvSpPr>
        <p:spPr>
          <a:xfrm>
            <a:off x="640080" y="2386584"/>
            <a:ext cx="4023360" cy="0"/>
          </a:xfrm>
          <a:prstGeom prst="line">
            <a:avLst/>
          </a:prstGeom>
          <a:noFill/>
          <a:ln w="12700">
            <a:solidFill>
              <a:srgbClr val="D6D0C2"/>
            </a:solidFill>
            <a:prstDash val="solid"/>
          </a:ln>
        </p:spPr>
        <p:txBody>
          <a:bodyPr/>
          <a:p/>
        </p:txBody>
      </p:sp>
      <p:sp>
        <p:nvSpPr>
          <p:cNvPr id="7" name="h1_4"/>
          <p:cNvSpPr txBox="1"/>
          <p:nvPr/>
        </p:nvSpPr>
        <p:spPr>
          <a:xfrm>
            <a:off x="4937760" y="1783080"/>
            <a:ext cx="2697480" cy="256032"/>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Honest numbers</a:t>
            </a:r>
            <a:endParaRPr lang="en-US" sz="1400" dirty="0"/>
          </a:p>
        </p:txBody>
      </p:sp>
      <p:sp>
        <p:nvSpPr>
          <p:cNvPr id="8" name="h1_5"/>
          <p:cNvSpPr txBox="1"/>
          <p:nvPr/>
        </p:nvSpPr>
        <p:spPr>
          <a:xfrm>
            <a:off x="4937760" y="2057400"/>
            <a:ext cx="2697480" cy="219456"/>
          </a:xfrm>
          <a:prstGeom prst="rect">
            <a:avLst/>
          </a:prstGeom>
          <a:noFill/>
          <a:ln/>
        </p:spPr>
        <p:txBody>
          <a:bodyPr wrap="square" lIns="0" tIns="0" rIns="0" bIns="0" rtlCol="0" anchor="t"/>
          <a:lstStyle/>
          <a:p>
            <a:pPr indent="0" marL="0">
              <a:buNone/>
            </a:pPr>
            <a:r>
              <a:rPr lang="en-US" sz="1100" dirty="0">
                <a:solidFill>
                  <a:schemeClr val="accent5"/>
                </a:solidFill>
              </a:rPr>
              <a:t>20 seeded simulated scenarios</a:t>
            </a:r>
            <a:endParaRPr lang="en-US" sz="1100" dirty="0"/>
          </a:p>
        </p:txBody>
      </p:sp>
      <p:sp>
        <p:nvSpPr>
          <p:cNvPr id="9" name="h1_6"/>
          <p:cNvSpPr/>
          <p:nvPr/>
        </p:nvSpPr>
        <p:spPr>
          <a:xfrm>
            <a:off x="4937760" y="2386584"/>
            <a:ext cx="2697480" cy="0"/>
          </a:xfrm>
          <a:prstGeom prst="line">
            <a:avLst/>
          </a:prstGeom>
          <a:noFill/>
          <a:ln w="12700">
            <a:solidFill>
              <a:srgbClr val="D6D0C2"/>
            </a:solidFill>
            <a:prstDash val="solid"/>
          </a:ln>
        </p:spPr>
        <p:txBody>
          <a:bodyPr/>
          <a:p/>
        </p:txBody>
      </p:sp>
      <p:sp>
        <p:nvSpPr>
          <p:cNvPr id="10" name="h2_7"/>
          <p:cNvSpPr txBox="1"/>
          <p:nvPr/>
        </p:nvSpPr>
        <p:spPr>
          <a:xfrm>
            <a:off x="7909560" y="1783080"/>
            <a:ext cx="3642055" cy="256032"/>
          </a:xfrm>
          <a:prstGeom prst="rect">
            <a:avLst/>
          </a:prstGeom>
          <a:noFill/>
          <a:ln/>
        </p:spPr>
        <p:txBody>
          <a:bodyPr wrap="square" lIns="0" tIns="0" rIns="0" bIns="0" rtlCol="0" anchor="t"/>
          <a:lstStyle/>
          <a:p>
            <a:pPr indent="0" marL="0">
              <a:buNone/>
            </a:pPr>
            <a:r>
              <a:rPr lang="en-US" sz="1400" dirty="0">
                <a:solidFill>
                  <a:srgbClr val="B45309"/>
                </a:solidFill>
                <a:latin typeface="Segoe UI Semibold" pitchFamily="34" charset="0"/>
                <a:ea typeface="Segoe UI Semibold" pitchFamily="34" charset="-122"/>
                <a:cs typeface="Segoe UI Semibold" pitchFamily="34" charset="-120"/>
              </a:rPr>
              <a:t>Built, and next</a:t>
            </a:r>
            <a:endParaRPr lang="en-US" sz="1400" dirty="0"/>
          </a:p>
        </p:txBody>
      </p:sp>
      <p:sp>
        <p:nvSpPr>
          <p:cNvPr id="11" name="h2_8"/>
          <p:cNvSpPr txBox="1"/>
          <p:nvPr/>
        </p:nvSpPr>
        <p:spPr>
          <a:xfrm>
            <a:off x="7909560" y="2057400"/>
            <a:ext cx="3642055" cy="219456"/>
          </a:xfrm>
          <a:prstGeom prst="rect">
            <a:avLst/>
          </a:prstGeom>
          <a:noFill/>
          <a:ln/>
        </p:spPr>
        <p:txBody>
          <a:bodyPr wrap="square" lIns="0" tIns="0" rIns="0" bIns="0" rtlCol="0" anchor="t"/>
          <a:lstStyle/>
          <a:p>
            <a:pPr indent="0" marL="0">
              <a:buNone/>
            </a:pPr>
            <a:r>
              <a:rPr lang="en-US" sz="1100" dirty="0">
                <a:solidFill>
                  <a:schemeClr val="accent5"/>
                </a:solidFill>
              </a:rPr>
              <a:t>Working in the prototype today</a:t>
            </a:r>
            <a:endParaRPr lang="en-US" sz="1100" dirty="0"/>
          </a:p>
        </p:txBody>
      </p:sp>
      <p:sp>
        <p:nvSpPr>
          <p:cNvPr id="12" name="h2_9"/>
          <p:cNvSpPr/>
          <p:nvPr/>
        </p:nvSpPr>
        <p:spPr>
          <a:xfrm>
            <a:off x="7909560" y="2386584"/>
            <a:ext cx="3642055" cy="0"/>
          </a:xfrm>
          <a:prstGeom prst="line">
            <a:avLst/>
          </a:prstGeom>
          <a:noFill/>
          <a:ln w="12700">
            <a:solidFill>
              <a:srgbClr val="D6D0C2"/>
            </a:solidFill>
            <a:prstDash val="solid"/>
          </a:ln>
        </p:spPr>
        <p:txBody>
          <a:bodyPr/>
          <a:p/>
        </p:txBody>
      </p:sp>
      <p:sp>
        <p:nvSpPr>
          <p:cNvPr id="13" name="d1_10"/>
          <p:cNvSpPr txBox="1"/>
          <p:nvPr/>
        </p:nvSpPr>
        <p:spPr>
          <a:xfrm>
            <a:off x="640080" y="2514600"/>
            <a:ext cx="274320" cy="402336"/>
          </a:xfrm>
          <a:prstGeom prst="rect">
            <a:avLst/>
          </a:prstGeom>
          <a:noFill/>
          <a:ln/>
        </p:spPr>
        <p:txBody>
          <a:bodyPr wrap="square" lIns="0" tIns="0" rIns="0" bIns="0" rtlCol="0" anchor="ctr"/>
          <a:lstStyle/>
          <a:p>
            <a:pPr indent="0" marL="0">
              <a:buNone/>
            </a:pPr>
            <a:r>
              <a:rPr lang="en-US" sz="1500" dirty="0">
                <a:solidFill>
                  <a:schemeClr val="accent4"/>
                </a:solidFill>
                <a:latin typeface="Segoe UI Light" pitchFamily="34" charset="0"/>
                <a:ea typeface="Segoe UI Light" pitchFamily="34" charset="-122"/>
                <a:cs typeface="Segoe UI Light" pitchFamily="34" charset="-120"/>
              </a:rPr>
              <a:t>1</a:t>
            </a:r>
            <a:endParaRPr lang="en-US" sz="1500" dirty="0"/>
          </a:p>
        </p:txBody>
      </p:sp>
      <p:sp>
        <p:nvSpPr>
          <p:cNvPr id="14" name="d1_11"/>
          <p:cNvSpPr txBox="1"/>
          <p:nvPr/>
        </p:nvSpPr>
        <p:spPr>
          <a:xfrm>
            <a:off x="1005840" y="2514600"/>
            <a:ext cx="3611880" cy="402336"/>
          </a:xfrm>
          <a:prstGeom prst="rect">
            <a:avLst/>
          </a:prstGeom>
          <a:noFill/>
          <a:ln/>
        </p:spPr>
        <p:txBody>
          <a:bodyPr wrap="square" lIns="0" tIns="0" rIns="0" bIns="0" rtlCol="0" anchor="ctr"/>
          <a:lstStyle/>
          <a:p>
            <a:pPr indent="0" marL="0">
              <a:buNone/>
            </a:pPr>
            <a:r>
              <a:rPr lang="en-US" sz="1200" dirty="0">
                <a:solidFill>
                  <a:schemeClr val="tx1"/>
                </a:solidFill>
              </a:rPr>
              <a:t>Start trip: Andheri Subway, 11 min, Low confidence (no recent reports)</a:t>
            </a:r>
            <a:endParaRPr lang="en-US" sz="1200" dirty="0"/>
          </a:p>
        </p:txBody>
      </p:sp>
      <p:sp>
        <p:nvSpPr>
          <p:cNvPr id="15" name="d2_12"/>
          <p:cNvSpPr txBox="1"/>
          <p:nvPr/>
        </p:nvSpPr>
        <p:spPr>
          <a:xfrm>
            <a:off x="640080" y="2953512"/>
            <a:ext cx="274320" cy="402336"/>
          </a:xfrm>
          <a:prstGeom prst="rect">
            <a:avLst/>
          </a:prstGeom>
          <a:noFill/>
          <a:ln/>
        </p:spPr>
        <p:txBody>
          <a:bodyPr wrap="square" lIns="0" tIns="0" rIns="0" bIns="0" rtlCol="0" anchor="ctr"/>
          <a:lstStyle/>
          <a:p>
            <a:pPr indent="0" marL="0">
              <a:buNone/>
            </a:pPr>
            <a:r>
              <a:rPr lang="en-US" sz="1500" dirty="0">
                <a:solidFill>
                  <a:schemeClr val="accent4"/>
                </a:solidFill>
                <a:latin typeface="Segoe UI Light" pitchFamily="34" charset="0"/>
                <a:ea typeface="Segoe UI Light" pitchFamily="34" charset="-122"/>
                <a:cs typeface="Segoe UI Light" pitchFamily="34" charset="-120"/>
              </a:rPr>
              <a:t>2</a:t>
            </a:r>
            <a:endParaRPr lang="en-US" sz="1500" dirty="0"/>
          </a:p>
        </p:txBody>
      </p:sp>
      <p:sp>
        <p:nvSpPr>
          <p:cNvPr id="16" name="d2_13"/>
          <p:cNvSpPr txBox="1"/>
          <p:nvPr/>
        </p:nvSpPr>
        <p:spPr>
          <a:xfrm>
            <a:off x="1005840" y="2953512"/>
            <a:ext cx="3611880" cy="402336"/>
          </a:xfrm>
          <a:prstGeom prst="rect">
            <a:avLst/>
          </a:prstGeom>
          <a:noFill/>
          <a:ln/>
        </p:spPr>
        <p:txBody>
          <a:bodyPr wrap="square" lIns="0" tIns="0" rIns="0" bIns="0" rtlCol="0" anchor="ctr"/>
          <a:lstStyle/>
          <a:p>
            <a:pPr indent="0" marL="0">
              <a:buNone/>
            </a:pPr>
            <a:r>
              <a:rPr lang="en-US" sz="1200" dirty="0">
                <a:solidFill>
                  <a:schemeClr val="tx1"/>
                </a:solidFill>
              </a:rPr>
              <a:t>One unverified ankle-deep report: the route holds, and says why</a:t>
            </a:r>
            <a:endParaRPr lang="en-US" sz="1200" dirty="0"/>
          </a:p>
        </p:txBody>
      </p:sp>
      <p:sp>
        <p:nvSpPr>
          <p:cNvPr id="17" name="d3_14"/>
          <p:cNvSpPr txBox="1"/>
          <p:nvPr/>
        </p:nvSpPr>
        <p:spPr>
          <a:xfrm>
            <a:off x="640080" y="3392424"/>
            <a:ext cx="274320" cy="402336"/>
          </a:xfrm>
          <a:prstGeom prst="rect">
            <a:avLst/>
          </a:prstGeom>
          <a:noFill/>
          <a:ln/>
        </p:spPr>
        <p:txBody>
          <a:bodyPr wrap="square" lIns="0" tIns="0" rIns="0" bIns="0" rtlCol="0" anchor="ctr"/>
          <a:lstStyle/>
          <a:p>
            <a:pPr indent="0" marL="0">
              <a:buNone/>
            </a:pPr>
            <a:r>
              <a:rPr lang="en-US" sz="1500" dirty="0">
                <a:solidFill>
                  <a:schemeClr val="accent4"/>
                </a:solidFill>
                <a:latin typeface="Segoe UI Light" pitchFamily="34" charset="0"/>
                <a:ea typeface="Segoe UI Light" pitchFamily="34" charset="-122"/>
                <a:cs typeface="Segoe UI Light" pitchFamily="34" charset="-120"/>
              </a:rPr>
              <a:t>3</a:t>
            </a:r>
            <a:endParaRPr lang="en-US" sz="1500" dirty="0"/>
          </a:p>
        </p:txBody>
      </p:sp>
      <p:sp>
        <p:nvSpPr>
          <p:cNvPr id="18" name="d3_15"/>
          <p:cNvSpPr txBox="1"/>
          <p:nvPr/>
        </p:nvSpPr>
        <p:spPr>
          <a:xfrm>
            <a:off x="1005840" y="3392424"/>
            <a:ext cx="3611880" cy="402336"/>
          </a:xfrm>
          <a:prstGeom prst="rect">
            <a:avLst/>
          </a:prstGeom>
          <a:noFill/>
          <a:ln/>
        </p:spPr>
        <p:txBody>
          <a:bodyPr wrap="square" lIns="0" tIns="0" rIns="0" bIns="0" rtlCol="0" anchor="ctr"/>
          <a:lstStyle/>
          <a:p>
            <a:pPr indent="0" marL="0">
              <a:buNone/>
            </a:pPr>
            <a:r>
              <a:rPr lang="en-US" sz="1200" dirty="0">
                <a:solidFill>
                  <a:schemeClr val="tx1"/>
                </a:solidFill>
              </a:rPr>
              <a:t>A second device reports knee-deep: corroborated, rerouted via the flyover</a:t>
            </a:r>
            <a:endParaRPr lang="en-US" sz="1200" dirty="0"/>
          </a:p>
        </p:txBody>
      </p:sp>
      <p:sp>
        <p:nvSpPr>
          <p:cNvPr id="19" name="d4_16"/>
          <p:cNvSpPr txBox="1"/>
          <p:nvPr/>
        </p:nvSpPr>
        <p:spPr>
          <a:xfrm>
            <a:off x="640080" y="3831336"/>
            <a:ext cx="274320" cy="402336"/>
          </a:xfrm>
          <a:prstGeom prst="rect">
            <a:avLst/>
          </a:prstGeom>
          <a:noFill/>
          <a:ln/>
        </p:spPr>
        <p:txBody>
          <a:bodyPr wrap="square" lIns="0" tIns="0" rIns="0" bIns="0" rtlCol="0" anchor="ctr"/>
          <a:lstStyle/>
          <a:p>
            <a:pPr indent="0" marL="0">
              <a:buNone/>
            </a:pPr>
            <a:r>
              <a:rPr lang="en-US" sz="1500" dirty="0">
                <a:solidFill>
                  <a:schemeClr val="accent4"/>
                </a:solidFill>
                <a:latin typeface="Segoe UI Light" pitchFamily="34" charset="0"/>
                <a:ea typeface="Segoe UI Light" pitchFamily="34" charset="-122"/>
                <a:cs typeface="Segoe UI Light" pitchFamily="34" charset="-120"/>
              </a:rPr>
              <a:t>4</a:t>
            </a:r>
            <a:endParaRPr lang="en-US" sz="1500" dirty="0"/>
          </a:p>
        </p:txBody>
      </p:sp>
      <p:sp>
        <p:nvSpPr>
          <p:cNvPr id="20" name="d4_17"/>
          <p:cNvSpPr txBox="1"/>
          <p:nvPr/>
        </p:nvSpPr>
        <p:spPr>
          <a:xfrm>
            <a:off x="1005840" y="3831336"/>
            <a:ext cx="3611880" cy="402336"/>
          </a:xfrm>
          <a:prstGeom prst="rect">
            <a:avLst/>
          </a:prstGeom>
          <a:noFill/>
          <a:ln/>
        </p:spPr>
        <p:txBody>
          <a:bodyPr wrap="square" lIns="0" tIns="0" rIns="0" bIns="0" rtlCol="0" anchor="ctr"/>
          <a:lstStyle/>
          <a:p>
            <a:pPr indent="0" marL="0">
              <a:buNone/>
            </a:pPr>
            <a:r>
              <a:rPr lang="en-US" sz="1200" dirty="0">
                <a:solidFill>
                  <a:schemeClr val="tx1"/>
                </a:solidFill>
              </a:rPr>
              <a:t>Flyover jams, hospital road closes: nearest reachable hospital, call 112</a:t>
            </a:r>
            <a:endParaRPr lang="en-US" sz="1200" dirty="0"/>
          </a:p>
        </p:txBody>
      </p:sp>
      <p:sp>
        <p:nvSpPr>
          <p:cNvPr id="21" name="d5_18"/>
          <p:cNvSpPr txBox="1"/>
          <p:nvPr/>
        </p:nvSpPr>
        <p:spPr>
          <a:xfrm>
            <a:off x="640080" y="4270248"/>
            <a:ext cx="274320" cy="402336"/>
          </a:xfrm>
          <a:prstGeom prst="rect">
            <a:avLst/>
          </a:prstGeom>
          <a:noFill/>
          <a:ln/>
        </p:spPr>
        <p:txBody>
          <a:bodyPr wrap="square" lIns="0" tIns="0" rIns="0" bIns="0" rtlCol="0" anchor="ctr"/>
          <a:lstStyle/>
          <a:p>
            <a:pPr indent="0" marL="0">
              <a:buNone/>
            </a:pPr>
            <a:r>
              <a:rPr lang="en-US" sz="1500" dirty="0">
                <a:solidFill>
                  <a:schemeClr val="accent4"/>
                </a:solidFill>
                <a:latin typeface="Segoe UI Light" pitchFamily="34" charset="0"/>
                <a:ea typeface="Segoe UI Light" pitchFamily="34" charset="-122"/>
                <a:cs typeface="Segoe UI Light" pitchFamily="34" charset="-120"/>
              </a:rPr>
              <a:t>5</a:t>
            </a:r>
            <a:endParaRPr lang="en-US" sz="1500" dirty="0"/>
          </a:p>
        </p:txBody>
      </p:sp>
      <p:sp>
        <p:nvSpPr>
          <p:cNvPr id="22" name="d5_19"/>
          <p:cNvSpPr txBox="1"/>
          <p:nvPr/>
        </p:nvSpPr>
        <p:spPr>
          <a:xfrm>
            <a:off x="1005840" y="4270248"/>
            <a:ext cx="3611880" cy="402336"/>
          </a:xfrm>
          <a:prstGeom prst="rect">
            <a:avLst/>
          </a:prstGeom>
          <a:noFill/>
          <a:ln/>
        </p:spPr>
        <p:txBody>
          <a:bodyPr wrap="square" lIns="0" tIns="0" rIns="0" bIns="0" rtlCol="0" anchor="ctr"/>
          <a:lstStyle/>
          <a:p>
            <a:pPr indent="0" marL="0">
              <a:buNone/>
            </a:pPr>
            <a:r>
              <a:rPr lang="en-US" sz="1200" dirty="0">
                <a:solidFill>
                  <a:schemeClr val="tx1"/>
                </a:solidFill>
              </a:rPr>
              <a:t>Judges report by QR; reset and replay gives identical decisions</a:t>
            </a:r>
            <a:endParaRPr lang="en-US" sz="1200" dirty="0"/>
          </a:p>
        </p:txBody>
      </p:sp>
      <p:sp>
        <p:nvSpPr>
          <p:cNvPr id="23" name="p1_20"/>
          <p:cNvSpPr/>
          <p:nvPr/>
        </p:nvSpPr>
        <p:spPr>
          <a:xfrm>
            <a:off x="4946904" y="2606040"/>
            <a:ext cx="73152" cy="73152"/>
          </a:xfrm>
          <a:prstGeom prst="ellipse">
            <a:avLst/>
          </a:prstGeom>
          <a:solidFill>
            <a:schemeClr val="accent5"/>
          </a:solidFill>
          <a:ln/>
        </p:spPr>
        <p:txBody>
          <a:bodyPr/>
          <a:p/>
        </p:txBody>
      </p:sp>
      <p:sp>
        <p:nvSpPr>
          <p:cNvPr id="24" name="p1_21"/>
          <p:cNvSpPr txBox="1"/>
          <p:nvPr/>
        </p:nvSpPr>
        <p:spPr>
          <a:xfrm>
            <a:off x="5166360" y="2514600"/>
            <a:ext cx="2468880" cy="512064"/>
          </a:xfrm>
          <a:prstGeom prst="rect">
            <a:avLst/>
          </a:prstGeom>
          <a:noFill/>
          <a:ln/>
        </p:spPr>
        <p:txBody>
          <a:bodyPr wrap="square" lIns="0" tIns="0" rIns="0" bIns="0" rtlCol="0" anchor="t"/>
          <a:lstStyle/>
          <a:p>
            <a:pPr indent="0" marL="0">
              <a:buNone/>
            </a:pPr>
            <a:r>
              <a:rPr lang="en-US" sz="1200" dirty="0">
                <a:solidFill>
                  <a:schemeClr val="tx1"/>
                </a:solidFill>
              </a:rPr>
              <a:t>Usual route hit a confirmed block in 8 of 20</a:t>
            </a:r>
            <a:endParaRPr lang="en-US" sz="1200" dirty="0"/>
          </a:p>
        </p:txBody>
      </p:sp>
      <p:sp>
        <p:nvSpPr>
          <p:cNvPr id="25" name="p2_22"/>
          <p:cNvSpPr/>
          <p:nvPr/>
        </p:nvSpPr>
        <p:spPr>
          <a:xfrm>
            <a:off x="4946904" y="3154680"/>
            <a:ext cx="73152" cy="73152"/>
          </a:xfrm>
          <a:prstGeom prst="ellipse">
            <a:avLst/>
          </a:prstGeom>
          <a:solidFill>
            <a:schemeClr val="accent5"/>
          </a:solidFill>
          <a:ln/>
        </p:spPr>
        <p:txBody>
          <a:bodyPr/>
          <a:p/>
        </p:txBody>
      </p:sp>
      <p:sp>
        <p:nvSpPr>
          <p:cNvPr id="26" name="p2_23"/>
          <p:cNvSpPr txBox="1"/>
          <p:nvPr/>
        </p:nvSpPr>
        <p:spPr>
          <a:xfrm>
            <a:off x="5166360" y="3063240"/>
            <a:ext cx="2468880" cy="512064"/>
          </a:xfrm>
          <a:prstGeom prst="rect">
            <a:avLst/>
          </a:prstGeom>
          <a:noFill/>
          <a:ln/>
        </p:spPr>
        <p:txBody>
          <a:bodyPr wrap="square" lIns="0" tIns="0" rIns="0" bIns="0" rtlCol="0" anchor="t"/>
          <a:lstStyle/>
          <a:p>
            <a:pPr indent="0" marL="0">
              <a:buNone/>
            </a:pPr>
            <a:r>
              <a:rPr lang="en-US" sz="1200" dirty="0">
                <a:solidFill>
                  <a:schemeClr val="tx1"/>
                </a:solidFill>
              </a:rPr>
              <a:t>Avoiding it cost a median 0.3 min, 2.9 at worst</a:t>
            </a:r>
            <a:endParaRPr lang="en-US" sz="1200" dirty="0"/>
          </a:p>
        </p:txBody>
      </p:sp>
      <p:sp>
        <p:nvSpPr>
          <p:cNvPr id="27" name="p3_24"/>
          <p:cNvSpPr/>
          <p:nvPr/>
        </p:nvSpPr>
        <p:spPr>
          <a:xfrm>
            <a:off x="4946904" y="3703320"/>
            <a:ext cx="73152" cy="73152"/>
          </a:xfrm>
          <a:prstGeom prst="ellipse">
            <a:avLst/>
          </a:prstGeom>
          <a:solidFill>
            <a:schemeClr val="accent5"/>
          </a:solidFill>
          <a:ln/>
        </p:spPr>
        <p:txBody>
          <a:bodyPr/>
          <a:p/>
        </p:txBody>
      </p:sp>
      <p:sp>
        <p:nvSpPr>
          <p:cNvPr id="28" name="p3_25"/>
          <p:cNvSpPr txBox="1"/>
          <p:nvPr/>
        </p:nvSpPr>
        <p:spPr>
          <a:xfrm>
            <a:off x="5166360" y="3611880"/>
            <a:ext cx="2468880" cy="512064"/>
          </a:xfrm>
          <a:prstGeom prst="rect">
            <a:avLst/>
          </a:prstGeom>
          <a:noFill/>
          <a:ln/>
        </p:spPr>
        <p:txBody>
          <a:bodyPr wrap="square" lIns="0" tIns="0" rIns="0" bIns="0" rtlCol="0" anchor="t"/>
          <a:lstStyle/>
          <a:p>
            <a:pPr indent="0" marL="0">
              <a:buNone/>
            </a:pPr>
            <a:r>
              <a:rPr lang="en-US" sz="1200" dirty="0">
                <a:solidFill>
                  <a:schemeClr val="tx1"/>
                </a:solidFill>
              </a:rPr>
              <a:t>Slower for nothing in 5 of 20, and we publish it</a:t>
            </a:r>
            <a:endParaRPr lang="en-US" sz="1200" dirty="0"/>
          </a:p>
        </p:txBody>
      </p:sp>
      <p:sp>
        <p:nvSpPr>
          <p:cNvPr id="29" name="p4_26"/>
          <p:cNvSpPr/>
          <p:nvPr/>
        </p:nvSpPr>
        <p:spPr>
          <a:xfrm>
            <a:off x="4946904" y="4251960"/>
            <a:ext cx="73152" cy="73152"/>
          </a:xfrm>
          <a:prstGeom prst="ellipse">
            <a:avLst/>
          </a:prstGeom>
          <a:solidFill>
            <a:schemeClr val="accent5"/>
          </a:solidFill>
          <a:ln/>
        </p:spPr>
        <p:txBody>
          <a:bodyPr/>
          <a:p/>
        </p:txBody>
      </p:sp>
      <p:sp>
        <p:nvSpPr>
          <p:cNvPr id="30" name="p4_27"/>
          <p:cNvSpPr txBox="1"/>
          <p:nvPr/>
        </p:nvSpPr>
        <p:spPr>
          <a:xfrm>
            <a:off x="5166360" y="4160520"/>
            <a:ext cx="2468880" cy="512064"/>
          </a:xfrm>
          <a:prstGeom prst="rect">
            <a:avLst/>
          </a:prstGeom>
          <a:noFill/>
          <a:ln/>
        </p:spPr>
        <p:txBody>
          <a:bodyPr wrap="square" lIns="0" tIns="0" rIns="0" bIns="0" rtlCol="0" anchor="t"/>
          <a:lstStyle/>
          <a:p>
            <a:pPr indent="0" marL="0">
              <a:buNone/>
            </a:pPr>
            <a:r>
              <a:rPr lang="en-US" sz="1200" dirty="0">
                <a:solidFill>
                  <a:schemeClr val="tx1"/>
                </a:solidFill>
              </a:rPr>
              <a:t>Modelled minutes, never “lives saved”</a:t>
            </a:r>
            <a:endParaRPr lang="en-US" sz="1200" dirty="0"/>
          </a:p>
        </p:txBody>
      </p:sp>
      <p:sp>
        <p:nvSpPr>
          <p:cNvPr id="31" name="r1_28"/>
          <p:cNvSpPr/>
          <p:nvPr/>
        </p:nvSpPr>
        <p:spPr>
          <a:xfrm>
            <a:off x="7918704" y="2587752"/>
            <a:ext cx="73152" cy="73152"/>
          </a:xfrm>
          <a:prstGeom prst="ellipse">
            <a:avLst/>
          </a:prstGeom>
          <a:solidFill>
            <a:schemeClr val="accent2"/>
          </a:solidFill>
          <a:ln/>
        </p:spPr>
        <p:txBody>
          <a:bodyPr/>
          <a:p/>
        </p:txBody>
      </p:sp>
      <p:sp>
        <p:nvSpPr>
          <p:cNvPr id="32" name="r1_29"/>
          <p:cNvSpPr txBox="1"/>
          <p:nvPr/>
        </p:nvSpPr>
        <p:spPr>
          <a:xfrm>
            <a:off x="8138160" y="2514600"/>
            <a:ext cx="3413455" cy="310896"/>
          </a:xfrm>
          <a:prstGeom prst="rect">
            <a:avLst/>
          </a:prstGeom>
          <a:noFill/>
          <a:ln/>
        </p:spPr>
        <p:txBody>
          <a:bodyPr wrap="square" lIns="0" tIns="0" rIns="0" bIns="0" rtlCol="0" anchor="t"/>
          <a:lstStyle/>
          <a:p>
            <a:pPr indent="0" marL="0">
              <a:buNone/>
            </a:pPr>
            <a:r>
              <a:rPr lang="en-US" sz="1200" dirty="0" b="1">
                <a:solidFill>
                  <a:srgbClr val="4D7C0F"/>
                </a:solidFill>
              </a:rPr>
              <a:t>Built: </a:t>
            </a:r>
            <a:r>
              <a:rPr lang="en-US" sz="1200" dirty="0">
                <a:solidFill>
                  <a:schemeClr val="tx1"/>
                </a:solidFill>
              </a:rPr>
              <a:t>step-free walking, prefer well-lit roads</a:t>
            </a:r>
            <a:endParaRPr lang="en-US" sz="1200" dirty="0"/>
          </a:p>
        </p:txBody>
      </p:sp>
      <p:sp>
        <p:nvSpPr>
          <p:cNvPr id="33" name="r2_30"/>
          <p:cNvSpPr/>
          <p:nvPr/>
        </p:nvSpPr>
        <p:spPr>
          <a:xfrm>
            <a:off x="7918704" y="2971800"/>
            <a:ext cx="73152" cy="73152"/>
          </a:xfrm>
          <a:prstGeom prst="ellipse">
            <a:avLst/>
          </a:prstGeom>
          <a:solidFill>
            <a:schemeClr val="accent2"/>
          </a:solidFill>
          <a:ln/>
        </p:spPr>
        <p:txBody>
          <a:bodyPr/>
          <a:p/>
        </p:txBody>
      </p:sp>
      <p:sp>
        <p:nvSpPr>
          <p:cNvPr id="34" name="r2_31"/>
          <p:cNvSpPr txBox="1"/>
          <p:nvPr/>
        </p:nvSpPr>
        <p:spPr>
          <a:xfrm>
            <a:off x="8138160" y="2898648"/>
            <a:ext cx="3413455" cy="310896"/>
          </a:xfrm>
          <a:prstGeom prst="rect">
            <a:avLst/>
          </a:prstGeom>
          <a:noFill/>
          <a:ln/>
        </p:spPr>
        <p:txBody>
          <a:bodyPr wrap="square" lIns="0" tIns="0" rIns="0" bIns="0" rtlCol="0" anchor="t"/>
          <a:lstStyle/>
          <a:p>
            <a:pPr indent="0" marL="0">
              <a:buNone/>
            </a:pPr>
            <a:r>
              <a:rPr lang="en-US" sz="1200" dirty="0" b="1">
                <a:solidFill>
                  <a:srgbClr val="4D7C0F"/>
                </a:solidFill>
              </a:rPr>
              <a:t>Built: </a:t>
            </a:r>
            <a:r>
              <a:rPr lang="en-US" sz="1200" dirty="0">
                <a:solidFill>
                  <a:schemeClr val="tx1"/>
                </a:solidFill>
              </a:rPr>
              <a:t>hospital load spreading</a:t>
            </a:r>
            <a:endParaRPr lang="en-US" sz="1200" dirty="0"/>
          </a:p>
        </p:txBody>
      </p:sp>
      <p:sp>
        <p:nvSpPr>
          <p:cNvPr id="35" name="r3_32"/>
          <p:cNvSpPr/>
          <p:nvPr/>
        </p:nvSpPr>
        <p:spPr>
          <a:xfrm>
            <a:off x="7918704" y="3355848"/>
            <a:ext cx="73152" cy="73152"/>
          </a:xfrm>
          <a:prstGeom prst="ellipse">
            <a:avLst/>
          </a:prstGeom>
          <a:solidFill>
            <a:schemeClr val="accent2"/>
          </a:solidFill>
          <a:ln/>
        </p:spPr>
        <p:txBody>
          <a:bodyPr/>
          <a:p/>
        </p:txBody>
      </p:sp>
      <p:sp>
        <p:nvSpPr>
          <p:cNvPr id="36" name="r3_33"/>
          <p:cNvSpPr txBox="1"/>
          <p:nvPr/>
        </p:nvSpPr>
        <p:spPr>
          <a:xfrm>
            <a:off x="8138160" y="3282696"/>
            <a:ext cx="3413455" cy="310896"/>
          </a:xfrm>
          <a:prstGeom prst="rect">
            <a:avLst/>
          </a:prstGeom>
          <a:noFill/>
          <a:ln/>
        </p:spPr>
        <p:txBody>
          <a:bodyPr wrap="square" lIns="0" tIns="0" rIns="0" bIns="0" rtlCol="0" anchor="t"/>
          <a:lstStyle/>
          <a:p>
            <a:pPr indent="0" marL="0">
              <a:buNone/>
            </a:pPr>
            <a:r>
              <a:rPr lang="en-US" sz="1200" dirty="0" b="1">
                <a:solidFill>
                  <a:srgbClr val="4D7C0F"/>
                </a:solidFill>
              </a:rPr>
              <a:t>Built: </a:t>
            </a:r>
            <a:r>
              <a:rPr lang="en-US" sz="1200" dirty="0">
                <a:solidFill>
                  <a:schemeClr val="tx1"/>
                </a:solidFill>
              </a:rPr>
              <a:t>Hindi and Marathi interface</a:t>
            </a:r>
            <a:endParaRPr lang="en-US" sz="1200" dirty="0"/>
          </a:p>
        </p:txBody>
      </p:sp>
      <p:sp>
        <p:nvSpPr>
          <p:cNvPr id="37" name="r4_34"/>
          <p:cNvSpPr/>
          <p:nvPr/>
        </p:nvSpPr>
        <p:spPr>
          <a:xfrm>
            <a:off x="7918704" y="3739896"/>
            <a:ext cx="73152" cy="73152"/>
          </a:xfrm>
          <a:prstGeom prst="ellipse">
            <a:avLst/>
          </a:prstGeom>
          <a:solidFill>
            <a:schemeClr val="accent2"/>
          </a:solidFill>
          <a:ln/>
        </p:spPr>
        <p:txBody>
          <a:bodyPr/>
          <a:p/>
        </p:txBody>
      </p:sp>
      <p:sp>
        <p:nvSpPr>
          <p:cNvPr id="38" name="r4_35"/>
          <p:cNvSpPr txBox="1"/>
          <p:nvPr/>
        </p:nvSpPr>
        <p:spPr>
          <a:xfrm>
            <a:off x="8138160" y="3666744"/>
            <a:ext cx="3413455" cy="310896"/>
          </a:xfrm>
          <a:prstGeom prst="rect">
            <a:avLst/>
          </a:prstGeom>
          <a:noFill/>
          <a:ln/>
        </p:spPr>
        <p:txBody>
          <a:bodyPr wrap="square" lIns="0" tIns="0" rIns="0" bIns="0" rtlCol="0" anchor="t"/>
          <a:lstStyle/>
          <a:p>
            <a:pPr indent="0" marL="0">
              <a:buNone/>
            </a:pPr>
            <a:r>
              <a:rPr lang="en-US" sz="1200" dirty="0" b="1">
                <a:solidFill>
                  <a:srgbClr val="4D7C0F"/>
                </a:solidFill>
              </a:rPr>
              <a:t>Built: </a:t>
            </a:r>
            <a:r>
              <a:rPr lang="en-US" sz="1200" dirty="0">
                <a:solidFill>
                  <a:schemeClr val="tx1"/>
                </a:solidFill>
              </a:rPr>
              <a:t>offline routing, QR report relay</a:t>
            </a:r>
            <a:endParaRPr lang="en-US" sz="1200" dirty="0"/>
          </a:p>
        </p:txBody>
      </p:sp>
      <p:sp>
        <p:nvSpPr>
          <p:cNvPr id="39" name="r5_36"/>
          <p:cNvSpPr/>
          <p:nvPr/>
        </p:nvSpPr>
        <p:spPr>
          <a:xfrm>
            <a:off x="7918704" y="4123944"/>
            <a:ext cx="73152" cy="73152"/>
          </a:xfrm>
          <a:prstGeom prst="ellipse">
            <a:avLst/>
          </a:prstGeom>
          <a:solidFill>
            <a:schemeClr val="accent2"/>
          </a:solidFill>
          <a:ln/>
        </p:spPr>
        <p:txBody>
          <a:bodyPr/>
          <a:p/>
        </p:txBody>
      </p:sp>
      <p:sp>
        <p:nvSpPr>
          <p:cNvPr id="40" name="r5_37"/>
          <p:cNvSpPr txBox="1"/>
          <p:nvPr/>
        </p:nvSpPr>
        <p:spPr>
          <a:xfrm>
            <a:off x="8138160" y="4050791"/>
            <a:ext cx="3413455" cy="310896"/>
          </a:xfrm>
          <a:prstGeom prst="rect">
            <a:avLst/>
          </a:prstGeom>
          <a:noFill/>
          <a:ln/>
        </p:spPr>
        <p:txBody>
          <a:bodyPr wrap="square" lIns="0" tIns="0" rIns="0" bIns="0" rtlCol="0" anchor="t"/>
          <a:lstStyle/>
          <a:p>
            <a:pPr indent="0" marL="0">
              <a:buNone/>
            </a:pPr>
            <a:r>
              <a:rPr lang="en-US" sz="1200" dirty="0" b="1">
                <a:solidFill>
                  <a:srgbClr val="B45309"/>
                </a:solidFill>
              </a:rPr>
              <a:t>Next: </a:t>
            </a:r>
            <a:r>
              <a:rPr lang="en-US" sz="1200" dirty="0">
                <a:solidFill>
                  <a:schemeClr val="tx1"/>
                </a:solidFill>
              </a:rPr>
              <a:t>live SACHET/IMD alerts and traffic feeds</a:t>
            </a:r>
            <a:endParaRPr lang="en-US" sz="1200" dirty="0"/>
          </a:p>
        </p:txBody>
      </p:sp>
      <p:sp>
        <p:nvSpPr>
          <p:cNvPr id="41" name="r6_38"/>
          <p:cNvSpPr/>
          <p:nvPr/>
        </p:nvSpPr>
        <p:spPr>
          <a:xfrm>
            <a:off x="7918704" y="4507992"/>
            <a:ext cx="73152" cy="73152"/>
          </a:xfrm>
          <a:prstGeom prst="ellipse">
            <a:avLst/>
          </a:prstGeom>
          <a:solidFill>
            <a:schemeClr val="accent2"/>
          </a:solidFill>
          <a:ln/>
        </p:spPr>
        <p:txBody>
          <a:bodyPr/>
          <a:p/>
        </p:txBody>
      </p:sp>
      <p:sp>
        <p:nvSpPr>
          <p:cNvPr id="42" name="r6_39"/>
          <p:cNvSpPr txBox="1"/>
          <p:nvPr/>
        </p:nvSpPr>
        <p:spPr>
          <a:xfrm>
            <a:off x="8138160" y="4434840"/>
            <a:ext cx="3413455" cy="310896"/>
          </a:xfrm>
          <a:prstGeom prst="rect">
            <a:avLst/>
          </a:prstGeom>
          <a:noFill/>
          <a:ln/>
        </p:spPr>
        <p:txBody>
          <a:bodyPr wrap="square" lIns="0" tIns="0" rIns="0" bIns="0" rtlCol="0" anchor="t"/>
          <a:lstStyle/>
          <a:p>
            <a:pPr indent="0" marL="0">
              <a:buNone/>
            </a:pPr>
            <a:r>
              <a:rPr lang="en-US" sz="1200" dirty="0" b="1">
                <a:solidFill>
                  <a:srgbClr val="B45309"/>
                </a:solidFill>
              </a:rPr>
              <a:t>Next: </a:t>
            </a:r>
            <a:r>
              <a:rPr lang="en-US" sz="1200" dirty="0">
                <a:solidFill>
                  <a:schemeClr val="tx1"/>
                </a:solidFill>
              </a:rPr>
              <a:t>a city pilot with a real control room</a:t>
            </a:r>
            <a:endParaRPr lang="en-US" sz="1200" dirty="0"/>
          </a:p>
        </p:txBody>
      </p:sp>
      <p:sp>
        <p:nvSpPr>
          <p:cNvPr id="43" name="q_40"/>
          <p:cNvSpPr txBox="1"/>
          <p:nvPr/>
        </p:nvSpPr>
        <p:spPr>
          <a:xfrm>
            <a:off x="640080" y="5029200"/>
            <a:ext cx="6400800" cy="96012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In a flood, the fastest route is the one that drowns first. </a:t>
            </a:r>
            <a:pPr indent="0" marL="0">
              <a:buNone/>
            </a:pPr>
            <a:r>
              <a:rPr lang="en-US" sz="1900" dirty="0">
                <a:solidFill>
                  <a:schemeClr val="tx1"/>
                </a:solidFill>
                <a:latin typeface="Segoe UI Light" pitchFamily="34" charset="0"/>
                <a:ea typeface="Segoe UI Light" pitchFamily="34" charset="-122"/>
                <a:cs typeface="Segoe UI Light" pitchFamily="34" charset="-120"/>
              </a:rPr>
              <a:t>Vighnaway takes the one with the evidence.</a:t>
            </a:r>
            <a:endParaRPr lang="en-US" sz="1900" dirty="0"/>
          </a:p>
        </p:txBody>
      </p:sp>
      <p:sp>
        <p:nvSpPr>
          <p:cNvPr id="44" name="fm_41"/>
          <p:cNvSpPr/>
          <p:nvPr/>
        </p:nvSpPr>
        <p:spPr>
          <a:xfrm>
            <a:off x="7573975" y="5010912"/>
            <a:ext cx="3977640" cy="1280160"/>
          </a:xfrm>
          <a:prstGeom prst="roundRect">
            <a:avLst>
              <a:gd name="adj" fmla="val 7143"/>
            </a:avLst>
          </a:prstGeom>
          <a:solidFill>
            <a:srgbClr val="FFFFFF"/>
          </a:solidFill>
          <a:ln/>
          <a:effectLst>
            <a:outerShdw sx="100000" sy="100000" kx="0" ky="0" algn="bl" rotWithShape="0" blurRad="228600" dist="63500" dir="5400000">
              <a:srgbClr val="26123F">
                <a:alpha val="18000"/>
              </a:srgbClr>
            </a:outerShdw>
          </a:effectLst>
        </p:spPr>
        <p:txBody>
          <a:bodyPr/>
          <a:p/>
        </p:txBody>
      </p:sp>
      <p:pic>
        <p:nvPicPr>
          <p:cNvPr id="45" name="fm_42" descr="3D map of a flood-prone rail corridor, built from OpenStreetMap data">    </p:cNvPr>
          <p:cNvPicPr>
            <a:picLocks noChangeAspect="1"/>
          </p:cNvPicPr>
          <p:nvPr/>
        </p:nvPicPr>
        <p:blipFill>
          <a:blip r:embed="rId1"/>
          <a:stretch>
            <a:fillRect/>
          </a:stretch>
        </p:blipFill>
        <p:spPr>
          <a:xfrm>
            <a:off x="7573975" y="5010912"/>
            <a:ext cx="3977640" cy="1280160"/>
          </a:xfrm>
          <a:prstGeom prst="rect">
            <a:avLst/>
          </a:prstGeom>
        </p:spPr>
      </p:pic>
      <p:pic>
        <p:nvPicPr>
          <p:cNvPr id="46" name="fr1_43" descr="Route A">    </p:cNvPr>
          <p:cNvPicPr>
            <a:picLocks noChangeAspect="1"/>
          </p:cNvPicPr>
          <p:nvPr/>
        </p:nvPicPr>
        <p:blipFill>
          <a:blip r:embed="rId2"/>
          <a:stretch>
            <a:fillRect/>
          </a:stretch>
        </p:blipFill>
        <p:spPr>
          <a:xfrm>
            <a:off x="7573975" y="5010912"/>
            <a:ext cx="3977640" cy="1280160"/>
          </a:xfrm>
          <a:prstGeom prst="rect">
            <a:avLst/>
          </a:prstGeom>
        </p:spPr>
      </p:pic>
      <p:pic>
        <p:nvPicPr>
          <p:cNvPr id="47" name="fr2_44" descr="Route B">    </p:cNvPr>
          <p:cNvPicPr>
            <a:picLocks noChangeAspect="1"/>
          </p:cNvPicPr>
          <p:nvPr/>
        </p:nvPicPr>
        <p:blipFill>
          <a:blip r:embed="rId3"/>
          <a:stretch>
            <a:fillRect/>
          </a:stretch>
        </p:blipFill>
        <p:spPr>
          <a:xfrm>
            <a:off x="7573975" y="5010912"/>
            <a:ext cx="3977640" cy="1280160"/>
          </a:xfrm>
          <a:prstGeom prst="rect">
            <a:avLst/>
          </a:prstGeom>
        </p:spPr>
      </p:pic>
      <p:sp>
        <p:nvSpPr>
          <p:cNvPr id="48" name="fm_45"/>
          <p:cNvSpPr/>
          <p:nvPr/>
        </p:nvSpPr>
        <p:spPr>
          <a:xfrm>
            <a:off x="8605457" y="5228726"/>
            <a:ext cx="274320" cy="274320"/>
          </a:xfrm>
          <a:prstGeom prst="ellipse">
            <a:avLst/>
          </a:prstGeom>
          <a:solidFill>
            <a:srgbClr val="FFFFFF"/>
          </a:solidFill>
          <a:ln/>
        </p:spPr>
        <p:txBody>
          <a:bodyPr/>
          <a:p/>
        </p:txBody>
      </p:sp>
      <p:sp>
        <p:nvSpPr>
          <p:cNvPr id="49" name="fm_46"/>
          <p:cNvSpPr/>
          <p:nvPr/>
        </p:nvSpPr>
        <p:spPr>
          <a:xfrm>
            <a:off x="8683181" y="5306450"/>
            <a:ext cx="118872" cy="118872"/>
          </a:xfrm>
          <a:prstGeom prst="ellipse">
            <a:avLst/>
          </a:prstGeom>
          <a:solidFill>
            <a:srgbClr val="26123F"/>
          </a:solidFill>
          <a:ln/>
        </p:spPr>
        <p:txBody>
          <a:bodyPr/>
          <a:p/>
        </p:txBody>
      </p:sp>
      <p:sp>
        <p:nvSpPr>
          <p:cNvPr id="50" name="fr2_47"/>
          <p:cNvSpPr/>
          <p:nvPr/>
        </p:nvSpPr>
        <p:spPr>
          <a:xfrm>
            <a:off x="10368984" y="5507846"/>
            <a:ext cx="376733" cy="376733"/>
          </a:xfrm>
          <a:prstGeom prst="ellipse">
            <a:avLst/>
          </a:prstGeom>
          <a:solidFill>
            <a:srgbClr val="FFFFFF"/>
          </a:solidFill>
          <a:ln/>
        </p:spPr>
        <p:txBody>
          <a:bodyPr/>
          <a:p/>
        </p:txBody>
      </p:sp>
      <p:sp>
        <p:nvSpPr>
          <p:cNvPr id="51" name="fr2_48"/>
          <p:cNvSpPr txBox="1"/>
          <p:nvPr/>
        </p:nvSpPr>
        <p:spPr>
          <a:xfrm>
            <a:off x="10432992" y="5571854"/>
            <a:ext cx="248717" cy="248717"/>
          </a:xfrm>
          <a:prstGeom prst="roundRect">
            <a:avLst>
              <a:gd name="adj" fmla="val 25735"/>
            </a:avLst>
          </a:prstGeom>
          <a:solidFill>
            <a:schemeClr val="accent1"/>
          </a:solidFill>
          <a:ln/>
        </p:spPr>
        <p:txBody>
          <a:bodyPr wrap="square" lIns="0" tIns="0" rIns="0" bIns="0" rtlCol="0" anchor="ctr"/>
          <a:lstStyle/>
          <a:p>
            <a:pPr algn="ctr" indent="0" marL="0">
              <a:buNone/>
            </a:pPr>
            <a:r>
              <a:rPr lang="en-US" sz="960" dirty="0">
                <a:solidFill>
                  <a:srgbClr val="FFFFFF"/>
                </a:solidFill>
                <a:latin typeface="Segoe UI Semibold" pitchFamily="34" charset="0"/>
                <a:ea typeface="Segoe UI Semibold" pitchFamily="34" charset="-122"/>
                <a:cs typeface="Segoe UI Semibold" pitchFamily="34" charset="-120"/>
              </a:rPr>
              <a:t>H</a:t>
            </a:r>
            <a:endParaRPr lang="en-US" sz="960" dirty="0"/>
          </a:p>
        </p:txBody>
      </p:sp>
      <p:sp>
        <p:nvSpPr>
          <p:cNvPr id="52" name="disc_49"/>
          <p:cNvSpPr txBox="1"/>
          <p:nvPr/>
        </p:nvSpPr>
        <p:spPr>
          <a:xfrm>
            <a:off x="640080" y="6053328"/>
            <a:ext cx="6949440" cy="219456"/>
          </a:xfrm>
          <a:prstGeom prst="rect">
            <a:avLst/>
          </a:prstGeom>
          <a:noFill/>
          <a:ln/>
        </p:spPr>
        <p:txBody>
          <a:bodyPr wrap="square" lIns="0" tIns="0" rIns="0" bIns="0" rtlCol="0" anchor="ctr"/>
          <a:lstStyle/>
          <a:p>
            <a:pPr indent="0" marL="0">
              <a:buNone/>
            </a:pPr>
            <a:r>
              <a:rPr lang="en-US" sz="1000" dirty="0">
                <a:solidFill>
                  <a:srgbClr val="B45309"/>
                </a:solidFill>
              </a:rPr>
              <a:t>Hackathon prototype. Incidents and congestion in the demonstration are simulated. Not validated for real emergency use.</a:t>
            </a:r>
            <a:endParaRPr lang="en-US" sz="1000" dirty="0"/>
          </a:p>
        </p:txBody>
      </p:sp>
      <p:sp>
        <p:nvSpPr>
          <p:cNvPr id="53" name="jn_50"/>
          <p:cNvSpPr/>
          <p:nvPr/>
        </p:nvSpPr>
        <p:spPr>
          <a:xfrm>
            <a:off x="4343400" y="6537960"/>
            <a:ext cx="3520440" cy="0"/>
          </a:xfrm>
          <a:prstGeom prst="line">
            <a:avLst/>
          </a:prstGeom>
          <a:noFill/>
          <a:ln w="12700">
            <a:solidFill>
              <a:srgbClr val="D2CBBB"/>
            </a:solidFill>
            <a:prstDash val="solid"/>
          </a:ln>
        </p:spPr>
        <p:txBody>
          <a:bodyPr/>
          <a:p/>
        </p:txBody>
      </p:sp>
      <p:sp>
        <p:nvSpPr>
          <p:cNvPr id="54" name="jn_51"/>
          <p:cNvSpPr/>
          <p:nvPr/>
        </p:nvSpPr>
        <p:spPr>
          <a:xfrm>
            <a:off x="4343400" y="6537960"/>
            <a:ext cx="2816352" cy="0"/>
          </a:xfrm>
          <a:prstGeom prst="line">
            <a:avLst/>
          </a:prstGeom>
          <a:noFill/>
          <a:ln w="19050">
            <a:solidFill>
              <a:srgbClr val="4D7C0F"/>
            </a:solidFill>
            <a:prstDash val="solid"/>
          </a:ln>
        </p:spPr>
        <p:txBody>
          <a:bodyPr/>
          <a:p/>
        </p:txBody>
      </p:sp>
      <p:sp>
        <p:nvSpPr>
          <p:cNvPr id="55" name="jseg_52"/>
          <p:cNvSpPr/>
          <p:nvPr/>
        </p:nvSpPr>
        <p:spPr>
          <a:xfrm>
            <a:off x="7159752" y="6537960"/>
            <a:ext cx="704088" cy="0"/>
          </a:xfrm>
          <a:prstGeom prst="line">
            <a:avLst/>
          </a:prstGeom>
          <a:noFill/>
          <a:ln w="19050">
            <a:solidFill>
              <a:srgbClr val="4D7C0F"/>
            </a:solidFill>
            <a:prstDash val="solid"/>
          </a:ln>
        </p:spPr>
        <p:txBody>
          <a:bodyPr/>
          <a:p/>
        </p:txBody>
      </p:sp>
      <p:sp>
        <p:nvSpPr>
          <p:cNvPr id="56" name="jn_53"/>
          <p:cNvSpPr/>
          <p:nvPr/>
        </p:nvSpPr>
        <p:spPr>
          <a:xfrm>
            <a:off x="4306824" y="6501384"/>
            <a:ext cx="73152" cy="73152"/>
          </a:xfrm>
          <a:prstGeom prst="ellipse">
            <a:avLst/>
          </a:prstGeom>
          <a:solidFill>
            <a:schemeClr val="accent1"/>
          </a:solidFill>
          <a:ln/>
        </p:spPr>
        <p:txBody>
          <a:bodyPr/>
          <a:p/>
        </p:txBody>
      </p:sp>
      <p:sp>
        <p:nvSpPr>
          <p:cNvPr id="57" name="jn_54"/>
          <p:cNvSpPr/>
          <p:nvPr/>
        </p:nvSpPr>
        <p:spPr>
          <a:xfrm>
            <a:off x="5010912" y="6501384"/>
            <a:ext cx="73152" cy="73152"/>
          </a:xfrm>
          <a:prstGeom prst="ellipse">
            <a:avLst/>
          </a:prstGeom>
          <a:solidFill>
            <a:schemeClr val="accent1"/>
          </a:solidFill>
          <a:ln/>
        </p:spPr>
        <p:txBody>
          <a:bodyPr/>
          <a:p/>
        </p:txBody>
      </p:sp>
      <p:sp>
        <p:nvSpPr>
          <p:cNvPr id="58" name="jn_55"/>
          <p:cNvSpPr/>
          <p:nvPr/>
        </p:nvSpPr>
        <p:spPr>
          <a:xfrm>
            <a:off x="5715000" y="6501384"/>
            <a:ext cx="73152" cy="73152"/>
          </a:xfrm>
          <a:prstGeom prst="ellipse">
            <a:avLst/>
          </a:prstGeom>
          <a:solidFill>
            <a:schemeClr val="accent1"/>
          </a:solidFill>
          <a:ln/>
        </p:spPr>
        <p:txBody>
          <a:bodyPr/>
          <a:p/>
        </p:txBody>
      </p:sp>
      <p:sp>
        <p:nvSpPr>
          <p:cNvPr id="59" name="jn_56"/>
          <p:cNvSpPr/>
          <p:nvPr/>
        </p:nvSpPr>
        <p:spPr>
          <a:xfrm>
            <a:off x="6419088" y="6501384"/>
            <a:ext cx="73152" cy="73152"/>
          </a:xfrm>
          <a:prstGeom prst="ellipse">
            <a:avLst/>
          </a:prstGeom>
          <a:solidFill>
            <a:schemeClr val="accent1"/>
          </a:solidFill>
          <a:ln/>
        </p:spPr>
        <p:txBody>
          <a:bodyPr/>
          <a:p/>
        </p:txBody>
      </p:sp>
      <p:sp>
        <p:nvSpPr>
          <p:cNvPr id="60" name="jn_57"/>
          <p:cNvSpPr/>
          <p:nvPr/>
        </p:nvSpPr>
        <p:spPr>
          <a:xfrm>
            <a:off x="7123176" y="6501384"/>
            <a:ext cx="73152" cy="73152"/>
          </a:xfrm>
          <a:prstGeom prst="ellipse">
            <a:avLst/>
          </a:prstGeom>
          <a:solidFill>
            <a:schemeClr val="accent1"/>
          </a:solidFill>
          <a:ln/>
        </p:spPr>
        <p:txBody>
          <a:bodyPr/>
          <a:p/>
        </p:txBody>
      </p:sp>
      <p:sp>
        <p:nvSpPr>
          <p:cNvPr id="61" name="jn_58"/>
          <p:cNvSpPr/>
          <p:nvPr/>
        </p:nvSpPr>
        <p:spPr>
          <a:xfrm>
            <a:off x="7827264" y="6501384"/>
            <a:ext cx="73152" cy="73152"/>
          </a:xfrm>
          <a:prstGeom prst="ellipse">
            <a:avLst/>
          </a:prstGeom>
          <a:solidFill>
            <a:srgbClr val="B8B1A0"/>
          </a:solidFill>
          <a:ln/>
        </p:spPr>
        <p:txBody>
          <a:bodyPr/>
          <a:p/>
        </p:txBody>
      </p:sp>
      <p:sp>
        <p:nvSpPr>
          <p:cNvPr id="62" name="jdot_59"/>
          <p:cNvSpPr/>
          <p:nvPr/>
        </p:nvSpPr>
        <p:spPr>
          <a:xfrm>
            <a:off x="7776972" y="6451092"/>
            <a:ext cx="173736" cy="173736"/>
          </a:xfrm>
          <a:prstGeom prst="ellipse">
            <a:avLst/>
          </a:prstGeom>
          <a:solidFill>
            <a:schemeClr val="accent1"/>
          </a:solidFill>
          <a:ln w="28575">
            <a:solidFill>
              <a:srgbClr val="F6F1E9"/>
            </a:solidFill>
            <a:prstDash val="solid"/>
          </a:ln>
        </p:spPr>
        <p:txBody>
          <a:bodyPr/>
          <a:p/>
        </p:txBody>
      </p:sp>
      <p:sp>
        <p:nvSpPr>
          <p:cNvPr id="63" name="Text 58"/>
          <p:cNvSpPr txBox="1"/>
          <p:nvPr/>
        </p:nvSpPr>
        <p:spPr>
          <a:xfrm>
            <a:off x="10454335" y="6419088"/>
            <a:ext cx="1097280" cy="237744"/>
          </a:xfrm>
          <a:prstGeom prst="rect">
            <a:avLst/>
          </a:prstGeom>
          <a:noFill/>
          <a:ln/>
        </p:spPr>
        <p:txBody>
          <a:bodyPr wrap="square" lIns="0" tIns="0" rIns="0" bIns="0" rtlCol="0" anchor="ctr"/>
          <a:lstStyle/>
          <a:p>
            <a:pPr algn="r" indent="0" marL="0">
              <a:buNone/>
            </a:pPr>
            <a:r>
              <a:rPr lang="en-US" sz="1000" dirty="0">
                <a:solidFill>
                  <a:schemeClr val="accent5"/>
                </a:solidFill>
              </a:rPr>
              <a:t>06 / 06</a:t>
            </a:r>
            <a:endParaRPr lang="en-US" sz="1000" dirty="0"/>
          </a:p>
        </p:txBody>
      </p:sp>
      <p:sp>
        <p:nvSpPr>
          <p:cNvPr id="64" name="attrib"/>
          <p:cNvSpPr txBox="1"/>
          <p:nvPr/>
        </p:nvSpPr>
        <p:spPr>
          <a:xfrm>
            <a:off x="7571231" y="6071616"/>
            <a:ext cx="3886200" cy="182880"/>
          </a:xfrm>
          <a:prstGeom prst="rect">
            <a:avLst/>
          </a:prstGeom>
          <a:noFill/>
          <a:ln/>
        </p:spPr>
        <p:txBody>
          <a:bodyPr wrap="square" lIns="0" tIns="0" rIns="0" bIns="0" rtlCol="0" anchor="ctr"/>
          <a:lstStyle/>
          <a:p>
            <a:pPr algn="r" indent="0" marL="0">
              <a:buNone/>
            </a:pPr>
            <a:r>
              <a:rPr lang="en-US" sz="800" dirty="0">
                <a:solidFill>
                  <a:srgbClr val="4A3F66"/>
                </a:solidFill>
              </a:rPr>
              <a:t>Simulated · © OpenStreetMap contributors</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200"/>
                                  </p:stCondLst>
                                  <p:childTnLst>
                                    <p:set>
                                      <p:cBhvr>
                                        <p:cTn id="5" dur="1" fill="hold">
                                          <p:stCondLst>
                                            <p:cond delay="0"/>
                                          </p:stCondLst>
                                        </p:cTn>
                                        <p:tgtEl>
                                          <p:spTgt spid="53"/>
                                        </p:tgtEl>
                                        <p:attrNameLst>
                                          <p:attrName>style.visibility</p:attrName>
                                        </p:attrNameLst>
                                      </p:cBhvr>
                                      <p:to>
                                        <p:strVal val="visible"/>
                                      </p:to>
                                    </p:set>
                                    <p:animEffect transition="in" filter="fade">
                                      <p:cBhvr>
                                        <p:cTn id="6" dur="500"/>
                                        <p:tgtEl>
                                          <p:spTgt spid="53"/>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54"/>
                                        </p:tgtEl>
                                        <p:attrNameLst>
                                          <p:attrName>style.visibility</p:attrName>
                                        </p:attrNameLst>
                                      </p:cBhvr>
                                      <p:to>
                                        <p:strVal val="visible"/>
                                      </p:to>
                                    </p:set>
                                    <p:animEffect transition="in" filter="fade">
                                      <p:cBhvr>
                                        <p:cTn id="9" dur="500"/>
                                        <p:tgtEl>
                                          <p:spTgt spid="54"/>
                                        </p:tgtEl>
                                      </p:cBhvr>
                                    </p:animEffect>
                                  </p:childTnLst>
                                </p:cTn>
                              </p:par>
                              <p:par>
                                <p:cTn id="13" presetID="10" presetClass="entr" presetSubtype="0" fill="hold" grpId="0" nodeType="withEffect">
                                  <p:stCondLst>
                                    <p:cond delay="200"/>
                                  </p:stCondLst>
                                  <p:childTnLst>
                                    <p:set>
                                      <p:cBhvr>
                                        <p:cTn id="11" dur="1" fill="hold">
                                          <p:stCondLst>
                                            <p:cond delay="0"/>
                                          </p:stCondLst>
                                        </p:cTn>
                                        <p:tgtEl>
                                          <p:spTgt spid="56"/>
                                        </p:tgtEl>
                                        <p:attrNameLst>
                                          <p:attrName>style.visibility</p:attrName>
                                        </p:attrNameLst>
                                      </p:cBhvr>
                                      <p:to>
                                        <p:strVal val="visible"/>
                                      </p:to>
                                    </p:set>
                                    <p:animEffect transition="in" filter="fade">
                                      <p:cBhvr>
                                        <p:cTn id="12" dur="500"/>
                                        <p:tgtEl>
                                          <p:spTgt spid="56"/>
                                        </p:tgtEl>
                                      </p:cBhvr>
                                    </p:animEffect>
                                  </p:childTnLst>
                                </p:cTn>
                              </p:par>
                              <p:par>
                                <p:cTn id="16" presetID="10" presetClass="entr" presetSubtype="0" fill="hold" grpId="0" nodeType="withEffect">
                                  <p:stCondLst>
                                    <p:cond delay="200"/>
                                  </p:stCondLst>
                                  <p:childTnLst>
                                    <p:set>
                                      <p:cBhvr>
                                        <p:cTn id="14" dur="1" fill="hold">
                                          <p:stCondLst>
                                            <p:cond delay="0"/>
                                          </p:stCondLst>
                                        </p:cTn>
                                        <p:tgtEl>
                                          <p:spTgt spid="57"/>
                                        </p:tgtEl>
                                        <p:attrNameLst>
                                          <p:attrName>style.visibility</p:attrName>
                                        </p:attrNameLst>
                                      </p:cBhvr>
                                      <p:to>
                                        <p:strVal val="visible"/>
                                      </p:to>
                                    </p:set>
                                    <p:animEffect transition="in" filter="fade">
                                      <p:cBhvr>
                                        <p:cTn id="15" dur="500"/>
                                        <p:tgtEl>
                                          <p:spTgt spid="57"/>
                                        </p:tgtEl>
                                      </p:cBhvr>
                                    </p:animEffect>
                                  </p:childTnLst>
                                </p:cTn>
                              </p:par>
                              <p:par>
                                <p:cTn id="19" presetID="10" presetClass="entr" presetSubtype="0" fill="hold" grpId="0" nodeType="withEffect">
                                  <p:stCondLst>
                                    <p:cond delay="200"/>
                                  </p:stCondLst>
                                  <p:childTnLst>
                                    <p:set>
                                      <p:cBhvr>
                                        <p:cTn id="17" dur="1" fill="hold">
                                          <p:stCondLst>
                                            <p:cond delay="0"/>
                                          </p:stCondLst>
                                        </p:cTn>
                                        <p:tgtEl>
                                          <p:spTgt spid="58"/>
                                        </p:tgtEl>
                                        <p:attrNameLst>
                                          <p:attrName>style.visibility</p:attrName>
                                        </p:attrNameLst>
                                      </p:cBhvr>
                                      <p:to>
                                        <p:strVal val="visible"/>
                                      </p:to>
                                    </p:set>
                                    <p:animEffect transition="in" filter="fade">
                                      <p:cBhvr>
                                        <p:cTn id="18" dur="500"/>
                                        <p:tgtEl>
                                          <p:spTgt spid="58"/>
                                        </p:tgtEl>
                                      </p:cBhvr>
                                    </p:animEffect>
                                  </p:childTnLst>
                                </p:cTn>
                              </p:par>
                              <p:par>
                                <p:cTn id="22" presetID="10" presetClass="entr" presetSubtype="0" fill="hold" grpId="0" nodeType="withEffect">
                                  <p:stCondLst>
                                    <p:cond delay="200"/>
                                  </p:stCondLst>
                                  <p:childTnLst>
                                    <p:set>
                                      <p:cBhvr>
                                        <p:cTn id="20" dur="1" fill="hold">
                                          <p:stCondLst>
                                            <p:cond delay="0"/>
                                          </p:stCondLst>
                                        </p:cTn>
                                        <p:tgtEl>
                                          <p:spTgt spid="59"/>
                                        </p:tgtEl>
                                        <p:attrNameLst>
                                          <p:attrName>style.visibility</p:attrName>
                                        </p:attrNameLst>
                                      </p:cBhvr>
                                      <p:to>
                                        <p:strVal val="visible"/>
                                      </p:to>
                                    </p:set>
                                    <p:animEffect transition="in" filter="fade">
                                      <p:cBhvr>
                                        <p:cTn id="21" dur="500"/>
                                        <p:tgtEl>
                                          <p:spTgt spid="59"/>
                                        </p:tgtEl>
                                      </p:cBhvr>
                                    </p:animEffect>
                                  </p:childTnLst>
                                </p:cTn>
                              </p:par>
                              <p:par>
                                <p:cTn id="25" presetID="10" presetClass="entr" presetSubtype="0" fill="hold" grpId="0" nodeType="withEffect">
                                  <p:stCondLst>
                                    <p:cond delay="200"/>
                                  </p:stCondLst>
                                  <p:childTnLst>
                                    <p:set>
                                      <p:cBhvr>
                                        <p:cTn id="23" dur="1" fill="hold">
                                          <p:stCondLst>
                                            <p:cond delay="0"/>
                                          </p:stCondLst>
                                        </p:cTn>
                                        <p:tgtEl>
                                          <p:spTgt spid="60"/>
                                        </p:tgtEl>
                                        <p:attrNameLst>
                                          <p:attrName>style.visibility</p:attrName>
                                        </p:attrNameLst>
                                      </p:cBhvr>
                                      <p:to>
                                        <p:strVal val="visible"/>
                                      </p:to>
                                    </p:set>
                                    <p:animEffect transition="in" filter="fade">
                                      <p:cBhvr>
                                        <p:cTn id="24" dur="500"/>
                                        <p:tgtEl>
                                          <p:spTgt spid="60"/>
                                        </p:tgtEl>
                                      </p:cBhvr>
                                    </p:animEffect>
                                  </p:childTnLst>
                                </p:cTn>
                              </p:par>
                              <p:par>
                                <p:cTn id="28" presetID="10" presetClass="entr" presetSubtype="0" fill="hold" grpId="0" nodeType="withEffect">
                                  <p:stCondLst>
                                    <p:cond delay="200"/>
                                  </p:stCondLst>
                                  <p:childTnLst>
                                    <p:set>
                                      <p:cBhvr>
                                        <p:cTn id="26" dur="1" fill="hold">
                                          <p:stCondLst>
                                            <p:cond delay="0"/>
                                          </p:stCondLst>
                                        </p:cTn>
                                        <p:tgtEl>
                                          <p:spTgt spid="61"/>
                                        </p:tgtEl>
                                        <p:attrNameLst>
                                          <p:attrName>style.visibility</p:attrName>
                                        </p:attrNameLst>
                                      </p:cBhvr>
                                      <p:to>
                                        <p:strVal val="visible"/>
                                      </p:to>
                                    </p:set>
                                    <p:animEffect transition="in" filter="fade">
                                      <p:cBhvr>
                                        <p:cTn id="27" dur="500"/>
                                        <p:tgtEl>
                                          <p:spTgt spid="61"/>
                                        </p:tgtEl>
                                      </p:cBhvr>
                                    </p:animEffect>
                                  </p:childTnLst>
                                </p:cTn>
                              </p:par>
                              <p:par>
                                <p:cTn id="32" presetID="42" presetClass="entr" presetSubtype="0" fill="hold" grpId="0" nodeType="withEffect">
                                  <p:stCondLst>
                                    <p:cond delay="25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500" fill="hold"/>
                                        <p:tgtEl>
                                          <p:spTgt spid="7"/>
                                        </p:tgtEl>
                                        <p:attrNameLst>
                                          <p:attrName>ppt_y</p:attrName>
                                        </p:attrNameLst>
                                      </p:cBhvr>
                                      <p:tavLst>
                                        <p:tav tm="0">
                                          <p:val>
                                            <p:strVal val="#ppt_y+.06"/>
                                          </p:val>
                                        </p:tav>
                                        <p:tav tm="100000">
                                          <p:val>
                                            <p:strVal val="#ppt_y"/>
                                          </p:val>
                                        </p:tav>
                                      </p:tavLst>
                                    </p:anim>
                                    <p:animEffect transition="in" filter="fade">
                                      <p:cBhvr>
                                        <p:cTn id="31" dur="500"/>
                                        <p:tgtEl>
                                          <p:spTgt spid="7"/>
                                        </p:tgtEl>
                                      </p:cBhvr>
                                    </p:animEffect>
                                  </p:childTnLst>
                                </p:cTn>
                              </p:par>
                              <p:par>
                                <p:cTn id="36" presetID="42" presetClass="entr" presetSubtype="0" fill="hold" grpId="0" nodeType="withEffect">
                                  <p:stCondLst>
                                    <p:cond delay="250"/>
                                  </p:stCondLst>
                                  <p:childTnLst>
                                    <p:set>
                                      <p:cBhvr>
                                        <p:cTn id="33" dur="1" fill="hold">
                                          <p:stCondLst>
                                            <p:cond delay="0"/>
                                          </p:stCondLst>
                                        </p:cTn>
                                        <p:tgtEl>
                                          <p:spTgt spid="8"/>
                                        </p:tgtEl>
                                        <p:attrNameLst>
                                          <p:attrName>style.visibility</p:attrName>
                                        </p:attrNameLst>
                                      </p:cBhvr>
                                      <p:to>
                                        <p:strVal val="visible"/>
                                      </p:to>
                                    </p:set>
                                    <p:anim calcmode="lin" valueType="num">
                                      <p:cBhvr additive="base">
                                        <p:cTn id="34" dur="500" fill="hold"/>
                                        <p:tgtEl>
                                          <p:spTgt spid="8"/>
                                        </p:tgtEl>
                                        <p:attrNameLst>
                                          <p:attrName>ppt_y</p:attrName>
                                        </p:attrNameLst>
                                      </p:cBhvr>
                                      <p:tavLst>
                                        <p:tav tm="0">
                                          <p:val>
                                            <p:strVal val="#ppt_y+.06"/>
                                          </p:val>
                                        </p:tav>
                                        <p:tav tm="100000">
                                          <p:val>
                                            <p:strVal val="#ppt_y"/>
                                          </p:val>
                                        </p:tav>
                                      </p:tavLst>
                                    </p:anim>
                                    <p:animEffect transition="in" filter="fade">
                                      <p:cBhvr>
                                        <p:cTn id="35" dur="500"/>
                                        <p:tgtEl>
                                          <p:spTgt spid="8"/>
                                        </p:tgtEl>
                                      </p:cBhvr>
                                    </p:animEffect>
                                  </p:childTnLst>
                                </p:cTn>
                              </p:par>
                              <p:par>
                                <p:cTn id="40" presetID="42" presetClass="entr" presetSubtype="0" fill="hold" grpId="0" nodeType="withEffect">
                                  <p:stCondLst>
                                    <p:cond delay="250"/>
                                  </p:stCondLst>
                                  <p:childTnLst>
                                    <p:set>
                                      <p:cBhvr>
                                        <p:cTn id="37" dur="1" fill="hold">
                                          <p:stCondLst>
                                            <p:cond delay="0"/>
                                          </p:stCondLst>
                                        </p:cTn>
                                        <p:tgtEl>
                                          <p:spTgt spid="9"/>
                                        </p:tgtEl>
                                        <p:attrNameLst>
                                          <p:attrName>style.visibility</p:attrName>
                                        </p:attrNameLst>
                                      </p:cBhvr>
                                      <p:to>
                                        <p:strVal val="visible"/>
                                      </p:to>
                                    </p:set>
                                    <p:anim calcmode="lin" valueType="num">
                                      <p:cBhvr additive="base">
                                        <p:cTn id="38" dur="500" fill="hold"/>
                                        <p:tgtEl>
                                          <p:spTgt spid="9"/>
                                        </p:tgtEl>
                                        <p:attrNameLst>
                                          <p:attrName>ppt_y</p:attrName>
                                        </p:attrNameLst>
                                      </p:cBhvr>
                                      <p:tavLst>
                                        <p:tav tm="0">
                                          <p:val>
                                            <p:strVal val="#ppt_y+.06"/>
                                          </p:val>
                                        </p:tav>
                                        <p:tav tm="100000">
                                          <p:val>
                                            <p:strVal val="#ppt_y"/>
                                          </p:val>
                                        </p:tav>
                                      </p:tavLst>
                                    </p:anim>
                                    <p:animEffect transition="in" filter="fade">
                                      <p:cBhvr>
                                        <p:cTn id="39" dur="500"/>
                                        <p:tgtEl>
                                          <p:spTgt spid="9"/>
                                        </p:tgtEl>
                                      </p:cBhvr>
                                    </p:animEffect>
                                  </p:childTnLst>
                                </p:cTn>
                              </p:par>
                              <p:par>
                                <p:cTn id="42" presetID="0" presetClass="path" presetSubtype="0" accel="50000" decel="50000" fill="hold" nodeType="withEffect">
                                  <p:stCondLst>
                                    <p:cond delay="500"/>
                                  </p:stCondLst>
                                  <p:childTnLst>
                                    <p:animMotion origin="layout" path="M -0.0578 0 L 0 0 E" pathEditMode="relative" rAng="0" ptsTypes="AA">
                                      <p:cBhvr>
                                        <p:cTn id="41" dur="1100" fill="hold"/>
                                        <p:tgtEl>
                                          <p:spTgt spid="62"/>
                                        </p:tgtEl>
                                        <p:attrNameLst>
                                          <p:attrName>ppt_x</p:attrName>
                                          <p:attrName>ppt_y</p:attrName>
                                        </p:attrNameLst>
                                      </p:cBhvr>
                                    </p:animMotion>
                                  </p:childTnLst>
                                </p:cTn>
                              </p:par>
                              <p:par>
                                <p:cTn id="45" presetID="22" presetClass="entr" presetSubtype="8" fill="hold" grpId="0" nodeType="withEffect">
                                  <p:stCondLst>
                                    <p:cond delay="500"/>
                                  </p:stCondLst>
                                  <p:childTnLst>
                                    <p:set>
                                      <p:cBhvr>
                                        <p:cTn id="43" dur="1" fill="hold">
                                          <p:stCondLst>
                                            <p:cond delay="0"/>
                                          </p:stCondLst>
                                        </p:cTn>
                                        <p:tgtEl>
                                          <p:spTgt spid="55"/>
                                        </p:tgtEl>
                                        <p:attrNameLst>
                                          <p:attrName>style.visibility</p:attrName>
                                        </p:attrNameLst>
                                      </p:cBhvr>
                                      <p:to>
                                        <p:strVal val="visible"/>
                                      </p:to>
                                    </p:set>
                                    <p:animEffect transition="in" filter="wipe(left)">
                                      <p:cBhvr>
                                        <p:cTn id="44" dur="1100"/>
                                        <p:tgtEl>
                                          <p:spTgt spid="55"/>
                                        </p:tgtEl>
                                      </p:cBhvr>
                                    </p:animEffect>
                                  </p:childTnLst>
                                </p:cTn>
                              </p:par>
                              <p:par>
                                <p:cTn id="49" presetID="42" presetClass="entr" presetSubtype="0" fill="hold" grpId="0" nodeType="withEffect">
                                  <p:stCondLst>
                                    <p:cond delay="50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ppt_y</p:attrName>
                                        </p:attrNameLst>
                                      </p:cBhvr>
                                      <p:tavLst>
                                        <p:tav tm="0">
                                          <p:val>
                                            <p:strVal val="#ppt_y+.06"/>
                                          </p:val>
                                        </p:tav>
                                        <p:tav tm="100000">
                                          <p:val>
                                            <p:strVal val="#ppt_y"/>
                                          </p:val>
                                        </p:tav>
                                      </p:tavLst>
                                    </p:anim>
                                    <p:animEffect transition="in" filter="fade">
                                      <p:cBhvr>
                                        <p:cTn id="48" dur="500"/>
                                        <p:tgtEl>
                                          <p:spTgt spid="10"/>
                                        </p:tgtEl>
                                      </p:cBhvr>
                                    </p:animEffect>
                                  </p:childTnLst>
                                </p:cTn>
                              </p:par>
                              <p:par>
                                <p:cTn id="53" presetID="42" presetClass="entr" presetSubtype="0" fill="hold" grpId="0" nodeType="withEffect">
                                  <p:stCondLst>
                                    <p:cond delay="500"/>
                                  </p:stCondLst>
                                  <p:childTnLst>
                                    <p:set>
                                      <p:cBhvr>
                                        <p:cTn id="50" dur="1" fill="hold">
                                          <p:stCondLst>
                                            <p:cond delay="0"/>
                                          </p:stCondLst>
                                        </p:cTn>
                                        <p:tgtEl>
                                          <p:spTgt spid="11"/>
                                        </p:tgtEl>
                                        <p:attrNameLst>
                                          <p:attrName>style.visibility</p:attrName>
                                        </p:attrNameLst>
                                      </p:cBhvr>
                                      <p:to>
                                        <p:strVal val="visible"/>
                                      </p:to>
                                    </p:set>
                                    <p:anim calcmode="lin" valueType="num">
                                      <p:cBhvr additive="base">
                                        <p:cTn id="51" dur="500" fill="hold"/>
                                        <p:tgtEl>
                                          <p:spTgt spid="11"/>
                                        </p:tgtEl>
                                        <p:attrNameLst>
                                          <p:attrName>ppt_y</p:attrName>
                                        </p:attrNameLst>
                                      </p:cBhvr>
                                      <p:tavLst>
                                        <p:tav tm="0">
                                          <p:val>
                                            <p:strVal val="#ppt_y+.06"/>
                                          </p:val>
                                        </p:tav>
                                        <p:tav tm="100000">
                                          <p:val>
                                            <p:strVal val="#ppt_y"/>
                                          </p:val>
                                        </p:tav>
                                      </p:tavLst>
                                    </p:anim>
                                    <p:animEffect transition="in" filter="fade">
                                      <p:cBhvr>
                                        <p:cTn id="52" dur="500"/>
                                        <p:tgtEl>
                                          <p:spTgt spid="11"/>
                                        </p:tgtEl>
                                      </p:cBhvr>
                                    </p:animEffect>
                                  </p:childTnLst>
                                </p:cTn>
                              </p:par>
                              <p:par>
                                <p:cTn id="57" presetID="42" presetClass="entr" presetSubtype="0" fill="hold" grpId="0" nodeType="withEffect">
                                  <p:stCondLst>
                                    <p:cond delay="50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ppt_y</p:attrName>
                                        </p:attrNameLst>
                                      </p:cBhvr>
                                      <p:tavLst>
                                        <p:tav tm="0">
                                          <p:val>
                                            <p:strVal val="#ppt_y+.06"/>
                                          </p:val>
                                        </p:tav>
                                        <p:tav tm="100000">
                                          <p:val>
                                            <p:strVal val="#ppt_y"/>
                                          </p:val>
                                        </p:tav>
                                      </p:tavLst>
                                    </p:anim>
                                    <p:animEffect transition="in" filter="fade">
                                      <p:cBhvr>
                                        <p:cTn id="56" dur="500"/>
                                        <p:tgtEl>
                                          <p:spTgt spid="12"/>
                                        </p:tgtEl>
                                      </p:cBhvr>
                                    </p:animEffect>
                                  </p:childTnLst>
                                </p:cTn>
                              </p:par>
                              <p:par>
                                <p:cTn id="61" presetID="42" presetClass="entr" presetSubtype="0" fill="hold" grpId="0" nodeType="withEffect">
                                  <p:stCondLst>
                                    <p:cond delay="90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9" dur="400" fill="hold"/>
                                        <p:tgtEl>
                                          <p:spTgt spid="13"/>
                                        </p:tgtEl>
                                        <p:attrNameLst>
                                          <p:attrName>ppt_y</p:attrName>
                                        </p:attrNameLst>
                                      </p:cBhvr>
                                      <p:tavLst>
                                        <p:tav tm="0">
                                          <p:val>
                                            <p:strVal val="#ppt_y+.06"/>
                                          </p:val>
                                        </p:tav>
                                        <p:tav tm="100000">
                                          <p:val>
                                            <p:strVal val="#ppt_y"/>
                                          </p:val>
                                        </p:tav>
                                      </p:tavLst>
                                    </p:anim>
                                    <p:animEffect transition="in" filter="fade">
                                      <p:cBhvr>
                                        <p:cTn id="60" dur="400"/>
                                        <p:tgtEl>
                                          <p:spTgt spid="13"/>
                                        </p:tgtEl>
                                      </p:cBhvr>
                                    </p:animEffect>
                                  </p:childTnLst>
                                </p:cTn>
                              </p:par>
                              <p:par>
                                <p:cTn id="65" presetID="42" presetClass="entr" presetSubtype="0" fill="hold" grpId="0" nodeType="withEffect">
                                  <p:stCondLst>
                                    <p:cond delay="900"/>
                                  </p:stCondLst>
                                  <p:childTnLst>
                                    <p:set>
                                      <p:cBhvr>
                                        <p:cTn id="62" dur="1" fill="hold">
                                          <p:stCondLst>
                                            <p:cond delay="0"/>
                                          </p:stCondLst>
                                        </p:cTn>
                                        <p:tgtEl>
                                          <p:spTgt spid="14"/>
                                        </p:tgtEl>
                                        <p:attrNameLst>
                                          <p:attrName>style.visibility</p:attrName>
                                        </p:attrNameLst>
                                      </p:cBhvr>
                                      <p:to>
                                        <p:strVal val="visible"/>
                                      </p:to>
                                    </p:set>
                                    <p:anim calcmode="lin" valueType="num">
                                      <p:cBhvr additive="base">
                                        <p:cTn id="63" dur="400" fill="hold"/>
                                        <p:tgtEl>
                                          <p:spTgt spid="14"/>
                                        </p:tgtEl>
                                        <p:attrNameLst>
                                          <p:attrName>ppt_y</p:attrName>
                                        </p:attrNameLst>
                                      </p:cBhvr>
                                      <p:tavLst>
                                        <p:tav tm="0">
                                          <p:val>
                                            <p:strVal val="#ppt_y+.06"/>
                                          </p:val>
                                        </p:tav>
                                        <p:tav tm="100000">
                                          <p:val>
                                            <p:strVal val="#ppt_y"/>
                                          </p:val>
                                        </p:tav>
                                      </p:tavLst>
                                    </p:anim>
                                    <p:animEffect transition="in" filter="fade">
                                      <p:cBhvr>
                                        <p:cTn id="64" dur="400"/>
                                        <p:tgtEl>
                                          <p:spTgt spid="14"/>
                                        </p:tgtEl>
                                      </p:cBhvr>
                                    </p:animEffect>
                                  </p:childTnLst>
                                </p:cTn>
                              </p:par>
                              <p:par>
                                <p:cTn id="69" presetID="42" presetClass="entr" presetSubtype="0" fill="hold" grpId="0" nodeType="withEffect">
                                  <p:stCondLst>
                                    <p:cond delay="108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400" fill="hold"/>
                                        <p:tgtEl>
                                          <p:spTgt spid="15"/>
                                        </p:tgtEl>
                                        <p:attrNameLst>
                                          <p:attrName>ppt_y</p:attrName>
                                        </p:attrNameLst>
                                      </p:cBhvr>
                                      <p:tavLst>
                                        <p:tav tm="0">
                                          <p:val>
                                            <p:strVal val="#ppt_y+.06"/>
                                          </p:val>
                                        </p:tav>
                                        <p:tav tm="100000">
                                          <p:val>
                                            <p:strVal val="#ppt_y"/>
                                          </p:val>
                                        </p:tav>
                                      </p:tavLst>
                                    </p:anim>
                                    <p:animEffect transition="in" filter="fade">
                                      <p:cBhvr>
                                        <p:cTn id="68" dur="400"/>
                                        <p:tgtEl>
                                          <p:spTgt spid="15"/>
                                        </p:tgtEl>
                                      </p:cBhvr>
                                    </p:animEffect>
                                  </p:childTnLst>
                                </p:cTn>
                              </p:par>
                              <p:par>
                                <p:cTn id="73" presetID="42" presetClass="entr" presetSubtype="0" fill="hold" grpId="0" nodeType="withEffect">
                                  <p:stCondLst>
                                    <p:cond delay="1080"/>
                                  </p:stCondLst>
                                  <p:childTnLst>
                                    <p:set>
                                      <p:cBhvr>
                                        <p:cTn id="70" dur="1" fill="hold">
                                          <p:stCondLst>
                                            <p:cond delay="0"/>
                                          </p:stCondLst>
                                        </p:cTn>
                                        <p:tgtEl>
                                          <p:spTgt spid="16"/>
                                        </p:tgtEl>
                                        <p:attrNameLst>
                                          <p:attrName>style.visibility</p:attrName>
                                        </p:attrNameLst>
                                      </p:cBhvr>
                                      <p:to>
                                        <p:strVal val="visible"/>
                                      </p:to>
                                    </p:set>
                                    <p:anim calcmode="lin" valueType="num">
                                      <p:cBhvr additive="base">
                                        <p:cTn id="71" dur="400" fill="hold"/>
                                        <p:tgtEl>
                                          <p:spTgt spid="16"/>
                                        </p:tgtEl>
                                        <p:attrNameLst>
                                          <p:attrName>ppt_y</p:attrName>
                                        </p:attrNameLst>
                                      </p:cBhvr>
                                      <p:tavLst>
                                        <p:tav tm="0">
                                          <p:val>
                                            <p:strVal val="#ppt_y+.06"/>
                                          </p:val>
                                        </p:tav>
                                        <p:tav tm="100000">
                                          <p:val>
                                            <p:strVal val="#ppt_y"/>
                                          </p:val>
                                        </p:tav>
                                      </p:tavLst>
                                    </p:anim>
                                    <p:animEffect transition="in" filter="fade">
                                      <p:cBhvr>
                                        <p:cTn id="72" dur="400"/>
                                        <p:tgtEl>
                                          <p:spTgt spid="16"/>
                                        </p:tgtEl>
                                      </p:cBhvr>
                                    </p:animEffect>
                                  </p:childTnLst>
                                </p:cTn>
                              </p:par>
                              <p:par>
                                <p:cTn id="77" presetID="42" presetClass="entr" presetSubtype="0" fill="hold" grpId="0" nodeType="withEffect">
                                  <p:stCondLst>
                                    <p:cond delay="115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400" fill="hold"/>
                                        <p:tgtEl>
                                          <p:spTgt spid="23"/>
                                        </p:tgtEl>
                                        <p:attrNameLst>
                                          <p:attrName>ppt_y</p:attrName>
                                        </p:attrNameLst>
                                      </p:cBhvr>
                                      <p:tavLst>
                                        <p:tav tm="0">
                                          <p:val>
                                            <p:strVal val="#ppt_y+.06"/>
                                          </p:val>
                                        </p:tav>
                                        <p:tav tm="100000">
                                          <p:val>
                                            <p:strVal val="#ppt_y"/>
                                          </p:val>
                                        </p:tav>
                                      </p:tavLst>
                                    </p:anim>
                                    <p:animEffect transition="in" filter="fade">
                                      <p:cBhvr>
                                        <p:cTn id="76" dur="400"/>
                                        <p:tgtEl>
                                          <p:spTgt spid="23"/>
                                        </p:tgtEl>
                                      </p:cBhvr>
                                    </p:animEffect>
                                  </p:childTnLst>
                                </p:cTn>
                              </p:par>
                              <p:par>
                                <p:cTn id="81" presetID="42" presetClass="entr" presetSubtype="0" fill="hold" grpId="0" nodeType="withEffect">
                                  <p:stCondLst>
                                    <p:cond delay="115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400" fill="hold"/>
                                        <p:tgtEl>
                                          <p:spTgt spid="24"/>
                                        </p:tgtEl>
                                        <p:attrNameLst>
                                          <p:attrName>ppt_y</p:attrName>
                                        </p:attrNameLst>
                                      </p:cBhvr>
                                      <p:tavLst>
                                        <p:tav tm="0">
                                          <p:val>
                                            <p:strVal val="#ppt_y+.06"/>
                                          </p:val>
                                        </p:tav>
                                        <p:tav tm="100000">
                                          <p:val>
                                            <p:strVal val="#ppt_y"/>
                                          </p:val>
                                        </p:tav>
                                      </p:tavLst>
                                    </p:anim>
                                    <p:animEffect transition="in" filter="fade">
                                      <p:cBhvr>
                                        <p:cTn id="80" dur="400"/>
                                        <p:tgtEl>
                                          <p:spTgt spid="24"/>
                                        </p:tgtEl>
                                      </p:cBhvr>
                                    </p:animEffect>
                                  </p:childTnLst>
                                </p:cTn>
                              </p:par>
                              <p:par>
                                <p:cTn id="85" presetID="42" presetClass="entr" presetSubtype="0" fill="hold" grpId="0" nodeType="withEffect">
                                  <p:stCondLst>
                                    <p:cond delay="1260"/>
                                  </p:stCondLst>
                                  <p:childTnLst>
                                    <p:set>
                                      <p:cBhvr>
                                        <p:cTn id="82" dur="1" fill="hold">
                                          <p:stCondLst>
                                            <p:cond delay="0"/>
                                          </p:stCondLst>
                                        </p:cTn>
                                        <p:tgtEl>
                                          <p:spTgt spid="17"/>
                                        </p:tgtEl>
                                        <p:attrNameLst>
                                          <p:attrName>style.visibility</p:attrName>
                                        </p:attrNameLst>
                                      </p:cBhvr>
                                      <p:to>
                                        <p:strVal val="visible"/>
                                      </p:to>
                                    </p:set>
                                    <p:anim calcmode="lin" valueType="num">
                                      <p:cBhvr additive="base">
                                        <p:cTn id="83" dur="400" fill="hold"/>
                                        <p:tgtEl>
                                          <p:spTgt spid="17"/>
                                        </p:tgtEl>
                                        <p:attrNameLst>
                                          <p:attrName>ppt_y</p:attrName>
                                        </p:attrNameLst>
                                      </p:cBhvr>
                                      <p:tavLst>
                                        <p:tav tm="0">
                                          <p:val>
                                            <p:strVal val="#ppt_y+.06"/>
                                          </p:val>
                                        </p:tav>
                                        <p:tav tm="100000">
                                          <p:val>
                                            <p:strVal val="#ppt_y"/>
                                          </p:val>
                                        </p:tav>
                                      </p:tavLst>
                                    </p:anim>
                                    <p:animEffect transition="in" filter="fade">
                                      <p:cBhvr>
                                        <p:cTn id="84" dur="400"/>
                                        <p:tgtEl>
                                          <p:spTgt spid="17"/>
                                        </p:tgtEl>
                                      </p:cBhvr>
                                    </p:animEffect>
                                  </p:childTnLst>
                                </p:cTn>
                              </p:par>
                              <p:par>
                                <p:cTn id="89" presetID="42" presetClass="entr" presetSubtype="0" fill="hold" grpId="0" nodeType="withEffect">
                                  <p:stCondLst>
                                    <p:cond delay="1260"/>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400" fill="hold"/>
                                        <p:tgtEl>
                                          <p:spTgt spid="18"/>
                                        </p:tgtEl>
                                        <p:attrNameLst>
                                          <p:attrName>ppt_y</p:attrName>
                                        </p:attrNameLst>
                                      </p:cBhvr>
                                      <p:tavLst>
                                        <p:tav tm="0">
                                          <p:val>
                                            <p:strVal val="#ppt_y+.06"/>
                                          </p:val>
                                        </p:tav>
                                        <p:tav tm="100000">
                                          <p:val>
                                            <p:strVal val="#ppt_y"/>
                                          </p:val>
                                        </p:tav>
                                      </p:tavLst>
                                    </p:anim>
                                    <p:animEffect transition="in" filter="fade">
                                      <p:cBhvr>
                                        <p:cTn id="88" dur="400"/>
                                        <p:tgtEl>
                                          <p:spTgt spid="18"/>
                                        </p:tgtEl>
                                      </p:cBhvr>
                                    </p:animEffect>
                                  </p:childTnLst>
                                </p:cTn>
                              </p:par>
                              <p:par>
                                <p:cTn id="93" presetID="42" presetClass="entr" presetSubtype="0" fill="hold" grpId="0" nodeType="withEffect">
                                  <p:stCondLst>
                                    <p:cond delay="1300"/>
                                  </p:stCondLst>
                                  <p:childTnLst>
                                    <p:set>
                                      <p:cBhvr>
                                        <p:cTn id="90" dur="1" fill="hold">
                                          <p:stCondLst>
                                            <p:cond delay="0"/>
                                          </p:stCondLst>
                                        </p:cTn>
                                        <p:tgtEl>
                                          <p:spTgt spid="31"/>
                                        </p:tgtEl>
                                        <p:attrNameLst>
                                          <p:attrName>style.visibility</p:attrName>
                                        </p:attrNameLst>
                                      </p:cBhvr>
                                      <p:to>
                                        <p:strVal val="visible"/>
                                      </p:to>
                                    </p:set>
                                    <p:anim calcmode="lin" valueType="num">
                                      <p:cBhvr additive="base">
                                        <p:cTn id="91" dur="400" fill="hold"/>
                                        <p:tgtEl>
                                          <p:spTgt spid="31"/>
                                        </p:tgtEl>
                                        <p:attrNameLst>
                                          <p:attrName>ppt_y</p:attrName>
                                        </p:attrNameLst>
                                      </p:cBhvr>
                                      <p:tavLst>
                                        <p:tav tm="0">
                                          <p:val>
                                            <p:strVal val="#ppt_y+.06"/>
                                          </p:val>
                                        </p:tav>
                                        <p:tav tm="100000">
                                          <p:val>
                                            <p:strVal val="#ppt_y"/>
                                          </p:val>
                                        </p:tav>
                                      </p:tavLst>
                                    </p:anim>
                                    <p:animEffect transition="in" filter="fade">
                                      <p:cBhvr>
                                        <p:cTn id="92" dur="400"/>
                                        <p:tgtEl>
                                          <p:spTgt spid="31"/>
                                        </p:tgtEl>
                                      </p:cBhvr>
                                    </p:animEffect>
                                  </p:childTnLst>
                                </p:cTn>
                              </p:par>
                              <p:par>
                                <p:cTn id="97" presetID="42" presetClass="entr" presetSubtype="0" fill="hold" grpId="0" nodeType="withEffect">
                                  <p:stCondLst>
                                    <p:cond delay="1300"/>
                                  </p:stCondLst>
                                  <p:childTnLst>
                                    <p:set>
                                      <p:cBhvr>
                                        <p:cTn id="94" dur="1" fill="hold">
                                          <p:stCondLst>
                                            <p:cond delay="0"/>
                                          </p:stCondLst>
                                        </p:cTn>
                                        <p:tgtEl>
                                          <p:spTgt spid="32"/>
                                        </p:tgtEl>
                                        <p:attrNameLst>
                                          <p:attrName>style.visibility</p:attrName>
                                        </p:attrNameLst>
                                      </p:cBhvr>
                                      <p:to>
                                        <p:strVal val="visible"/>
                                      </p:to>
                                    </p:set>
                                    <p:anim calcmode="lin" valueType="num">
                                      <p:cBhvr additive="base">
                                        <p:cTn id="95" dur="400" fill="hold"/>
                                        <p:tgtEl>
                                          <p:spTgt spid="32"/>
                                        </p:tgtEl>
                                        <p:attrNameLst>
                                          <p:attrName>ppt_y</p:attrName>
                                        </p:attrNameLst>
                                      </p:cBhvr>
                                      <p:tavLst>
                                        <p:tav tm="0">
                                          <p:val>
                                            <p:strVal val="#ppt_y+.06"/>
                                          </p:val>
                                        </p:tav>
                                        <p:tav tm="100000">
                                          <p:val>
                                            <p:strVal val="#ppt_y"/>
                                          </p:val>
                                        </p:tav>
                                      </p:tavLst>
                                    </p:anim>
                                    <p:animEffect transition="in" filter="fade">
                                      <p:cBhvr>
                                        <p:cTn id="96" dur="400"/>
                                        <p:tgtEl>
                                          <p:spTgt spid="32"/>
                                        </p:tgtEl>
                                      </p:cBhvr>
                                    </p:animEffect>
                                  </p:childTnLst>
                                </p:cTn>
                              </p:par>
                              <p:par>
                                <p:cTn id="101" presetID="42" presetClass="entr" presetSubtype="0" fill="hold" grpId="0" nodeType="withEffect">
                                  <p:stCondLst>
                                    <p:cond delay="1350"/>
                                  </p:stCondLst>
                                  <p:childTnLst>
                                    <p:set>
                                      <p:cBhvr>
                                        <p:cTn id="98" dur="1" fill="hold">
                                          <p:stCondLst>
                                            <p:cond delay="0"/>
                                          </p:stCondLst>
                                        </p:cTn>
                                        <p:tgtEl>
                                          <p:spTgt spid="25"/>
                                        </p:tgtEl>
                                        <p:attrNameLst>
                                          <p:attrName>style.visibility</p:attrName>
                                        </p:attrNameLst>
                                      </p:cBhvr>
                                      <p:to>
                                        <p:strVal val="visible"/>
                                      </p:to>
                                    </p:set>
                                    <p:anim calcmode="lin" valueType="num">
                                      <p:cBhvr additive="base">
                                        <p:cTn id="99" dur="400" fill="hold"/>
                                        <p:tgtEl>
                                          <p:spTgt spid="25"/>
                                        </p:tgtEl>
                                        <p:attrNameLst>
                                          <p:attrName>ppt_y</p:attrName>
                                        </p:attrNameLst>
                                      </p:cBhvr>
                                      <p:tavLst>
                                        <p:tav tm="0">
                                          <p:val>
                                            <p:strVal val="#ppt_y+.06"/>
                                          </p:val>
                                        </p:tav>
                                        <p:tav tm="100000">
                                          <p:val>
                                            <p:strVal val="#ppt_y"/>
                                          </p:val>
                                        </p:tav>
                                      </p:tavLst>
                                    </p:anim>
                                    <p:animEffect transition="in" filter="fade">
                                      <p:cBhvr>
                                        <p:cTn id="100" dur="400"/>
                                        <p:tgtEl>
                                          <p:spTgt spid="25"/>
                                        </p:tgtEl>
                                      </p:cBhvr>
                                    </p:animEffect>
                                  </p:childTnLst>
                                </p:cTn>
                              </p:par>
                              <p:par>
                                <p:cTn id="105" presetID="42" presetClass="entr" presetSubtype="0" fill="hold" grpId="0" nodeType="withEffect">
                                  <p:stCondLst>
                                    <p:cond delay="1350"/>
                                  </p:stCondLst>
                                  <p:childTnLst>
                                    <p:set>
                                      <p:cBhvr>
                                        <p:cTn id="102" dur="1" fill="hold">
                                          <p:stCondLst>
                                            <p:cond delay="0"/>
                                          </p:stCondLst>
                                        </p:cTn>
                                        <p:tgtEl>
                                          <p:spTgt spid="26"/>
                                        </p:tgtEl>
                                        <p:attrNameLst>
                                          <p:attrName>style.visibility</p:attrName>
                                        </p:attrNameLst>
                                      </p:cBhvr>
                                      <p:to>
                                        <p:strVal val="visible"/>
                                      </p:to>
                                    </p:set>
                                    <p:anim calcmode="lin" valueType="num">
                                      <p:cBhvr additive="base">
                                        <p:cTn id="103" dur="400" fill="hold"/>
                                        <p:tgtEl>
                                          <p:spTgt spid="26"/>
                                        </p:tgtEl>
                                        <p:attrNameLst>
                                          <p:attrName>ppt_y</p:attrName>
                                        </p:attrNameLst>
                                      </p:cBhvr>
                                      <p:tavLst>
                                        <p:tav tm="0">
                                          <p:val>
                                            <p:strVal val="#ppt_y+.06"/>
                                          </p:val>
                                        </p:tav>
                                        <p:tav tm="100000">
                                          <p:val>
                                            <p:strVal val="#ppt_y"/>
                                          </p:val>
                                        </p:tav>
                                      </p:tavLst>
                                    </p:anim>
                                    <p:animEffect transition="in" filter="fade">
                                      <p:cBhvr>
                                        <p:cTn id="104" dur="400"/>
                                        <p:tgtEl>
                                          <p:spTgt spid="26"/>
                                        </p:tgtEl>
                                      </p:cBhvr>
                                    </p:animEffect>
                                  </p:childTnLst>
                                </p:cTn>
                              </p:par>
                              <p:par>
                                <p:cTn id="109" presetID="42" presetClass="entr" presetSubtype="0" fill="hold" grpId="0" nodeType="withEffect">
                                  <p:stCondLst>
                                    <p:cond delay="1440"/>
                                  </p:stCondLst>
                                  <p:childTnLst>
                                    <p:set>
                                      <p:cBhvr>
                                        <p:cTn id="106" dur="1" fill="hold">
                                          <p:stCondLst>
                                            <p:cond delay="0"/>
                                          </p:stCondLst>
                                        </p:cTn>
                                        <p:tgtEl>
                                          <p:spTgt spid="19"/>
                                        </p:tgtEl>
                                        <p:attrNameLst>
                                          <p:attrName>style.visibility</p:attrName>
                                        </p:attrNameLst>
                                      </p:cBhvr>
                                      <p:to>
                                        <p:strVal val="visible"/>
                                      </p:to>
                                    </p:set>
                                    <p:anim calcmode="lin" valueType="num">
                                      <p:cBhvr additive="base">
                                        <p:cTn id="107" dur="400" fill="hold"/>
                                        <p:tgtEl>
                                          <p:spTgt spid="19"/>
                                        </p:tgtEl>
                                        <p:attrNameLst>
                                          <p:attrName>ppt_y</p:attrName>
                                        </p:attrNameLst>
                                      </p:cBhvr>
                                      <p:tavLst>
                                        <p:tav tm="0">
                                          <p:val>
                                            <p:strVal val="#ppt_y+.06"/>
                                          </p:val>
                                        </p:tav>
                                        <p:tav tm="100000">
                                          <p:val>
                                            <p:strVal val="#ppt_y"/>
                                          </p:val>
                                        </p:tav>
                                      </p:tavLst>
                                    </p:anim>
                                    <p:animEffect transition="in" filter="fade">
                                      <p:cBhvr>
                                        <p:cTn id="108" dur="400"/>
                                        <p:tgtEl>
                                          <p:spTgt spid="19"/>
                                        </p:tgtEl>
                                      </p:cBhvr>
                                    </p:animEffect>
                                  </p:childTnLst>
                                </p:cTn>
                              </p:par>
                              <p:par>
                                <p:cTn id="113" presetID="42" presetClass="entr" presetSubtype="0" fill="hold" grpId="0" nodeType="withEffect">
                                  <p:stCondLst>
                                    <p:cond delay="1440"/>
                                  </p:stCondLst>
                                  <p:childTnLst>
                                    <p:set>
                                      <p:cBhvr>
                                        <p:cTn id="110" dur="1" fill="hold">
                                          <p:stCondLst>
                                            <p:cond delay="0"/>
                                          </p:stCondLst>
                                        </p:cTn>
                                        <p:tgtEl>
                                          <p:spTgt spid="20"/>
                                        </p:tgtEl>
                                        <p:attrNameLst>
                                          <p:attrName>style.visibility</p:attrName>
                                        </p:attrNameLst>
                                      </p:cBhvr>
                                      <p:to>
                                        <p:strVal val="visible"/>
                                      </p:to>
                                    </p:set>
                                    <p:anim calcmode="lin" valueType="num">
                                      <p:cBhvr additive="base">
                                        <p:cTn id="111" dur="400" fill="hold"/>
                                        <p:tgtEl>
                                          <p:spTgt spid="20"/>
                                        </p:tgtEl>
                                        <p:attrNameLst>
                                          <p:attrName>ppt_y</p:attrName>
                                        </p:attrNameLst>
                                      </p:cBhvr>
                                      <p:tavLst>
                                        <p:tav tm="0">
                                          <p:val>
                                            <p:strVal val="#ppt_y+.06"/>
                                          </p:val>
                                        </p:tav>
                                        <p:tav tm="100000">
                                          <p:val>
                                            <p:strVal val="#ppt_y"/>
                                          </p:val>
                                        </p:tav>
                                      </p:tavLst>
                                    </p:anim>
                                    <p:animEffect transition="in" filter="fade">
                                      <p:cBhvr>
                                        <p:cTn id="112" dur="400"/>
                                        <p:tgtEl>
                                          <p:spTgt spid="20"/>
                                        </p:tgtEl>
                                      </p:cBhvr>
                                    </p:animEffect>
                                  </p:childTnLst>
                                </p:cTn>
                              </p:par>
                              <p:par>
                                <p:cTn id="117" presetID="42" presetClass="entr" presetSubtype="0" fill="hold" grpId="0" nodeType="withEffect">
                                  <p:stCondLst>
                                    <p:cond delay="1460"/>
                                  </p:stCondLst>
                                  <p:childTnLst>
                                    <p:set>
                                      <p:cBhvr>
                                        <p:cTn id="114" dur="1" fill="hold">
                                          <p:stCondLst>
                                            <p:cond delay="0"/>
                                          </p:stCondLst>
                                        </p:cTn>
                                        <p:tgtEl>
                                          <p:spTgt spid="33"/>
                                        </p:tgtEl>
                                        <p:attrNameLst>
                                          <p:attrName>style.visibility</p:attrName>
                                        </p:attrNameLst>
                                      </p:cBhvr>
                                      <p:to>
                                        <p:strVal val="visible"/>
                                      </p:to>
                                    </p:set>
                                    <p:anim calcmode="lin" valueType="num">
                                      <p:cBhvr additive="base">
                                        <p:cTn id="115" dur="400" fill="hold"/>
                                        <p:tgtEl>
                                          <p:spTgt spid="33"/>
                                        </p:tgtEl>
                                        <p:attrNameLst>
                                          <p:attrName>ppt_y</p:attrName>
                                        </p:attrNameLst>
                                      </p:cBhvr>
                                      <p:tavLst>
                                        <p:tav tm="0">
                                          <p:val>
                                            <p:strVal val="#ppt_y+.06"/>
                                          </p:val>
                                        </p:tav>
                                        <p:tav tm="100000">
                                          <p:val>
                                            <p:strVal val="#ppt_y"/>
                                          </p:val>
                                        </p:tav>
                                      </p:tavLst>
                                    </p:anim>
                                    <p:animEffect transition="in" filter="fade">
                                      <p:cBhvr>
                                        <p:cTn id="116" dur="400"/>
                                        <p:tgtEl>
                                          <p:spTgt spid="33"/>
                                        </p:tgtEl>
                                      </p:cBhvr>
                                    </p:animEffect>
                                  </p:childTnLst>
                                </p:cTn>
                              </p:par>
                              <p:par>
                                <p:cTn id="121" presetID="42" presetClass="entr" presetSubtype="0" fill="hold" grpId="0" nodeType="withEffect">
                                  <p:stCondLst>
                                    <p:cond delay="1460"/>
                                  </p:stCondLst>
                                  <p:childTnLst>
                                    <p:set>
                                      <p:cBhvr>
                                        <p:cTn id="118" dur="1" fill="hold">
                                          <p:stCondLst>
                                            <p:cond delay="0"/>
                                          </p:stCondLst>
                                        </p:cTn>
                                        <p:tgtEl>
                                          <p:spTgt spid="34"/>
                                        </p:tgtEl>
                                        <p:attrNameLst>
                                          <p:attrName>style.visibility</p:attrName>
                                        </p:attrNameLst>
                                      </p:cBhvr>
                                      <p:to>
                                        <p:strVal val="visible"/>
                                      </p:to>
                                    </p:set>
                                    <p:anim calcmode="lin" valueType="num">
                                      <p:cBhvr additive="base">
                                        <p:cTn id="119" dur="400" fill="hold"/>
                                        <p:tgtEl>
                                          <p:spTgt spid="34"/>
                                        </p:tgtEl>
                                        <p:attrNameLst>
                                          <p:attrName>ppt_y</p:attrName>
                                        </p:attrNameLst>
                                      </p:cBhvr>
                                      <p:tavLst>
                                        <p:tav tm="0">
                                          <p:val>
                                            <p:strVal val="#ppt_y+.06"/>
                                          </p:val>
                                        </p:tav>
                                        <p:tav tm="100000">
                                          <p:val>
                                            <p:strVal val="#ppt_y"/>
                                          </p:val>
                                        </p:tav>
                                      </p:tavLst>
                                    </p:anim>
                                    <p:animEffect transition="in" filter="fade">
                                      <p:cBhvr>
                                        <p:cTn id="120" dur="400"/>
                                        <p:tgtEl>
                                          <p:spTgt spid="34"/>
                                        </p:tgtEl>
                                      </p:cBhvr>
                                    </p:animEffect>
                                  </p:childTnLst>
                                </p:cTn>
                              </p:par>
                              <p:par>
                                <p:cTn id="125" presetID="42" presetClass="entr" presetSubtype="0" fill="hold" grpId="0" nodeType="withEffect">
                                  <p:stCondLst>
                                    <p:cond delay="1550"/>
                                  </p:stCondLst>
                                  <p:childTnLst>
                                    <p:set>
                                      <p:cBhvr>
                                        <p:cTn id="122" dur="1" fill="hold">
                                          <p:stCondLst>
                                            <p:cond delay="0"/>
                                          </p:stCondLst>
                                        </p:cTn>
                                        <p:tgtEl>
                                          <p:spTgt spid="27"/>
                                        </p:tgtEl>
                                        <p:attrNameLst>
                                          <p:attrName>style.visibility</p:attrName>
                                        </p:attrNameLst>
                                      </p:cBhvr>
                                      <p:to>
                                        <p:strVal val="visible"/>
                                      </p:to>
                                    </p:set>
                                    <p:anim calcmode="lin" valueType="num">
                                      <p:cBhvr additive="base">
                                        <p:cTn id="123" dur="400" fill="hold"/>
                                        <p:tgtEl>
                                          <p:spTgt spid="27"/>
                                        </p:tgtEl>
                                        <p:attrNameLst>
                                          <p:attrName>ppt_y</p:attrName>
                                        </p:attrNameLst>
                                      </p:cBhvr>
                                      <p:tavLst>
                                        <p:tav tm="0">
                                          <p:val>
                                            <p:strVal val="#ppt_y+.06"/>
                                          </p:val>
                                        </p:tav>
                                        <p:tav tm="100000">
                                          <p:val>
                                            <p:strVal val="#ppt_y"/>
                                          </p:val>
                                        </p:tav>
                                      </p:tavLst>
                                    </p:anim>
                                    <p:animEffect transition="in" filter="fade">
                                      <p:cBhvr>
                                        <p:cTn id="124" dur="400"/>
                                        <p:tgtEl>
                                          <p:spTgt spid="27"/>
                                        </p:tgtEl>
                                      </p:cBhvr>
                                    </p:animEffect>
                                  </p:childTnLst>
                                </p:cTn>
                              </p:par>
                              <p:par>
                                <p:cTn id="129" presetID="42" presetClass="entr" presetSubtype="0" fill="hold" grpId="0" nodeType="withEffect">
                                  <p:stCondLst>
                                    <p:cond delay="1550"/>
                                  </p:stCondLst>
                                  <p:childTnLst>
                                    <p:set>
                                      <p:cBhvr>
                                        <p:cTn id="126" dur="1" fill="hold">
                                          <p:stCondLst>
                                            <p:cond delay="0"/>
                                          </p:stCondLst>
                                        </p:cTn>
                                        <p:tgtEl>
                                          <p:spTgt spid="28"/>
                                        </p:tgtEl>
                                        <p:attrNameLst>
                                          <p:attrName>style.visibility</p:attrName>
                                        </p:attrNameLst>
                                      </p:cBhvr>
                                      <p:to>
                                        <p:strVal val="visible"/>
                                      </p:to>
                                    </p:set>
                                    <p:anim calcmode="lin" valueType="num">
                                      <p:cBhvr additive="base">
                                        <p:cTn id="127" dur="400" fill="hold"/>
                                        <p:tgtEl>
                                          <p:spTgt spid="28"/>
                                        </p:tgtEl>
                                        <p:attrNameLst>
                                          <p:attrName>ppt_y</p:attrName>
                                        </p:attrNameLst>
                                      </p:cBhvr>
                                      <p:tavLst>
                                        <p:tav tm="0">
                                          <p:val>
                                            <p:strVal val="#ppt_y+.06"/>
                                          </p:val>
                                        </p:tav>
                                        <p:tav tm="100000">
                                          <p:val>
                                            <p:strVal val="#ppt_y"/>
                                          </p:val>
                                        </p:tav>
                                      </p:tavLst>
                                    </p:anim>
                                    <p:animEffect transition="in" filter="fade">
                                      <p:cBhvr>
                                        <p:cTn id="128" dur="400"/>
                                        <p:tgtEl>
                                          <p:spTgt spid="28"/>
                                        </p:tgtEl>
                                      </p:cBhvr>
                                    </p:animEffect>
                                  </p:childTnLst>
                                </p:cTn>
                              </p:par>
                              <p:par>
                                <p:cTn id="133" presetID="42" presetClass="entr" presetSubtype="0" fill="hold" grpId="0" nodeType="withEffect">
                                  <p:stCondLst>
                                    <p:cond delay="1620"/>
                                  </p:stCondLst>
                                  <p:childTnLst>
                                    <p:set>
                                      <p:cBhvr>
                                        <p:cTn id="130" dur="1" fill="hold">
                                          <p:stCondLst>
                                            <p:cond delay="0"/>
                                          </p:stCondLst>
                                        </p:cTn>
                                        <p:tgtEl>
                                          <p:spTgt spid="21"/>
                                        </p:tgtEl>
                                        <p:attrNameLst>
                                          <p:attrName>style.visibility</p:attrName>
                                        </p:attrNameLst>
                                      </p:cBhvr>
                                      <p:to>
                                        <p:strVal val="visible"/>
                                      </p:to>
                                    </p:set>
                                    <p:anim calcmode="lin" valueType="num">
                                      <p:cBhvr additive="base">
                                        <p:cTn id="131" dur="400" fill="hold"/>
                                        <p:tgtEl>
                                          <p:spTgt spid="21"/>
                                        </p:tgtEl>
                                        <p:attrNameLst>
                                          <p:attrName>ppt_y</p:attrName>
                                        </p:attrNameLst>
                                      </p:cBhvr>
                                      <p:tavLst>
                                        <p:tav tm="0">
                                          <p:val>
                                            <p:strVal val="#ppt_y+.06"/>
                                          </p:val>
                                        </p:tav>
                                        <p:tav tm="100000">
                                          <p:val>
                                            <p:strVal val="#ppt_y"/>
                                          </p:val>
                                        </p:tav>
                                      </p:tavLst>
                                    </p:anim>
                                    <p:animEffect transition="in" filter="fade">
                                      <p:cBhvr>
                                        <p:cTn id="132" dur="400"/>
                                        <p:tgtEl>
                                          <p:spTgt spid="21"/>
                                        </p:tgtEl>
                                      </p:cBhvr>
                                    </p:animEffect>
                                  </p:childTnLst>
                                </p:cTn>
                              </p:par>
                              <p:par>
                                <p:cTn id="137" presetID="42" presetClass="entr" presetSubtype="0" fill="hold" grpId="0" nodeType="withEffect">
                                  <p:stCondLst>
                                    <p:cond delay="1620"/>
                                  </p:stCondLst>
                                  <p:childTnLst>
                                    <p:set>
                                      <p:cBhvr>
                                        <p:cTn id="134" dur="1" fill="hold">
                                          <p:stCondLst>
                                            <p:cond delay="0"/>
                                          </p:stCondLst>
                                        </p:cTn>
                                        <p:tgtEl>
                                          <p:spTgt spid="22"/>
                                        </p:tgtEl>
                                        <p:attrNameLst>
                                          <p:attrName>style.visibility</p:attrName>
                                        </p:attrNameLst>
                                      </p:cBhvr>
                                      <p:to>
                                        <p:strVal val="visible"/>
                                      </p:to>
                                    </p:set>
                                    <p:anim calcmode="lin" valueType="num">
                                      <p:cBhvr additive="base">
                                        <p:cTn id="135" dur="400" fill="hold"/>
                                        <p:tgtEl>
                                          <p:spTgt spid="22"/>
                                        </p:tgtEl>
                                        <p:attrNameLst>
                                          <p:attrName>ppt_y</p:attrName>
                                        </p:attrNameLst>
                                      </p:cBhvr>
                                      <p:tavLst>
                                        <p:tav tm="0">
                                          <p:val>
                                            <p:strVal val="#ppt_y+.06"/>
                                          </p:val>
                                        </p:tav>
                                        <p:tav tm="100000">
                                          <p:val>
                                            <p:strVal val="#ppt_y"/>
                                          </p:val>
                                        </p:tav>
                                      </p:tavLst>
                                    </p:anim>
                                    <p:animEffect transition="in" filter="fade">
                                      <p:cBhvr>
                                        <p:cTn id="136" dur="400"/>
                                        <p:tgtEl>
                                          <p:spTgt spid="22"/>
                                        </p:tgtEl>
                                      </p:cBhvr>
                                    </p:animEffect>
                                  </p:childTnLst>
                                </p:cTn>
                              </p:par>
                              <p:par>
                                <p:cTn id="141" presetID="42" presetClass="entr" presetSubtype="0" fill="hold" grpId="0" nodeType="withEffect">
                                  <p:stCondLst>
                                    <p:cond delay="1620"/>
                                  </p:stCondLst>
                                  <p:childTnLst>
                                    <p:set>
                                      <p:cBhvr>
                                        <p:cTn id="138" dur="1" fill="hold">
                                          <p:stCondLst>
                                            <p:cond delay="0"/>
                                          </p:stCondLst>
                                        </p:cTn>
                                        <p:tgtEl>
                                          <p:spTgt spid="35"/>
                                        </p:tgtEl>
                                        <p:attrNameLst>
                                          <p:attrName>style.visibility</p:attrName>
                                        </p:attrNameLst>
                                      </p:cBhvr>
                                      <p:to>
                                        <p:strVal val="visible"/>
                                      </p:to>
                                    </p:set>
                                    <p:anim calcmode="lin" valueType="num">
                                      <p:cBhvr additive="base">
                                        <p:cTn id="139" dur="400" fill="hold"/>
                                        <p:tgtEl>
                                          <p:spTgt spid="35"/>
                                        </p:tgtEl>
                                        <p:attrNameLst>
                                          <p:attrName>ppt_y</p:attrName>
                                        </p:attrNameLst>
                                      </p:cBhvr>
                                      <p:tavLst>
                                        <p:tav tm="0">
                                          <p:val>
                                            <p:strVal val="#ppt_y+.06"/>
                                          </p:val>
                                        </p:tav>
                                        <p:tav tm="100000">
                                          <p:val>
                                            <p:strVal val="#ppt_y"/>
                                          </p:val>
                                        </p:tav>
                                      </p:tavLst>
                                    </p:anim>
                                    <p:animEffect transition="in" filter="fade">
                                      <p:cBhvr>
                                        <p:cTn id="140" dur="400"/>
                                        <p:tgtEl>
                                          <p:spTgt spid="35"/>
                                        </p:tgtEl>
                                      </p:cBhvr>
                                    </p:animEffect>
                                  </p:childTnLst>
                                </p:cTn>
                              </p:par>
                              <p:par>
                                <p:cTn id="145" presetID="42" presetClass="entr" presetSubtype="0" fill="hold" grpId="0" nodeType="withEffect">
                                  <p:stCondLst>
                                    <p:cond delay="1620"/>
                                  </p:stCondLst>
                                  <p:childTnLst>
                                    <p:set>
                                      <p:cBhvr>
                                        <p:cTn id="142" dur="1" fill="hold">
                                          <p:stCondLst>
                                            <p:cond delay="0"/>
                                          </p:stCondLst>
                                        </p:cTn>
                                        <p:tgtEl>
                                          <p:spTgt spid="36"/>
                                        </p:tgtEl>
                                        <p:attrNameLst>
                                          <p:attrName>style.visibility</p:attrName>
                                        </p:attrNameLst>
                                      </p:cBhvr>
                                      <p:to>
                                        <p:strVal val="visible"/>
                                      </p:to>
                                    </p:set>
                                    <p:anim calcmode="lin" valueType="num">
                                      <p:cBhvr additive="base">
                                        <p:cTn id="143" dur="400" fill="hold"/>
                                        <p:tgtEl>
                                          <p:spTgt spid="36"/>
                                        </p:tgtEl>
                                        <p:attrNameLst>
                                          <p:attrName>ppt_y</p:attrName>
                                        </p:attrNameLst>
                                      </p:cBhvr>
                                      <p:tavLst>
                                        <p:tav tm="0">
                                          <p:val>
                                            <p:strVal val="#ppt_y+.06"/>
                                          </p:val>
                                        </p:tav>
                                        <p:tav tm="100000">
                                          <p:val>
                                            <p:strVal val="#ppt_y"/>
                                          </p:val>
                                        </p:tav>
                                      </p:tavLst>
                                    </p:anim>
                                    <p:animEffect transition="in" filter="fade">
                                      <p:cBhvr>
                                        <p:cTn id="144" dur="400"/>
                                        <p:tgtEl>
                                          <p:spTgt spid="36"/>
                                        </p:tgtEl>
                                      </p:cBhvr>
                                    </p:animEffect>
                                  </p:childTnLst>
                                </p:cTn>
                              </p:par>
                              <p:par>
                                <p:cTn id="149" presetID="42" presetClass="entr" presetSubtype="0" fill="hold" grpId="0" nodeType="withEffect">
                                  <p:stCondLst>
                                    <p:cond delay="1750"/>
                                  </p:stCondLst>
                                  <p:childTnLst>
                                    <p:set>
                                      <p:cBhvr>
                                        <p:cTn id="146" dur="1" fill="hold">
                                          <p:stCondLst>
                                            <p:cond delay="0"/>
                                          </p:stCondLst>
                                        </p:cTn>
                                        <p:tgtEl>
                                          <p:spTgt spid="29"/>
                                        </p:tgtEl>
                                        <p:attrNameLst>
                                          <p:attrName>style.visibility</p:attrName>
                                        </p:attrNameLst>
                                      </p:cBhvr>
                                      <p:to>
                                        <p:strVal val="visible"/>
                                      </p:to>
                                    </p:set>
                                    <p:anim calcmode="lin" valueType="num">
                                      <p:cBhvr additive="base">
                                        <p:cTn id="147" dur="400" fill="hold"/>
                                        <p:tgtEl>
                                          <p:spTgt spid="29"/>
                                        </p:tgtEl>
                                        <p:attrNameLst>
                                          <p:attrName>ppt_y</p:attrName>
                                        </p:attrNameLst>
                                      </p:cBhvr>
                                      <p:tavLst>
                                        <p:tav tm="0">
                                          <p:val>
                                            <p:strVal val="#ppt_y+.06"/>
                                          </p:val>
                                        </p:tav>
                                        <p:tav tm="100000">
                                          <p:val>
                                            <p:strVal val="#ppt_y"/>
                                          </p:val>
                                        </p:tav>
                                      </p:tavLst>
                                    </p:anim>
                                    <p:animEffect transition="in" filter="fade">
                                      <p:cBhvr>
                                        <p:cTn id="148" dur="400"/>
                                        <p:tgtEl>
                                          <p:spTgt spid="29"/>
                                        </p:tgtEl>
                                      </p:cBhvr>
                                    </p:animEffect>
                                  </p:childTnLst>
                                </p:cTn>
                              </p:par>
                              <p:par>
                                <p:cTn id="153" presetID="42" presetClass="entr" presetSubtype="0" fill="hold" grpId="0" nodeType="withEffect">
                                  <p:stCondLst>
                                    <p:cond delay="1750"/>
                                  </p:stCondLst>
                                  <p:childTnLst>
                                    <p:set>
                                      <p:cBhvr>
                                        <p:cTn id="150" dur="1" fill="hold">
                                          <p:stCondLst>
                                            <p:cond delay="0"/>
                                          </p:stCondLst>
                                        </p:cTn>
                                        <p:tgtEl>
                                          <p:spTgt spid="30"/>
                                        </p:tgtEl>
                                        <p:attrNameLst>
                                          <p:attrName>style.visibility</p:attrName>
                                        </p:attrNameLst>
                                      </p:cBhvr>
                                      <p:to>
                                        <p:strVal val="visible"/>
                                      </p:to>
                                    </p:set>
                                    <p:anim calcmode="lin" valueType="num">
                                      <p:cBhvr additive="base">
                                        <p:cTn id="151" dur="400" fill="hold"/>
                                        <p:tgtEl>
                                          <p:spTgt spid="30"/>
                                        </p:tgtEl>
                                        <p:attrNameLst>
                                          <p:attrName>ppt_y</p:attrName>
                                        </p:attrNameLst>
                                      </p:cBhvr>
                                      <p:tavLst>
                                        <p:tav tm="0">
                                          <p:val>
                                            <p:strVal val="#ppt_y+.06"/>
                                          </p:val>
                                        </p:tav>
                                        <p:tav tm="100000">
                                          <p:val>
                                            <p:strVal val="#ppt_y"/>
                                          </p:val>
                                        </p:tav>
                                      </p:tavLst>
                                    </p:anim>
                                    <p:animEffect transition="in" filter="fade">
                                      <p:cBhvr>
                                        <p:cTn id="152" dur="400"/>
                                        <p:tgtEl>
                                          <p:spTgt spid="30"/>
                                        </p:tgtEl>
                                      </p:cBhvr>
                                    </p:animEffect>
                                  </p:childTnLst>
                                </p:cTn>
                              </p:par>
                              <p:par>
                                <p:cTn id="157" presetID="42" presetClass="entr" presetSubtype="0" fill="hold" grpId="0" nodeType="withEffect">
                                  <p:stCondLst>
                                    <p:cond delay="1780"/>
                                  </p:stCondLst>
                                  <p:childTnLst>
                                    <p:set>
                                      <p:cBhvr>
                                        <p:cTn id="154" dur="1" fill="hold">
                                          <p:stCondLst>
                                            <p:cond delay="0"/>
                                          </p:stCondLst>
                                        </p:cTn>
                                        <p:tgtEl>
                                          <p:spTgt spid="37"/>
                                        </p:tgtEl>
                                        <p:attrNameLst>
                                          <p:attrName>style.visibility</p:attrName>
                                        </p:attrNameLst>
                                      </p:cBhvr>
                                      <p:to>
                                        <p:strVal val="visible"/>
                                      </p:to>
                                    </p:set>
                                    <p:anim calcmode="lin" valueType="num">
                                      <p:cBhvr additive="base">
                                        <p:cTn id="155" dur="400" fill="hold"/>
                                        <p:tgtEl>
                                          <p:spTgt spid="37"/>
                                        </p:tgtEl>
                                        <p:attrNameLst>
                                          <p:attrName>ppt_y</p:attrName>
                                        </p:attrNameLst>
                                      </p:cBhvr>
                                      <p:tavLst>
                                        <p:tav tm="0">
                                          <p:val>
                                            <p:strVal val="#ppt_y+.06"/>
                                          </p:val>
                                        </p:tav>
                                        <p:tav tm="100000">
                                          <p:val>
                                            <p:strVal val="#ppt_y"/>
                                          </p:val>
                                        </p:tav>
                                      </p:tavLst>
                                    </p:anim>
                                    <p:animEffect transition="in" filter="fade">
                                      <p:cBhvr>
                                        <p:cTn id="156" dur="400"/>
                                        <p:tgtEl>
                                          <p:spTgt spid="37"/>
                                        </p:tgtEl>
                                      </p:cBhvr>
                                    </p:animEffect>
                                  </p:childTnLst>
                                </p:cTn>
                              </p:par>
                              <p:par>
                                <p:cTn id="161" presetID="42" presetClass="entr" presetSubtype="0" fill="hold" grpId="0" nodeType="withEffect">
                                  <p:stCondLst>
                                    <p:cond delay="1780"/>
                                  </p:stCondLst>
                                  <p:childTnLst>
                                    <p:set>
                                      <p:cBhvr>
                                        <p:cTn id="158" dur="1" fill="hold">
                                          <p:stCondLst>
                                            <p:cond delay="0"/>
                                          </p:stCondLst>
                                        </p:cTn>
                                        <p:tgtEl>
                                          <p:spTgt spid="38"/>
                                        </p:tgtEl>
                                        <p:attrNameLst>
                                          <p:attrName>style.visibility</p:attrName>
                                        </p:attrNameLst>
                                      </p:cBhvr>
                                      <p:to>
                                        <p:strVal val="visible"/>
                                      </p:to>
                                    </p:set>
                                    <p:anim calcmode="lin" valueType="num">
                                      <p:cBhvr additive="base">
                                        <p:cTn id="159" dur="400" fill="hold"/>
                                        <p:tgtEl>
                                          <p:spTgt spid="38"/>
                                        </p:tgtEl>
                                        <p:attrNameLst>
                                          <p:attrName>ppt_y</p:attrName>
                                        </p:attrNameLst>
                                      </p:cBhvr>
                                      <p:tavLst>
                                        <p:tav tm="0">
                                          <p:val>
                                            <p:strVal val="#ppt_y+.06"/>
                                          </p:val>
                                        </p:tav>
                                        <p:tav tm="100000">
                                          <p:val>
                                            <p:strVal val="#ppt_y"/>
                                          </p:val>
                                        </p:tav>
                                      </p:tavLst>
                                    </p:anim>
                                    <p:animEffect transition="in" filter="fade">
                                      <p:cBhvr>
                                        <p:cTn id="160" dur="400"/>
                                        <p:tgtEl>
                                          <p:spTgt spid="38"/>
                                        </p:tgtEl>
                                      </p:cBhvr>
                                    </p:animEffect>
                                  </p:childTnLst>
                                </p:cTn>
                              </p:par>
                              <p:par>
                                <p:cTn id="165" presetID="42" presetClass="entr" presetSubtype="0" fill="hold" grpId="0" nodeType="withEffect">
                                  <p:stCondLst>
                                    <p:cond delay="1940"/>
                                  </p:stCondLst>
                                  <p:childTnLst>
                                    <p:set>
                                      <p:cBhvr>
                                        <p:cTn id="162" dur="1" fill="hold">
                                          <p:stCondLst>
                                            <p:cond delay="0"/>
                                          </p:stCondLst>
                                        </p:cTn>
                                        <p:tgtEl>
                                          <p:spTgt spid="39"/>
                                        </p:tgtEl>
                                        <p:attrNameLst>
                                          <p:attrName>style.visibility</p:attrName>
                                        </p:attrNameLst>
                                      </p:cBhvr>
                                      <p:to>
                                        <p:strVal val="visible"/>
                                      </p:to>
                                    </p:set>
                                    <p:anim calcmode="lin" valueType="num">
                                      <p:cBhvr additive="base">
                                        <p:cTn id="163" dur="400" fill="hold"/>
                                        <p:tgtEl>
                                          <p:spTgt spid="39"/>
                                        </p:tgtEl>
                                        <p:attrNameLst>
                                          <p:attrName>ppt_y</p:attrName>
                                        </p:attrNameLst>
                                      </p:cBhvr>
                                      <p:tavLst>
                                        <p:tav tm="0">
                                          <p:val>
                                            <p:strVal val="#ppt_y+.06"/>
                                          </p:val>
                                        </p:tav>
                                        <p:tav tm="100000">
                                          <p:val>
                                            <p:strVal val="#ppt_y"/>
                                          </p:val>
                                        </p:tav>
                                      </p:tavLst>
                                    </p:anim>
                                    <p:animEffect transition="in" filter="fade">
                                      <p:cBhvr>
                                        <p:cTn id="164" dur="400"/>
                                        <p:tgtEl>
                                          <p:spTgt spid="39"/>
                                        </p:tgtEl>
                                      </p:cBhvr>
                                    </p:animEffect>
                                  </p:childTnLst>
                                </p:cTn>
                              </p:par>
                              <p:par>
                                <p:cTn id="169" presetID="42" presetClass="entr" presetSubtype="0" fill="hold" grpId="0" nodeType="withEffect">
                                  <p:stCondLst>
                                    <p:cond delay="1940"/>
                                  </p:stCondLst>
                                  <p:childTnLst>
                                    <p:set>
                                      <p:cBhvr>
                                        <p:cTn id="166" dur="1" fill="hold">
                                          <p:stCondLst>
                                            <p:cond delay="0"/>
                                          </p:stCondLst>
                                        </p:cTn>
                                        <p:tgtEl>
                                          <p:spTgt spid="40"/>
                                        </p:tgtEl>
                                        <p:attrNameLst>
                                          <p:attrName>style.visibility</p:attrName>
                                        </p:attrNameLst>
                                      </p:cBhvr>
                                      <p:to>
                                        <p:strVal val="visible"/>
                                      </p:to>
                                    </p:set>
                                    <p:anim calcmode="lin" valueType="num">
                                      <p:cBhvr additive="base">
                                        <p:cTn id="167" dur="400" fill="hold"/>
                                        <p:tgtEl>
                                          <p:spTgt spid="40"/>
                                        </p:tgtEl>
                                        <p:attrNameLst>
                                          <p:attrName>ppt_y</p:attrName>
                                        </p:attrNameLst>
                                      </p:cBhvr>
                                      <p:tavLst>
                                        <p:tav tm="0">
                                          <p:val>
                                            <p:strVal val="#ppt_y+.06"/>
                                          </p:val>
                                        </p:tav>
                                        <p:tav tm="100000">
                                          <p:val>
                                            <p:strVal val="#ppt_y"/>
                                          </p:val>
                                        </p:tav>
                                      </p:tavLst>
                                    </p:anim>
                                    <p:animEffect transition="in" filter="fade">
                                      <p:cBhvr>
                                        <p:cTn id="168" dur="400"/>
                                        <p:tgtEl>
                                          <p:spTgt spid="40"/>
                                        </p:tgtEl>
                                      </p:cBhvr>
                                    </p:animEffect>
                                  </p:childTnLst>
                                </p:cTn>
                              </p:par>
                              <p:par>
                                <p:cTn id="173" presetID="42" presetClass="entr" presetSubtype="0" fill="hold" grpId="0" nodeType="withEffect">
                                  <p:stCondLst>
                                    <p:cond delay="2100"/>
                                  </p:stCondLst>
                                  <p:childTnLst>
                                    <p:set>
                                      <p:cBhvr>
                                        <p:cTn id="170" dur="1" fill="hold">
                                          <p:stCondLst>
                                            <p:cond delay="0"/>
                                          </p:stCondLst>
                                        </p:cTn>
                                        <p:tgtEl>
                                          <p:spTgt spid="41"/>
                                        </p:tgtEl>
                                        <p:attrNameLst>
                                          <p:attrName>style.visibility</p:attrName>
                                        </p:attrNameLst>
                                      </p:cBhvr>
                                      <p:to>
                                        <p:strVal val="visible"/>
                                      </p:to>
                                    </p:set>
                                    <p:anim calcmode="lin" valueType="num">
                                      <p:cBhvr additive="base">
                                        <p:cTn id="171" dur="400" fill="hold"/>
                                        <p:tgtEl>
                                          <p:spTgt spid="41"/>
                                        </p:tgtEl>
                                        <p:attrNameLst>
                                          <p:attrName>ppt_y</p:attrName>
                                        </p:attrNameLst>
                                      </p:cBhvr>
                                      <p:tavLst>
                                        <p:tav tm="0">
                                          <p:val>
                                            <p:strVal val="#ppt_y+.06"/>
                                          </p:val>
                                        </p:tav>
                                        <p:tav tm="100000">
                                          <p:val>
                                            <p:strVal val="#ppt_y"/>
                                          </p:val>
                                        </p:tav>
                                      </p:tavLst>
                                    </p:anim>
                                    <p:animEffect transition="in" filter="fade">
                                      <p:cBhvr>
                                        <p:cTn id="172" dur="400"/>
                                        <p:tgtEl>
                                          <p:spTgt spid="41"/>
                                        </p:tgtEl>
                                      </p:cBhvr>
                                    </p:animEffect>
                                  </p:childTnLst>
                                </p:cTn>
                              </p:par>
                              <p:par>
                                <p:cTn id="177" presetID="42" presetClass="entr" presetSubtype="0" fill="hold" grpId="0" nodeType="withEffect">
                                  <p:stCondLst>
                                    <p:cond delay="2100"/>
                                  </p:stCondLst>
                                  <p:childTnLst>
                                    <p:set>
                                      <p:cBhvr>
                                        <p:cTn id="174" dur="1" fill="hold">
                                          <p:stCondLst>
                                            <p:cond delay="0"/>
                                          </p:stCondLst>
                                        </p:cTn>
                                        <p:tgtEl>
                                          <p:spTgt spid="42"/>
                                        </p:tgtEl>
                                        <p:attrNameLst>
                                          <p:attrName>style.visibility</p:attrName>
                                        </p:attrNameLst>
                                      </p:cBhvr>
                                      <p:to>
                                        <p:strVal val="visible"/>
                                      </p:to>
                                    </p:set>
                                    <p:anim calcmode="lin" valueType="num">
                                      <p:cBhvr additive="base">
                                        <p:cTn id="175" dur="400" fill="hold"/>
                                        <p:tgtEl>
                                          <p:spTgt spid="42"/>
                                        </p:tgtEl>
                                        <p:attrNameLst>
                                          <p:attrName>ppt_y</p:attrName>
                                        </p:attrNameLst>
                                      </p:cBhvr>
                                      <p:tavLst>
                                        <p:tav tm="0">
                                          <p:val>
                                            <p:strVal val="#ppt_y+.06"/>
                                          </p:val>
                                        </p:tav>
                                        <p:tav tm="100000">
                                          <p:val>
                                            <p:strVal val="#ppt_y"/>
                                          </p:val>
                                        </p:tav>
                                      </p:tavLst>
                                    </p:anim>
                                    <p:animEffect transition="in" filter="fade">
                                      <p:cBhvr>
                                        <p:cTn id="176" dur="400"/>
                                        <p:tgtEl>
                                          <p:spTgt spid="42"/>
                                        </p:tgtEl>
                                      </p:cBhvr>
                                    </p:animEffect>
                                  </p:childTnLst>
                                </p:cTn>
                              </p:par>
                              <p:par>
                                <p:cTn id="181" presetID="42" presetClass="entr" presetSubtype="0" fill="hold" grpId="0" nodeType="withEffect">
                                  <p:stCondLst>
                                    <p:cond delay="2500"/>
                                  </p:stCondLst>
                                  <p:childTnLst>
                                    <p:set>
                                      <p:cBhvr>
                                        <p:cTn id="178" dur="1" fill="hold">
                                          <p:stCondLst>
                                            <p:cond delay="0"/>
                                          </p:stCondLst>
                                        </p:cTn>
                                        <p:tgtEl>
                                          <p:spTgt spid="43"/>
                                        </p:tgtEl>
                                        <p:attrNameLst>
                                          <p:attrName>style.visibility</p:attrName>
                                        </p:attrNameLst>
                                      </p:cBhvr>
                                      <p:to>
                                        <p:strVal val="visible"/>
                                      </p:to>
                                    </p:set>
                                    <p:anim calcmode="lin" valueType="num">
                                      <p:cBhvr additive="base">
                                        <p:cTn id="179" dur="700" fill="hold"/>
                                        <p:tgtEl>
                                          <p:spTgt spid="43"/>
                                        </p:tgtEl>
                                        <p:attrNameLst>
                                          <p:attrName>ppt_y</p:attrName>
                                        </p:attrNameLst>
                                      </p:cBhvr>
                                      <p:tavLst>
                                        <p:tav tm="0">
                                          <p:val>
                                            <p:strVal val="#ppt_y+.06"/>
                                          </p:val>
                                        </p:tav>
                                        <p:tav tm="100000">
                                          <p:val>
                                            <p:strVal val="#ppt_y"/>
                                          </p:val>
                                        </p:tav>
                                      </p:tavLst>
                                    </p:anim>
                                    <p:animEffect transition="in" filter="fade">
                                      <p:cBhvr>
                                        <p:cTn id="180" dur="700"/>
                                        <p:tgtEl>
                                          <p:spTgt spid="43"/>
                                        </p:tgtEl>
                                      </p:cBhvr>
                                    </p:animEffect>
                                  </p:childTnLst>
                                </p:cTn>
                              </p:par>
                              <p:par>
                                <p:cTn id="184" presetID="10" presetClass="entr" presetSubtype="0" fill="hold" grpId="0" nodeType="withEffect">
                                  <p:stCondLst>
                                    <p:cond delay="2900"/>
                                  </p:stCondLst>
                                  <p:childTnLst>
                                    <p:set>
                                      <p:cBhvr>
                                        <p:cTn id="182" dur="1" fill="hold">
                                          <p:stCondLst>
                                            <p:cond delay="0"/>
                                          </p:stCondLst>
                                        </p:cTn>
                                        <p:tgtEl>
                                          <p:spTgt spid="44"/>
                                        </p:tgtEl>
                                        <p:attrNameLst>
                                          <p:attrName>style.visibility</p:attrName>
                                        </p:attrNameLst>
                                      </p:cBhvr>
                                      <p:to>
                                        <p:strVal val="visible"/>
                                      </p:to>
                                    </p:set>
                                    <p:animEffect transition="in" filter="fade">
                                      <p:cBhvr>
                                        <p:cTn id="183" dur="600"/>
                                        <p:tgtEl>
                                          <p:spTgt spid="44"/>
                                        </p:tgtEl>
                                      </p:cBhvr>
                                    </p:animEffect>
                                  </p:childTnLst>
                                </p:cTn>
                              </p:par>
                              <p:par>
                                <p:cTn id="187" presetID="10" presetClass="entr" presetSubtype="0" fill="hold" nodeType="withEffect">
                                  <p:stCondLst>
                                    <p:cond delay="2900"/>
                                  </p:stCondLst>
                                  <p:childTnLst>
                                    <p:set>
                                      <p:cBhvr>
                                        <p:cTn id="185" dur="1" fill="hold">
                                          <p:stCondLst>
                                            <p:cond delay="0"/>
                                          </p:stCondLst>
                                        </p:cTn>
                                        <p:tgtEl>
                                          <p:spTgt spid="45"/>
                                        </p:tgtEl>
                                        <p:attrNameLst>
                                          <p:attrName>style.visibility</p:attrName>
                                        </p:attrNameLst>
                                      </p:cBhvr>
                                      <p:to>
                                        <p:strVal val="visible"/>
                                      </p:to>
                                    </p:set>
                                    <p:animEffect transition="in" filter="fade">
                                      <p:cBhvr>
                                        <p:cTn id="186" dur="600"/>
                                        <p:tgtEl>
                                          <p:spTgt spid="45"/>
                                        </p:tgtEl>
                                      </p:cBhvr>
                                    </p:animEffect>
                                  </p:childTnLst>
                                </p:cTn>
                              </p:par>
                              <p:par>
                                <p:cTn id="190" presetID="10" presetClass="entr" presetSubtype="0" fill="hold" grpId="0" nodeType="withEffect">
                                  <p:stCondLst>
                                    <p:cond delay="2900"/>
                                  </p:stCondLst>
                                  <p:childTnLst>
                                    <p:set>
                                      <p:cBhvr>
                                        <p:cTn id="188" dur="1" fill="hold">
                                          <p:stCondLst>
                                            <p:cond delay="0"/>
                                          </p:stCondLst>
                                        </p:cTn>
                                        <p:tgtEl>
                                          <p:spTgt spid="48"/>
                                        </p:tgtEl>
                                        <p:attrNameLst>
                                          <p:attrName>style.visibility</p:attrName>
                                        </p:attrNameLst>
                                      </p:cBhvr>
                                      <p:to>
                                        <p:strVal val="visible"/>
                                      </p:to>
                                    </p:set>
                                    <p:animEffect transition="in" filter="fade">
                                      <p:cBhvr>
                                        <p:cTn id="189" dur="600"/>
                                        <p:tgtEl>
                                          <p:spTgt spid="48"/>
                                        </p:tgtEl>
                                      </p:cBhvr>
                                    </p:animEffect>
                                  </p:childTnLst>
                                </p:cTn>
                              </p:par>
                              <p:par>
                                <p:cTn id="193" presetID="10" presetClass="entr" presetSubtype="0" fill="hold" grpId="0" nodeType="withEffect">
                                  <p:stCondLst>
                                    <p:cond delay="2900"/>
                                  </p:stCondLst>
                                  <p:childTnLst>
                                    <p:set>
                                      <p:cBhvr>
                                        <p:cTn id="191" dur="1" fill="hold">
                                          <p:stCondLst>
                                            <p:cond delay="0"/>
                                          </p:stCondLst>
                                        </p:cTn>
                                        <p:tgtEl>
                                          <p:spTgt spid="49"/>
                                        </p:tgtEl>
                                        <p:attrNameLst>
                                          <p:attrName>style.visibility</p:attrName>
                                        </p:attrNameLst>
                                      </p:cBhvr>
                                      <p:to>
                                        <p:strVal val="visible"/>
                                      </p:to>
                                    </p:set>
                                    <p:animEffect transition="in" filter="fade">
                                      <p:cBhvr>
                                        <p:cTn id="192" dur="600"/>
                                        <p:tgtEl>
                                          <p:spTgt spid="49"/>
                                        </p:tgtEl>
                                      </p:cBhvr>
                                    </p:animEffect>
                                  </p:childTnLst>
                                </p:cTn>
                              </p:par>
                              <p:par>
                                <p:cTn id="196" presetID="22" presetClass="entr" presetSubtype="8" fill="hold" nodeType="withEffect">
                                  <p:stCondLst>
                                    <p:cond delay="3300"/>
                                  </p:stCondLst>
                                  <p:childTnLst>
                                    <p:set>
                                      <p:cBhvr>
                                        <p:cTn id="194" dur="1" fill="hold">
                                          <p:stCondLst>
                                            <p:cond delay="0"/>
                                          </p:stCondLst>
                                        </p:cTn>
                                        <p:tgtEl>
                                          <p:spTgt spid="46"/>
                                        </p:tgtEl>
                                        <p:attrNameLst>
                                          <p:attrName>style.visibility</p:attrName>
                                        </p:attrNameLst>
                                      </p:cBhvr>
                                      <p:to>
                                        <p:strVal val="visible"/>
                                      </p:to>
                                    </p:set>
                                    <p:animEffect transition="in" filter="wipe(left)">
                                      <p:cBhvr>
                                        <p:cTn id="195" dur="800"/>
                                        <p:tgtEl>
                                          <p:spTgt spid="46"/>
                                        </p:tgtEl>
                                      </p:cBhvr>
                                    </p:animEffect>
                                  </p:childTnLst>
                                </p:cTn>
                              </p:par>
                              <p:par>
                                <p:cTn id="199" presetID="22" presetClass="entr" presetSubtype="8" fill="hold" nodeType="withEffect">
                                  <p:stCondLst>
                                    <p:cond delay="3800"/>
                                  </p:stCondLst>
                                  <p:childTnLst>
                                    <p:set>
                                      <p:cBhvr>
                                        <p:cTn id="197" dur="1" fill="hold">
                                          <p:stCondLst>
                                            <p:cond delay="0"/>
                                          </p:stCondLst>
                                        </p:cTn>
                                        <p:tgtEl>
                                          <p:spTgt spid="47"/>
                                        </p:tgtEl>
                                        <p:attrNameLst>
                                          <p:attrName>style.visibility</p:attrName>
                                        </p:attrNameLst>
                                      </p:cBhvr>
                                      <p:to>
                                        <p:strVal val="visible"/>
                                      </p:to>
                                    </p:set>
                                    <p:animEffect transition="in" filter="wipe(left)">
                                      <p:cBhvr>
                                        <p:cTn id="198" dur="1100"/>
                                        <p:tgtEl>
                                          <p:spTgt spid="47"/>
                                        </p:tgtEl>
                                      </p:cBhvr>
                                    </p:animEffect>
                                  </p:childTnLst>
                                </p:cTn>
                              </p:par>
                              <p:par>
                                <p:cTn id="202" presetID="22" presetClass="entr" presetSubtype="8" fill="hold" grpId="0" nodeType="withEffect">
                                  <p:stCondLst>
                                    <p:cond delay="3800"/>
                                  </p:stCondLst>
                                  <p:childTnLst>
                                    <p:set>
                                      <p:cBhvr>
                                        <p:cTn id="200" dur="1" fill="hold">
                                          <p:stCondLst>
                                            <p:cond delay="0"/>
                                          </p:stCondLst>
                                        </p:cTn>
                                        <p:tgtEl>
                                          <p:spTgt spid="50"/>
                                        </p:tgtEl>
                                        <p:attrNameLst>
                                          <p:attrName>style.visibility</p:attrName>
                                        </p:attrNameLst>
                                      </p:cBhvr>
                                      <p:to>
                                        <p:strVal val="visible"/>
                                      </p:to>
                                    </p:set>
                                    <p:animEffect transition="in" filter="wipe(left)">
                                      <p:cBhvr>
                                        <p:cTn id="201" dur="1100"/>
                                        <p:tgtEl>
                                          <p:spTgt spid="50"/>
                                        </p:tgtEl>
                                      </p:cBhvr>
                                    </p:animEffect>
                                  </p:childTnLst>
                                </p:cTn>
                              </p:par>
                              <p:par>
                                <p:cTn id="205" presetID="22" presetClass="entr" presetSubtype="8" fill="hold" grpId="0" nodeType="withEffect">
                                  <p:stCondLst>
                                    <p:cond delay="3800"/>
                                  </p:stCondLst>
                                  <p:childTnLst>
                                    <p:set>
                                      <p:cBhvr>
                                        <p:cTn id="203" dur="1" fill="hold">
                                          <p:stCondLst>
                                            <p:cond delay="0"/>
                                          </p:stCondLst>
                                        </p:cTn>
                                        <p:tgtEl>
                                          <p:spTgt spid="51"/>
                                        </p:tgtEl>
                                        <p:attrNameLst>
                                          <p:attrName>style.visibility</p:attrName>
                                        </p:attrNameLst>
                                      </p:cBhvr>
                                      <p:to>
                                        <p:strVal val="visible"/>
                                      </p:to>
                                    </p:set>
                                    <p:animEffect transition="in" filter="wipe(left)">
                                      <p:cBhvr>
                                        <p:cTn id="204" dur="1100"/>
                                        <p:tgtEl>
                                          <p:spTgt spid="51"/>
                                        </p:tgtEl>
                                      </p:cBhvr>
                                    </p:animEffect>
                                  </p:childTnLst>
                                </p:cTn>
                              </p:par>
                              <p:par>
                                <p:cTn id="208" presetID="10" presetClass="entr" presetSubtype="0" fill="hold" grpId="0" nodeType="withEffect">
                                  <p:stCondLst>
                                    <p:cond delay="4600"/>
                                  </p:stCondLst>
                                  <p:childTnLst>
                                    <p:set>
                                      <p:cBhvr>
                                        <p:cTn id="206" dur="1" fill="hold">
                                          <p:stCondLst>
                                            <p:cond delay="0"/>
                                          </p:stCondLst>
                                        </p:cTn>
                                        <p:tgtEl>
                                          <p:spTgt spid="52"/>
                                        </p:tgtEl>
                                        <p:attrNameLst>
                                          <p:attrName>style.visibility</p:attrName>
                                        </p:attrNameLst>
                                      </p:cBhvr>
                                      <p:to>
                                        <p:strVal val="visible"/>
                                      </p:to>
                                    </p:set>
                                    <p:animEffect transition="in" filter="fade">
                                      <p:cBhvr>
                                        <p:cTn id="207" dur="6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animBg="1"/>
      <p:bldP spid="56" grpId="0" animBg="1"/>
      <p:bldP spid="57" grpId="0" animBg="1"/>
      <p:bldP spid="58" grpId="0" animBg="1"/>
      <p:bldP spid="59" grpId="0" animBg="1"/>
      <p:bldP spid="60" grpId="0" animBg="1"/>
      <p:bldP spid="61" grpId="0" animBg="1"/>
      <p:bldP spid="7" grpId="0" animBg="1"/>
      <p:bldP spid="8" grpId="0" animBg="1"/>
      <p:bldP spid="9" grpId="0" animBg="1"/>
      <p:bldP spid="55" grpId="0" animBg="1"/>
      <p:bldP spid="10" grpId="0" animBg="1"/>
      <p:bldP spid="11" grpId="0" animBg="1"/>
      <p:bldP spid="12" grpId="0" animBg="1"/>
      <p:bldP spid="13" grpId="0" animBg="1"/>
      <p:bldP spid="14" grpId="0" animBg="1"/>
      <p:bldP spid="15" grpId="0" animBg="1"/>
      <p:bldP spid="16" grpId="0" animBg="1"/>
      <p:bldP spid="23" grpId="0" animBg="1"/>
      <p:bldP spid="24" grpId="0" animBg="1"/>
      <p:bldP spid="17" grpId="0" animBg="1"/>
      <p:bldP spid="18" grpId="0" animBg="1"/>
      <p:bldP spid="31" grpId="0" animBg="1"/>
      <p:bldP spid="32" grpId="0" animBg="1"/>
      <p:bldP spid="25" grpId="0" animBg="1"/>
      <p:bldP spid="26" grpId="0" animBg="1"/>
      <p:bldP spid="19" grpId="0" animBg="1"/>
      <p:bldP spid="20" grpId="0" animBg="1"/>
      <p:bldP spid="33" grpId="0" animBg="1"/>
      <p:bldP spid="34" grpId="0" animBg="1"/>
      <p:bldP spid="27" grpId="0" animBg="1"/>
      <p:bldP spid="28" grpId="0" animBg="1"/>
      <p:bldP spid="21" grpId="0" animBg="1"/>
      <p:bldP spid="22" grpId="0" animBg="1"/>
      <p:bldP spid="35" grpId="0" animBg="1"/>
      <p:bldP spid="36" grpId="0" animBg="1"/>
      <p:bldP spid="29" grpId="0" animBg="1"/>
      <p:bldP spid="30" grpId="0" animBg="1"/>
      <p:bldP spid="37" grpId="0" animBg="1"/>
      <p:bldP spid="38" grpId="0" animBg="1"/>
      <p:bldP spid="39" grpId="0" animBg="1"/>
      <p:bldP spid="40" grpId="0" animBg="1"/>
      <p:bldP spid="41" grpId="0" animBg="1"/>
      <p:bldP spid="42" grpId="0" animBg="1"/>
      <p:bldP spid="43" grpId="0" animBg="1"/>
      <p:bldP spid="44" grpId="0" animBg="1"/>
      <p:bldP spid="48" grpId="0" animBg="1"/>
      <p:bldP spid="49" grpId="0" animBg="1"/>
      <p:bldP spid="50" grpId="0" animBg="1"/>
      <p:bldP spid="51" grpId="0" animBg="1"/>
      <p:bldP spid="52" grpId="0" animBg="1"/>
    </p:bldLst>
  </p:timing>
</p:sld>
</file>

<file path=ppt/theme/theme1.xml><?xml version="1.0" encoding="utf-8"?>
<a:theme xmlns:a="http://schemas.openxmlformats.org/drawingml/2006/main" name="Vighnaway">
  <a:themeElements>
    <a:clrScheme name="Vighnaway">
      <a:dk1>
        <a:srgbClr val="1A1030"/>
      </a:dk1>
      <a:lt1>
        <a:srgbClr val="F6F1E9"/>
      </a:lt1>
      <a:dk2>
        <a:srgbClr val="26123F"/>
      </a:dk2>
      <a:lt2>
        <a:srgbClr val="E3D9C8"/>
      </a:lt2>
      <a:accent1>
        <a:srgbClr val="4D7C0F"/>
      </a:accent1>
      <a:accent2>
        <a:srgbClr val="F59E0B"/>
      </a:accent2>
      <a:accent3>
        <a:srgbClr val="9D174D"/>
      </a:accent3>
      <a:accent4>
        <a:srgbClr val="3F6212"/>
      </a:accent4>
      <a:accent5>
        <a:srgbClr val="4A3F66"/>
      </a:accent5>
      <a:accent6>
        <a:srgbClr val="6E6288"/>
      </a:accent6>
      <a:hlink>
        <a:srgbClr val="4D7C0F"/>
      </a:hlink>
      <a:folHlink>
        <a:srgbClr val="6E6288"/>
      </a:folHlink>
    </a:clrScheme>
    <a:fontScheme name="Vighnaway">
      <a:majorFont>
        <a:latin typeface="Segoe U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Vighnaway pitch deck</dc:title>
  <dc:subject>PptxGenJS Presentation</dc:subject>
  <dc:creator>Vighnaway</dc:creator>
  <cp:lastModifiedBy>Vighnaway</cp:lastModifiedBy>
  <cp:revision>1</cp:revision>
  <dcterms:created xsi:type="dcterms:W3CDTF">2026-10-22T09:23:51Z</dcterms:created>
  <dcterms:modified xsi:type="dcterms:W3CDTF">2026-10-22T09:23:51Z</dcterms:modified>
</cp:coreProperties>
</file>